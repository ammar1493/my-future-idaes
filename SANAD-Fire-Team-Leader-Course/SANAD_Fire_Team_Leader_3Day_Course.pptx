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Lst>
  <p:notesMasterIdLst>
    <p:notesMasterId r:id="rId8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notesMaster" Target="notesMasters/notesMaster1.xml"/><Relationship Id="rId81" Type="http://schemas.openxmlformats.org/officeDocument/2006/relationships/presProps" Target="presProps.xml"/><Relationship Id="rId82" Type="http://schemas.openxmlformats.org/officeDocument/2006/relationships/viewProps" Target="viewProps.xml"/><Relationship Id="rId83" Type="http://schemas.openxmlformats.org/officeDocument/2006/relationships/theme" Target="theme/theme1.xml"/><Relationship Id="rId8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group. This course was built from the NEFT Energies technical proposal NERFQ26-5018 for SANAD. Emphasize: this is a leadership course, not a basic firefighting course — every participant already fights fire; here they learn to command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Housekeeping (5 min). Introduce the delivery team: lead instructor, assessor, and exercise safety officer — one sentence each on their fireground background to establish credibility. Cover the four rules briskly, then do a 10-minute round of participant introductions: name, rig, years of service, and one fire or emergency they have personally seen. Write their expectations on a flipchart — you will return to it at course close. Confirm everyone's medical fitness for practical work and any dietary/prayer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slide (3 min). Make it personal: ask how far the nearest professional fire station is from each participant's current rig — let the answers hang in the air, because that distance IS the course justification. Reference SANAD's position as a Saudi Aramco drilling affiliate and the standard its rigs are held to. Point at the four stat tiles and emphasize 65% practical: 'You will spend most of these three days on your feet, not in this chair.'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tone: this is not a compliance course. Ask the room: who here has seen a real fire on a rig? Let one or two answer. The gap between a near-miss and a disaster is almost always leadership in the first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Differentiation slide (3 min). Most participants have sat through basic fire training before — acknowledge that directly, then draw the line: basic courses certify hands, this course certifies command. Walk the four cards left to right. On 'Human factors built in', tell a short true-to-life story of a drill where a capable crew fell apart because of one panicking member — every experienced instructor has one. Close with: 'By Thursday afternoon you will have commanded a rig emergency six times. Nobody leaves here untested.'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slide (3 min). These seven objectives come verbatim from the NEFT–SANAD proposal — read them as commitments, not aspirations. Ask each participant to silently pick the ONE objective they feel weakest on today; they will name it to their table group, and it becomes their personal focus for the practical blocks. Point at the dark callout: on Day 3, assessors score against exactly these seven lines. There is no hidden syllabus.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Competency framing (4 min). This slide defines what 'competent' means for the rest of the course — knowledge, skills, behaviors. Stress the third column hardest: knowledge and skills decay gracefully, behaviors fail catastrophically. Ask the group: 'Which column do most fire courses test? Which column kills people when it fails?' The final competency validation on Day 3 signs off against all three columns, and the individual competency report they take home is structured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Journey slide (2 min). Lead–Command–Prove is the course spine; repeat those three verbs until they stick. Day 1 builds the leader, Day 2 builds the commander, Day 3 proves both under pressure. Point out that Day 3's card is dark for a reason: no new theory is introduced on the final day — if it isn't in their heads by Wednesday evening, the simulation will find the gap. Use this to justify the evening assignment 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slide (2 min). Six modules exactly as contracted in the NEFT proposal — show the day mapping on the right of each card. Note the deliberate sequence: you cannot run incident command (M5) without communications (M4), and no tactic (M3) survives a team whose behavior collapses (M2), which is why leadership (M1) comes first. Invite participants to keep this slide photographed on their phones as their course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overview (4 min). Be completely transparent about how they are measured — adults commit to standards they understand. Walk the three components and their timing chips: observation is continuous, scenarios are graded from Day 2, validation closes Day 3. Reassure and challenge in the same breath: 'Nobody fails by surprise here — you will get feedback every single day. But nobody coasts either; the certificate is signed against evidence, not attendance.' Preview the re-assessment pathway so anxiety doesn't block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Standards slide (3 min). Position the course as grounded, not improvised: it draws on NFPA industrial fire brigade practice, ICS doctrine, and the emergency-readiness expectations that operators place on drilling contractors. Do NOT quote specific clause numbers from memory in class — if asked for a citation, note it and follow up in writing. Land hard on the bottom line: the approved site ERP always governs. This course makes them better at executing their rig's plan, never a license to deviate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(2 min). Stand at the front, let the image land before speaking. Frame the day in one sentence: "Foundations of emergency leadership — and the human factors that decide whether a team performs or panics." Preview the blocks listed on the slide, state the day's finish time, and remind participants that everything today is assessed material for Day 3. Energy check: ask one participant what they want out of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schedule top to bottom (2 min). Point out the practical blocks in orange — that is where the day is won. Confirm prayer and break timings with the group and flag any site-specific adjustments now, not mid-day. State the rule: practical blocks start on time, in full PPE, no exceptions — late arrival to a practical is a scored event. Ask for questions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opener (3 min). Read the objective aloud, exactly as written: "Build leadership capability under pressure." Then connect it to the last module in one sentence so the course feels like one continuous build, not six separate lectures. Preview the four content areas on the slide and tell participants which of them will be tested in the practical block. Do not teach content here — set up the "why" and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definition (8 min). Map these four duties onto SANAD's own emergency response plan and the rig org chart — who currently does each on the participants' rigs, and where are the gaps? Facilitate, don't lecture: draw the rig chain of command (driller, toolpusher, rig manager, HSE) on the whiteboard and have the group place the Fire Team Leader on it. The usual discovery: the FTL role is clear on paper and blurry at 03:00. That blur is what Module 1 removes.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 anatomy (6 min). Walk the five positions and their failure modes — experienced participants will recognize every one. Push the discussion: on a night shift with a minimum crew, which roles merge, and which one never disappears? (Answer: entry control.) Hammer the bottom bar: the most common command failure on real firegrounds is the leader becoming a firefighter. If you are holding a nozzle, nobody is holding the plan. This principle is scored in every practical block for the rest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Command presence (10 min incl. micro-drill). Teach Look/Sound/Act as trainable mechanics, not personality traits. Demonstrate the voice shift yourself: give the same order twice — once fast and high, once lower, slower, louder — and ask which leader they would follow into smoke. Run the 60-second micro-drill: each participant stands and delivers three orders to the room in command voice; peers score look/sound/act on a 1–5 show of fingers. Uncomfortable, fast, unforgettable. Close on the quote at the bottom — calmness is a decision, and it is contagious in both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Leadership styles (8 min). The table is descriptive; the dark box is the doctrine — emergencies default to directive. Pre-empt the objection that directive leadership is rude: on a fireground it is respectful, because it is the only style that protects the team's time. Give a worked example of style-switching inside one incident: directive during attack, consultative when choosing between two foam strategies with the senior operator, delegative for the long overhaul phase. Ask participants for a real moment they used the wrong style, and what it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Authority &amp; duty of care (7 min). This slide gives the role its weight. Authority: point to where the site ERP grants it — have a copy of a generic ERP excerpt ready. Accountability: contrast a decision that went wrong with a decision that was never made; the second is the true command failure. Duty of care: slow down here, let it be personal. Then set up the moral courage bar — Day 3's scenarios deliberately engineer a 'do not enter' and a 'withdraw now' moment, and assessors score the courage to give those orders as heavily as any attack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Decision-making (10 min). Teach OODA as a loop with a speed, not a checklist: the side that cycles faster controls the incident — and fire cycles fast. Worked example on the board: smoke from the SCR house; run the four steps out loud twice, showing how the second loop corrects the first. Then the 70% rule: waiting for certainty is a decision too, usually the worst one. Link to the right-hand box — the scenarios this week are deliberately building their pattern library, which is what makes fast recognition possible for the rest of their careers.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60 seconds (12 min incl. drill). This is the signature drill of the course — introduce it with ceremony. Model it once yourself at full speed against a scenario card, stopwatch visible. Then two volunteer runs with class scoring: did every step happen, in order, out loud? Common failures to name: skipping DECLARE (command by assumption), and DEPLOY before ASSESS (action addiction). Tell them the drill returns tomorrow at 07:30 with THEIR rig's scenario, and again inside every simulation. By Thursday it must be reflex.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study (12 min). Tell Piper Alpha as a story, not a slide: a routine maintenance handover error, a gas leak, and then — the leadership dimension — a command vacuum in which trained people waited for orders that never came. Keep the facts high-level and accurate; the point is the leadership vacuum, not the process engineering. Discussion questions: What would 'taking command out loud' have looked like in the first five minutes? Where in OUR operation could people end up waiting for instructions? Bridge to Module 2: fear plus silence is the deadliest combination on any facility, offshore or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block briefing (5 min brief, then run the block). Brief each exercise card in under a minute: purpose, setup, roles, time limit. Assign the first leaders BEFORE moving to the training area so nobody can hide. Assessors position where they can hear the leader's orders, not just see the action. Assessment focus for this block: Command declaration, task clarity, decision speed and composure — assessor scored against the Module 1 rubric. Run a 2-minute hot debrief after each rotation — one keep, one change, next leader up. Safety officer has absolute stop authority throughout.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opener (3 min). Read the objective aloud, exactly as written: "Manage team behavior and performance when fear enters the scene." Then connect it to the last module in one sentence so the course feels like one continuous build, not six separate lectures. Preview the four content areas on the slide and tell participants which of them will be tested in the practical block. Do not teach content here — set up the "why" and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physiology (8 min). Normalize it first: these six effects happen to EVERYONE, including the instructor — stress response is biology, not weakness. Walk each card as effect-then-counter, and make participants say the counters back. Practical anchors: have them recall fumbling a simple coupling in a drill (motor degradation) or missing a radio call during a real event (auditory exclusion). The leader's job is not to eliminate stress but to design around it: closed loops, buddy checks, owned clocks. This vocabulary returns in every debrief for the rest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Panic management (10 min). Read the four signs slowly — especially silent withdrawal, which most leaders miss because it looks like compliance. Then teach the four interventions as a sequence you can run in under 15 seconds: name &amp; claim, task it, pair up, breathe &amp; reset. Demonstrate 'name &amp; claim' live on a participant: eye contact, name, 'you're with me' — let the room feel how fast it re-anchors a person. Practice tactical breathing together once (in 4, hold 4, out 4). This exact sequence is what the role-player scenario in the practical block will demand from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inoculation (6 min). The staircase visual makes the point: each step is taller because each dose of pressure is bigger. Ask participants which step their current rig drills actually reach — most honest answers are step 1, occasionally step 2. That gap is why good crews still panic in real events. Connect forward: this course walks them up the entire ladder in three days, and the 30-day plan at the end of the course is how they rebuild the ladder for their own crews at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Discipline (8 min). Four rules, zero tolerance — but explain the WHY behind each so it lands as protection, not bureaucracy: freelancing breaks the plan the leader is accountable for; buddy separation turns one casualty into two; PPE shortcuts are always invisible until the flash; stop authority is the team's immune system. Role-play the hard moment: a senior, respected hand skips a BA check — what exactly do you say, in front of the crew? Script it with the group. Close on the walk-past line at the bottom; it should sting a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Everyday leadership (6 min). This slide converts the course from event to lifestyle. Walk the four cards, then run a quick self-audit: participants privately rate their own crew 1–5 on each card and circle the weakest. That weakest item becomes a required element of their 30-day action plan (Day 3). The bottom bar is the emotional core of Module 2 — authority in an emergency is withdrawn from leaders who never earned trust in normal operations. End Day 1 content on that note; it sets up the wrap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block briefing (5 min brief, then run the block). Brief each exercise card in under a minute: purpose, setup, roles, time limit. Assign the first leaders BEFORE moving to the training area so nobody can hide. Assessors position where they can hear the leader's orders, not just see the action. Assessment focus for this block: Recognition speed, intervention quality and whether the team's performance recovers — Module 2 rubric. Run a 2-minute hot debrief after each rotation — one keep, one change, next leader up. Safety officer has absolute stop authority throughout.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1 wrap (10 min). Have three different participants read the three takeaways aloud, in their own words — retrieval beats repetition. Return to the flipchart of morning expectations and tick what was covered. Brief the evening assignment precisely: one page, their rig, worst credible fire, first three orders with names attached — presented in 90 seconds each at 07:30 tomorrow. This is not optional homework; it is tomorrow's opening practical and it is scored. Finish on time — a leadership course that runs late has already contradicted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(2 min). Stand at the front, let the image land before speaking. Frame the day in one sentence: "From leading a crew to commanding an incident: attack strategy, communications discipline and structured emergency control." Preview the blocks listed on the slide, state the day's finish time, and remind participants that everything today is assessed material for Day 3. Energy check: ask one participant what they want out of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schedule top to bottom (2 min). Point out the practical blocks in orange — that is where the day is won. Confirm prayer and break timings with the group and flag any site-specific adjustments now, not mid-day. State the rule: practical blocks start on time, in full PPE, no exceptions — late arrival to a practical is a scored event. Ask for questions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opener (3 min). Read the objective aloud, exactly as written: "Develop operational control of a live fire scene." Then connect it to the last module in one sentence so the course feels like one continuous build, not six separate lectures. Preview the four content areas on the slide and tell participants which of them will be tested in the practical block. Do not teach content here — set up the "why" and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 hazard map (10 min). Walk each hazard against the participants' actual rigs. Ask: where is your SCR room? Where does mud gas vent? How far is the camp from the wellhead? Have participants rank the six hazards for THEIR rig by likelihood and by consequence — wellhead usually wins consequence, diesel/electrical win likelihood. Record the rankings; Day 3 scenarios draw directly from this slide, and the size-up exercises reuse their own answers. Note the H2S card sets up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H2S (10 min). In Saudi sour-gas operations this slide deserves full attention — most participants hold H2S certificates, so position this as the LEADER'S view, not basic awareness. Drill the reflex chain on the bottom card until they can recite it. Discussion: a fire at the shakers with H2S alarm sounding — which problem commands first? (Gas does: it kills faster, travels invisibly, and dictates where firefighting can even happen.) Emphasize wind: have them name the prevailing wind on their rig right now — leaders who don't know the wind are planning blind. Site H2S contingency plans govern; this course integrates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Fire behavior for commanders (8 min). Participants know the tetrahedron from basic training — respect that and teach the LEADER'S layer: media selection is a command decision with consequences. Walk the table by rig location, not by chemistry. Spend extra time on class C: the de-energize-first rule and why the wrong call turns a rescuer into a casualty. Then the three escalation monsters at the bottom — define each in one sentence and give the command signature: cool it, isolate it, or clear people and go defensive. This vocabulary is required in Day 3 radio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Pre-incident planning (8 min). The fireground rewards preparation with time — the only currency that matters at 3 AM. Walk the four elements, then run the tabletop micro-exercise: each participant sketches their rig's water sources and isolation points from memory in three minutes, then compares with a neighbor. The gaps they find ARE the lesson. Assign explicitly: rebuilding these pre-plans is Week 1 of the 30-day action plan. Tie to scenario planning in the practical block this afternoon, where a plot plan and scenario card start every 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Size-up (10 min incl. drill). Five questions, out loud, thirty seconds — the discipline is answering them in ORDER, because the order encodes priorities: fire, spread, people, resources, catastrophe. Run the photo drill: show any incident photo for 30 seconds, then cold-call a participant to deliver the five answers from memory. Repeat three times with different photos and people. Common failure: jumping to question 4 (what do I have) before question 3 (who is at risk) — action addiction again. The dark box matters most: size-up is a loop, not an event; 'managing a memory' is how scenes kill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Dynamic risk assessment (8 min). The four-step loop is simple by design — a wheel that spins continuously, not a form to fill. Contrast DRA with the pre-task risk assessments they know from permit work: same logic, compressed to seconds, repeated forever. Then the risk philosophy — have the whole room read the three lines aloud together, once. It sounds theatrical; it works. Every order they give on Day 3 will be judged against these three lines, and the debrief question will be: 'which line was that order operating under?' They should hear the lines in their heads when deciding.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Attack strategy (10 min). Key teaching point: the mode is a command decision, announced on the radio, logged with time. Changing mode without announcing it is how crews end up inside a collapse zone. Walk the three columns, then run the decision drill: read out four quick scenarios (small mud-pump fire, day-tank pool fire with BLEVE exposure, camp fire at 02:00 with missing person, wellhead ignition) and have the room vote a mode for each with a show of hands — then defend the split votes. Emphasize the middle column's hardest sentence: declaring defensive is command courage, not defeat.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Water &amp; foam logistics (8 min). Keep the math conceptual in class — exact application rates come from their site's fire plan and equipment data sheets; the leader's job is to ask the arithmetic QUESTIONS before committing. Walk the four rules. War-story moment: ask if anyone has seen an attack run dry mid-fight — the stories teach better than the slide. Emphasize the tactical reserve as a hard rule the assessors score: in every Day 3 scenario, a leader with no reserve at the moment of the inject loses points, because the inject is coming.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Resource allocation (6 min). Four resource families, one common failure: spending everything early. People — rotate before exhaustion, because tired crews volunteer to die; track BA by cylinder time, not by feel. Water/foam — refer back to the arithmetic slide. Apparatus — one line in reserve is worth two in the fight; make them argue why. Medical — a responder casualty doubles the incident and halves the team's mind. Close on the deployment formula in the bottom bar and drill it once verbally: pick a participant, have them deploy a team using all four elements.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block briefing (5 min brief, then run the block). Brief each exercise card in under a minute: purpose, setup, roles, time limit. Assign the first leaders BEFORE moving to the training area so nobody can hide. Assessors position where they can hear the leader's orders, not just see the action. Assessment focus for this block: Mode selection and announcement, resource logic, and whether the plan survives first contact — Module 3 rubric. Run a 2-minute hot debrief after each rotation — one keep, one change, next leader up. Safety officer has absolute stop authority throughout.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opener (3 min). Read the objective aloud, exactly as written: "Ensure effective coordination and control when the noise starts." Then connect it to the last module in one sentence so the course feels like one continuous build, not six separate lectures. Preview the four content areas on the slide and tell participants which of them will be tested in the practical block. Do not teach content here — set up the "why" and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Radio discipline (10 min incl. drill). Teach the closed loop as a chain that is only as strong as its READBACK link — most real-world comms failures are un-read-back orders that mutated in transit. Play the whisper-chain game once with a 12-word order to prove mutation, then repeat with mandatory readback to prove the fix. Walk the CAN card and have two participants deliver a CAN report on a scenario you improvise; score for under 20 seconds and all three letters. Standard phrases (MAYDAY/URGENT/PRIORITY) must match the site's radio procedure — reconcile any differences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Orders that stick (8 min). Walk the four-part chain with the worked example across the cards — read it aloud as one continuous order so they hear the rhythm. The intent clause is the professional's secret: a team that knows WHY can adapt without freelancing when conditions change; a team that only knows WHAT freezes or improvises. Pair drill: partner A gives a rig-realistic order using all four parts, partner B deliberately briefs back wrong, A must catch and correct it. Two rounds, swap roles. Brief-back becomes mandatory in every practical from this moment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Multi-team coordination (8 min). Sectorization is how one brain commands twenty people: name the sectors in plain language (Attack, Exposure, Water, Medical), one officer and one voice per sector. Span of control 1:5 is a biological limit, not a preference — when a leader exceeds it, the sixth report simply doesn't get processed. Draw the geometry point on the whiteboard: two hose teams on opposite sides of a fuel fire are pushing it at each other; only the leader sees the whole board. Close on the warning signs — any two together means the incident is now commanding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Alarm levels (7 min). Present the three-level model as the common industry pattern and map it live onto SANAD's actual ERP levels — terminology differs between plans, triggers matter more than labels. The leader's specific duty: DECLARING the level out loud and upward, because the level is what mobilizes resources they cannot see (management notifications, mutual aid, medevac). Drill the doctrine in the bottom bar: declare early, downgrade later — ask why the reverse instinct (wait and see) feels safer but is deadlier. Homework hook: 'know your triggers by heart' goes into the 30-day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block briefing (5 min brief, then run the block). Brief each exercise card in under a minute: purpose, setup, roles, time limit. Assign the first leaders BEFORE moving to the training area so nobody can hide. Assessors position where they can hear the leader's orders, not just see the action. Assessment focus for this block: Closed-loop compliance, SITREP quality and whether every team can state its task at any freeze point — Module 4 rubric. Run a 2-minute hot debrief after each rotation — one keep, one change, next leader up. Safety officer has absolute stop authority throughout.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opener (3 min). Read the objective aloud, exactly as written: "Apply structured command systems to control the whole emergency." Then connect it to the last module in one sentence so the course feels like one continuous build, not six separate lectures. Preview the four content areas on the slide and tell participants which of them will be tested in the practical block. Do not teach content here — set up the "why" and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ICS principles (8 min). Four principles, then the typical first structure at the bottom — emphasize it is the STARTING shape, not the final one; modular expansion means sectors appear as the incident grows, and disappear as it shrinks. Unity of command deserves a story: ask who has ever received two conflicting orders during an event, and what they did. Note the leader's box is orange because on a rig, the Fire Team Leader IS initial incident command until relieved — there is no separate commander coming in the first fifteen minutes. Structure is what lets an average leader perform above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 zones (7 min). Zones are drawn by the leader in the first minutes and they MOVE — wind shift, escalation, or a new hazard redraws all three rings. Walk hot/warm/cold with the discipline each demands, then the ICP placement rule: upwind, sight of the scene, escape route behind you — have them recite it. Rig-specific challenge: where do the rings go for a shaker fire when the camp is 200 meters downwind? Muster location choice becomes life-or-death in H2S conditions; that's the next slide's territory. Zones without enforcement are decoration — enforcement is a scored behavior on Day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Muster procedure (7 min). Walk the five steps as a timeline and stress step 3's exact report format — numbers first, then names. The tactical hinge is step 5: 'two unaccounted' converts a property fire into a rescue operation, changes the mode, the risk philosophy line in play, and where every crew goes. Common real-world failures to discuss: muster point downwind of the smoke (nobody re-declared the alternate), and double-counting from memory instead of the live POB list. Cross-check with participants how their rigs actually track POB — dayshift/nightshift/visitors is where counts 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Escalation tiers (8 min). Walk the four tiers left to right and hammer the first card's line: the first fifteen minutes belong to the rig team, and nothing that arrives later can undo what was lost in them. The handover script at the bottom is a memorize-item — have the room read it aloud once, then two volunteers perform a full 60-second handover with the class timing them. Teach the closing question ('Do you accept command?') as non-optional: command transfer must be explicit, accepted, and logged, or the scene has two commanders — which is zero commanders.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Accountability systems (8 min). Four mechanisms, one purpose: answering 'where is everyone' in 30 seconds at any moment. Entry control is the never-unfilled role; PAR checks run on the clock AND on events; T-cards survive dead batteries; the withdrawal signal must be unmistakable and drilled. Live test: mid-sentence, stop and ask a participant to account for their table group right now — the hesitation makes the point better than the slide. During Day 3 simulations, assessors will freeze the exercise at a random moment and demand a PAR; leaders who cannot deliver lose critical-competency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MAYDAY (10 min). The hardest command moment in the fire service: one of your own is down, and your job is to NOT become the rescuer. Walk the triggers — stress calling it early; embarrassment has killed more firefighters than pride ever saved. Teach LUNAR as the information frame, then the five-step response with brutal honesty about step 4: the fire does not pause for the rescue, so the leader must run two incidents with half a heart and a full head. This is why the tactical reserve rule exists. A mayday inject appears in Day 3 round 2 — tell them it is coming; knowing does not make it easier.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block briefing (5 min brief, then run the block). Brief each exercise card in under a minute: purpose, setup, roles, time limit. Assign the first leaders BEFORE moving to the training area so nobody can hide. Assessors position where they can hear the leader's orders, not just see the action. Assessment focus for this block: Command structure, zone discipline, PAR integrity and handover quality — Module 5 rubric. Run a 2-minute hot debrief after each rotation — one keep, one change, next leader up. Safety officer has absolute stop authority throughout.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2 wrap (10 min). This checklist IS the course in twelve lines — have participants photograph it, then close their phones and recite their weakest line to their table. Run a lightning round: call out any line, and the named participant must explain it in one sentence. Set expectations for tomorrow with weight: full PPE from 07:30, hydration tonight, no new theory — only proof. Read the bottom line aloud and leave it hanging. Dismiss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(2 min). Stand at the front, let the image land before speaking. Frame the day in one sentence: "Everything from Days 1 and 2 — under pressure, in real time, evaluated. This is where certification is earned." Preview the blocks listed on the slide, state the day's finish time, and remind participants that everything today is assessed material for Day 3. Energy check: ask one participant what they want out of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schedule top to bottom (2 min). Point out the practical blocks in orange — that is where the day is won. Confirm prayer and break timings with the group and flag any site-specific adjustments now, not mid-day. State the rule: practical blocks start on time, in full PPE, no exceptions — late arrival to a practical is a scored event. Ask for questions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opener (3 min). Read the objective aloud, exactly as written: "Validate leadership capability in realistic, complex scenarios." Then connect it to the last module in one sentence so the course feels like one continuous build, not six separate lectures. Preview the four content areas on the slide and tell participants which of them will be tested in the practical block. Do not teach content here — set up the "why" and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 safety (6 min, mandatory before any practical deployment). Deliver this slide with complete seriousness — it models exactly the safety leadership the course teaches. Name the safety officer in person and have them stand. Rehearse both magic words out loud with the whole class: the exercise stop word, then the real-emergency phrase; confirm everyone can distinguish them under noise. State the heat protocol explicitly with today's actual forecast. This briefing repeats in short form before every deployment — repetition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design (5 min). Explain the design philosophy: scenarios are assembled from THEIR Day 2 hazard rankings, so nobody can call them unrealistic. Walk the four ingredients and be honest about resource scarcity — it is deliberate, because real firegrounds never have enough. Explain command rotation mechanics: graded command segments of 15–20 minutes each, with peers as sector officers; following well is scored too, because leaders who cannot follow wreck other leaders' scenes. Do not reveal the specific injects — anticipation without specifics is the productive kind of stress.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 1 brief (10 min). Read the situation card verbatim, once — commanders must learn to extract facts from a single telling. Answer only clarifying questions about rules, never about tactics. Assign the first commander and sector officers publicly. Safety reminders before moving out: real PPE standards apply, the exercise safety officer's stop is absolute, and the word for a REAL emergency during the exercise is the site's actual emergency phrase — drill it. After the round: 10-minute hot debrief on scene, then rotate command and reset props for the next segment.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 2 brief (8 min). Show the six inject families WITHOUT revealing sequence or timing — knowing the categories is fair; knowing the order would be rehearsal. Exercise control drops injects when the current commander is stable, not on a fixed clock: the goal is finding each leader's edge, not humiliating anyone. Remind sector officers their performance is also graded. Re-brief safety: exercise stop word, real-emergency phrase, hydration between segments, and the safety officer's absolute authority. Read the dark bar aloud as the final word before deployment — structure surviving chaos is the whole course in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vs urgency (8 min). The dilemma has no formula — that is precisely why it needs a framework. Walk the four bullets, then teach the three decision gates as questions the leader asks OUT LOUD, so the team hears the reasoning and the debrief can audit it. Run the ethics case: a possible casualty near the day tank, BLEVE risk rising — take the room through the gates and let them disagree with each other before you weigh in. The point to land: both recklessness and paralysis are failures; the framework is what separates courage from gambling.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note for instructors: a dedicated exercise safety officer with stop authority is present throughout; all pyrotechnics/smoke are controlled by the training ground team, never by participants.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transparency (5 min). Walk all seven rows and show the module column: nothing on this table is new — it is the whole course restated as observable behavior. Invite participants to self-score each row 1–5 right now in their notebooks; the delta between self-score and assessor score becomes the richest part of their individual feedback interview. Answer process questions fully, tactics questions not at all. Close with the standard: 'good' under exercise pressure, not perfection — assessors are looking for structure that survives stress, recovery after mistakes, and honesty in the debrief.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Debrief methodology (7 min). Hot debrief: on scene, ten minutes, gear on, facts only — what happened, what surprised us, safety issues; no judgments while adrenaline is high. Cold debrief: structured hour with timeline reconstruction and decision-gate review; the leader speaks LAST so the team's honesty isn't anchored by rank. Lessons into actions: every finding leaves the room with an owner and a date, or it evaporates. Teach the dark box carefully — ruthless about decisions, generous with deciders — and model it in every course debrief; participants copy what instructors do, not what slides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skill (6 min). Observed–Impact–Next time: three steps, no personality commentary, no 'you always'. Read the worked example across the cards so they hear a complete, professional feedback sentence about a serious command error delivered without humiliation. Practice once: pairs exchange feedback on this morning's round using the structure, 60 seconds each way. Then the dark bar — receiving is scored too, because a leader who argues with feedback in a classroom will silence a safety observation on a rig. This is culture-building disguised as a technique.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assessment (5 min). Restate the 40/40/20 split and what evidence feeds each bucket — by this point nothing should surprise anyone. Define the critical-competency failures precisely: a genuine safety violation, losing accountability of people, or abandoning command mid-scenario; these fail regardless of the numeric score, and participants deserve to know that bright line. Explain the feedback interview format: private, fifteen minutes, strengths first, self-score vs assessor score compared, development plan agreed together. Keep the tone confident — the assessment confirms three days of evidence; it does not ambush anyone.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preview (5 min). Run these five as a rapid-fire class warm-up before the written paper — cold-call, short answers, correct errors immediately. Model answers: Q1 assess-declare-deploy-communicate-reassess; Q2 any structured CAN inside 20 seconds; Q3 the property line — risk a little, with control; Q4 clear the net, take LUNAR, deploy the standby team; Q5 zones, muster and ICP move, announced on all-call with a PAR to follow. The message: the exam is the course, restated. Nobody who engaged for three days should fear it — and a confident room performs better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Certification (4 min). Walk the four deliverables and their practical value: the certificate evidences competency for SANAD and client audits; the individual report feeds the competency management system and their next appraisal; the field pack is designed to live in a coverall pocket on shift, not in a drawer; the refresher pathway keeps the certificate honest. Hand the field packs out physically at this point — an object in the hand beats a bullet on a slide. Note the accreditation footprint for anyone whose HR needs the formal pedigree.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30-day plan (6 min). Walk the four weeks and make each one small enough to survive rig reality — every item fits inside existing shift routines. Have participants write week 1 into their phones now, with a date, before leaving the room; intentions without dates are wishes. Add the personal item from Day 1's self-audit (their weakest everyday-leadership card) to whichever week fits. Offer the follow-through hook: NEFT can support a 30-day check-in with their HSE leadership if SANAD requests it — turning individual training into organizational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Drill rhythm (5 min). Present the cadence as the minimum heartbeat of a living capability — weekly micro-drills carry the load, and everything scales up from them. Reconcile against SANAD's existing drill requirements: this table organizes what is already mandated, adding only the leadership rotation and the two-sentence debrief discipline. Leader rotation is the strategic move — a rig where one person owns emergencies is one crew change away from owning nothing. Suggest they pin this table in the doghouse next to the drill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creed aloud together before certificates are handed out. Corny? Maybe. Memorable? Absolutely — and memorable is what survives contact with a real fire.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(10 min). Certificates first, one at a time, with a handshake and one specific strength you observed in each graduate — specificity is the gift. Then the creed read together one final time. Close the loop on Day 1's expectations flipchart: what was met, what NEFT will follow up on in writing. Final words brief and true: 'You came here as firefighters who lead. You leave as leaders who fight fire. Go build the same in your crews.' Course photos, feedback forms, safe travels — and note the NEFT contact block on screen for anything they need after they are back on the rig.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1.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slideLayout" Target="../slideLayouts/slideLayout1.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slideLayout" Target="../slideLayouts/slideLayout1.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slideLayout" Target="../slideLayouts/slideLayout1.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slideLayout" Target="../slideLayouts/slideLayout1.xm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slideLayout" Target="../slideLayouts/slideLayout1.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image" Target="../media/image-48-4.png"/><Relationship Id="rId5" Type="http://schemas.openxmlformats.org/officeDocument/2006/relationships/slideLayout" Target="../slideLayouts/slideLayout1.xml"/><Relationship Id="rId6"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slideLayout" Target="../slideLayouts/slideLayout1.xml"/><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image" Target="../media/image-52-4.png"/><Relationship Id="rId5" Type="http://schemas.openxmlformats.org/officeDocument/2006/relationships/slideLayout" Target="../slideLayouts/slideLayout1.xml"/><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image" Target="../media/image-56-4.png"/><Relationship Id="rId5" Type="http://schemas.openxmlformats.org/officeDocument/2006/relationships/slideLayout" Target="../slideLayouts/slideLayout1.xml"/><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image" Target="../media/image-58-3.png"/><Relationship Id="rId4" Type="http://schemas.openxmlformats.org/officeDocument/2006/relationships/slideLayout" Target="../slideLayouts/slideLayout1.xml"/><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1.png"/><Relationship Id="rId3" Type="http://schemas.openxmlformats.org/officeDocument/2006/relationships/image" Target="../media/image-59-1.png"/><Relationship Id="rId4" Type="http://schemas.openxmlformats.org/officeDocument/2006/relationships/image" Target="../media/image-59-1.png"/><Relationship Id="rId5" Type="http://schemas.openxmlformats.org/officeDocument/2006/relationships/image" Target="../media/image-59-1.png"/><Relationship Id="rId6" Type="http://schemas.openxmlformats.org/officeDocument/2006/relationships/image" Target="../media/image-59-1.png"/><Relationship Id="rId7" Type="http://schemas.openxmlformats.org/officeDocument/2006/relationships/image" Target="../media/image-59-1.png"/><Relationship Id="rId8" Type="http://schemas.openxmlformats.org/officeDocument/2006/relationships/image" Target="../media/image-59-1.png"/><Relationship Id="rId9" Type="http://schemas.openxmlformats.org/officeDocument/2006/relationships/image" Target="../media/image-59-1.png"/><Relationship Id="rId10" Type="http://schemas.openxmlformats.org/officeDocument/2006/relationships/image" Target="../media/image-59-1.png"/><Relationship Id="rId11" Type="http://schemas.openxmlformats.org/officeDocument/2006/relationships/image" Target="../media/image-59-1.png"/><Relationship Id="rId12" Type="http://schemas.openxmlformats.org/officeDocument/2006/relationships/image" Target="../media/image-59-1.png"/><Relationship Id="rId13" Type="http://schemas.openxmlformats.org/officeDocument/2006/relationships/slideLayout" Target="../slideLayouts/slideLayout1.xml"/><Relationship Id="rId1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jp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image" Target="../media/image-63-3.png"/><Relationship Id="rId4" Type="http://schemas.openxmlformats.org/officeDocument/2006/relationships/image" Target="../media/image-63-4.png"/><Relationship Id="rId5" Type="http://schemas.openxmlformats.org/officeDocument/2006/relationships/slideLayout" Target="../slideLayouts/slideLayout1.xml"/><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image" Target="../media/image-64-4.png"/><Relationship Id="rId5" Type="http://schemas.openxmlformats.org/officeDocument/2006/relationships/slideLayout" Target="../slideLayouts/slideLayout1.xml"/><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image" Target="../media/image-65-3.png"/><Relationship Id="rId4" Type="http://schemas.openxmlformats.org/officeDocument/2006/relationships/image" Target="../media/image-65-4.png"/><Relationship Id="rId5" Type="http://schemas.openxmlformats.org/officeDocument/2006/relationships/slideLayout" Target="../slideLayouts/slideLayout1.xml"/><Relationship Id="rId6"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image" Target="../media/image-66-3.png"/><Relationship Id="rId4" Type="http://schemas.openxmlformats.org/officeDocument/2006/relationships/image" Target="../media/image-66-4.png"/><Relationship Id="rId5" Type="http://schemas.openxmlformats.org/officeDocument/2006/relationships/image" Target="../media/image-66-5.png"/><Relationship Id="rId6" Type="http://schemas.openxmlformats.org/officeDocument/2006/relationships/image" Target="../media/image-66-6.png"/><Relationship Id="rId7" Type="http://schemas.openxmlformats.org/officeDocument/2006/relationships/slideLayout" Target="../slideLayouts/slideLayout1.xml"/><Relationship Id="rId8"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image" Target="../media/image-68-3.png"/><Relationship Id="rId4" Type="http://schemas.openxmlformats.org/officeDocument/2006/relationships/image" Target="../media/image-68-4.png"/><Relationship Id="rId5" Type="http://schemas.openxmlformats.org/officeDocument/2006/relationships/image" Target="../media/image-68-5.png"/><Relationship Id="rId6" Type="http://schemas.openxmlformats.org/officeDocument/2006/relationships/image" Target="../media/image-68-6.png"/><Relationship Id="rId7" Type="http://schemas.openxmlformats.org/officeDocument/2006/relationships/slideLayout" Target="../slideLayouts/slideLayout1.xml"/><Relationship Id="rId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jpg"/><Relationship Id="rId2" Type="http://schemas.openxmlformats.org/officeDocument/2006/relationships/image" Target="../media/image-70-2.png"/><Relationship Id="rId3" Type="http://schemas.openxmlformats.org/officeDocument/2006/relationships/image" Target="../media/image-70-3.png"/><Relationship Id="rId4" Type="http://schemas.openxmlformats.org/officeDocument/2006/relationships/image" Target="../media/image-70-4.png"/><Relationship Id="rId5" Type="http://schemas.openxmlformats.org/officeDocument/2006/relationships/slideLayout" Target="../slideLayouts/slideLayout1.xml"/><Relationship Id="rId6"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image" Target="../media/image-71-3.png"/><Relationship Id="rId4" Type="http://schemas.openxmlformats.org/officeDocument/2006/relationships/slideLayout" Target="../slideLayouts/slideLayout1.xml"/><Relationship Id="rId5"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jpg"/><Relationship Id="rId2" Type="http://schemas.openxmlformats.org/officeDocument/2006/relationships/image" Target="../media/image-74-2.png"/><Relationship Id="rId3" Type="http://schemas.openxmlformats.org/officeDocument/2006/relationships/image" Target="../media/image-74-3.png"/><Relationship Id="rId4" Type="http://schemas.openxmlformats.org/officeDocument/2006/relationships/image" Target="../media/image-74-4.png"/><Relationship Id="rId5" Type="http://schemas.openxmlformats.org/officeDocument/2006/relationships/image" Target="../media/image-74-5.png"/><Relationship Id="rId6" Type="http://schemas.openxmlformats.org/officeDocument/2006/relationships/slideLayout" Target="../slideLayouts/slideLayout1.xml"/><Relationship Id="rId7"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jp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81C"/>
        </a:solidFill>
      </p:bgPr>
    </p:bg>
    <p:spTree>
      <p:nvGrpSpPr>
        <p:cNvPr id="1" name=""/>
        <p:cNvGrpSpPr/>
        <p:nvPr/>
      </p:nvGrpSpPr>
      <p:grpSpPr>
        <a:xfrm>
          <a:off x="0" y="0"/>
          <a:ext cx="0" cy="0"/>
          <a:chOff x="0" y="0"/>
          <a:chExt cx="0" cy="0"/>
        </a:xfrm>
      </p:grpSpPr>
      <p:pic>
        <p:nvPicPr>
          <p:cNvPr id="2" name="Image 0" descr="/home/user/My-Future-Idaes/SANAD-Fire-Team-Leader-Course/assets/img/cover.jpg">    </p:cNvPr>
          <p:cNvPicPr>
            <a:picLocks noChangeAspect="1"/>
          </p:cNvPicPr>
          <p:nvPr/>
        </p:nvPicPr>
        <p:blipFill>
          <a:blip r:embed="rId1"/>
          <a:srcRect l="0" r="0" t="0" b="0"/>
          <a:stretch/>
        </p:blipFill>
        <p:spPr>
          <a:xfrm>
            <a:off x="0" y="0"/>
            <a:ext cx="12188952" cy="6858000"/>
          </a:xfrm>
          <a:prstGeom prst="rect">
            <a:avLst/>
          </a:prstGeom>
        </p:spPr>
      </p:pic>
      <p:sp>
        <p:nvSpPr>
          <p:cNvPr id="3" name="Shape 0"/>
          <p:cNvSpPr/>
          <p:nvPr/>
        </p:nvSpPr>
        <p:spPr>
          <a:xfrm>
            <a:off x="0" y="0"/>
            <a:ext cx="12188952" cy="6858000"/>
          </a:xfrm>
          <a:prstGeom prst="rect">
            <a:avLst/>
          </a:prstGeom>
          <a:solidFill>
            <a:srgbClr val="14181C">
              <a:alpha val="45000"/>
            </a:srgbClr>
          </a:solidFill>
          <a:ln/>
        </p:spPr>
      </p:sp>
      <p:sp>
        <p:nvSpPr>
          <p:cNvPr id="4" name="Shape 1"/>
          <p:cNvSpPr/>
          <p:nvPr/>
        </p:nvSpPr>
        <p:spPr>
          <a:xfrm>
            <a:off x="0" y="3749040"/>
            <a:ext cx="12188952" cy="3108960"/>
          </a:xfrm>
          <a:prstGeom prst="rect">
            <a:avLst/>
          </a:prstGeom>
          <a:solidFill>
            <a:srgbClr val="14181C">
              <a:alpha val="70000"/>
            </a:srgbClr>
          </a:solidFill>
          <a:ln/>
        </p:spPr>
      </p:sp>
      <p:sp>
        <p:nvSpPr>
          <p:cNvPr id="5" name="Text 2"/>
          <p:cNvSpPr/>
          <p:nvPr/>
        </p:nvSpPr>
        <p:spPr>
          <a:xfrm>
            <a:off x="594360" y="3310128"/>
            <a:ext cx="11000232" cy="320040"/>
          </a:xfrm>
          <a:prstGeom prst="rect">
            <a:avLst/>
          </a:prstGeom>
          <a:noFill/>
          <a:ln/>
        </p:spPr>
        <p:txBody>
          <a:bodyPr wrap="square" lIns="0" tIns="0" rIns="0" bIns="0" rtlCol="0" anchor="ctr"/>
          <a:lstStyle/>
          <a:p>
            <a:pPr indent="0" marL="0">
              <a:buNone/>
            </a:pPr>
            <a:r>
              <a:rPr lang="en-US" sz="1300" b="1" spc="300" kern="0" dirty="0">
                <a:solidFill>
                  <a:srgbClr val="F5A623"/>
                </a:solidFill>
                <a:latin typeface="Arial" pitchFamily="34" charset="0"/>
                <a:ea typeface="Arial" pitchFamily="34" charset="-122"/>
                <a:cs typeface="Arial" pitchFamily="34" charset="-120"/>
              </a:rPr>
              <a:t>NEFT ENERGIES  ×  SANAD  •  ADVANCED SUPERVISORY PROGRAM</a:t>
            </a:r>
            <a:endParaRPr lang="en-US" sz="1300" dirty="0"/>
          </a:p>
        </p:txBody>
      </p:sp>
      <p:sp>
        <p:nvSpPr>
          <p:cNvPr id="6" name="Text 3"/>
          <p:cNvSpPr/>
          <p:nvPr/>
        </p:nvSpPr>
        <p:spPr>
          <a:xfrm>
            <a:off x="594360" y="3611880"/>
            <a:ext cx="11000232" cy="1737360"/>
          </a:xfrm>
          <a:prstGeom prst="rect">
            <a:avLst/>
          </a:prstGeom>
          <a:noFill/>
          <a:ln/>
        </p:spPr>
        <p:txBody>
          <a:bodyPr wrap="square" lIns="0" tIns="0" rIns="0" bIns="0" rtlCol="0" anchor="ctr"/>
          <a:lstStyle/>
          <a:p>
            <a:pPr indent="0" marL="0">
              <a:lnSpc>
                <a:spcPts val="5800"/>
              </a:lnSpc>
              <a:buNone/>
            </a:pPr>
            <a:r>
              <a:rPr lang="en-US" sz="5400" b="1" dirty="0">
                <a:solidFill>
                  <a:srgbClr val="FFFFFF"/>
                </a:solidFill>
                <a:latin typeface="Arial" pitchFamily="34" charset="0"/>
                <a:ea typeface="Arial" pitchFamily="34" charset="-122"/>
                <a:cs typeface="Arial" pitchFamily="34" charset="-120"/>
              </a:rPr>
              <a:t>FIRE FIGHTING</a:t>
            </a:r>
            <a:endParaRPr lang="en-US" sz="5400" dirty="0"/>
          </a:p>
          <a:p>
            <a:pPr indent="0" marL="0">
              <a:lnSpc>
                <a:spcPts val="5800"/>
              </a:lnSpc>
              <a:buNone/>
            </a:pPr>
            <a:r>
              <a:rPr lang="en-US" sz="5400" b="1" dirty="0">
                <a:solidFill>
                  <a:srgbClr val="FFFFFF"/>
                </a:solidFill>
                <a:latin typeface="Arial" pitchFamily="34" charset="0"/>
                <a:ea typeface="Arial" pitchFamily="34" charset="-122"/>
                <a:cs typeface="Arial" pitchFamily="34" charset="-120"/>
              </a:rPr>
              <a:t>TEAM LEADER</a:t>
            </a:r>
            <a:endParaRPr lang="en-US" sz="5400" dirty="0"/>
          </a:p>
        </p:txBody>
      </p:sp>
      <p:sp>
        <p:nvSpPr>
          <p:cNvPr id="7" name="Text 4"/>
          <p:cNvSpPr/>
          <p:nvPr/>
        </p:nvSpPr>
        <p:spPr>
          <a:xfrm>
            <a:off x="594360" y="5440680"/>
            <a:ext cx="8778240" cy="548640"/>
          </a:xfrm>
          <a:prstGeom prst="rect">
            <a:avLst/>
          </a:prstGeom>
          <a:noFill/>
          <a:ln/>
        </p:spPr>
        <p:txBody>
          <a:bodyPr wrap="square" lIns="0" tIns="0" rIns="0" bIns="0" rtlCol="0" anchor="ctr"/>
          <a:lstStyle/>
          <a:p>
            <a:pPr indent="0" marL="0">
              <a:buNone/>
            </a:pPr>
            <a:r>
              <a:rPr lang="en-US" sz="1500" dirty="0">
                <a:solidFill>
                  <a:srgbClr val="E8EBED"/>
                </a:solidFill>
                <a:latin typeface="Arial" pitchFamily="34" charset="0"/>
                <a:ea typeface="Arial" pitchFamily="34" charset="-122"/>
                <a:cs typeface="Arial" pitchFamily="34" charset="-120"/>
              </a:rPr>
              <a:t>Command Under Fire — a 3-day leadership course for the people who take charge when a drilling rig burns.</a:t>
            </a:r>
            <a:endParaRPr lang="en-US" sz="1500" dirty="0"/>
          </a:p>
        </p:txBody>
      </p:sp>
      <p:sp>
        <p:nvSpPr>
          <p:cNvPr id="8" name="Text 5"/>
          <p:cNvSpPr/>
          <p:nvPr/>
        </p:nvSpPr>
        <p:spPr>
          <a:xfrm>
            <a:off x="594360" y="6053328"/>
            <a:ext cx="11000232" cy="320040"/>
          </a:xfrm>
          <a:prstGeom prst="rect">
            <a:avLst/>
          </a:prstGeom>
          <a:noFill/>
          <a:ln/>
        </p:spPr>
        <p:txBody>
          <a:bodyPr wrap="square" lIns="0" tIns="0" rIns="0" bIns="0" rtlCol="0" anchor="ctr"/>
          <a:lstStyle/>
          <a:p>
            <a:pPr indent="0" marL="0">
              <a:buNone/>
            </a:pPr>
            <a:r>
              <a:rPr lang="en-US" sz="1200" b="1" spc="150" kern="0" dirty="0">
                <a:solidFill>
                  <a:srgbClr val="E8491D"/>
                </a:solidFill>
                <a:latin typeface="Arial" pitchFamily="34" charset="0"/>
                <a:ea typeface="Arial" pitchFamily="34" charset="-122"/>
                <a:cs typeface="Arial" pitchFamily="34" charset="-120"/>
              </a:rPr>
              <a:t>3 DAYS</a:t>
            </a:r>
            <a:pPr indent="0" marL="0">
              <a:buNone/>
            </a:pPr>
            <a:r>
              <a:rPr lang="en-US" sz="1200" spc="150" kern="0" dirty="0">
                <a:solidFill>
                  <a:srgbClr val="C9CFD4"/>
                </a:solidFill>
                <a:latin typeface="Arial" pitchFamily="34" charset="0"/>
                <a:ea typeface="Arial" pitchFamily="34" charset="-122"/>
                <a:cs typeface="Arial" pitchFamily="34" charset="-120"/>
              </a:rPr>
              <a:t>   •   SUPERVISORY / ADVANCED   •   60–65% PRACTICAL   •   DRILLING OPERATIONS, SAUDI ARABIA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02</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WELCOME</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How this course runs</a:t>
            </a:r>
            <a:endParaRPr lang="en-US" sz="3000" dirty="0"/>
          </a:p>
        </p:txBody>
      </p:sp>
      <p:pic>
        <p:nvPicPr>
          <p:cNvPr id="6" name="Image 0" descr="/home/user/My-Future-Idaes/SANAD-Fire-Team-Leader-Course/assets/img/classroom.jpg">    </p:cNvPr>
          <p:cNvPicPr>
            <a:picLocks noChangeAspect="1"/>
          </p:cNvPicPr>
          <p:nvPr/>
        </p:nvPicPr>
        <p:blipFill>
          <a:blip r:embed="rId1"/>
          <a:srcRect l="0" r="0" t="0" b="0"/>
          <a:stretch/>
        </p:blipFill>
        <p:spPr>
          <a:xfrm>
            <a:off x="6812280" y="1554480"/>
            <a:ext cx="4800600" cy="3246120"/>
          </a:xfrm>
          <a:prstGeom prst="rect">
            <a:avLst/>
          </a:prstGeom>
        </p:spPr>
      </p:pic>
      <p:sp>
        <p:nvSpPr>
          <p:cNvPr id="7" name="Shape 4"/>
          <p:cNvSpPr/>
          <p:nvPr/>
        </p:nvSpPr>
        <p:spPr>
          <a:xfrm>
            <a:off x="6812280" y="4416552"/>
            <a:ext cx="4800600" cy="384048"/>
          </a:xfrm>
          <a:prstGeom prst="rect">
            <a:avLst/>
          </a:prstGeom>
          <a:solidFill>
            <a:srgbClr val="14181C">
              <a:alpha val="75000"/>
            </a:srgbClr>
          </a:solidFill>
          <a:ln/>
        </p:spPr>
      </p:sp>
      <p:sp>
        <p:nvSpPr>
          <p:cNvPr id="8" name="Text 5"/>
          <p:cNvSpPr/>
          <p:nvPr/>
        </p:nvSpPr>
        <p:spPr>
          <a:xfrm>
            <a:off x="6922008" y="4416552"/>
            <a:ext cx="4581144" cy="384048"/>
          </a:xfrm>
          <a:prstGeom prst="rect">
            <a:avLst/>
          </a:prstGeom>
          <a:noFill/>
          <a:ln/>
        </p:spPr>
        <p:txBody>
          <a:bodyPr wrap="square" lIns="0" tIns="0" rIns="0" bIns="0" rtlCol="0" anchor="ctr"/>
          <a:lstStyle/>
          <a:p>
            <a:pPr indent="0" marL="0">
              <a:buNone/>
            </a:pPr>
            <a:r>
              <a:rPr lang="en-US" sz="1000" dirty="0">
                <a:solidFill>
                  <a:srgbClr val="FFFFFF"/>
                </a:solidFill>
                <a:latin typeface="Arial" pitchFamily="34" charset="0"/>
                <a:ea typeface="Arial" pitchFamily="34" charset="-122"/>
                <a:cs typeface="Arial" pitchFamily="34" charset="-120"/>
              </a:rPr>
              <a:t>NEFT Energies training delivery — classroom to fireground</a:t>
            </a:r>
            <a:endParaRPr lang="en-US" sz="1000" dirty="0"/>
          </a:p>
        </p:txBody>
      </p:sp>
      <p:sp>
        <p:nvSpPr>
          <p:cNvPr id="9" name="Shape 6"/>
          <p:cNvSpPr/>
          <p:nvPr/>
        </p:nvSpPr>
        <p:spPr>
          <a:xfrm>
            <a:off x="594360" y="1600200"/>
            <a:ext cx="512064" cy="512064"/>
          </a:xfrm>
          <a:prstGeom prst="ellipse">
            <a:avLst/>
          </a:prstGeom>
          <a:solidFill>
            <a:srgbClr val="E8491D"/>
          </a:solidFill>
          <a:ln/>
        </p:spPr>
      </p:sp>
      <p:pic>
        <p:nvPicPr>
          <p:cNvPr id="10" name="Image 1" descr="/tmp/claude-0/-home-user-My-Future-Idaes/0806094f-208a-506e-82b2-f78683d50c82/scratchpad/icons/FaClock_white.png">    </p:cNvPr>
          <p:cNvPicPr>
            <a:picLocks noChangeAspect="1"/>
          </p:cNvPicPr>
          <p:nvPr/>
        </p:nvPicPr>
        <p:blipFill>
          <a:blip r:embed="rId2"/>
          <a:stretch>
            <a:fillRect/>
          </a:stretch>
        </p:blipFill>
        <p:spPr>
          <a:xfrm>
            <a:off x="717255" y="1723095"/>
            <a:ext cx="266273" cy="266273"/>
          </a:xfrm>
          <a:prstGeom prst="rect">
            <a:avLst/>
          </a:prstGeom>
        </p:spPr>
      </p:pic>
      <p:sp>
        <p:nvSpPr>
          <p:cNvPr id="11" name="Text 7"/>
          <p:cNvSpPr/>
          <p:nvPr/>
        </p:nvSpPr>
        <p:spPr>
          <a:xfrm>
            <a:off x="1307592" y="1527048"/>
            <a:ext cx="5303520" cy="914400"/>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Timing  —  </a:t>
            </a:r>
            <a:pPr indent="0" marL="0">
              <a:buNone/>
            </a:pPr>
            <a:r>
              <a:rPr lang="en-US" sz="1250" dirty="0">
                <a:solidFill>
                  <a:srgbClr val="5A646C"/>
                </a:solidFill>
                <a:latin typeface="Arial" pitchFamily="34" charset="0"/>
                <a:ea typeface="Arial" pitchFamily="34" charset="-122"/>
                <a:cs typeface="Arial" pitchFamily="34" charset="-120"/>
              </a:rPr>
              <a:t>07:30–16:30 daily. Practical blocks start on time, in full PPE.</a:t>
            </a:r>
            <a:endParaRPr lang="en-US" sz="1250" dirty="0"/>
          </a:p>
        </p:txBody>
      </p:sp>
      <p:sp>
        <p:nvSpPr>
          <p:cNvPr id="12" name="Shape 8"/>
          <p:cNvSpPr/>
          <p:nvPr/>
        </p:nvSpPr>
        <p:spPr>
          <a:xfrm>
            <a:off x="594360" y="2651760"/>
            <a:ext cx="512064" cy="512064"/>
          </a:xfrm>
          <a:prstGeom prst="ellipse">
            <a:avLst/>
          </a:prstGeom>
          <a:solidFill>
            <a:srgbClr val="E8491D"/>
          </a:solidFill>
          <a:ln/>
        </p:spPr>
      </p:sp>
      <p:pic>
        <p:nvPicPr>
          <p:cNvPr id="13" name="Image 2" descr="/tmp/claude-0/-home-user-My-Future-Idaes/0806094f-208a-506e-82b2-f78683d50c82/scratchpad/icons/FaShieldAlt_white.png">    </p:cNvPr>
          <p:cNvPicPr>
            <a:picLocks noChangeAspect="1"/>
          </p:cNvPicPr>
          <p:nvPr/>
        </p:nvPicPr>
        <p:blipFill>
          <a:blip r:embed="rId3"/>
          <a:stretch>
            <a:fillRect/>
          </a:stretch>
        </p:blipFill>
        <p:spPr>
          <a:xfrm>
            <a:off x="717255" y="2774655"/>
            <a:ext cx="266273" cy="266273"/>
          </a:xfrm>
          <a:prstGeom prst="rect">
            <a:avLst/>
          </a:prstGeom>
        </p:spPr>
      </p:pic>
      <p:sp>
        <p:nvSpPr>
          <p:cNvPr id="14" name="Text 9"/>
          <p:cNvSpPr/>
          <p:nvPr/>
        </p:nvSpPr>
        <p:spPr>
          <a:xfrm>
            <a:off x="1307592" y="2578608"/>
            <a:ext cx="5303520" cy="914400"/>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Safety first  —  </a:t>
            </a:r>
            <a:pPr indent="0" marL="0">
              <a:buNone/>
            </a:pPr>
            <a:r>
              <a:rPr lang="en-US" sz="1250" dirty="0">
                <a:solidFill>
                  <a:srgbClr val="5A646C"/>
                </a:solidFill>
                <a:latin typeface="Arial" pitchFamily="34" charset="0"/>
                <a:ea typeface="Arial" pitchFamily="34" charset="-122"/>
                <a:cs typeface="Arial" pitchFamily="34" charset="-120"/>
              </a:rPr>
              <a:t>Training-ground rules are briefed before every practical. The safety officer's STOP is absolute.</a:t>
            </a:r>
            <a:endParaRPr lang="en-US" sz="1250" dirty="0"/>
          </a:p>
        </p:txBody>
      </p:sp>
      <p:sp>
        <p:nvSpPr>
          <p:cNvPr id="15" name="Shape 10"/>
          <p:cNvSpPr/>
          <p:nvPr/>
        </p:nvSpPr>
        <p:spPr>
          <a:xfrm>
            <a:off x="594360" y="3703320"/>
            <a:ext cx="512064" cy="512064"/>
          </a:xfrm>
          <a:prstGeom prst="ellipse">
            <a:avLst/>
          </a:prstGeom>
          <a:solidFill>
            <a:srgbClr val="E8491D"/>
          </a:solidFill>
          <a:ln/>
        </p:spPr>
      </p:sp>
      <p:pic>
        <p:nvPicPr>
          <p:cNvPr id="16" name="Image 3" descr="/tmp/claude-0/-home-user-My-Future-Idaes/0806094f-208a-506e-82b2-f78683d50c82/scratchpad/icons/FaComments_white.png">    </p:cNvPr>
          <p:cNvPicPr>
            <a:picLocks noChangeAspect="1"/>
          </p:cNvPicPr>
          <p:nvPr/>
        </p:nvPicPr>
        <p:blipFill>
          <a:blip r:embed="rId4"/>
          <a:stretch>
            <a:fillRect/>
          </a:stretch>
        </p:blipFill>
        <p:spPr>
          <a:xfrm>
            <a:off x="717255" y="3826215"/>
            <a:ext cx="266273" cy="266273"/>
          </a:xfrm>
          <a:prstGeom prst="rect">
            <a:avLst/>
          </a:prstGeom>
        </p:spPr>
      </p:pic>
      <p:sp>
        <p:nvSpPr>
          <p:cNvPr id="17" name="Text 11"/>
          <p:cNvSpPr/>
          <p:nvPr/>
        </p:nvSpPr>
        <p:spPr>
          <a:xfrm>
            <a:off x="1307592" y="3630168"/>
            <a:ext cx="5303520" cy="914400"/>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Challenge everything  —  </a:t>
            </a:r>
            <a:pPr indent="0" marL="0">
              <a:buNone/>
            </a:pPr>
            <a:r>
              <a:rPr lang="en-US" sz="1250" dirty="0">
                <a:solidFill>
                  <a:srgbClr val="5A646C"/>
                </a:solidFill>
                <a:latin typeface="Arial" pitchFamily="34" charset="0"/>
                <a:ea typeface="Arial" pitchFamily="34" charset="-122"/>
                <a:cs typeface="Arial" pitchFamily="34" charset="-120"/>
              </a:rPr>
              <a:t>Question, argue, share real incidents from your rigs — experience in this room is course material.</a:t>
            </a:r>
            <a:endParaRPr lang="en-US" sz="1250" dirty="0"/>
          </a:p>
        </p:txBody>
      </p:sp>
      <p:sp>
        <p:nvSpPr>
          <p:cNvPr id="18" name="Shape 12"/>
          <p:cNvSpPr/>
          <p:nvPr/>
        </p:nvSpPr>
        <p:spPr>
          <a:xfrm>
            <a:off x="594360" y="4754880"/>
            <a:ext cx="512064" cy="512064"/>
          </a:xfrm>
          <a:prstGeom prst="ellipse">
            <a:avLst/>
          </a:prstGeom>
          <a:solidFill>
            <a:srgbClr val="E8491D"/>
          </a:solidFill>
          <a:ln/>
        </p:spPr>
      </p:sp>
      <p:pic>
        <p:nvPicPr>
          <p:cNvPr id="19" name="Image 4" descr="/tmp/claude-0/-home-user-My-Future-Idaes/0806094f-208a-506e-82b2-f78683d50c82/scratchpad/icons/FaEye_white.png">    </p:cNvPr>
          <p:cNvPicPr>
            <a:picLocks noChangeAspect="1"/>
          </p:cNvPicPr>
          <p:nvPr/>
        </p:nvPicPr>
        <p:blipFill>
          <a:blip r:embed="rId5"/>
          <a:stretch>
            <a:fillRect/>
          </a:stretch>
        </p:blipFill>
        <p:spPr>
          <a:xfrm>
            <a:off x="717255" y="4877775"/>
            <a:ext cx="266273" cy="266273"/>
          </a:xfrm>
          <a:prstGeom prst="rect">
            <a:avLst/>
          </a:prstGeom>
        </p:spPr>
      </p:pic>
      <p:sp>
        <p:nvSpPr>
          <p:cNvPr id="20" name="Text 13"/>
          <p:cNvSpPr/>
          <p:nvPr/>
        </p:nvSpPr>
        <p:spPr>
          <a:xfrm>
            <a:off x="1307592" y="4681728"/>
            <a:ext cx="5303520" cy="914400"/>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You are always on  —  </a:t>
            </a:r>
            <a:pPr indent="0" marL="0">
              <a:buNone/>
            </a:pPr>
            <a:r>
              <a:rPr lang="en-US" sz="1250" dirty="0">
                <a:solidFill>
                  <a:srgbClr val="5A646C"/>
                </a:solidFill>
                <a:latin typeface="Arial" pitchFamily="34" charset="0"/>
                <a:ea typeface="Arial" pitchFamily="34" charset="-122"/>
                <a:cs typeface="Arial" pitchFamily="34" charset="-120"/>
              </a:rPr>
              <a:t>Assessors observe from the first minute. Leadership is a habit, not a performance.</a:t>
            </a:r>
            <a:endParaRPr lang="en-US" sz="1250" dirty="0"/>
          </a:p>
        </p:txBody>
      </p:sp>
      <p:sp>
        <p:nvSpPr>
          <p:cNvPr id="21" name="Shape 14"/>
          <p:cNvSpPr/>
          <p:nvPr/>
        </p:nvSpPr>
        <p:spPr>
          <a:xfrm>
            <a:off x="594360" y="5806440"/>
            <a:ext cx="5989320" cy="566928"/>
          </a:xfrm>
          <a:prstGeom prst="roundRect">
            <a:avLst>
              <a:gd name="adj" fmla="val 12903"/>
            </a:avLst>
          </a:prstGeom>
          <a:solidFill>
            <a:srgbClr val="14181C"/>
          </a:solidFill>
          <a:ln/>
        </p:spPr>
      </p:sp>
      <p:sp>
        <p:nvSpPr>
          <p:cNvPr id="22" name="Text 15"/>
          <p:cNvSpPr/>
          <p:nvPr/>
        </p:nvSpPr>
        <p:spPr>
          <a:xfrm>
            <a:off x="822960" y="5806440"/>
            <a:ext cx="5577840" cy="566928"/>
          </a:xfrm>
          <a:prstGeom prst="rect">
            <a:avLst/>
          </a:prstGeom>
          <a:noFill/>
          <a:ln/>
        </p:spPr>
        <p:txBody>
          <a:bodyPr wrap="square" lIns="0" tIns="0" rIns="0" bIns="0" rtlCol="0" anchor="ctr"/>
          <a:lstStyle/>
          <a:p>
            <a:pPr indent="0" marL="0">
              <a:buNone/>
            </a:pPr>
            <a:r>
              <a:rPr lang="en-US" sz="1100" b="1" dirty="0">
                <a:solidFill>
                  <a:srgbClr val="F5A623"/>
                </a:solidFill>
                <a:latin typeface="Arial" pitchFamily="34" charset="0"/>
                <a:ea typeface="Arial" pitchFamily="34" charset="-122"/>
                <a:cs typeface="Arial" pitchFamily="34" charset="-120"/>
              </a:rPr>
              <a:t>Phones on silent.  </a:t>
            </a:r>
            <a:pPr indent="0" marL="0">
              <a:buNone/>
            </a:pPr>
            <a:r>
              <a:rPr lang="en-US" sz="1100" dirty="0">
                <a:solidFill>
                  <a:srgbClr val="FFFFFF"/>
                </a:solidFill>
                <a:latin typeface="Arial" pitchFamily="34" charset="0"/>
                <a:ea typeface="Arial" pitchFamily="34" charset="-122"/>
                <a:cs typeface="Arial" pitchFamily="34" charset="-120"/>
              </a:rPr>
              <a:t>On a fireground, distraction kills. We practice that discipline here.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03</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WHO THIS IS FOR</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Built for SANAD's front line</a:t>
            </a:r>
            <a:endParaRPr lang="en-US" sz="3000" dirty="0"/>
          </a:p>
        </p:txBody>
      </p:sp>
      <p:sp>
        <p:nvSpPr>
          <p:cNvPr id="6" name="Text 4"/>
          <p:cNvSpPr/>
          <p:nvPr/>
        </p:nvSpPr>
        <p:spPr>
          <a:xfrm>
            <a:off x="594360" y="1554480"/>
            <a:ext cx="5852160" cy="1051560"/>
          </a:xfrm>
          <a:prstGeom prst="rect">
            <a:avLst/>
          </a:prstGeom>
          <a:noFill/>
          <a:ln/>
        </p:spPr>
        <p:txBody>
          <a:bodyPr wrap="square" lIns="0" tIns="0" rIns="0" bIns="0" rtlCol="0" anchor="ctr"/>
          <a:lstStyle/>
          <a:p>
            <a:pPr indent="0" marL="0">
              <a:buNone/>
            </a:pPr>
            <a:r>
              <a:rPr lang="en-US" sz="1450" dirty="0">
                <a:solidFill>
                  <a:srgbClr val="1A2027"/>
                </a:solidFill>
                <a:latin typeface="Arial" pitchFamily="34" charset="0"/>
                <a:ea typeface="Arial" pitchFamily="34" charset="-122"/>
                <a:cs typeface="Arial" pitchFamily="34" charset="-120"/>
              </a:rPr>
              <a:t>SANAD crews operate drilling and workover rigs across the Kingdom for Saudi Aramco — often hours away from the nearest municipal fire station. </a:t>
            </a:r>
            <a:pPr indent="0" marL="0">
              <a:buNone/>
            </a:pPr>
            <a:r>
              <a:rPr lang="en-US" sz="1450" b="1" dirty="0">
                <a:solidFill>
                  <a:srgbClr val="E8491D"/>
                </a:solidFill>
                <a:latin typeface="Arial" pitchFamily="34" charset="0"/>
                <a:ea typeface="Arial" pitchFamily="34" charset="-122"/>
                <a:cs typeface="Arial" pitchFamily="34" charset="-120"/>
              </a:rPr>
              <a:t>When fire breaks out, the rig's own fire team IS the fire department.</a:t>
            </a:r>
            <a:endParaRPr lang="en-US" sz="1450" dirty="0"/>
          </a:p>
        </p:txBody>
      </p:sp>
      <p:sp>
        <p:nvSpPr>
          <p:cNvPr id="7" name="Text 5"/>
          <p:cNvSpPr/>
          <p:nvPr/>
        </p:nvSpPr>
        <p:spPr>
          <a:xfrm>
            <a:off x="594360" y="2697480"/>
            <a:ext cx="5852160" cy="2103120"/>
          </a:xfrm>
          <a:prstGeom prst="rect">
            <a:avLst/>
          </a:prstGeom>
          <a:noFill/>
          <a:ln/>
        </p:spPr>
        <p:txBody>
          <a:bodyPr wrap="square" rtlCol="0" anchor="ctr"/>
          <a:lstStyle/>
          <a:p>
            <a:pPr marL="177800" indent="-177800">
              <a:spcAft>
                <a:spcPts val="800"/>
              </a:spcAft>
              <a:buSzPct val="100000"/>
              <a:buChar char="•"/>
            </a:pPr>
            <a:r>
              <a:rPr lang="en-US" sz="1350" dirty="0">
                <a:solidFill>
                  <a:srgbClr val="1A2027"/>
                </a:solidFill>
                <a:latin typeface="Arial" pitchFamily="34" charset="0"/>
                <a:ea typeface="Arial" pitchFamily="34" charset="-122"/>
                <a:cs typeface="Arial" pitchFamily="34" charset="-120"/>
              </a:rPr>
              <a:t>Designed for Fire Team Leaders and Supervisors on SANAD rigs</a:t>
            </a:r>
            <a:endParaRPr lang="en-US" sz="1350" dirty="0"/>
          </a:p>
          <a:p>
            <a:pPr marL="177800" indent="-177800">
              <a:spcAft>
                <a:spcPts val="800"/>
              </a:spcAft>
              <a:buSzPct val="100000"/>
              <a:buChar char="•"/>
            </a:pPr>
            <a:r>
              <a:rPr lang="en-US" sz="1350" dirty="0">
                <a:solidFill>
                  <a:srgbClr val="1A2027"/>
                </a:solidFill>
                <a:latin typeface="Arial" pitchFamily="34" charset="0"/>
                <a:ea typeface="Arial" pitchFamily="34" charset="-122"/>
                <a:cs typeface="Arial" pitchFamily="34" charset="-120"/>
              </a:rPr>
              <a:t>Aligned with Saudi Aramco contractor emergency-response expectations</a:t>
            </a:r>
            <a:endParaRPr lang="en-US" sz="1350" dirty="0"/>
          </a:p>
          <a:p>
            <a:pPr marL="177800" indent="-177800">
              <a:spcAft>
                <a:spcPts val="800"/>
              </a:spcAft>
              <a:buSzPct val="100000"/>
              <a:buChar char="•"/>
            </a:pPr>
            <a:r>
              <a:rPr lang="en-US" sz="1350" dirty="0">
                <a:solidFill>
                  <a:srgbClr val="1A2027"/>
                </a:solidFill>
                <a:latin typeface="Arial" pitchFamily="34" charset="0"/>
                <a:ea typeface="Arial" pitchFamily="34" charset="-122"/>
                <a:cs typeface="Arial" pitchFamily="34" charset="-120"/>
              </a:rPr>
              <a:t>Scenario content drawn from real drilling-rig fire risks — not generic buildings</a:t>
            </a:r>
            <a:endParaRPr lang="en-US" sz="1350" dirty="0"/>
          </a:p>
          <a:p>
            <a:pPr marL="177800" indent="-177800">
              <a:spcAft>
                <a:spcPts val="800"/>
              </a:spcAft>
              <a:buSzPct val="100000"/>
              <a:buChar char="•"/>
            </a:pPr>
            <a:r>
              <a:rPr lang="en-US" sz="1350" dirty="0">
                <a:solidFill>
                  <a:srgbClr val="1A2027"/>
                </a:solidFill>
                <a:latin typeface="Arial" pitchFamily="34" charset="0"/>
                <a:ea typeface="Arial" pitchFamily="34" charset="-122"/>
                <a:cs typeface="Arial" pitchFamily="34" charset="-120"/>
              </a:rPr>
              <a:t>Delivered by NEFT Energies: ISO &amp; TVTC approved, accredited by IADC, OPITO, NFPA, NEBOSH and IOSH</a:t>
            </a:r>
            <a:endParaRPr lang="en-US" sz="1350" dirty="0"/>
          </a:p>
        </p:txBody>
      </p:sp>
      <p:pic>
        <p:nvPicPr>
          <p:cNvPr id="8" name="Image 0" descr="/home/user/My-Future-Idaes/SANAD-Fire-Team-Leader-Course/assets/img/day1.jpg">    </p:cNvPr>
          <p:cNvPicPr>
            <a:picLocks noChangeAspect="1"/>
          </p:cNvPicPr>
          <p:nvPr/>
        </p:nvPicPr>
        <p:blipFill>
          <a:blip r:embed="rId1"/>
          <a:srcRect l="0" r="0" t="0" b="0"/>
          <a:stretch/>
        </p:blipFill>
        <p:spPr>
          <a:xfrm>
            <a:off x="6812280" y="1554480"/>
            <a:ext cx="4800600" cy="3246120"/>
          </a:xfrm>
          <a:prstGeom prst="rect">
            <a:avLst/>
          </a:prstGeom>
        </p:spPr>
      </p:pic>
      <p:sp>
        <p:nvSpPr>
          <p:cNvPr id="9" name="Shape 6"/>
          <p:cNvSpPr/>
          <p:nvPr/>
        </p:nvSpPr>
        <p:spPr>
          <a:xfrm>
            <a:off x="6812280" y="4416552"/>
            <a:ext cx="4800600" cy="384048"/>
          </a:xfrm>
          <a:prstGeom prst="rect">
            <a:avLst/>
          </a:prstGeom>
          <a:solidFill>
            <a:srgbClr val="14181C">
              <a:alpha val="75000"/>
            </a:srgbClr>
          </a:solidFill>
          <a:ln/>
        </p:spPr>
      </p:sp>
      <p:sp>
        <p:nvSpPr>
          <p:cNvPr id="10" name="Text 7"/>
          <p:cNvSpPr/>
          <p:nvPr/>
        </p:nvSpPr>
        <p:spPr>
          <a:xfrm>
            <a:off x="6922008" y="4416552"/>
            <a:ext cx="4581144" cy="384048"/>
          </a:xfrm>
          <a:prstGeom prst="rect">
            <a:avLst/>
          </a:prstGeom>
          <a:noFill/>
          <a:ln/>
        </p:spPr>
        <p:txBody>
          <a:bodyPr wrap="square" lIns="0" tIns="0" rIns="0" bIns="0" rtlCol="0" anchor="ctr"/>
          <a:lstStyle/>
          <a:p>
            <a:pPr indent="0" marL="0">
              <a:buNone/>
            </a:pPr>
            <a:r>
              <a:rPr lang="en-US" sz="1000" dirty="0">
                <a:solidFill>
                  <a:srgbClr val="FFFFFF"/>
                </a:solidFill>
                <a:latin typeface="Arial" pitchFamily="34" charset="0"/>
                <a:ea typeface="Arial" pitchFamily="34" charset="-122"/>
                <a:cs typeface="Arial" pitchFamily="34" charset="-120"/>
              </a:rPr>
              <a:t>Team brief at first light — leadership starts before the alarm</a:t>
            </a:r>
            <a:endParaRPr lang="en-US" sz="1000" dirty="0"/>
          </a:p>
        </p:txBody>
      </p:sp>
      <p:sp>
        <p:nvSpPr>
          <p:cNvPr id="11" name="Shape 8"/>
          <p:cNvSpPr/>
          <p:nvPr/>
        </p:nvSpPr>
        <p:spPr>
          <a:xfrm>
            <a:off x="594360" y="5074920"/>
            <a:ext cx="2544318" cy="1234440"/>
          </a:xfrm>
          <a:prstGeom prst="roundRect">
            <a:avLst>
              <a:gd name="adj" fmla="val 5926"/>
            </a:avLst>
          </a:prstGeom>
          <a:solidFill>
            <a:srgbClr val="F3F4F5"/>
          </a:solidFill>
          <a:ln/>
        </p:spPr>
      </p:sp>
      <p:sp>
        <p:nvSpPr>
          <p:cNvPr id="12" name="Text 9"/>
          <p:cNvSpPr/>
          <p:nvPr/>
        </p:nvSpPr>
        <p:spPr>
          <a:xfrm>
            <a:off x="777240" y="5193792"/>
            <a:ext cx="2178558" cy="566928"/>
          </a:xfrm>
          <a:prstGeom prst="rect">
            <a:avLst/>
          </a:prstGeom>
          <a:noFill/>
          <a:ln/>
        </p:spPr>
        <p:txBody>
          <a:bodyPr wrap="square" lIns="0" tIns="0" rIns="0" bIns="0" rtlCol="0" anchor="ctr"/>
          <a:lstStyle/>
          <a:p>
            <a:pPr indent="0" marL="0">
              <a:buNone/>
            </a:pPr>
            <a:r>
              <a:rPr lang="en-US" sz="3000" b="1" dirty="0">
                <a:solidFill>
                  <a:srgbClr val="E8491D"/>
                </a:solidFill>
                <a:latin typeface="Arial" pitchFamily="34" charset="0"/>
                <a:ea typeface="Arial" pitchFamily="34" charset="-122"/>
                <a:cs typeface="Arial" pitchFamily="34" charset="-120"/>
              </a:rPr>
              <a:t>3</a:t>
            </a:r>
            <a:endParaRPr lang="en-US" sz="3000" dirty="0"/>
          </a:p>
        </p:txBody>
      </p:sp>
      <p:sp>
        <p:nvSpPr>
          <p:cNvPr id="13" name="Text 10"/>
          <p:cNvSpPr/>
          <p:nvPr/>
        </p:nvSpPr>
        <p:spPr>
          <a:xfrm>
            <a:off x="777240" y="5779008"/>
            <a:ext cx="2178558" cy="45720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days of intensive training</a:t>
            </a:r>
            <a:endParaRPr lang="en-US" sz="1050" dirty="0"/>
          </a:p>
        </p:txBody>
      </p:sp>
      <p:sp>
        <p:nvSpPr>
          <p:cNvPr id="14" name="Shape 11"/>
          <p:cNvSpPr/>
          <p:nvPr/>
        </p:nvSpPr>
        <p:spPr>
          <a:xfrm>
            <a:off x="3412998" y="5074920"/>
            <a:ext cx="2544318" cy="1234440"/>
          </a:xfrm>
          <a:prstGeom prst="roundRect">
            <a:avLst>
              <a:gd name="adj" fmla="val 5926"/>
            </a:avLst>
          </a:prstGeom>
          <a:solidFill>
            <a:srgbClr val="F3F4F5"/>
          </a:solidFill>
          <a:ln/>
        </p:spPr>
      </p:sp>
      <p:sp>
        <p:nvSpPr>
          <p:cNvPr id="15" name="Text 12"/>
          <p:cNvSpPr/>
          <p:nvPr/>
        </p:nvSpPr>
        <p:spPr>
          <a:xfrm>
            <a:off x="3595878" y="5193792"/>
            <a:ext cx="2178558" cy="566928"/>
          </a:xfrm>
          <a:prstGeom prst="rect">
            <a:avLst/>
          </a:prstGeom>
          <a:noFill/>
          <a:ln/>
        </p:spPr>
        <p:txBody>
          <a:bodyPr wrap="square" lIns="0" tIns="0" rIns="0" bIns="0" rtlCol="0" anchor="ctr"/>
          <a:lstStyle/>
          <a:p>
            <a:pPr indent="0" marL="0">
              <a:buNone/>
            </a:pPr>
            <a:r>
              <a:rPr lang="en-US" sz="3000" b="1" dirty="0">
                <a:solidFill>
                  <a:srgbClr val="E8491D"/>
                </a:solidFill>
                <a:latin typeface="Arial" pitchFamily="34" charset="0"/>
                <a:ea typeface="Arial" pitchFamily="34" charset="-122"/>
                <a:cs typeface="Arial" pitchFamily="34" charset="-120"/>
              </a:rPr>
              <a:t>6</a:t>
            </a:r>
            <a:endParaRPr lang="en-US" sz="3000" dirty="0"/>
          </a:p>
        </p:txBody>
      </p:sp>
      <p:sp>
        <p:nvSpPr>
          <p:cNvPr id="16" name="Text 13"/>
          <p:cNvSpPr/>
          <p:nvPr/>
        </p:nvSpPr>
        <p:spPr>
          <a:xfrm>
            <a:off x="3595878" y="5779008"/>
            <a:ext cx="2178558" cy="45720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modules, leadership-first</a:t>
            </a:r>
            <a:endParaRPr lang="en-US" sz="1050" dirty="0"/>
          </a:p>
        </p:txBody>
      </p:sp>
      <p:sp>
        <p:nvSpPr>
          <p:cNvPr id="17" name="Shape 14"/>
          <p:cNvSpPr/>
          <p:nvPr/>
        </p:nvSpPr>
        <p:spPr>
          <a:xfrm>
            <a:off x="6231636" y="5074920"/>
            <a:ext cx="2544318" cy="1234440"/>
          </a:xfrm>
          <a:prstGeom prst="roundRect">
            <a:avLst>
              <a:gd name="adj" fmla="val 5926"/>
            </a:avLst>
          </a:prstGeom>
          <a:solidFill>
            <a:srgbClr val="F3F4F5"/>
          </a:solidFill>
          <a:ln/>
        </p:spPr>
      </p:sp>
      <p:sp>
        <p:nvSpPr>
          <p:cNvPr id="18" name="Text 15"/>
          <p:cNvSpPr/>
          <p:nvPr/>
        </p:nvSpPr>
        <p:spPr>
          <a:xfrm>
            <a:off x="6414516" y="5193792"/>
            <a:ext cx="2178558" cy="566928"/>
          </a:xfrm>
          <a:prstGeom prst="rect">
            <a:avLst/>
          </a:prstGeom>
          <a:noFill/>
          <a:ln/>
        </p:spPr>
        <p:txBody>
          <a:bodyPr wrap="square" lIns="0" tIns="0" rIns="0" bIns="0" rtlCol="0" anchor="ctr"/>
          <a:lstStyle/>
          <a:p>
            <a:pPr indent="0" marL="0">
              <a:buNone/>
            </a:pPr>
            <a:r>
              <a:rPr lang="en-US" sz="3000" b="1" dirty="0">
                <a:solidFill>
                  <a:srgbClr val="E8491D"/>
                </a:solidFill>
                <a:latin typeface="Arial" pitchFamily="34" charset="0"/>
                <a:ea typeface="Arial" pitchFamily="34" charset="-122"/>
                <a:cs typeface="Arial" pitchFamily="34" charset="-120"/>
              </a:rPr>
              <a:t>65%</a:t>
            </a:r>
            <a:endParaRPr lang="en-US" sz="3000" dirty="0"/>
          </a:p>
        </p:txBody>
      </p:sp>
      <p:sp>
        <p:nvSpPr>
          <p:cNvPr id="19" name="Text 16"/>
          <p:cNvSpPr/>
          <p:nvPr/>
        </p:nvSpPr>
        <p:spPr>
          <a:xfrm>
            <a:off x="6414516" y="5779008"/>
            <a:ext cx="2178558" cy="45720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hands-on practical delivery</a:t>
            </a:r>
            <a:endParaRPr lang="en-US" sz="1050" dirty="0"/>
          </a:p>
        </p:txBody>
      </p:sp>
      <p:sp>
        <p:nvSpPr>
          <p:cNvPr id="20" name="Shape 17"/>
          <p:cNvSpPr/>
          <p:nvPr/>
        </p:nvSpPr>
        <p:spPr>
          <a:xfrm>
            <a:off x="9050274" y="5074920"/>
            <a:ext cx="2544318" cy="1234440"/>
          </a:xfrm>
          <a:prstGeom prst="roundRect">
            <a:avLst>
              <a:gd name="adj" fmla="val 5926"/>
            </a:avLst>
          </a:prstGeom>
          <a:solidFill>
            <a:srgbClr val="F3F4F5"/>
          </a:solidFill>
          <a:ln/>
        </p:spPr>
      </p:sp>
      <p:sp>
        <p:nvSpPr>
          <p:cNvPr id="21" name="Text 18"/>
          <p:cNvSpPr/>
          <p:nvPr/>
        </p:nvSpPr>
        <p:spPr>
          <a:xfrm>
            <a:off x="9233154" y="5193792"/>
            <a:ext cx="2178558" cy="566928"/>
          </a:xfrm>
          <a:prstGeom prst="rect">
            <a:avLst/>
          </a:prstGeom>
          <a:noFill/>
          <a:ln/>
        </p:spPr>
        <p:txBody>
          <a:bodyPr wrap="square" lIns="0" tIns="0" rIns="0" bIns="0" rtlCol="0" anchor="ctr"/>
          <a:lstStyle/>
          <a:p>
            <a:pPr indent="0" marL="0">
              <a:buNone/>
            </a:pPr>
            <a:r>
              <a:rPr lang="en-US" sz="3000" b="1" dirty="0">
                <a:solidFill>
                  <a:srgbClr val="E8491D"/>
                </a:solidFill>
                <a:latin typeface="Arial" pitchFamily="34" charset="0"/>
                <a:ea typeface="Arial" pitchFamily="34" charset="-122"/>
                <a:cs typeface="Arial" pitchFamily="34" charset="-120"/>
              </a:rPr>
              <a:t>100%</a:t>
            </a:r>
            <a:endParaRPr lang="en-US" sz="3000" dirty="0"/>
          </a:p>
        </p:txBody>
      </p:sp>
      <p:sp>
        <p:nvSpPr>
          <p:cNvPr id="22" name="Text 19"/>
          <p:cNvSpPr/>
          <p:nvPr/>
        </p:nvSpPr>
        <p:spPr>
          <a:xfrm>
            <a:off x="9233154" y="5779008"/>
            <a:ext cx="2178558" cy="45720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scenario-based assessment</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1C"/>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9AA5AD"/>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9AA5AD"/>
                </a:solidFill>
                <a:latin typeface="Arial" pitchFamily="34" charset="0"/>
                <a:ea typeface="Arial" pitchFamily="34" charset="-122"/>
                <a:cs typeface="Arial" pitchFamily="34" charset="-120"/>
              </a:rPr>
              <a:t>04</a:t>
            </a:r>
            <a:endParaRPr lang="en-US" sz="850" dirty="0"/>
          </a:p>
        </p:txBody>
      </p:sp>
      <p:pic>
        <p:nvPicPr>
          <p:cNvPr id="4" name="Image 0" descr="/home/user/My-Future-Idaes/SANAD-Fire-Team-Leader-Course/assets/img/flames.jpg">    </p:cNvPr>
          <p:cNvPicPr>
            <a:picLocks noChangeAspect="1"/>
          </p:cNvPicPr>
          <p:nvPr/>
        </p:nvPicPr>
        <p:blipFill>
          <a:blip r:embed="rId1"/>
          <a:srcRect l="0" r="0" t="0" b="0"/>
          <a:stretch/>
        </p:blipFill>
        <p:spPr>
          <a:xfrm>
            <a:off x="6400800" y="0"/>
            <a:ext cx="5788152" cy="6858000"/>
          </a:xfrm>
          <a:prstGeom prst="rect">
            <a:avLst/>
          </a:prstGeom>
        </p:spPr>
      </p:pic>
      <p:sp>
        <p:nvSpPr>
          <p:cNvPr id="5" name="Shape 2"/>
          <p:cNvSpPr/>
          <p:nvPr/>
        </p:nvSpPr>
        <p:spPr>
          <a:xfrm>
            <a:off x="6400800" y="0"/>
            <a:ext cx="5788152" cy="6858000"/>
          </a:xfrm>
          <a:prstGeom prst="rect">
            <a:avLst/>
          </a:prstGeom>
          <a:solidFill>
            <a:srgbClr val="14181C">
              <a:alpha val="22000"/>
            </a:srgbClr>
          </a:solidFill>
          <a:ln/>
        </p:spPr>
      </p:sp>
      <p:sp>
        <p:nvSpPr>
          <p:cNvPr id="6" name="Text 3"/>
          <p:cNvSpPr/>
          <p:nvPr/>
        </p:nvSpPr>
        <p:spPr>
          <a:xfrm>
            <a:off x="594360" y="502920"/>
            <a:ext cx="5486400"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WHY THIS COURSE EXISTS</a:t>
            </a:r>
            <a:endParaRPr lang="en-US" sz="1200" dirty="0"/>
          </a:p>
        </p:txBody>
      </p:sp>
      <p:sp>
        <p:nvSpPr>
          <p:cNvPr id="7" name="Text 4"/>
          <p:cNvSpPr/>
          <p:nvPr/>
        </p:nvSpPr>
        <p:spPr>
          <a:xfrm>
            <a:off x="594360" y="868680"/>
            <a:ext cx="5669280" cy="1463040"/>
          </a:xfrm>
          <a:prstGeom prst="rect">
            <a:avLst/>
          </a:prstGeom>
          <a:noFill/>
          <a:ln/>
        </p:spPr>
        <p:txBody>
          <a:bodyPr wrap="square" lIns="0" tIns="0" rIns="0" bIns="0" rtlCol="0" anchor="ctr"/>
          <a:lstStyle/>
          <a:p>
            <a:pPr indent="0" marL="0">
              <a:lnSpc>
                <a:spcPts val="3800"/>
              </a:lnSpc>
              <a:buNone/>
            </a:pPr>
            <a:r>
              <a:rPr lang="en-US" sz="3200" b="1" dirty="0">
                <a:solidFill>
                  <a:srgbClr val="FFFFFF"/>
                </a:solidFill>
                <a:latin typeface="Arial" pitchFamily="34" charset="0"/>
                <a:ea typeface="Arial" pitchFamily="34" charset="-122"/>
                <a:cs typeface="Arial" pitchFamily="34" charset="-120"/>
              </a:rPr>
              <a:t>The first five minutes</a:t>
            </a:r>
            <a:endParaRPr lang="en-US" sz="3200" dirty="0"/>
          </a:p>
          <a:p>
            <a:pPr indent="0" marL="0">
              <a:lnSpc>
                <a:spcPts val="3800"/>
              </a:lnSpc>
              <a:buNone/>
            </a:pPr>
            <a:r>
              <a:rPr lang="en-US" sz="3200" b="1" dirty="0">
                <a:solidFill>
                  <a:srgbClr val="FFFFFF"/>
                </a:solidFill>
                <a:latin typeface="Arial" pitchFamily="34" charset="0"/>
                <a:ea typeface="Arial" pitchFamily="34" charset="-122"/>
                <a:cs typeface="Arial" pitchFamily="34" charset="-120"/>
              </a:rPr>
              <a:t>decide the outcome.</a:t>
            </a:r>
            <a:endParaRPr lang="en-US" sz="3200" dirty="0"/>
          </a:p>
        </p:txBody>
      </p:sp>
      <p:sp>
        <p:nvSpPr>
          <p:cNvPr id="8" name="Text 5"/>
          <p:cNvSpPr/>
          <p:nvPr/>
        </p:nvSpPr>
        <p:spPr>
          <a:xfrm>
            <a:off x="594360" y="2468880"/>
            <a:ext cx="5577840" cy="2286000"/>
          </a:xfrm>
          <a:prstGeom prst="rect">
            <a:avLst/>
          </a:prstGeom>
          <a:noFill/>
          <a:ln/>
        </p:spPr>
        <p:txBody>
          <a:bodyPr wrap="square" rtlCol="0" anchor="ctr"/>
          <a:lstStyle/>
          <a:p>
            <a:pPr marL="177800" indent="-177800">
              <a:spcAft>
                <a:spcPts val="1000"/>
              </a:spcAft>
              <a:buSzPct val="100000"/>
              <a:buChar char="•"/>
            </a:pPr>
            <a:r>
              <a:rPr lang="en-US" sz="1350" dirty="0">
                <a:solidFill>
                  <a:srgbClr val="D9DEE2"/>
                </a:solidFill>
                <a:latin typeface="Arial" pitchFamily="34" charset="0"/>
                <a:ea typeface="Arial" pitchFamily="34" charset="-122"/>
                <a:cs typeface="Arial" pitchFamily="34" charset="-120"/>
              </a:rPr>
              <a:t>A rig fire near fuel, mud gas or the wellhead can escalate from incident to catastrophe in minutes</a:t>
            </a:r>
            <a:endParaRPr lang="en-US" sz="1350" dirty="0"/>
          </a:p>
          <a:p>
            <a:pPr marL="177800" indent="-177800">
              <a:spcAft>
                <a:spcPts val="1000"/>
              </a:spcAft>
              <a:buSzPct val="100000"/>
              <a:buChar char="•"/>
            </a:pPr>
            <a:r>
              <a:rPr lang="en-US" sz="1350" dirty="0">
                <a:solidFill>
                  <a:srgbClr val="D9DEE2"/>
                </a:solidFill>
                <a:latin typeface="Arial" pitchFamily="34" charset="0"/>
                <a:ea typeface="Arial" pitchFamily="34" charset="-122"/>
                <a:cs typeface="Arial" pitchFamily="34" charset="-120"/>
              </a:rPr>
              <a:t>Remote desert sites mean no cavalry — the on-site team leader owns the response</a:t>
            </a:r>
            <a:endParaRPr lang="en-US" sz="1350" dirty="0"/>
          </a:p>
          <a:p>
            <a:pPr marL="177800" indent="-177800">
              <a:spcAft>
                <a:spcPts val="1000"/>
              </a:spcAft>
              <a:buSzPct val="100000"/>
              <a:buChar char="•"/>
            </a:pPr>
            <a:r>
              <a:rPr lang="en-US" sz="1350" dirty="0">
                <a:solidFill>
                  <a:srgbClr val="D9DEE2"/>
                </a:solidFill>
                <a:latin typeface="Arial" pitchFamily="34" charset="0"/>
                <a:ea typeface="Arial" pitchFamily="34" charset="-122"/>
                <a:cs typeface="Arial" pitchFamily="34" charset="-120"/>
              </a:rPr>
              <a:t>Saudi Aramco holds contractors to the highest emergency-readiness standard in the region</a:t>
            </a:r>
            <a:endParaRPr lang="en-US" sz="1350" dirty="0"/>
          </a:p>
          <a:p>
            <a:pPr marL="177800" indent="-177800">
              <a:spcAft>
                <a:spcPts val="1000"/>
              </a:spcAft>
              <a:buSzPct val="100000"/>
              <a:buChar char="•"/>
            </a:pPr>
            <a:r>
              <a:rPr lang="en-US" sz="1350" dirty="0">
                <a:solidFill>
                  <a:srgbClr val="D9DEE2"/>
                </a:solidFill>
                <a:latin typeface="Arial" pitchFamily="34" charset="0"/>
                <a:ea typeface="Arial" pitchFamily="34" charset="-122"/>
                <a:cs typeface="Arial" pitchFamily="34" charset="-120"/>
              </a:rPr>
              <a:t>Equipment can be replaced. Trained, led, disciplined people are what save lives</a:t>
            </a:r>
            <a:endParaRPr lang="en-US" sz="1350" dirty="0"/>
          </a:p>
        </p:txBody>
      </p:sp>
      <p:sp>
        <p:nvSpPr>
          <p:cNvPr id="9" name="Shape 6"/>
          <p:cNvSpPr/>
          <p:nvPr/>
        </p:nvSpPr>
        <p:spPr>
          <a:xfrm>
            <a:off x="594360" y="5074920"/>
            <a:ext cx="1755648" cy="1234440"/>
          </a:xfrm>
          <a:prstGeom prst="roundRect">
            <a:avLst>
              <a:gd name="adj" fmla="val 5926"/>
            </a:avLst>
          </a:prstGeom>
          <a:solidFill>
            <a:srgbClr val="1F262C"/>
          </a:solidFill>
          <a:ln w="9525">
            <a:solidFill>
              <a:srgbClr val="39434B"/>
            </a:solidFill>
            <a:prstDash val="solid"/>
          </a:ln>
        </p:spPr>
      </p:sp>
      <p:sp>
        <p:nvSpPr>
          <p:cNvPr id="10" name="Text 7"/>
          <p:cNvSpPr/>
          <p:nvPr/>
        </p:nvSpPr>
        <p:spPr>
          <a:xfrm>
            <a:off x="731520" y="5175504"/>
            <a:ext cx="1481328" cy="502920"/>
          </a:xfrm>
          <a:prstGeom prst="rect">
            <a:avLst/>
          </a:prstGeom>
          <a:noFill/>
          <a:ln/>
        </p:spPr>
        <p:txBody>
          <a:bodyPr wrap="square" lIns="0" tIns="0" rIns="0" bIns="0" rtlCol="0" anchor="ctr"/>
          <a:lstStyle/>
          <a:p>
            <a:pPr indent="0" marL="0">
              <a:buNone/>
            </a:pPr>
            <a:r>
              <a:rPr lang="en-US" sz="2100" b="1" dirty="0">
                <a:solidFill>
                  <a:srgbClr val="F5A623"/>
                </a:solidFill>
                <a:latin typeface="Arial" pitchFamily="34" charset="0"/>
                <a:ea typeface="Arial" pitchFamily="34" charset="-122"/>
                <a:cs typeface="Arial" pitchFamily="34" charset="-120"/>
              </a:rPr>
              <a:t>5 min</a:t>
            </a:r>
            <a:endParaRPr lang="en-US" sz="2100" dirty="0"/>
          </a:p>
        </p:txBody>
      </p:sp>
      <p:sp>
        <p:nvSpPr>
          <p:cNvPr id="11" name="Text 8"/>
          <p:cNvSpPr/>
          <p:nvPr/>
        </p:nvSpPr>
        <p:spPr>
          <a:xfrm>
            <a:off x="731520" y="5687568"/>
            <a:ext cx="1481328" cy="548640"/>
          </a:xfrm>
          <a:prstGeom prst="rect">
            <a:avLst/>
          </a:prstGeom>
          <a:noFill/>
          <a:ln/>
        </p:spPr>
        <p:txBody>
          <a:bodyPr wrap="square" lIns="0" tIns="0" rIns="0" bIns="0" rtlCol="0" anchor="ctr"/>
          <a:lstStyle/>
          <a:p>
            <a:pPr indent="0" marL="0">
              <a:buNone/>
            </a:pPr>
            <a:r>
              <a:rPr lang="en-US" sz="950" dirty="0">
                <a:solidFill>
                  <a:srgbClr val="9AA5AD"/>
                </a:solidFill>
                <a:latin typeface="Arial" pitchFamily="34" charset="0"/>
                <a:ea typeface="Arial" pitchFamily="34" charset="-122"/>
                <a:cs typeface="Arial" pitchFamily="34" charset="-120"/>
              </a:rPr>
              <a:t>window that decides escalation</a:t>
            </a:r>
            <a:endParaRPr lang="en-US" sz="950" dirty="0"/>
          </a:p>
        </p:txBody>
      </p:sp>
      <p:sp>
        <p:nvSpPr>
          <p:cNvPr id="12" name="Shape 9"/>
          <p:cNvSpPr/>
          <p:nvPr/>
        </p:nvSpPr>
        <p:spPr>
          <a:xfrm>
            <a:off x="2532888" y="5074920"/>
            <a:ext cx="1755648" cy="1234440"/>
          </a:xfrm>
          <a:prstGeom prst="roundRect">
            <a:avLst>
              <a:gd name="adj" fmla="val 5926"/>
            </a:avLst>
          </a:prstGeom>
          <a:solidFill>
            <a:srgbClr val="1F262C"/>
          </a:solidFill>
          <a:ln w="9525">
            <a:solidFill>
              <a:srgbClr val="39434B"/>
            </a:solidFill>
            <a:prstDash val="solid"/>
          </a:ln>
        </p:spPr>
      </p:sp>
      <p:sp>
        <p:nvSpPr>
          <p:cNvPr id="13" name="Text 10"/>
          <p:cNvSpPr/>
          <p:nvPr/>
        </p:nvSpPr>
        <p:spPr>
          <a:xfrm>
            <a:off x="2670048" y="5175504"/>
            <a:ext cx="1481328" cy="502920"/>
          </a:xfrm>
          <a:prstGeom prst="rect">
            <a:avLst/>
          </a:prstGeom>
          <a:noFill/>
          <a:ln/>
        </p:spPr>
        <p:txBody>
          <a:bodyPr wrap="square" lIns="0" tIns="0" rIns="0" bIns="0" rtlCol="0" anchor="ctr"/>
          <a:lstStyle/>
          <a:p>
            <a:pPr indent="0" marL="0">
              <a:buNone/>
            </a:pPr>
            <a:r>
              <a:rPr lang="en-US" sz="2100" b="1" dirty="0">
                <a:solidFill>
                  <a:srgbClr val="F5A623"/>
                </a:solidFill>
                <a:latin typeface="Arial" pitchFamily="34" charset="0"/>
                <a:ea typeface="Arial" pitchFamily="34" charset="-122"/>
                <a:cs typeface="Arial" pitchFamily="34" charset="-120"/>
              </a:rPr>
              <a:t>1 leader</a:t>
            </a:r>
            <a:endParaRPr lang="en-US" sz="2100" dirty="0"/>
          </a:p>
        </p:txBody>
      </p:sp>
      <p:sp>
        <p:nvSpPr>
          <p:cNvPr id="14" name="Text 11"/>
          <p:cNvSpPr/>
          <p:nvPr/>
        </p:nvSpPr>
        <p:spPr>
          <a:xfrm>
            <a:off x="2670048" y="5687568"/>
            <a:ext cx="1481328" cy="548640"/>
          </a:xfrm>
          <a:prstGeom prst="rect">
            <a:avLst/>
          </a:prstGeom>
          <a:noFill/>
          <a:ln/>
        </p:spPr>
        <p:txBody>
          <a:bodyPr wrap="square" lIns="0" tIns="0" rIns="0" bIns="0" rtlCol="0" anchor="ctr"/>
          <a:lstStyle/>
          <a:p>
            <a:pPr indent="0" marL="0">
              <a:buNone/>
            </a:pPr>
            <a:r>
              <a:rPr lang="en-US" sz="950" dirty="0">
                <a:solidFill>
                  <a:srgbClr val="9AA5AD"/>
                </a:solidFill>
                <a:latin typeface="Arial" pitchFamily="34" charset="0"/>
                <a:ea typeface="Arial" pitchFamily="34" charset="-122"/>
                <a:cs typeface="Arial" pitchFamily="34" charset="-120"/>
              </a:rPr>
              <a:t>sets the tempo for every crew</a:t>
            </a:r>
            <a:endParaRPr lang="en-US" sz="950" dirty="0"/>
          </a:p>
        </p:txBody>
      </p:sp>
      <p:sp>
        <p:nvSpPr>
          <p:cNvPr id="15" name="Shape 12"/>
          <p:cNvSpPr/>
          <p:nvPr/>
        </p:nvSpPr>
        <p:spPr>
          <a:xfrm>
            <a:off x="4471416" y="5074920"/>
            <a:ext cx="1755648" cy="1234440"/>
          </a:xfrm>
          <a:prstGeom prst="roundRect">
            <a:avLst>
              <a:gd name="adj" fmla="val 5926"/>
            </a:avLst>
          </a:prstGeom>
          <a:solidFill>
            <a:srgbClr val="1F262C"/>
          </a:solidFill>
          <a:ln w="9525">
            <a:solidFill>
              <a:srgbClr val="39434B"/>
            </a:solidFill>
            <a:prstDash val="solid"/>
          </a:ln>
        </p:spPr>
      </p:sp>
      <p:sp>
        <p:nvSpPr>
          <p:cNvPr id="16" name="Text 13"/>
          <p:cNvSpPr/>
          <p:nvPr/>
        </p:nvSpPr>
        <p:spPr>
          <a:xfrm>
            <a:off x="4608576" y="5175504"/>
            <a:ext cx="1481328" cy="502920"/>
          </a:xfrm>
          <a:prstGeom prst="rect">
            <a:avLst/>
          </a:prstGeom>
          <a:noFill/>
          <a:ln/>
        </p:spPr>
        <p:txBody>
          <a:bodyPr wrap="square" lIns="0" tIns="0" rIns="0" bIns="0" rtlCol="0" anchor="ctr"/>
          <a:lstStyle/>
          <a:p>
            <a:pPr indent="0" marL="0">
              <a:buNone/>
            </a:pPr>
            <a:r>
              <a:rPr lang="en-US" sz="2100" b="1" dirty="0">
                <a:solidFill>
                  <a:srgbClr val="F5A623"/>
                </a:solidFill>
                <a:latin typeface="Arial" pitchFamily="34" charset="0"/>
                <a:ea typeface="Arial" pitchFamily="34" charset="-122"/>
                <a:cs typeface="Arial" pitchFamily="34" charset="-120"/>
              </a:rPr>
              <a:t>0</a:t>
            </a:r>
            <a:endParaRPr lang="en-US" sz="2100" dirty="0"/>
          </a:p>
        </p:txBody>
      </p:sp>
      <p:sp>
        <p:nvSpPr>
          <p:cNvPr id="17" name="Text 14"/>
          <p:cNvSpPr/>
          <p:nvPr/>
        </p:nvSpPr>
        <p:spPr>
          <a:xfrm>
            <a:off x="4608576" y="5687568"/>
            <a:ext cx="1481328" cy="548640"/>
          </a:xfrm>
          <a:prstGeom prst="rect">
            <a:avLst/>
          </a:prstGeom>
          <a:noFill/>
          <a:ln/>
        </p:spPr>
        <p:txBody>
          <a:bodyPr wrap="square" lIns="0" tIns="0" rIns="0" bIns="0" rtlCol="0" anchor="ctr"/>
          <a:lstStyle/>
          <a:p>
            <a:pPr indent="0" marL="0">
              <a:buNone/>
            </a:pPr>
            <a:r>
              <a:rPr lang="en-US" sz="950" dirty="0">
                <a:solidFill>
                  <a:srgbClr val="9AA5AD"/>
                </a:solidFill>
                <a:latin typeface="Arial" pitchFamily="34" charset="0"/>
                <a:ea typeface="Arial" pitchFamily="34" charset="-122"/>
                <a:cs typeface="Arial" pitchFamily="34" charset="-120"/>
              </a:rPr>
              <a:t>the only acceptable loss of life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05</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THE NEFT APPROACH</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Not another fire course</a:t>
            </a:r>
            <a:endParaRPr lang="en-US" sz="3000" dirty="0"/>
          </a:p>
        </p:txBody>
      </p:sp>
      <p:sp>
        <p:nvSpPr>
          <p:cNvPr id="6" name="Text 4"/>
          <p:cNvSpPr/>
          <p:nvPr/>
        </p:nvSpPr>
        <p:spPr>
          <a:xfrm>
            <a:off x="594360" y="1481328"/>
            <a:ext cx="10515600" cy="457200"/>
          </a:xfrm>
          <a:prstGeom prst="rect">
            <a:avLst/>
          </a:prstGeom>
          <a:noFill/>
          <a:ln/>
        </p:spPr>
        <p:txBody>
          <a:bodyPr wrap="square" lIns="0" tIns="0" rIns="0" bIns="0" rtlCol="0" anchor="ctr"/>
          <a:lstStyle/>
          <a:p>
            <a:pPr indent="0" marL="0">
              <a:buNone/>
            </a:pPr>
            <a:r>
              <a:rPr lang="en-US" sz="1450" i="1" dirty="0">
                <a:solidFill>
                  <a:srgbClr val="5A646C"/>
                </a:solidFill>
                <a:latin typeface="Arial" pitchFamily="34" charset="0"/>
                <a:ea typeface="Arial" pitchFamily="34" charset="-122"/>
                <a:cs typeface="Arial" pitchFamily="34" charset="-120"/>
              </a:rPr>
              <a:t>Most fire training teaches hands. This course trains the head that commands them — then proves it under realistic pressure.</a:t>
            </a:r>
            <a:endParaRPr lang="en-US" sz="1450" dirty="0"/>
          </a:p>
        </p:txBody>
      </p:sp>
      <p:sp>
        <p:nvSpPr>
          <p:cNvPr id="7" name="Shape 5"/>
          <p:cNvSpPr/>
          <p:nvPr/>
        </p:nvSpPr>
        <p:spPr>
          <a:xfrm>
            <a:off x="594360" y="2240280"/>
            <a:ext cx="2510028" cy="3657600"/>
          </a:xfrm>
          <a:prstGeom prst="roundRect">
            <a:avLst>
              <a:gd name="adj" fmla="val 3643"/>
            </a:avLst>
          </a:prstGeom>
          <a:solidFill>
            <a:srgbClr val="F3F4F5"/>
          </a:solidFill>
          <a:ln/>
        </p:spPr>
      </p:sp>
      <p:sp>
        <p:nvSpPr>
          <p:cNvPr id="8" name="Shape 6"/>
          <p:cNvSpPr/>
          <p:nvPr/>
        </p:nvSpPr>
        <p:spPr>
          <a:xfrm>
            <a:off x="822960" y="2514600"/>
            <a:ext cx="603504" cy="603504"/>
          </a:xfrm>
          <a:prstGeom prst="ellipse">
            <a:avLst/>
          </a:prstGeom>
          <a:solidFill>
            <a:srgbClr val="E8491D"/>
          </a:solidFill>
          <a:ln/>
        </p:spPr>
      </p:sp>
      <p:pic>
        <p:nvPicPr>
          <p:cNvPr id="9" name="Image 0" descr="/tmp/claude-0/-home-user-My-Future-Idaes/0806094f-208a-506e-82b2-f78683d50c82/scratchpad/icons/FaChess_white.png">    </p:cNvPr>
          <p:cNvPicPr>
            <a:picLocks noChangeAspect="1"/>
          </p:cNvPicPr>
          <p:nvPr/>
        </p:nvPicPr>
        <p:blipFill>
          <a:blip r:embed="rId1"/>
          <a:stretch>
            <a:fillRect/>
          </a:stretch>
        </p:blipFill>
        <p:spPr>
          <a:xfrm>
            <a:off x="967801" y="2659441"/>
            <a:ext cx="313822" cy="313822"/>
          </a:xfrm>
          <a:prstGeom prst="rect">
            <a:avLst/>
          </a:prstGeom>
        </p:spPr>
      </p:pic>
      <p:sp>
        <p:nvSpPr>
          <p:cNvPr id="10" name="Text 7"/>
          <p:cNvSpPr/>
          <p:nvPr/>
        </p:nvSpPr>
        <p:spPr>
          <a:xfrm>
            <a:off x="822960" y="3291840"/>
            <a:ext cx="2052828" cy="594360"/>
          </a:xfrm>
          <a:prstGeom prst="rect">
            <a:avLst/>
          </a:prstGeom>
          <a:noFill/>
          <a:ln/>
        </p:spPr>
        <p:txBody>
          <a:bodyPr wrap="square" lIns="0" tIns="0" rIns="0" bIns="0" rtlCol="0" anchor="ctr"/>
          <a:lstStyle/>
          <a:p>
            <a:pPr indent="0" marL="0">
              <a:buNone/>
            </a:pPr>
            <a:r>
              <a:rPr lang="en-US" sz="1550" b="1" dirty="0">
                <a:solidFill>
                  <a:srgbClr val="1A2027"/>
                </a:solidFill>
                <a:latin typeface="Arial" pitchFamily="34" charset="0"/>
                <a:ea typeface="Arial" pitchFamily="34" charset="-122"/>
                <a:cs typeface="Arial" pitchFamily="34" charset="-120"/>
              </a:rPr>
              <a:t>Leadership first</a:t>
            </a:r>
            <a:endParaRPr lang="en-US" sz="1550" dirty="0"/>
          </a:p>
        </p:txBody>
      </p:sp>
      <p:sp>
        <p:nvSpPr>
          <p:cNvPr id="11" name="Text 8"/>
          <p:cNvSpPr/>
          <p:nvPr/>
        </p:nvSpPr>
        <p:spPr>
          <a:xfrm>
            <a:off x="822960" y="3913632"/>
            <a:ext cx="2052828" cy="1783080"/>
          </a:xfrm>
          <a:prstGeom prst="rect">
            <a:avLst/>
          </a:prstGeom>
          <a:noFill/>
          <a:ln/>
        </p:spPr>
        <p:txBody>
          <a:bodyPr wrap="square" lIns="0" tIns="0" rIns="0" bIns="0" rtlCol="0" anchor="ctr"/>
          <a:lstStyle/>
          <a:p>
            <a:pPr indent="0" marL="0">
              <a:buNone/>
            </a:pPr>
            <a:r>
              <a:rPr lang="en-US" sz="1100" dirty="0">
                <a:solidFill>
                  <a:srgbClr val="5A646C"/>
                </a:solidFill>
                <a:latin typeface="Arial" pitchFamily="34" charset="0"/>
                <a:ea typeface="Arial" pitchFamily="34" charset="-122"/>
                <a:cs typeface="Arial" pitchFamily="34" charset="-120"/>
              </a:rPr>
              <a:t>Command presence, decision-making and authority under pressure — the core of every module, not an afterthought.</a:t>
            </a:r>
            <a:endParaRPr lang="en-US" sz="1100" dirty="0"/>
          </a:p>
        </p:txBody>
      </p:sp>
      <p:sp>
        <p:nvSpPr>
          <p:cNvPr id="12" name="Shape 9"/>
          <p:cNvSpPr/>
          <p:nvPr/>
        </p:nvSpPr>
        <p:spPr>
          <a:xfrm>
            <a:off x="3424428" y="2240280"/>
            <a:ext cx="2510028" cy="3657600"/>
          </a:xfrm>
          <a:prstGeom prst="roundRect">
            <a:avLst>
              <a:gd name="adj" fmla="val 3643"/>
            </a:avLst>
          </a:prstGeom>
          <a:solidFill>
            <a:srgbClr val="F3F4F5"/>
          </a:solidFill>
          <a:ln/>
        </p:spPr>
      </p:sp>
      <p:sp>
        <p:nvSpPr>
          <p:cNvPr id="13" name="Shape 10"/>
          <p:cNvSpPr/>
          <p:nvPr/>
        </p:nvSpPr>
        <p:spPr>
          <a:xfrm>
            <a:off x="3653028" y="2514600"/>
            <a:ext cx="603504" cy="603504"/>
          </a:xfrm>
          <a:prstGeom prst="ellipse">
            <a:avLst/>
          </a:prstGeom>
          <a:solidFill>
            <a:srgbClr val="E8491D"/>
          </a:solidFill>
          <a:ln/>
        </p:spPr>
      </p:sp>
      <p:pic>
        <p:nvPicPr>
          <p:cNvPr id="14" name="Image 1" descr="/tmp/claude-0/-home-user-My-Future-Idaes/0806094f-208a-506e-82b2-f78683d50c82/scratchpad/icons/FaFire_white.png">    </p:cNvPr>
          <p:cNvPicPr>
            <a:picLocks noChangeAspect="1"/>
          </p:cNvPicPr>
          <p:nvPr/>
        </p:nvPicPr>
        <p:blipFill>
          <a:blip r:embed="rId2"/>
          <a:stretch>
            <a:fillRect/>
          </a:stretch>
        </p:blipFill>
        <p:spPr>
          <a:xfrm>
            <a:off x="3797869" y="2659441"/>
            <a:ext cx="313822" cy="313822"/>
          </a:xfrm>
          <a:prstGeom prst="rect">
            <a:avLst/>
          </a:prstGeom>
        </p:spPr>
      </p:pic>
      <p:sp>
        <p:nvSpPr>
          <p:cNvPr id="15" name="Text 11"/>
          <p:cNvSpPr/>
          <p:nvPr/>
        </p:nvSpPr>
        <p:spPr>
          <a:xfrm>
            <a:off x="3653028" y="3291840"/>
            <a:ext cx="2052828" cy="594360"/>
          </a:xfrm>
          <a:prstGeom prst="rect">
            <a:avLst/>
          </a:prstGeom>
          <a:noFill/>
          <a:ln/>
        </p:spPr>
        <p:txBody>
          <a:bodyPr wrap="square" lIns="0" tIns="0" rIns="0" bIns="0" rtlCol="0" anchor="ctr"/>
          <a:lstStyle/>
          <a:p>
            <a:pPr indent="0" marL="0">
              <a:buNone/>
            </a:pPr>
            <a:r>
              <a:rPr lang="en-US" sz="1550" b="1" dirty="0">
                <a:solidFill>
                  <a:srgbClr val="1A2027"/>
                </a:solidFill>
                <a:latin typeface="Arial" pitchFamily="34" charset="0"/>
                <a:ea typeface="Arial" pitchFamily="34" charset="-122"/>
                <a:cs typeface="Arial" pitchFamily="34" charset="-120"/>
              </a:rPr>
              <a:t>Real fire realism</a:t>
            </a:r>
            <a:endParaRPr lang="en-US" sz="1550" dirty="0"/>
          </a:p>
        </p:txBody>
      </p:sp>
      <p:sp>
        <p:nvSpPr>
          <p:cNvPr id="16" name="Text 12"/>
          <p:cNvSpPr/>
          <p:nvPr/>
        </p:nvSpPr>
        <p:spPr>
          <a:xfrm>
            <a:off x="3653028" y="3913632"/>
            <a:ext cx="2052828" cy="1783080"/>
          </a:xfrm>
          <a:prstGeom prst="rect">
            <a:avLst/>
          </a:prstGeom>
          <a:noFill/>
          <a:ln/>
        </p:spPr>
        <p:txBody>
          <a:bodyPr wrap="square" lIns="0" tIns="0" rIns="0" bIns="0" rtlCol="0" anchor="ctr"/>
          <a:lstStyle/>
          <a:p>
            <a:pPr indent="0" marL="0">
              <a:buNone/>
            </a:pPr>
            <a:r>
              <a:rPr lang="en-US" sz="1100" dirty="0">
                <a:solidFill>
                  <a:srgbClr val="5A646C"/>
                </a:solidFill>
                <a:latin typeface="Arial" pitchFamily="34" charset="0"/>
                <a:ea typeface="Arial" pitchFamily="34" charset="-122"/>
                <a:cs typeface="Arial" pitchFamily="34" charset="-120"/>
              </a:rPr>
              <a:t>Drills and simulations mirror drilling-rig fires: fuel, wellhead, mud gas, H2S — the fires SANAD crews could actually face.</a:t>
            </a:r>
            <a:endParaRPr lang="en-US" sz="1100" dirty="0"/>
          </a:p>
        </p:txBody>
      </p:sp>
      <p:sp>
        <p:nvSpPr>
          <p:cNvPr id="17" name="Shape 13"/>
          <p:cNvSpPr/>
          <p:nvPr/>
        </p:nvSpPr>
        <p:spPr>
          <a:xfrm>
            <a:off x="6254496" y="2240280"/>
            <a:ext cx="2510028" cy="3657600"/>
          </a:xfrm>
          <a:prstGeom prst="roundRect">
            <a:avLst>
              <a:gd name="adj" fmla="val 3643"/>
            </a:avLst>
          </a:prstGeom>
          <a:solidFill>
            <a:srgbClr val="F3F4F5"/>
          </a:solidFill>
          <a:ln/>
        </p:spPr>
      </p:sp>
      <p:sp>
        <p:nvSpPr>
          <p:cNvPr id="18" name="Shape 14"/>
          <p:cNvSpPr/>
          <p:nvPr/>
        </p:nvSpPr>
        <p:spPr>
          <a:xfrm>
            <a:off x="6483096" y="2514600"/>
            <a:ext cx="603504" cy="603504"/>
          </a:xfrm>
          <a:prstGeom prst="ellipse">
            <a:avLst/>
          </a:prstGeom>
          <a:solidFill>
            <a:srgbClr val="E8491D"/>
          </a:solidFill>
          <a:ln/>
        </p:spPr>
      </p:sp>
      <p:pic>
        <p:nvPicPr>
          <p:cNvPr id="19" name="Image 2" descr="/tmp/claude-0/-home-user-My-Future-Idaes/0806094f-208a-506e-82b2-f78683d50c82/scratchpad/icons/FaBrain_white.png">    </p:cNvPr>
          <p:cNvPicPr>
            <a:picLocks noChangeAspect="1"/>
          </p:cNvPicPr>
          <p:nvPr/>
        </p:nvPicPr>
        <p:blipFill>
          <a:blip r:embed="rId3"/>
          <a:stretch>
            <a:fillRect/>
          </a:stretch>
        </p:blipFill>
        <p:spPr>
          <a:xfrm>
            <a:off x="6627937" y="2659441"/>
            <a:ext cx="313822" cy="313822"/>
          </a:xfrm>
          <a:prstGeom prst="rect">
            <a:avLst/>
          </a:prstGeom>
        </p:spPr>
      </p:pic>
      <p:sp>
        <p:nvSpPr>
          <p:cNvPr id="20" name="Text 15"/>
          <p:cNvSpPr/>
          <p:nvPr/>
        </p:nvSpPr>
        <p:spPr>
          <a:xfrm>
            <a:off x="6483096" y="3291840"/>
            <a:ext cx="2052828" cy="594360"/>
          </a:xfrm>
          <a:prstGeom prst="rect">
            <a:avLst/>
          </a:prstGeom>
          <a:noFill/>
          <a:ln/>
        </p:spPr>
        <p:txBody>
          <a:bodyPr wrap="square" lIns="0" tIns="0" rIns="0" bIns="0" rtlCol="0" anchor="ctr"/>
          <a:lstStyle/>
          <a:p>
            <a:pPr indent="0" marL="0">
              <a:buNone/>
            </a:pPr>
            <a:r>
              <a:rPr lang="en-US" sz="1550" b="1" dirty="0">
                <a:solidFill>
                  <a:srgbClr val="1A2027"/>
                </a:solidFill>
                <a:latin typeface="Arial" pitchFamily="34" charset="0"/>
                <a:ea typeface="Arial" pitchFamily="34" charset="-122"/>
                <a:cs typeface="Arial" pitchFamily="34" charset="-120"/>
              </a:rPr>
              <a:t>Human factors built in</a:t>
            </a:r>
            <a:endParaRPr lang="en-US" sz="1550" dirty="0"/>
          </a:p>
        </p:txBody>
      </p:sp>
      <p:sp>
        <p:nvSpPr>
          <p:cNvPr id="21" name="Text 16"/>
          <p:cNvSpPr/>
          <p:nvPr/>
        </p:nvSpPr>
        <p:spPr>
          <a:xfrm>
            <a:off x="6483096" y="3913632"/>
            <a:ext cx="2052828" cy="1783080"/>
          </a:xfrm>
          <a:prstGeom prst="rect">
            <a:avLst/>
          </a:prstGeom>
          <a:noFill/>
          <a:ln/>
        </p:spPr>
        <p:txBody>
          <a:bodyPr wrap="square" lIns="0" tIns="0" rIns="0" bIns="0" rtlCol="0" anchor="ctr"/>
          <a:lstStyle/>
          <a:p>
            <a:pPr indent="0" marL="0">
              <a:buNone/>
            </a:pPr>
            <a:r>
              <a:rPr lang="en-US" sz="1100" dirty="0">
                <a:solidFill>
                  <a:srgbClr val="5A646C"/>
                </a:solidFill>
                <a:latin typeface="Arial" pitchFamily="34" charset="0"/>
                <a:ea typeface="Arial" pitchFamily="34" charset="-122"/>
                <a:cs typeface="Arial" pitchFamily="34" charset="-120"/>
              </a:rPr>
              <a:t>Stress, panic, fear and discipline are trained deliberately — because people, not pumps, fail first.</a:t>
            </a:r>
            <a:endParaRPr lang="en-US" sz="1100" dirty="0"/>
          </a:p>
        </p:txBody>
      </p:sp>
      <p:sp>
        <p:nvSpPr>
          <p:cNvPr id="22" name="Shape 17"/>
          <p:cNvSpPr/>
          <p:nvPr/>
        </p:nvSpPr>
        <p:spPr>
          <a:xfrm>
            <a:off x="9084564" y="2240280"/>
            <a:ext cx="2510028" cy="3657600"/>
          </a:xfrm>
          <a:prstGeom prst="roundRect">
            <a:avLst>
              <a:gd name="adj" fmla="val 3643"/>
            </a:avLst>
          </a:prstGeom>
          <a:solidFill>
            <a:srgbClr val="F3F4F5"/>
          </a:solidFill>
          <a:ln/>
        </p:spPr>
      </p:sp>
      <p:sp>
        <p:nvSpPr>
          <p:cNvPr id="23" name="Shape 18"/>
          <p:cNvSpPr/>
          <p:nvPr/>
        </p:nvSpPr>
        <p:spPr>
          <a:xfrm>
            <a:off x="9313164" y="2514600"/>
            <a:ext cx="603504" cy="603504"/>
          </a:xfrm>
          <a:prstGeom prst="ellipse">
            <a:avLst/>
          </a:prstGeom>
          <a:solidFill>
            <a:srgbClr val="E8491D"/>
          </a:solidFill>
          <a:ln/>
        </p:spPr>
      </p:sp>
      <p:pic>
        <p:nvPicPr>
          <p:cNvPr id="24" name="Image 3" descr="/tmp/claude-0/-home-user-My-Future-Idaes/0806094f-208a-506e-82b2-f78683d50c82/scratchpad/icons/FaStopwatch_white.png">    </p:cNvPr>
          <p:cNvPicPr>
            <a:picLocks noChangeAspect="1"/>
          </p:cNvPicPr>
          <p:nvPr/>
        </p:nvPicPr>
        <p:blipFill>
          <a:blip r:embed="rId4"/>
          <a:stretch>
            <a:fillRect/>
          </a:stretch>
        </p:blipFill>
        <p:spPr>
          <a:xfrm>
            <a:off x="9458005" y="2659441"/>
            <a:ext cx="313822" cy="313822"/>
          </a:xfrm>
          <a:prstGeom prst="rect">
            <a:avLst/>
          </a:prstGeom>
        </p:spPr>
      </p:pic>
      <p:sp>
        <p:nvSpPr>
          <p:cNvPr id="25" name="Text 19"/>
          <p:cNvSpPr/>
          <p:nvPr/>
        </p:nvSpPr>
        <p:spPr>
          <a:xfrm>
            <a:off x="9313164" y="3291840"/>
            <a:ext cx="2052828" cy="594360"/>
          </a:xfrm>
          <a:prstGeom prst="rect">
            <a:avLst/>
          </a:prstGeom>
          <a:noFill/>
          <a:ln/>
        </p:spPr>
        <p:txBody>
          <a:bodyPr wrap="square" lIns="0" tIns="0" rIns="0" bIns="0" rtlCol="0" anchor="ctr"/>
          <a:lstStyle/>
          <a:p>
            <a:pPr indent="0" marL="0">
              <a:buNone/>
            </a:pPr>
            <a:r>
              <a:rPr lang="en-US" sz="1550" b="1" dirty="0">
                <a:solidFill>
                  <a:srgbClr val="1A2027"/>
                </a:solidFill>
                <a:latin typeface="Arial" pitchFamily="34" charset="0"/>
                <a:ea typeface="Arial" pitchFamily="34" charset="-122"/>
                <a:cs typeface="Arial" pitchFamily="34" charset="-120"/>
              </a:rPr>
              <a:t>60–65% practical</a:t>
            </a:r>
            <a:endParaRPr lang="en-US" sz="1550" dirty="0"/>
          </a:p>
        </p:txBody>
      </p:sp>
      <p:sp>
        <p:nvSpPr>
          <p:cNvPr id="26" name="Text 20"/>
          <p:cNvSpPr/>
          <p:nvPr/>
        </p:nvSpPr>
        <p:spPr>
          <a:xfrm>
            <a:off x="9313164" y="3913632"/>
            <a:ext cx="2052828" cy="1783080"/>
          </a:xfrm>
          <a:prstGeom prst="rect">
            <a:avLst/>
          </a:prstGeom>
          <a:noFill/>
          <a:ln/>
        </p:spPr>
        <p:txBody>
          <a:bodyPr wrap="square" lIns="0" tIns="0" rIns="0" bIns="0" rtlCol="0" anchor="ctr"/>
          <a:lstStyle/>
          <a:p>
            <a:pPr indent="0" marL="0">
              <a:buNone/>
            </a:pPr>
            <a:r>
              <a:rPr lang="en-US" sz="1100" dirty="0">
                <a:solidFill>
                  <a:srgbClr val="5A646C"/>
                </a:solidFill>
                <a:latin typeface="Arial" pitchFamily="34" charset="0"/>
                <a:ea typeface="Arial" pitchFamily="34" charset="-122"/>
                <a:cs typeface="Arial" pitchFamily="34" charset="-120"/>
              </a:rPr>
              <a:t>Most of the course is spent doing: role-plays, tactical drills, command simulations and a full-scale evaluated exercise.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06</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BY THE END OF THIS COURSE</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You will be able to…</a:t>
            </a:r>
            <a:endParaRPr lang="en-US" sz="3000" dirty="0"/>
          </a:p>
        </p:txBody>
      </p:sp>
      <p:sp>
        <p:nvSpPr>
          <p:cNvPr id="6" name="Shape 4"/>
          <p:cNvSpPr/>
          <p:nvPr/>
        </p:nvSpPr>
        <p:spPr>
          <a:xfrm>
            <a:off x="594360" y="1783080"/>
            <a:ext cx="512064" cy="512064"/>
          </a:xfrm>
          <a:prstGeom prst="ellipse">
            <a:avLst/>
          </a:prstGeom>
          <a:solidFill>
            <a:srgbClr val="E8491D"/>
          </a:solidFill>
          <a:ln/>
        </p:spPr>
      </p:sp>
      <p:pic>
        <p:nvPicPr>
          <p:cNvPr id="7" name="Image 0" descr="/tmp/claude-0/-home-user-My-Future-Idaes/0806094f-208a-506e-82b2-f78683d50c82/scratchpad/icons/FaUsers_white.png">    </p:cNvPr>
          <p:cNvPicPr>
            <a:picLocks noChangeAspect="1"/>
          </p:cNvPicPr>
          <p:nvPr/>
        </p:nvPicPr>
        <p:blipFill>
          <a:blip r:embed="rId1"/>
          <a:stretch>
            <a:fillRect/>
          </a:stretch>
        </p:blipFill>
        <p:spPr>
          <a:xfrm>
            <a:off x="717255" y="1905975"/>
            <a:ext cx="266273" cy="266273"/>
          </a:xfrm>
          <a:prstGeom prst="rect">
            <a:avLst/>
          </a:prstGeom>
        </p:spPr>
      </p:pic>
      <p:sp>
        <p:nvSpPr>
          <p:cNvPr id="8" name="Text 5"/>
          <p:cNvSpPr/>
          <p:nvPr/>
        </p:nvSpPr>
        <p:spPr>
          <a:xfrm>
            <a:off x="1307592" y="1709928"/>
            <a:ext cx="4754880" cy="777240"/>
          </a:xfrm>
          <a:prstGeom prst="rect">
            <a:avLst/>
          </a:prstGeom>
          <a:noFill/>
          <a:ln/>
        </p:spPr>
        <p:txBody>
          <a:bodyPr wrap="square" lIns="0" tIns="0" rIns="0" bIns="0" rtlCol="0" anchor="ctr"/>
          <a:lstStyle/>
          <a:p>
            <a:pPr indent="0" marL="0">
              <a:buNone/>
            </a:pPr>
            <a:r>
              <a:rPr lang="en-US" sz="1300" dirty="0">
                <a:solidFill>
                  <a:srgbClr val="1A2027"/>
                </a:solidFill>
                <a:latin typeface="Arial" pitchFamily="34" charset="0"/>
                <a:ea typeface="Arial" pitchFamily="34" charset="-122"/>
                <a:cs typeface="Arial" pitchFamily="34" charset="-120"/>
              </a:rPr>
              <a:t>Lead firefighting teams effectively — on shift, on scene, under fire</a:t>
            </a:r>
            <a:endParaRPr lang="en-US" sz="1300" dirty="0"/>
          </a:p>
        </p:txBody>
      </p:sp>
      <p:sp>
        <p:nvSpPr>
          <p:cNvPr id="9" name="Shape 6"/>
          <p:cNvSpPr/>
          <p:nvPr/>
        </p:nvSpPr>
        <p:spPr>
          <a:xfrm>
            <a:off x="6217920" y="1783080"/>
            <a:ext cx="512064" cy="512064"/>
          </a:xfrm>
          <a:prstGeom prst="ellipse">
            <a:avLst/>
          </a:prstGeom>
          <a:solidFill>
            <a:srgbClr val="E8491D"/>
          </a:solidFill>
          <a:ln/>
        </p:spPr>
      </p:sp>
      <p:pic>
        <p:nvPicPr>
          <p:cNvPr id="10" name="Image 1" descr="/tmp/claude-0/-home-user-My-Future-Idaes/0806094f-208a-506e-82b2-f78683d50c82/scratchpad/icons/FaEye_white.png">    </p:cNvPr>
          <p:cNvPicPr>
            <a:picLocks noChangeAspect="1"/>
          </p:cNvPicPr>
          <p:nvPr/>
        </p:nvPicPr>
        <p:blipFill>
          <a:blip r:embed="rId2"/>
          <a:stretch>
            <a:fillRect/>
          </a:stretch>
        </p:blipFill>
        <p:spPr>
          <a:xfrm>
            <a:off x="6340815" y="1905975"/>
            <a:ext cx="266273" cy="266273"/>
          </a:xfrm>
          <a:prstGeom prst="rect">
            <a:avLst/>
          </a:prstGeom>
        </p:spPr>
      </p:pic>
      <p:sp>
        <p:nvSpPr>
          <p:cNvPr id="11" name="Text 7"/>
          <p:cNvSpPr/>
          <p:nvPr/>
        </p:nvSpPr>
        <p:spPr>
          <a:xfrm>
            <a:off x="6931152" y="1709928"/>
            <a:ext cx="4754880" cy="777240"/>
          </a:xfrm>
          <a:prstGeom prst="rect">
            <a:avLst/>
          </a:prstGeom>
          <a:noFill/>
          <a:ln/>
        </p:spPr>
        <p:txBody>
          <a:bodyPr wrap="square" lIns="0" tIns="0" rIns="0" bIns="0" rtlCol="0" anchor="ctr"/>
          <a:lstStyle/>
          <a:p>
            <a:pPr indent="0" marL="0">
              <a:buNone/>
            </a:pPr>
            <a:r>
              <a:rPr lang="en-US" sz="1300" dirty="0">
                <a:solidFill>
                  <a:srgbClr val="1A2027"/>
                </a:solidFill>
                <a:latin typeface="Arial" pitchFamily="34" charset="0"/>
                <a:ea typeface="Arial" pitchFamily="34" charset="-122"/>
                <a:cs typeface="Arial" pitchFamily="34" charset="-120"/>
              </a:rPr>
              <a:t>Conduct dynamic risk assessments as conditions change</a:t>
            </a:r>
            <a:endParaRPr lang="en-US" sz="1300" dirty="0"/>
          </a:p>
        </p:txBody>
      </p:sp>
      <p:sp>
        <p:nvSpPr>
          <p:cNvPr id="12" name="Shape 8"/>
          <p:cNvSpPr/>
          <p:nvPr/>
        </p:nvSpPr>
        <p:spPr>
          <a:xfrm>
            <a:off x="594360" y="2862072"/>
            <a:ext cx="512064" cy="512064"/>
          </a:xfrm>
          <a:prstGeom prst="ellipse">
            <a:avLst/>
          </a:prstGeom>
          <a:solidFill>
            <a:srgbClr val="E8491D"/>
          </a:solidFill>
          <a:ln/>
        </p:spPr>
      </p:sp>
      <p:pic>
        <p:nvPicPr>
          <p:cNvPr id="13" name="Image 2" descr="/tmp/claude-0/-home-user-My-Future-Idaes/0806094f-208a-506e-82b2-f78683d50c82/scratchpad/icons/FaBolt_white.png">    </p:cNvPr>
          <p:cNvPicPr>
            <a:picLocks noChangeAspect="1"/>
          </p:cNvPicPr>
          <p:nvPr/>
        </p:nvPicPr>
        <p:blipFill>
          <a:blip r:embed="rId3"/>
          <a:stretch>
            <a:fillRect/>
          </a:stretch>
        </p:blipFill>
        <p:spPr>
          <a:xfrm>
            <a:off x="717255" y="2984967"/>
            <a:ext cx="266273" cy="266273"/>
          </a:xfrm>
          <a:prstGeom prst="rect">
            <a:avLst/>
          </a:prstGeom>
        </p:spPr>
      </p:pic>
      <p:sp>
        <p:nvSpPr>
          <p:cNvPr id="14" name="Text 9"/>
          <p:cNvSpPr/>
          <p:nvPr/>
        </p:nvSpPr>
        <p:spPr>
          <a:xfrm>
            <a:off x="1307592" y="2788920"/>
            <a:ext cx="4754880" cy="777240"/>
          </a:xfrm>
          <a:prstGeom prst="rect">
            <a:avLst/>
          </a:prstGeom>
          <a:noFill/>
          <a:ln/>
        </p:spPr>
        <p:txBody>
          <a:bodyPr wrap="square" lIns="0" tIns="0" rIns="0" bIns="0" rtlCol="0" anchor="ctr"/>
          <a:lstStyle/>
          <a:p>
            <a:pPr indent="0" marL="0">
              <a:buNone/>
            </a:pPr>
            <a:r>
              <a:rPr lang="en-US" sz="1300" dirty="0">
                <a:solidFill>
                  <a:srgbClr val="1A2027"/>
                </a:solidFill>
                <a:latin typeface="Arial" pitchFamily="34" charset="0"/>
                <a:ea typeface="Arial" pitchFamily="34" charset="-122"/>
                <a:cs typeface="Arial" pitchFamily="34" charset="-120"/>
              </a:rPr>
              <a:t>Make sound decisions under time pressure and uncertainty</a:t>
            </a:r>
            <a:endParaRPr lang="en-US" sz="1300" dirty="0"/>
          </a:p>
        </p:txBody>
      </p:sp>
      <p:sp>
        <p:nvSpPr>
          <p:cNvPr id="15" name="Shape 10"/>
          <p:cNvSpPr/>
          <p:nvPr/>
        </p:nvSpPr>
        <p:spPr>
          <a:xfrm>
            <a:off x="6217920" y="2862072"/>
            <a:ext cx="512064" cy="512064"/>
          </a:xfrm>
          <a:prstGeom prst="ellipse">
            <a:avLst/>
          </a:prstGeom>
          <a:solidFill>
            <a:srgbClr val="E8491D"/>
          </a:solidFill>
          <a:ln/>
        </p:spPr>
      </p:sp>
      <p:pic>
        <p:nvPicPr>
          <p:cNvPr id="16" name="Image 3" descr="/tmp/claude-0/-home-user-My-Future-Idaes/0806094f-208a-506e-82b2-f78683d50c82/scratchpad/icons/FaHeartbeat_white.png">    </p:cNvPr>
          <p:cNvPicPr>
            <a:picLocks noChangeAspect="1"/>
          </p:cNvPicPr>
          <p:nvPr/>
        </p:nvPicPr>
        <p:blipFill>
          <a:blip r:embed="rId4"/>
          <a:stretch>
            <a:fillRect/>
          </a:stretch>
        </p:blipFill>
        <p:spPr>
          <a:xfrm>
            <a:off x="6340815" y="2984967"/>
            <a:ext cx="266273" cy="266273"/>
          </a:xfrm>
          <a:prstGeom prst="rect">
            <a:avLst/>
          </a:prstGeom>
        </p:spPr>
      </p:pic>
      <p:sp>
        <p:nvSpPr>
          <p:cNvPr id="17" name="Text 11"/>
          <p:cNvSpPr/>
          <p:nvPr/>
        </p:nvSpPr>
        <p:spPr>
          <a:xfrm>
            <a:off x="6931152" y="2788920"/>
            <a:ext cx="4754880" cy="777240"/>
          </a:xfrm>
          <a:prstGeom prst="rect">
            <a:avLst/>
          </a:prstGeom>
          <a:noFill/>
          <a:ln/>
        </p:spPr>
        <p:txBody>
          <a:bodyPr wrap="square" lIns="0" tIns="0" rIns="0" bIns="0" rtlCol="0" anchor="ctr"/>
          <a:lstStyle/>
          <a:p>
            <a:pPr indent="0" marL="0">
              <a:buNone/>
            </a:pPr>
            <a:r>
              <a:rPr lang="en-US" sz="1300" dirty="0">
                <a:solidFill>
                  <a:srgbClr val="1A2027"/>
                </a:solidFill>
                <a:latin typeface="Arial" pitchFamily="34" charset="0"/>
                <a:ea typeface="Arial" pitchFamily="34" charset="-122"/>
                <a:cs typeface="Arial" pitchFamily="34" charset="-120"/>
              </a:rPr>
              <a:t>Manage team behavior, stress and performance in crisis</a:t>
            </a:r>
            <a:endParaRPr lang="en-US" sz="1300" dirty="0"/>
          </a:p>
        </p:txBody>
      </p:sp>
      <p:sp>
        <p:nvSpPr>
          <p:cNvPr id="18" name="Shape 12"/>
          <p:cNvSpPr/>
          <p:nvPr/>
        </p:nvSpPr>
        <p:spPr>
          <a:xfrm>
            <a:off x="594360" y="3941064"/>
            <a:ext cx="512064" cy="512064"/>
          </a:xfrm>
          <a:prstGeom prst="ellipse">
            <a:avLst/>
          </a:prstGeom>
          <a:solidFill>
            <a:srgbClr val="E8491D"/>
          </a:solidFill>
          <a:ln/>
        </p:spPr>
      </p:sp>
      <p:pic>
        <p:nvPicPr>
          <p:cNvPr id="19" name="Image 4" descr="/tmp/claude-0/-home-user-My-Future-Idaes/0806094f-208a-506e-82b2-f78683d50c82/scratchpad/icons/FaMapMarkedAlt_white.png">    </p:cNvPr>
          <p:cNvPicPr>
            <a:picLocks noChangeAspect="1"/>
          </p:cNvPicPr>
          <p:nvPr/>
        </p:nvPicPr>
        <p:blipFill>
          <a:blip r:embed="rId5"/>
          <a:stretch>
            <a:fillRect/>
          </a:stretch>
        </p:blipFill>
        <p:spPr>
          <a:xfrm>
            <a:off x="717255" y="4063959"/>
            <a:ext cx="266273" cy="266273"/>
          </a:xfrm>
          <a:prstGeom prst="rect">
            <a:avLst/>
          </a:prstGeom>
        </p:spPr>
      </p:pic>
      <p:sp>
        <p:nvSpPr>
          <p:cNvPr id="20" name="Text 13"/>
          <p:cNvSpPr/>
          <p:nvPr/>
        </p:nvSpPr>
        <p:spPr>
          <a:xfrm>
            <a:off x="1307592" y="3867912"/>
            <a:ext cx="4754880" cy="777240"/>
          </a:xfrm>
          <a:prstGeom prst="rect">
            <a:avLst/>
          </a:prstGeom>
          <a:noFill/>
          <a:ln/>
        </p:spPr>
        <p:txBody>
          <a:bodyPr wrap="square" lIns="0" tIns="0" rIns="0" bIns="0" rtlCol="0" anchor="ctr"/>
          <a:lstStyle/>
          <a:p>
            <a:pPr indent="0" marL="0">
              <a:buNone/>
            </a:pPr>
            <a:r>
              <a:rPr lang="en-US" sz="1300" dirty="0">
                <a:solidFill>
                  <a:srgbClr val="1A2027"/>
                </a:solidFill>
                <a:latin typeface="Arial" pitchFamily="34" charset="0"/>
                <a:ea typeface="Arial" pitchFamily="34" charset="-122"/>
                <a:cs typeface="Arial" pitchFamily="34" charset="-120"/>
              </a:rPr>
              <a:t>Apply structured emergency response strategies</a:t>
            </a:r>
            <a:endParaRPr lang="en-US" sz="1300" dirty="0"/>
          </a:p>
        </p:txBody>
      </p:sp>
      <p:sp>
        <p:nvSpPr>
          <p:cNvPr id="21" name="Shape 14"/>
          <p:cNvSpPr/>
          <p:nvPr/>
        </p:nvSpPr>
        <p:spPr>
          <a:xfrm>
            <a:off x="6217920" y="3941064"/>
            <a:ext cx="512064" cy="512064"/>
          </a:xfrm>
          <a:prstGeom prst="ellipse">
            <a:avLst/>
          </a:prstGeom>
          <a:solidFill>
            <a:srgbClr val="E8491D"/>
          </a:solidFill>
          <a:ln/>
        </p:spPr>
      </p:sp>
      <p:pic>
        <p:nvPicPr>
          <p:cNvPr id="22" name="Image 5" descr="/tmp/claude-0/-home-user-My-Future-Idaes/0806094f-208a-506e-82b2-f78683d50c82/scratchpad/icons/FaSitemap_white.png">    </p:cNvPr>
          <p:cNvPicPr>
            <a:picLocks noChangeAspect="1"/>
          </p:cNvPicPr>
          <p:nvPr/>
        </p:nvPicPr>
        <p:blipFill>
          <a:blip r:embed="rId6"/>
          <a:stretch>
            <a:fillRect/>
          </a:stretch>
        </p:blipFill>
        <p:spPr>
          <a:xfrm>
            <a:off x="6340815" y="4063959"/>
            <a:ext cx="266273" cy="266273"/>
          </a:xfrm>
          <a:prstGeom prst="rect">
            <a:avLst/>
          </a:prstGeom>
        </p:spPr>
      </p:pic>
      <p:sp>
        <p:nvSpPr>
          <p:cNvPr id="23" name="Text 15"/>
          <p:cNvSpPr/>
          <p:nvPr/>
        </p:nvSpPr>
        <p:spPr>
          <a:xfrm>
            <a:off x="6931152" y="3867912"/>
            <a:ext cx="4754880" cy="777240"/>
          </a:xfrm>
          <a:prstGeom prst="rect">
            <a:avLst/>
          </a:prstGeom>
          <a:noFill/>
          <a:ln/>
        </p:spPr>
        <p:txBody>
          <a:bodyPr wrap="square" lIns="0" tIns="0" rIns="0" bIns="0" rtlCol="0" anchor="ctr"/>
          <a:lstStyle/>
          <a:p>
            <a:pPr indent="0" marL="0">
              <a:buNone/>
            </a:pPr>
            <a:r>
              <a:rPr lang="en-US" sz="1300" dirty="0">
                <a:solidFill>
                  <a:srgbClr val="1A2027"/>
                </a:solidFill>
                <a:latin typeface="Arial" pitchFamily="34" charset="0"/>
                <a:ea typeface="Arial" pitchFamily="34" charset="-122"/>
                <a:cs typeface="Arial" pitchFamily="34" charset="-120"/>
              </a:rPr>
              <a:t>Lead incident command and multi-team coordination</a:t>
            </a:r>
            <a:endParaRPr lang="en-US" sz="1300" dirty="0"/>
          </a:p>
        </p:txBody>
      </p:sp>
      <p:sp>
        <p:nvSpPr>
          <p:cNvPr id="24" name="Shape 16"/>
          <p:cNvSpPr/>
          <p:nvPr/>
        </p:nvSpPr>
        <p:spPr>
          <a:xfrm>
            <a:off x="594360" y="5020056"/>
            <a:ext cx="512064" cy="512064"/>
          </a:xfrm>
          <a:prstGeom prst="ellipse">
            <a:avLst/>
          </a:prstGeom>
          <a:solidFill>
            <a:srgbClr val="E8491D"/>
          </a:solidFill>
          <a:ln/>
        </p:spPr>
      </p:sp>
      <p:pic>
        <p:nvPicPr>
          <p:cNvPr id="25" name="Image 6" descr="/tmp/claude-0/-home-user-My-Future-Idaes/0806094f-208a-506e-82b2-f78683d50c82/scratchpad/icons/FaUndo_white.png">    </p:cNvPr>
          <p:cNvPicPr>
            <a:picLocks noChangeAspect="1"/>
          </p:cNvPicPr>
          <p:nvPr/>
        </p:nvPicPr>
        <p:blipFill>
          <a:blip r:embed="rId7"/>
          <a:stretch>
            <a:fillRect/>
          </a:stretch>
        </p:blipFill>
        <p:spPr>
          <a:xfrm>
            <a:off x="717255" y="5142951"/>
            <a:ext cx="266273" cy="266273"/>
          </a:xfrm>
          <a:prstGeom prst="rect">
            <a:avLst/>
          </a:prstGeom>
        </p:spPr>
      </p:pic>
      <p:sp>
        <p:nvSpPr>
          <p:cNvPr id="26" name="Text 17"/>
          <p:cNvSpPr/>
          <p:nvPr/>
        </p:nvSpPr>
        <p:spPr>
          <a:xfrm>
            <a:off x="1307592" y="4946904"/>
            <a:ext cx="4754880" cy="777240"/>
          </a:xfrm>
          <a:prstGeom prst="rect">
            <a:avLst/>
          </a:prstGeom>
          <a:noFill/>
          <a:ln/>
        </p:spPr>
        <p:txBody>
          <a:bodyPr wrap="square" lIns="0" tIns="0" rIns="0" bIns="0" rtlCol="0" anchor="ctr"/>
          <a:lstStyle/>
          <a:p>
            <a:pPr indent="0" marL="0">
              <a:buNone/>
            </a:pPr>
            <a:r>
              <a:rPr lang="en-US" sz="1300" dirty="0">
                <a:solidFill>
                  <a:srgbClr val="1A2027"/>
                </a:solidFill>
                <a:latin typeface="Arial" pitchFamily="34" charset="0"/>
                <a:ea typeface="Arial" pitchFamily="34" charset="-122"/>
                <a:cs typeface="Arial" pitchFamily="34" charset="-120"/>
              </a:rPr>
              <a:t>Conduct post-incident reviews that make the team better</a:t>
            </a:r>
            <a:endParaRPr lang="en-US" sz="1300" dirty="0"/>
          </a:p>
        </p:txBody>
      </p:sp>
      <p:sp>
        <p:nvSpPr>
          <p:cNvPr id="27" name="Shape 18"/>
          <p:cNvSpPr/>
          <p:nvPr/>
        </p:nvSpPr>
        <p:spPr>
          <a:xfrm>
            <a:off x="6217920" y="4946904"/>
            <a:ext cx="5120640" cy="868680"/>
          </a:xfrm>
          <a:prstGeom prst="roundRect">
            <a:avLst>
              <a:gd name="adj" fmla="val 8421"/>
            </a:avLst>
          </a:prstGeom>
          <a:solidFill>
            <a:srgbClr val="14181C"/>
          </a:solidFill>
          <a:ln/>
        </p:spPr>
      </p:sp>
      <p:sp>
        <p:nvSpPr>
          <p:cNvPr id="28" name="Text 19"/>
          <p:cNvSpPr/>
          <p:nvPr/>
        </p:nvSpPr>
        <p:spPr>
          <a:xfrm>
            <a:off x="6446520" y="4946904"/>
            <a:ext cx="4709160" cy="868680"/>
          </a:xfrm>
          <a:prstGeom prst="rect">
            <a:avLst/>
          </a:prstGeom>
          <a:noFill/>
          <a:ln/>
        </p:spPr>
        <p:txBody>
          <a:bodyPr wrap="square" lIns="0" tIns="0" rIns="0" bIns="0" rtlCol="0" anchor="ctr"/>
          <a:lstStyle/>
          <a:p>
            <a:pPr indent="0" marL="0">
              <a:buNone/>
            </a:pPr>
            <a:r>
              <a:rPr lang="en-US" sz="1200" b="1" dirty="0">
                <a:solidFill>
                  <a:srgbClr val="F5A623"/>
                </a:solidFill>
                <a:latin typeface="Arial" pitchFamily="34" charset="0"/>
                <a:ea typeface="Arial" pitchFamily="34" charset="-122"/>
                <a:cs typeface="Arial" pitchFamily="34" charset="-120"/>
              </a:rPr>
              <a:t>Validated, not assumed:  </a:t>
            </a:r>
            <a:pPr indent="0" marL="0">
              <a:buNone/>
            </a:pPr>
            <a:r>
              <a:rPr lang="en-US" sz="1200" dirty="0">
                <a:solidFill>
                  <a:srgbClr val="FFFFFF"/>
                </a:solidFill>
                <a:latin typeface="Arial" pitchFamily="34" charset="0"/>
                <a:ea typeface="Arial" pitchFamily="34" charset="-122"/>
                <a:cs typeface="Arial" pitchFamily="34" charset="-120"/>
              </a:rPr>
              <a:t>every objective is tested in scenario on Day 3.</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07</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THE STANDARD</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The Fire Team Leader competency profile</a:t>
            </a:r>
            <a:endParaRPr lang="en-US" sz="3000" dirty="0"/>
          </a:p>
        </p:txBody>
      </p:sp>
      <p:sp>
        <p:nvSpPr>
          <p:cNvPr id="6" name="Text 4"/>
          <p:cNvSpPr/>
          <p:nvPr/>
        </p:nvSpPr>
        <p:spPr>
          <a:xfrm>
            <a:off x="594360" y="1481328"/>
            <a:ext cx="10881360" cy="502920"/>
          </a:xfrm>
          <a:prstGeom prst="rect">
            <a:avLst/>
          </a:prstGeom>
          <a:noFill/>
          <a:ln/>
        </p:spPr>
        <p:txBody>
          <a:bodyPr wrap="square" lIns="0" tIns="0" rIns="0" bIns="0" rtlCol="0" anchor="ctr"/>
          <a:lstStyle/>
          <a:p>
            <a:pPr indent="0" marL="0">
              <a:buNone/>
            </a:pPr>
            <a:r>
              <a:rPr lang="en-US" sz="1350" i="1" dirty="0">
                <a:solidFill>
                  <a:srgbClr val="5A646C"/>
                </a:solidFill>
                <a:latin typeface="Arial" pitchFamily="34" charset="0"/>
                <a:ea typeface="Arial" pitchFamily="34" charset="-122"/>
                <a:cs typeface="Arial" pitchFamily="34" charset="-120"/>
              </a:rPr>
              <a:t>Competency = knowledge you can recall under stress + skills you can execute in gloves + behaviors you show when nobody reminds you.</a:t>
            </a:r>
            <a:endParaRPr lang="en-US" sz="1350" dirty="0"/>
          </a:p>
        </p:txBody>
      </p:sp>
      <p:sp>
        <p:nvSpPr>
          <p:cNvPr id="7" name="Shape 5"/>
          <p:cNvSpPr/>
          <p:nvPr/>
        </p:nvSpPr>
        <p:spPr>
          <a:xfrm>
            <a:off x="594360" y="2194560"/>
            <a:ext cx="3453384" cy="3749040"/>
          </a:xfrm>
          <a:prstGeom prst="roundRect">
            <a:avLst>
              <a:gd name="adj" fmla="val 2648"/>
            </a:avLst>
          </a:prstGeom>
          <a:solidFill>
            <a:srgbClr val="F3F4F5"/>
          </a:solidFill>
          <a:ln/>
        </p:spPr>
      </p:sp>
      <p:sp>
        <p:nvSpPr>
          <p:cNvPr id="8" name="Shape 6"/>
          <p:cNvSpPr/>
          <p:nvPr/>
        </p:nvSpPr>
        <p:spPr>
          <a:xfrm>
            <a:off x="822960" y="2395728"/>
            <a:ext cx="530352" cy="530352"/>
          </a:xfrm>
          <a:prstGeom prst="ellipse">
            <a:avLst/>
          </a:prstGeom>
          <a:solidFill>
            <a:srgbClr val="E8491D"/>
          </a:solidFill>
          <a:ln/>
        </p:spPr>
      </p:sp>
      <p:pic>
        <p:nvPicPr>
          <p:cNvPr id="9" name="Image 0" descr="/tmp/claude-0/-home-user-My-Future-Idaes/0806094f-208a-506e-82b2-f78683d50c82/scratchpad/icons/FaBookOpen_white.png">    </p:cNvPr>
          <p:cNvPicPr>
            <a:picLocks noChangeAspect="1"/>
          </p:cNvPicPr>
          <p:nvPr/>
        </p:nvPicPr>
        <p:blipFill>
          <a:blip r:embed="rId1"/>
          <a:stretch>
            <a:fillRect/>
          </a:stretch>
        </p:blipFill>
        <p:spPr>
          <a:xfrm>
            <a:off x="950244" y="2523012"/>
            <a:ext cx="275783" cy="275783"/>
          </a:xfrm>
          <a:prstGeom prst="rect">
            <a:avLst/>
          </a:prstGeom>
        </p:spPr>
      </p:pic>
      <p:sp>
        <p:nvSpPr>
          <p:cNvPr id="10" name="Text 7"/>
          <p:cNvSpPr/>
          <p:nvPr/>
        </p:nvSpPr>
        <p:spPr>
          <a:xfrm>
            <a:off x="1508760" y="2432304"/>
            <a:ext cx="2356104" cy="457200"/>
          </a:xfrm>
          <a:prstGeom prst="rect">
            <a:avLst/>
          </a:prstGeom>
          <a:noFill/>
          <a:ln/>
        </p:spPr>
        <p:txBody>
          <a:bodyPr wrap="square" lIns="0" tIns="0" rIns="0" bIns="0" rtlCol="0" anchor="ctr"/>
          <a:lstStyle/>
          <a:p>
            <a:pPr indent="0" marL="0">
              <a:buNone/>
            </a:pPr>
            <a:r>
              <a:rPr lang="en-US" sz="1600" b="1" spc="200" kern="0" dirty="0">
                <a:solidFill>
                  <a:srgbClr val="1A2027"/>
                </a:solidFill>
                <a:latin typeface="Arial" pitchFamily="34" charset="0"/>
                <a:ea typeface="Arial" pitchFamily="34" charset="-122"/>
                <a:cs typeface="Arial" pitchFamily="34" charset="-120"/>
              </a:rPr>
              <a:t>KNOWS</a:t>
            </a:r>
            <a:endParaRPr lang="en-US" sz="1600" dirty="0"/>
          </a:p>
        </p:txBody>
      </p:sp>
      <p:sp>
        <p:nvSpPr>
          <p:cNvPr id="11" name="Text 8"/>
          <p:cNvSpPr/>
          <p:nvPr/>
        </p:nvSpPr>
        <p:spPr>
          <a:xfrm>
            <a:off x="822960" y="3154680"/>
            <a:ext cx="2996184" cy="2651760"/>
          </a:xfrm>
          <a:prstGeom prst="rect">
            <a:avLst/>
          </a:prstGeom>
          <a:noFill/>
          <a:ln/>
        </p:spPr>
        <p:txBody>
          <a:bodyPr wrap="square" rtlCol="0" anchor="ctr"/>
          <a:lstStyle/>
          <a:p>
            <a:pPr marL="177800" indent="-177800">
              <a:spcAft>
                <a:spcPts val="900"/>
              </a:spcAft>
              <a:buSzPct val="100000"/>
              <a:buChar char="•"/>
            </a:pPr>
            <a:r>
              <a:rPr lang="en-US" sz="1100" dirty="0">
                <a:solidFill>
                  <a:srgbClr val="5A646C"/>
                </a:solidFill>
                <a:latin typeface="Arial" pitchFamily="34" charset="0"/>
                <a:ea typeface="Arial" pitchFamily="34" charset="-122"/>
                <a:cs typeface="Arial" pitchFamily="34" charset="-120"/>
              </a:rPr>
              <a:t>Rig fire hazards &amp; fire behavior</a:t>
            </a:r>
            <a:endParaRPr lang="en-US" sz="1100" dirty="0"/>
          </a:p>
          <a:p>
            <a:pPr marL="177800" indent="-177800">
              <a:spcAft>
                <a:spcPts val="900"/>
              </a:spcAft>
              <a:buSzPct val="100000"/>
              <a:buChar char="•"/>
            </a:pPr>
            <a:r>
              <a:rPr lang="en-US" sz="1100" dirty="0">
                <a:solidFill>
                  <a:srgbClr val="5A646C"/>
                </a:solidFill>
                <a:latin typeface="Arial" pitchFamily="34" charset="0"/>
                <a:ea typeface="Arial" pitchFamily="34" charset="-122"/>
                <a:cs typeface="Arial" pitchFamily="34" charset="-120"/>
              </a:rPr>
              <a:t>Response strategies &amp; ICS structure</a:t>
            </a:r>
            <a:endParaRPr lang="en-US" sz="1100" dirty="0"/>
          </a:p>
          <a:p>
            <a:pPr marL="177800" indent="-177800">
              <a:spcAft>
                <a:spcPts val="900"/>
              </a:spcAft>
              <a:buSzPct val="100000"/>
              <a:buChar char="•"/>
            </a:pPr>
            <a:r>
              <a:rPr lang="en-US" sz="1100" dirty="0">
                <a:solidFill>
                  <a:srgbClr val="5A646C"/>
                </a:solidFill>
                <a:latin typeface="Arial" pitchFamily="34" charset="0"/>
                <a:ea typeface="Arial" pitchFamily="34" charset="-122"/>
                <a:cs typeface="Arial" pitchFamily="34" charset="-120"/>
              </a:rPr>
              <a:t>Communication protocols &amp; SITREP formats</a:t>
            </a:r>
            <a:endParaRPr lang="en-US" sz="1100" dirty="0"/>
          </a:p>
          <a:p>
            <a:pPr marL="177800" indent="-177800">
              <a:spcAft>
                <a:spcPts val="900"/>
              </a:spcAft>
              <a:buSzPct val="100000"/>
              <a:buChar char="•"/>
            </a:pPr>
            <a:r>
              <a:rPr lang="en-US" sz="1100" dirty="0">
                <a:solidFill>
                  <a:srgbClr val="5A646C"/>
                </a:solidFill>
                <a:latin typeface="Arial" pitchFamily="34" charset="0"/>
                <a:ea typeface="Arial" pitchFamily="34" charset="-122"/>
                <a:cs typeface="Arial" pitchFamily="34" charset="-120"/>
              </a:rPr>
              <a:t>Accountability &amp; withdrawal procedures</a:t>
            </a:r>
            <a:endParaRPr lang="en-US" sz="1100" dirty="0"/>
          </a:p>
        </p:txBody>
      </p:sp>
      <p:sp>
        <p:nvSpPr>
          <p:cNvPr id="12" name="Shape 9"/>
          <p:cNvSpPr/>
          <p:nvPr/>
        </p:nvSpPr>
        <p:spPr>
          <a:xfrm>
            <a:off x="4367784" y="2194560"/>
            <a:ext cx="3453384" cy="3749040"/>
          </a:xfrm>
          <a:prstGeom prst="roundRect">
            <a:avLst>
              <a:gd name="adj" fmla="val 2648"/>
            </a:avLst>
          </a:prstGeom>
          <a:solidFill>
            <a:srgbClr val="F3F4F5"/>
          </a:solidFill>
          <a:ln/>
        </p:spPr>
      </p:sp>
      <p:sp>
        <p:nvSpPr>
          <p:cNvPr id="13" name="Shape 10"/>
          <p:cNvSpPr/>
          <p:nvPr/>
        </p:nvSpPr>
        <p:spPr>
          <a:xfrm>
            <a:off x="4596384" y="2395728"/>
            <a:ext cx="530352" cy="530352"/>
          </a:xfrm>
          <a:prstGeom prst="ellipse">
            <a:avLst/>
          </a:prstGeom>
          <a:solidFill>
            <a:srgbClr val="E8491D"/>
          </a:solidFill>
          <a:ln/>
        </p:spPr>
      </p:sp>
      <p:pic>
        <p:nvPicPr>
          <p:cNvPr id="14" name="Image 1" descr="/tmp/claude-0/-home-user-My-Future-Idaes/0806094f-208a-506e-82b2-f78683d50c82/scratchpad/icons/FaCrosshairs_white.png">    </p:cNvPr>
          <p:cNvPicPr>
            <a:picLocks noChangeAspect="1"/>
          </p:cNvPicPr>
          <p:nvPr/>
        </p:nvPicPr>
        <p:blipFill>
          <a:blip r:embed="rId2"/>
          <a:stretch>
            <a:fillRect/>
          </a:stretch>
        </p:blipFill>
        <p:spPr>
          <a:xfrm>
            <a:off x="4723668" y="2523012"/>
            <a:ext cx="275783" cy="275783"/>
          </a:xfrm>
          <a:prstGeom prst="rect">
            <a:avLst/>
          </a:prstGeom>
        </p:spPr>
      </p:pic>
      <p:sp>
        <p:nvSpPr>
          <p:cNvPr id="15" name="Text 11"/>
          <p:cNvSpPr/>
          <p:nvPr/>
        </p:nvSpPr>
        <p:spPr>
          <a:xfrm>
            <a:off x="5282184" y="2432304"/>
            <a:ext cx="2356104" cy="457200"/>
          </a:xfrm>
          <a:prstGeom prst="rect">
            <a:avLst/>
          </a:prstGeom>
          <a:noFill/>
          <a:ln/>
        </p:spPr>
        <p:txBody>
          <a:bodyPr wrap="square" lIns="0" tIns="0" rIns="0" bIns="0" rtlCol="0" anchor="ctr"/>
          <a:lstStyle/>
          <a:p>
            <a:pPr indent="0" marL="0">
              <a:buNone/>
            </a:pPr>
            <a:r>
              <a:rPr lang="en-US" sz="1600" b="1" spc="200" kern="0" dirty="0">
                <a:solidFill>
                  <a:srgbClr val="1A2027"/>
                </a:solidFill>
                <a:latin typeface="Arial" pitchFamily="34" charset="0"/>
                <a:ea typeface="Arial" pitchFamily="34" charset="-122"/>
                <a:cs typeface="Arial" pitchFamily="34" charset="-120"/>
              </a:rPr>
              <a:t>DOES</a:t>
            </a:r>
            <a:endParaRPr lang="en-US" sz="1600" dirty="0"/>
          </a:p>
        </p:txBody>
      </p:sp>
      <p:sp>
        <p:nvSpPr>
          <p:cNvPr id="16" name="Text 12"/>
          <p:cNvSpPr/>
          <p:nvPr/>
        </p:nvSpPr>
        <p:spPr>
          <a:xfrm>
            <a:off x="4596384" y="3154680"/>
            <a:ext cx="2996184" cy="2651760"/>
          </a:xfrm>
          <a:prstGeom prst="rect">
            <a:avLst/>
          </a:prstGeom>
          <a:noFill/>
          <a:ln/>
        </p:spPr>
        <p:txBody>
          <a:bodyPr wrap="square" rtlCol="0" anchor="ctr"/>
          <a:lstStyle/>
          <a:p>
            <a:pPr marL="177800" indent="-177800">
              <a:spcAft>
                <a:spcPts val="900"/>
              </a:spcAft>
              <a:buSzPct val="100000"/>
              <a:buChar char="•"/>
            </a:pPr>
            <a:r>
              <a:rPr lang="en-US" sz="1100" dirty="0">
                <a:solidFill>
                  <a:srgbClr val="5A646C"/>
                </a:solidFill>
                <a:latin typeface="Arial" pitchFamily="34" charset="0"/>
                <a:ea typeface="Arial" pitchFamily="34" charset="-122"/>
                <a:cs typeface="Arial" pitchFamily="34" charset="-120"/>
              </a:rPr>
              <a:t>Takes command and declares it</a:t>
            </a:r>
            <a:endParaRPr lang="en-US" sz="1100" dirty="0"/>
          </a:p>
          <a:p>
            <a:pPr marL="177800" indent="-177800">
              <a:spcAft>
                <a:spcPts val="900"/>
              </a:spcAft>
              <a:buSzPct val="100000"/>
              <a:buChar char="•"/>
            </a:pPr>
            <a:r>
              <a:rPr lang="en-US" sz="1100" dirty="0">
                <a:solidFill>
                  <a:srgbClr val="5A646C"/>
                </a:solidFill>
                <a:latin typeface="Arial" pitchFamily="34" charset="0"/>
                <a:ea typeface="Arial" pitchFamily="34" charset="-122"/>
                <a:cs typeface="Arial" pitchFamily="34" charset="-120"/>
              </a:rPr>
              <a:t>Sizes up and re-assesses continuously</a:t>
            </a:r>
            <a:endParaRPr lang="en-US" sz="1100" dirty="0"/>
          </a:p>
          <a:p>
            <a:pPr marL="177800" indent="-177800">
              <a:spcAft>
                <a:spcPts val="900"/>
              </a:spcAft>
              <a:buSzPct val="100000"/>
              <a:buChar char="•"/>
            </a:pPr>
            <a:r>
              <a:rPr lang="en-US" sz="1100" dirty="0">
                <a:solidFill>
                  <a:srgbClr val="5A646C"/>
                </a:solidFill>
                <a:latin typeface="Arial" pitchFamily="34" charset="0"/>
                <a:ea typeface="Arial" pitchFamily="34" charset="-122"/>
                <a:cs typeface="Arial" pitchFamily="34" charset="-120"/>
              </a:rPr>
              <a:t>Deploys, rotates and conserves resources</a:t>
            </a:r>
            <a:endParaRPr lang="en-US" sz="1100" dirty="0"/>
          </a:p>
          <a:p>
            <a:pPr marL="177800" indent="-177800">
              <a:spcAft>
                <a:spcPts val="900"/>
              </a:spcAft>
              <a:buSzPct val="100000"/>
              <a:buChar char="•"/>
            </a:pPr>
            <a:r>
              <a:rPr lang="en-US" sz="1100" dirty="0">
                <a:solidFill>
                  <a:srgbClr val="5A646C"/>
                </a:solidFill>
                <a:latin typeface="Arial" pitchFamily="34" charset="0"/>
                <a:ea typeface="Arial" pitchFamily="34" charset="-122"/>
                <a:cs typeface="Arial" pitchFamily="34" charset="-120"/>
              </a:rPr>
              <a:t>Runs closed-loop comms under load</a:t>
            </a:r>
            <a:endParaRPr lang="en-US" sz="1100" dirty="0"/>
          </a:p>
        </p:txBody>
      </p:sp>
      <p:sp>
        <p:nvSpPr>
          <p:cNvPr id="17" name="Shape 13"/>
          <p:cNvSpPr/>
          <p:nvPr/>
        </p:nvSpPr>
        <p:spPr>
          <a:xfrm>
            <a:off x="8141208" y="2194560"/>
            <a:ext cx="3453384" cy="3749040"/>
          </a:xfrm>
          <a:prstGeom prst="roundRect">
            <a:avLst>
              <a:gd name="adj" fmla="val 2648"/>
            </a:avLst>
          </a:prstGeom>
          <a:solidFill>
            <a:srgbClr val="14181C"/>
          </a:solidFill>
          <a:ln/>
        </p:spPr>
      </p:sp>
      <p:sp>
        <p:nvSpPr>
          <p:cNvPr id="18" name="Shape 14"/>
          <p:cNvSpPr/>
          <p:nvPr/>
        </p:nvSpPr>
        <p:spPr>
          <a:xfrm>
            <a:off x="8369808" y="2395728"/>
            <a:ext cx="530352" cy="530352"/>
          </a:xfrm>
          <a:prstGeom prst="ellipse">
            <a:avLst/>
          </a:prstGeom>
          <a:solidFill>
            <a:srgbClr val="E8491D"/>
          </a:solidFill>
          <a:ln/>
        </p:spPr>
      </p:sp>
      <p:pic>
        <p:nvPicPr>
          <p:cNvPr id="19" name="Image 2" descr="/tmp/claude-0/-home-user-My-Future-Idaes/0806094f-208a-506e-82b2-f78683d50c82/scratchpad/icons/FaUserShield_white.png">    </p:cNvPr>
          <p:cNvPicPr>
            <a:picLocks noChangeAspect="1"/>
          </p:cNvPicPr>
          <p:nvPr/>
        </p:nvPicPr>
        <p:blipFill>
          <a:blip r:embed="rId3"/>
          <a:stretch>
            <a:fillRect/>
          </a:stretch>
        </p:blipFill>
        <p:spPr>
          <a:xfrm>
            <a:off x="8497092" y="2523012"/>
            <a:ext cx="275783" cy="275783"/>
          </a:xfrm>
          <a:prstGeom prst="rect">
            <a:avLst/>
          </a:prstGeom>
        </p:spPr>
      </p:pic>
      <p:sp>
        <p:nvSpPr>
          <p:cNvPr id="20" name="Text 15"/>
          <p:cNvSpPr/>
          <p:nvPr/>
        </p:nvSpPr>
        <p:spPr>
          <a:xfrm>
            <a:off x="9055608" y="2432304"/>
            <a:ext cx="2356104" cy="457200"/>
          </a:xfrm>
          <a:prstGeom prst="rect">
            <a:avLst/>
          </a:prstGeom>
          <a:noFill/>
          <a:ln/>
        </p:spPr>
        <p:txBody>
          <a:bodyPr wrap="square" lIns="0" tIns="0" rIns="0" bIns="0" rtlCol="0" anchor="ctr"/>
          <a:lstStyle/>
          <a:p>
            <a:pPr indent="0" marL="0">
              <a:buNone/>
            </a:pPr>
            <a:r>
              <a:rPr lang="en-US" sz="1600" b="1" spc="200" kern="0" dirty="0">
                <a:solidFill>
                  <a:srgbClr val="FFFFFF"/>
                </a:solidFill>
                <a:latin typeface="Arial" pitchFamily="34" charset="0"/>
                <a:ea typeface="Arial" pitchFamily="34" charset="-122"/>
                <a:cs typeface="Arial" pitchFamily="34" charset="-120"/>
              </a:rPr>
              <a:t>IS</a:t>
            </a:r>
            <a:endParaRPr lang="en-US" sz="1600" dirty="0"/>
          </a:p>
        </p:txBody>
      </p:sp>
      <p:sp>
        <p:nvSpPr>
          <p:cNvPr id="21" name="Text 16"/>
          <p:cNvSpPr/>
          <p:nvPr/>
        </p:nvSpPr>
        <p:spPr>
          <a:xfrm>
            <a:off x="8369808" y="3154680"/>
            <a:ext cx="2996184" cy="2651760"/>
          </a:xfrm>
          <a:prstGeom prst="rect">
            <a:avLst/>
          </a:prstGeom>
          <a:noFill/>
          <a:ln/>
        </p:spPr>
        <p:txBody>
          <a:bodyPr wrap="square" rtlCol="0" anchor="ctr"/>
          <a:lstStyle/>
          <a:p>
            <a:pPr marL="177800" indent="-177800">
              <a:spcAft>
                <a:spcPts val="900"/>
              </a:spcAft>
              <a:buSzPct val="100000"/>
              <a:buChar char="•"/>
            </a:pPr>
            <a:r>
              <a:rPr lang="en-US" sz="1100" dirty="0">
                <a:solidFill>
                  <a:srgbClr val="D9DEE2"/>
                </a:solidFill>
                <a:latin typeface="Arial" pitchFamily="34" charset="0"/>
                <a:ea typeface="Arial" pitchFamily="34" charset="-122"/>
                <a:cs typeface="Arial" pitchFamily="34" charset="-120"/>
              </a:rPr>
              <a:t>Calm — the thermostat, not the thermometer</a:t>
            </a:r>
            <a:endParaRPr lang="en-US" sz="1100" dirty="0"/>
          </a:p>
          <a:p>
            <a:pPr marL="177800" indent="-177800">
              <a:spcAft>
                <a:spcPts val="900"/>
              </a:spcAft>
              <a:buSzPct val="100000"/>
              <a:buChar char="•"/>
            </a:pPr>
            <a:r>
              <a:rPr lang="en-US" sz="1100" dirty="0">
                <a:solidFill>
                  <a:srgbClr val="D9DEE2"/>
                </a:solidFill>
                <a:latin typeface="Arial" pitchFamily="34" charset="0"/>
                <a:ea typeface="Arial" pitchFamily="34" charset="-122"/>
                <a:cs typeface="Arial" pitchFamily="34" charset="-120"/>
              </a:rPr>
              <a:t>Decisive at 70% information</a:t>
            </a:r>
            <a:endParaRPr lang="en-US" sz="1100" dirty="0"/>
          </a:p>
          <a:p>
            <a:pPr marL="177800" indent="-177800">
              <a:spcAft>
                <a:spcPts val="900"/>
              </a:spcAft>
              <a:buSzPct val="100000"/>
              <a:buChar char="•"/>
            </a:pPr>
            <a:r>
              <a:rPr lang="en-US" sz="1100" dirty="0">
                <a:solidFill>
                  <a:srgbClr val="D9DEE2"/>
                </a:solidFill>
                <a:latin typeface="Arial" pitchFamily="34" charset="0"/>
                <a:ea typeface="Arial" pitchFamily="34" charset="-122"/>
                <a:cs typeface="Arial" pitchFamily="34" charset="-120"/>
              </a:rPr>
              <a:t>Ruthless on safety discipline</a:t>
            </a:r>
            <a:endParaRPr lang="en-US" sz="1100" dirty="0"/>
          </a:p>
          <a:p>
            <a:pPr marL="177800" indent="-177800">
              <a:spcAft>
                <a:spcPts val="900"/>
              </a:spcAft>
              <a:buSzPct val="100000"/>
              <a:buChar char="•"/>
            </a:pPr>
            <a:r>
              <a:rPr lang="en-US" sz="1100" dirty="0">
                <a:solidFill>
                  <a:srgbClr val="D9DEE2"/>
                </a:solidFill>
                <a:latin typeface="Arial" pitchFamily="34" charset="0"/>
                <a:ea typeface="Arial" pitchFamily="34" charset="-122"/>
                <a:cs typeface="Arial" pitchFamily="34" charset="-120"/>
              </a:rPr>
              <a:t>Honest in the debrief, hungry to improve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08</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THE JOURNEY</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Three days. Three gears.</a:t>
            </a:r>
            <a:endParaRPr lang="en-US" sz="3000" dirty="0"/>
          </a:p>
        </p:txBody>
      </p:sp>
      <p:pic>
        <p:nvPicPr>
          <p:cNvPr id="6" name="Image 0" descr="/home/user/My-Future-Idaes/SANAD-Fire-Team-Leader-Course/assets/img/day1.jpg">    </p:cNvPr>
          <p:cNvPicPr>
            <a:picLocks noChangeAspect="1"/>
          </p:cNvPicPr>
          <p:nvPr/>
        </p:nvPicPr>
        <p:blipFill>
          <a:blip r:embed="rId1"/>
          <a:srcRect l="0" r="0" t="0" b="0"/>
          <a:stretch/>
        </p:blipFill>
        <p:spPr>
          <a:xfrm>
            <a:off x="594360" y="1783080"/>
            <a:ext cx="3422904" cy="1828800"/>
          </a:xfrm>
          <a:prstGeom prst="rect">
            <a:avLst/>
          </a:prstGeom>
        </p:spPr>
      </p:pic>
      <p:sp>
        <p:nvSpPr>
          <p:cNvPr id="7" name="Shape 4"/>
          <p:cNvSpPr/>
          <p:nvPr/>
        </p:nvSpPr>
        <p:spPr>
          <a:xfrm>
            <a:off x="594360" y="3611880"/>
            <a:ext cx="3422904" cy="2377440"/>
          </a:xfrm>
          <a:prstGeom prst="rect">
            <a:avLst/>
          </a:prstGeom>
          <a:solidFill>
            <a:srgbClr val="F3F4F5"/>
          </a:solidFill>
          <a:ln/>
        </p:spPr>
      </p:sp>
      <p:sp>
        <p:nvSpPr>
          <p:cNvPr id="8" name="Text 5"/>
          <p:cNvSpPr/>
          <p:nvPr/>
        </p:nvSpPr>
        <p:spPr>
          <a:xfrm>
            <a:off x="822960" y="3767328"/>
            <a:ext cx="2965704" cy="274320"/>
          </a:xfrm>
          <a:prstGeom prst="rect">
            <a:avLst/>
          </a:prstGeom>
          <a:noFill/>
          <a:ln/>
        </p:spPr>
        <p:txBody>
          <a:bodyPr wrap="square" lIns="0" tIns="0" rIns="0" bIns="0" rtlCol="0" anchor="ctr"/>
          <a:lstStyle/>
          <a:p>
            <a:pPr indent="0" marL="0">
              <a:buNone/>
            </a:pPr>
            <a:r>
              <a:rPr lang="en-US" sz="1200" b="1" spc="200" kern="0" dirty="0">
                <a:solidFill>
                  <a:srgbClr val="E8491D"/>
                </a:solidFill>
                <a:latin typeface="Arial" pitchFamily="34" charset="0"/>
                <a:ea typeface="Arial" pitchFamily="34" charset="-122"/>
                <a:cs typeface="Arial" pitchFamily="34" charset="-120"/>
              </a:rPr>
              <a:t>DAY 1 — LEAD</a:t>
            </a:r>
            <a:endParaRPr lang="en-US" sz="1200" dirty="0"/>
          </a:p>
        </p:txBody>
      </p:sp>
      <p:sp>
        <p:nvSpPr>
          <p:cNvPr id="9" name="Text 6"/>
          <p:cNvSpPr/>
          <p:nvPr/>
        </p:nvSpPr>
        <p:spPr>
          <a:xfrm>
            <a:off x="822960" y="4059936"/>
            <a:ext cx="2965704" cy="566928"/>
          </a:xfrm>
          <a:prstGeom prst="rect">
            <a:avLst/>
          </a:prstGeom>
          <a:noFill/>
          <a:ln/>
        </p:spPr>
        <p:txBody>
          <a:bodyPr wrap="square" lIns="0" tIns="0" rIns="0" bIns="0" rtlCol="0" anchor="ctr"/>
          <a:lstStyle/>
          <a:p>
            <a:pPr indent="0" marL="0">
              <a:buNone/>
            </a:pPr>
            <a:r>
              <a:rPr lang="en-US" sz="1550" b="1" dirty="0">
                <a:solidFill>
                  <a:srgbClr val="1A2027"/>
                </a:solidFill>
                <a:latin typeface="Arial" pitchFamily="34" charset="0"/>
                <a:ea typeface="Arial" pitchFamily="34" charset="-122"/>
                <a:cs typeface="Arial" pitchFamily="34" charset="-120"/>
              </a:rPr>
              <a:t>The Leader Under Pressure</a:t>
            </a:r>
            <a:endParaRPr lang="en-US" sz="1550" dirty="0"/>
          </a:p>
        </p:txBody>
      </p:sp>
      <p:sp>
        <p:nvSpPr>
          <p:cNvPr id="10" name="Text 7"/>
          <p:cNvSpPr/>
          <p:nvPr/>
        </p:nvSpPr>
        <p:spPr>
          <a:xfrm>
            <a:off x="822960" y="4663440"/>
            <a:ext cx="2965704" cy="914400"/>
          </a:xfrm>
          <a:prstGeom prst="rect">
            <a:avLst/>
          </a:prstGeom>
          <a:noFill/>
          <a:ln/>
        </p:spPr>
        <p:txBody>
          <a:bodyPr wrap="square" lIns="0" tIns="0" rIns="0" bIns="0" rtlCol="0" anchor="ctr"/>
          <a:lstStyle/>
          <a:p>
            <a:pPr indent="0" marL="0">
              <a:buNone/>
            </a:pPr>
            <a:r>
              <a:rPr lang="en-US" sz="1100" dirty="0">
                <a:solidFill>
                  <a:srgbClr val="5A646C"/>
                </a:solidFill>
                <a:latin typeface="Arial" pitchFamily="34" charset="0"/>
                <a:ea typeface="Arial" pitchFamily="34" charset="-122"/>
                <a:cs typeface="Arial" pitchFamily="34" charset="-120"/>
              </a:rPr>
              <a:t>Foundations of emergency leadership and the human factors that make or break a team.</a:t>
            </a:r>
            <a:endParaRPr lang="en-US" sz="1100" dirty="0"/>
          </a:p>
        </p:txBody>
      </p:sp>
      <p:sp>
        <p:nvSpPr>
          <p:cNvPr id="11" name="Text 8"/>
          <p:cNvSpPr/>
          <p:nvPr/>
        </p:nvSpPr>
        <p:spPr>
          <a:xfrm>
            <a:off x="822960" y="5577840"/>
            <a:ext cx="2965704" cy="274320"/>
          </a:xfrm>
          <a:prstGeom prst="rect">
            <a:avLst/>
          </a:prstGeom>
          <a:noFill/>
          <a:ln/>
        </p:spPr>
        <p:txBody>
          <a:bodyPr wrap="square" lIns="0" tIns="0" rIns="0" bIns="0" rtlCol="0" anchor="ctr"/>
          <a:lstStyle/>
          <a:p>
            <a:pPr indent="0" marL="0">
              <a:buNone/>
            </a:pPr>
            <a:r>
              <a:rPr lang="en-US" sz="1050" b="1" dirty="0">
                <a:solidFill>
                  <a:srgbClr val="F5A623"/>
                </a:solidFill>
                <a:latin typeface="Arial" pitchFamily="34" charset="0"/>
                <a:ea typeface="Arial" pitchFamily="34" charset="-122"/>
                <a:cs typeface="Arial" pitchFamily="34" charset="-120"/>
              </a:rPr>
              <a:t>Modules 1–2</a:t>
            </a:r>
            <a:endParaRPr lang="en-US" sz="1050" dirty="0"/>
          </a:p>
        </p:txBody>
      </p:sp>
      <p:pic>
        <p:nvPicPr>
          <p:cNvPr id="12" name="Image 1" descr="/home/user/My-Future-Idaes/SANAD-Fire-Team-Leader-Course/assets/img/day2.jpg">    </p:cNvPr>
          <p:cNvPicPr>
            <a:picLocks noChangeAspect="1"/>
          </p:cNvPicPr>
          <p:nvPr/>
        </p:nvPicPr>
        <p:blipFill>
          <a:blip r:embed="rId2"/>
          <a:srcRect l="0" r="0" t="0" b="0"/>
          <a:stretch/>
        </p:blipFill>
        <p:spPr>
          <a:xfrm>
            <a:off x="4383024" y="1783080"/>
            <a:ext cx="3422904" cy="1828800"/>
          </a:xfrm>
          <a:prstGeom prst="rect">
            <a:avLst/>
          </a:prstGeom>
        </p:spPr>
      </p:pic>
      <p:sp>
        <p:nvSpPr>
          <p:cNvPr id="13" name="Shape 9"/>
          <p:cNvSpPr/>
          <p:nvPr/>
        </p:nvSpPr>
        <p:spPr>
          <a:xfrm>
            <a:off x="4383024" y="3611880"/>
            <a:ext cx="3422904" cy="2377440"/>
          </a:xfrm>
          <a:prstGeom prst="rect">
            <a:avLst/>
          </a:prstGeom>
          <a:solidFill>
            <a:srgbClr val="F3F4F5"/>
          </a:solidFill>
          <a:ln/>
        </p:spPr>
      </p:sp>
      <p:sp>
        <p:nvSpPr>
          <p:cNvPr id="14" name="Text 10"/>
          <p:cNvSpPr/>
          <p:nvPr/>
        </p:nvSpPr>
        <p:spPr>
          <a:xfrm>
            <a:off x="4611624" y="3767328"/>
            <a:ext cx="2965704" cy="274320"/>
          </a:xfrm>
          <a:prstGeom prst="rect">
            <a:avLst/>
          </a:prstGeom>
          <a:noFill/>
          <a:ln/>
        </p:spPr>
        <p:txBody>
          <a:bodyPr wrap="square" lIns="0" tIns="0" rIns="0" bIns="0" rtlCol="0" anchor="ctr"/>
          <a:lstStyle/>
          <a:p>
            <a:pPr indent="0" marL="0">
              <a:buNone/>
            </a:pPr>
            <a:r>
              <a:rPr lang="en-US" sz="1200" b="1" spc="200" kern="0" dirty="0">
                <a:solidFill>
                  <a:srgbClr val="E8491D"/>
                </a:solidFill>
                <a:latin typeface="Arial" pitchFamily="34" charset="0"/>
                <a:ea typeface="Arial" pitchFamily="34" charset="-122"/>
                <a:cs typeface="Arial" pitchFamily="34" charset="-120"/>
              </a:rPr>
              <a:t>DAY 2 — COMMAND</a:t>
            </a:r>
            <a:endParaRPr lang="en-US" sz="1200" dirty="0"/>
          </a:p>
        </p:txBody>
      </p:sp>
      <p:sp>
        <p:nvSpPr>
          <p:cNvPr id="15" name="Text 11"/>
          <p:cNvSpPr/>
          <p:nvPr/>
        </p:nvSpPr>
        <p:spPr>
          <a:xfrm>
            <a:off x="4611624" y="4059936"/>
            <a:ext cx="2965704" cy="566928"/>
          </a:xfrm>
          <a:prstGeom prst="rect">
            <a:avLst/>
          </a:prstGeom>
          <a:noFill/>
          <a:ln/>
        </p:spPr>
        <p:txBody>
          <a:bodyPr wrap="square" lIns="0" tIns="0" rIns="0" bIns="0" rtlCol="0" anchor="ctr"/>
          <a:lstStyle/>
          <a:p>
            <a:pPr indent="0" marL="0">
              <a:buNone/>
            </a:pPr>
            <a:r>
              <a:rPr lang="en-US" sz="1550" b="1" dirty="0">
                <a:solidFill>
                  <a:srgbClr val="1A2027"/>
                </a:solidFill>
                <a:latin typeface="Arial" pitchFamily="34" charset="0"/>
                <a:ea typeface="Arial" pitchFamily="34" charset="-122"/>
                <a:cs typeface="Arial" pitchFamily="34" charset="-120"/>
              </a:rPr>
              <a:t>Tactics, Coordination, Control</a:t>
            </a:r>
            <a:endParaRPr lang="en-US" sz="1550" dirty="0"/>
          </a:p>
        </p:txBody>
      </p:sp>
      <p:sp>
        <p:nvSpPr>
          <p:cNvPr id="16" name="Text 12"/>
          <p:cNvSpPr/>
          <p:nvPr/>
        </p:nvSpPr>
        <p:spPr>
          <a:xfrm>
            <a:off x="4611624" y="4663440"/>
            <a:ext cx="2965704" cy="914400"/>
          </a:xfrm>
          <a:prstGeom prst="rect">
            <a:avLst/>
          </a:prstGeom>
          <a:noFill/>
          <a:ln/>
        </p:spPr>
        <p:txBody>
          <a:bodyPr wrap="square" lIns="0" tIns="0" rIns="0" bIns="0" rtlCol="0" anchor="ctr"/>
          <a:lstStyle/>
          <a:p>
            <a:pPr indent="0" marL="0">
              <a:buNone/>
            </a:pPr>
            <a:r>
              <a:rPr lang="en-US" sz="1100" dirty="0">
                <a:solidFill>
                  <a:srgbClr val="5A646C"/>
                </a:solidFill>
                <a:latin typeface="Arial" pitchFamily="34" charset="0"/>
                <a:ea typeface="Arial" pitchFamily="34" charset="-122"/>
                <a:cs typeface="Arial" pitchFamily="34" charset="-120"/>
              </a:rPr>
              <a:t>Tactical fire response, communication discipline and structured incident command.</a:t>
            </a:r>
            <a:endParaRPr lang="en-US" sz="1100" dirty="0"/>
          </a:p>
        </p:txBody>
      </p:sp>
      <p:sp>
        <p:nvSpPr>
          <p:cNvPr id="17" name="Text 13"/>
          <p:cNvSpPr/>
          <p:nvPr/>
        </p:nvSpPr>
        <p:spPr>
          <a:xfrm>
            <a:off x="4611624" y="5577840"/>
            <a:ext cx="2965704" cy="274320"/>
          </a:xfrm>
          <a:prstGeom prst="rect">
            <a:avLst/>
          </a:prstGeom>
          <a:noFill/>
          <a:ln/>
        </p:spPr>
        <p:txBody>
          <a:bodyPr wrap="square" lIns="0" tIns="0" rIns="0" bIns="0" rtlCol="0" anchor="ctr"/>
          <a:lstStyle/>
          <a:p>
            <a:pPr indent="0" marL="0">
              <a:buNone/>
            </a:pPr>
            <a:r>
              <a:rPr lang="en-US" sz="1050" b="1" dirty="0">
                <a:solidFill>
                  <a:srgbClr val="F5A623"/>
                </a:solidFill>
                <a:latin typeface="Arial" pitchFamily="34" charset="0"/>
                <a:ea typeface="Arial" pitchFamily="34" charset="-122"/>
                <a:cs typeface="Arial" pitchFamily="34" charset="-120"/>
              </a:rPr>
              <a:t>Modules 3–5</a:t>
            </a:r>
            <a:endParaRPr lang="en-US" sz="1050" dirty="0"/>
          </a:p>
        </p:txBody>
      </p:sp>
      <p:pic>
        <p:nvPicPr>
          <p:cNvPr id="18" name="Image 2" descr="/home/user/My-Future-Idaes/SANAD-Fire-Team-Leader-Course/assets/img/day3.jpg">    </p:cNvPr>
          <p:cNvPicPr>
            <a:picLocks noChangeAspect="1"/>
          </p:cNvPicPr>
          <p:nvPr/>
        </p:nvPicPr>
        <p:blipFill>
          <a:blip r:embed="rId3"/>
          <a:srcRect l="0" r="0" t="0" b="0"/>
          <a:stretch/>
        </p:blipFill>
        <p:spPr>
          <a:xfrm>
            <a:off x="8171688" y="1783080"/>
            <a:ext cx="3422904" cy="1828800"/>
          </a:xfrm>
          <a:prstGeom prst="rect">
            <a:avLst/>
          </a:prstGeom>
        </p:spPr>
      </p:pic>
      <p:sp>
        <p:nvSpPr>
          <p:cNvPr id="19" name="Shape 14"/>
          <p:cNvSpPr/>
          <p:nvPr/>
        </p:nvSpPr>
        <p:spPr>
          <a:xfrm>
            <a:off x="8171688" y="3611880"/>
            <a:ext cx="3422904" cy="2377440"/>
          </a:xfrm>
          <a:prstGeom prst="rect">
            <a:avLst/>
          </a:prstGeom>
          <a:solidFill>
            <a:srgbClr val="14181C"/>
          </a:solidFill>
          <a:ln/>
        </p:spPr>
      </p:sp>
      <p:sp>
        <p:nvSpPr>
          <p:cNvPr id="20" name="Text 15"/>
          <p:cNvSpPr/>
          <p:nvPr/>
        </p:nvSpPr>
        <p:spPr>
          <a:xfrm>
            <a:off x="8400288" y="3767328"/>
            <a:ext cx="2965704" cy="274320"/>
          </a:xfrm>
          <a:prstGeom prst="rect">
            <a:avLst/>
          </a:prstGeom>
          <a:noFill/>
          <a:ln/>
        </p:spPr>
        <p:txBody>
          <a:bodyPr wrap="square" lIns="0" tIns="0" rIns="0" bIns="0" rtlCol="0" anchor="ctr"/>
          <a:lstStyle/>
          <a:p>
            <a:pPr indent="0" marL="0">
              <a:buNone/>
            </a:pPr>
            <a:r>
              <a:rPr lang="en-US" sz="1200" b="1" spc="200" kern="0" dirty="0">
                <a:solidFill>
                  <a:srgbClr val="E8491D"/>
                </a:solidFill>
                <a:latin typeface="Arial" pitchFamily="34" charset="0"/>
                <a:ea typeface="Arial" pitchFamily="34" charset="-122"/>
                <a:cs typeface="Arial" pitchFamily="34" charset="-120"/>
              </a:rPr>
              <a:t>DAY 3 — PROVE</a:t>
            </a:r>
            <a:endParaRPr lang="en-US" sz="1200" dirty="0"/>
          </a:p>
        </p:txBody>
      </p:sp>
      <p:sp>
        <p:nvSpPr>
          <p:cNvPr id="21" name="Text 16"/>
          <p:cNvSpPr/>
          <p:nvPr/>
        </p:nvSpPr>
        <p:spPr>
          <a:xfrm>
            <a:off x="8400288" y="4059936"/>
            <a:ext cx="2965704" cy="566928"/>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Full-Scale Simulation</a:t>
            </a:r>
            <a:endParaRPr lang="en-US" sz="1550" dirty="0"/>
          </a:p>
        </p:txBody>
      </p:sp>
      <p:sp>
        <p:nvSpPr>
          <p:cNvPr id="22" name="Text 17"/>
          <p:cNvSpPr/>
          <p:nvPr/>
        </p:nvSpPr>
        <p:spPr>
          <a:xfrm>
            <a:off x="8400288" y="4663440"/>
            <a:ext cx="2965704" cy="914400"/>
          </a:xfrm>
          <a:prstGeom prst="rect">
            <a:avLst/>
          </a:prstGeom>
          <a:noFill/>
          <a:ln/>
        </p:spPr>
        <p:txBody>
          <a:bodyPr wrap="square" lIns="0" tIns="0" rIns="0" bIns="0" rtlCol="0" anchor="ctr"/>
          <a:lstStyle/>
          <a:p>
            <a:pPr indent="0" marL="0">
              <a:buNone/>
            </a:pPr>
            <a:r>
              <a:rPr lang="en-US" sz="1100" dirty="0">
                <a:solidFill>
                  <a:srgbClr val="9AA5AD"/>
                </a:solidFill>
                <a:latin typeface="Arial" pitchFamily="34" charset="0"/>
                <a:ea typeface="Arial" pitchFamily="34" charset="-122"/>
                <a:cs typeface="Arial" pitchFamily="34" charset="-120"/>
              </a:rPr>
              <a:t>Complex multi-risk scenarios, evaluated in real time. Certification is earned here.</a:t>
            </a:r>
            <a:endParaRPr lang="en-US" sz="1100" dirty="0"/>
          </a:p>
        </p:txBody>
      </p:sp>
      <p:sp>
        <p:nvSpPr>
          <p:cNvPr id="23" name="Text 18"/>
          <p:cNvSpPr/>
          <p:nvPr/>
        </p:nvSpPr>
        <p:spPr>
          <a:xfrm>
            <a:off x="8400288" y="5577840"/>
            <a:ext cx="2965704" cy="274320"/>
          </a:xfrm>
          <a:prstGeom prst="rect">
            <a:avLst/>
          </a:prstGeom>
          <a:noFill/>
          <a:ln/>
        </p:spPr>
        <p:txBody>
          <a:bodyPr wrap="square" lIns="0" tIns="0" rIns="0" bIns="0" rtlCol="0" anchor="ctr"/>
          <a:lstStyle/>
          <a:p>
            <a:pPr indent="0" marL="0">
              <a:buNone/>
            </a:pPr>
            <a:r>
              <a:rPr lang="en-US" sz="1050" b="1" dirty="0">
                <a:solidFill>
                  <a:srgbClr val="F5A623"/>
                </a:solidFill>
                <a:latin typeface="Arial" pitchFamily="34" charset="0"/>
                <a:ea typeface="Arial" pitchFamily="34" charset="-122"/>
                <a:cs typeface="Arial" pitchFamily="34" charset="-120"/>
              </a:rPr>
              <a:t>Module 6 + Assessment</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09</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COURSE ARCHITECTURE</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Six modules, one mission</a:t>
            </a:r>
            <a:endParaRPr lang="en-US" sz="3000" dirty="0"/>
          </a:p>
        </p:txBody>
      </p:sp>
      <p:sp>
        <p:nvSpPr>
          <p:cNvPr id="6" name="Shape 4"/>
          <p:cNvSpPr/>
          <p:nvPr/>
        </p:nvSpPr>
        <p:spPr>
          <a:xfrm>
            <a:off x="594360" y="1737360"/>
            <a:ext cx="5317236" cy="1298448"/>
          </a:xfrm>
          <a:prstGeom prst="roundRect">
            <a:avLst>
              <a:gd name="adj" fmla="val 5634"/>
            </a:avLst>
          </a:prstGeom>
          <a:solidFill>
            <a:srgbClr val="F3F4F5"/>
          </a:solidFill>
          <a:ln/>
        </p:spPr>
      </p:sp>
      <p:sp>
        <p:nvSpPr>
          <p:cNvPr id="7" name="Text 5"/>
          <p:cNvSpPr/>
          <p:nvPr/>
        </p:nvSpPr>
        <p:spPr>
          <a:xfrm>
            <a:off x="795528" y="1938528"/>
            <a:ext cx="777240" cy="914400"/>
          </a:xfrm>
          <a:prstGeom prst="rect">
            <a:avLst/>
          </a:prstGeom>
          <a:noFill/>
          <a:ln/>
        </p:spPr>
        <p:txBody>
          <a:bodyPr wrap="square" lIns="0" tIns="0" rIns="0" bIns="0" rtlCol="0" anchor="ctr"/>
          <a:lstStyle/>
          <a:p>
            <a:pPr indent="0" marL="0">
              <a:buNone/>
            </a:pPr>
            <a:r>
              <a:rPr lang="en-US" sz="4000" b="1" dirty="0">
                <a:solidFill>
                  <a:srgbClr val="E8491D"/>
                </a:solidFill>
                <a:latin typeface="Arial" pitchFamily="34" charset="0"/>
                <a:ea typeface="Arial" pitchFamily="34" charset="-122"/>
                <a:cs typeface="Arial" pitchFamily="34" charset="-120"/>
              </a:rPr>
              <a:t>1</a:t>
            </a:r>
            <a:endParaRPr lang="en-US" sz="4000" dirty="0"/>
          </a:p>
        </p:txBody>
      </p:sp>
      <p:sp>
        <p:nvSpPr>
          <p:cNvPr id="8" name="Text 6"/>
          <p:cNvSpPr/>
          <p:nvPr/>
        </p:nvSpPr>
        <p:spPr>
          <a:xfrm>
            <a:off x="1645920" y="1883664"/>
            <a:ext cx="3168396" cy="566928"/>
          </a:xfrm>
          <a:prstGeom prst="rect">
            <a:avLst/>
          </a:prstGeom>
          <a:noFill/>
          <a:ln/>
        </p:spPr>
        <p:txBody>
          <a:bodyPr wrap="square" lIns="0" tIns="0" rIns="0" bIns="0" rtlCol="0" anchor="ctr"/>
          <a:lstStyle/>
          <a:p>
            <a:pPr indent="0" marL="0">
              <a:buNone/>
            </a:pPr>
            <a:r>
              <a:rPr lang="en-US" sz="1350" b="1" dirty="0">
                <a:solidFill>
                  <a:srgbClr val="1A2027"/>
                </a:solidFill>
                <a:latin typeface="Arial" pitchFamily="34" charset="0"/>
                <a:ea typeface="Arial" pitchFamily="34" charset="-122"/>
                <a:cs typeface="Arial" pitchFamily="34" charset="-120"/>
              </a:rPr>
              <a:t>Leadership in Emergency Response</a:t>
            </a:r>
            <a:endParaRPr lang="en-US" sz="1350" dirty="0"/>
          </a:p>
        </p:txBody>
      </p:sp>
      <p:sp>
        <p:nvSpPr>
          <p:cNvPr id="9" name="Text 7"/>
          <p:cNvSpPr/>
          <p:nvPr/>
        </p:nvSpPr>
        <p:spPr>
          <a:xfrm>
            <a:off x="1645920" y="2450592"/>
            <a:ext cx="3168396" cy="50292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Command presence, styles, decisions under uncertainty</a:t>
            </a:r>
            <a:endParaRPr lang="en-US" sz="1050" dirty="0"/>
          </a:p>
        </p:txBody>
      </p:sp>
      <p:sp>
        <p:nvSpPr>
          <p:cNvPr id="10" name="Text 8"/>
          <p:cNvSpPr/>
          <p:nvPr/>
        </p:nvSpPr>
        <p:spPr>
          <a:xfrm>
            <a:off x="4905756" y="1883664"/>
            <a:ext cx="822960" cy="320040"/>
          </a:xfrm>
          <a:prstGeom prst="rect">
            <a:avLst/>
          </a:prstGeom>
          <a:noFill/>
          <a:ln/>
        </p:spPr>
        <p:txBody>
          <a:bodyPr wrap="square" lIns="0" tIns="0" rIns="0" bIns="0" rtlCol="0" anchor="ctr"/>
          <a:lstStyle/>
          <a:p>
            <a:pPr algn="r" indent="0" marL="0">
              <a:buNone/>
            </a:pPr>
            <a:r>
              <a:rPr lang="en-US" sz="1050" b="1" dirty="0">
                <a:solidFill>
                  <a:srgbClr val="F5A623"/>
                </a:solidFill>
                <a:latin typeface="Arial" pitchFamily="34" charset="0"/>
                <a:ea typeface="Arial" pitchFamily="34" charset="-122"/>
                <a:cs typeface="Arial" pitchFamily="34" charset="-120"/>
              </a:rPr>
              <a:t>Day 1</a:t>
            </a:r>
            <a:endParaRPr lang="en-US" sz="1050" dirty="0"/>
          </a:p>
        </p:txBody>
      </p:sp>
      <p:sp>
        <p:nvSpPr>
          <p:cNvPr id="11" name="Shape 9"/>
          <p:cNvSpPr/>
          <p:nvPr/>
        </p:nvSpPr>
        <p:spPr>
          <a:xfrm>
            <a:off x="6277356" y="1737360"/>
            <a:ext cx="5317236" cy="1298448"/>
          </a:xfrm>
          <a:prstGeom prst="roundRect">
            <a:avLst>
              <a:gd name="adj" fmla="val 5634"/>
            </a:avLst>
          </a:prstGeom>
          <a:solidFill>
            <a:srgbClr val="F3F4F5"/>
          </a:solidFill>
          <a:ln/>
        </p:spPr>
      </p:sp>
      <p:sp>
        <p:nvSpPr>
          <p:cNvPr id="12" name="Text 10"/>
          <p:cNvSpPr/>
          <p:nvPr/>
        </p:nvSpPr>
        <p:spPr>
          <a:xfrm>
            <a:off x="6478524" y="1938528"/>
            <a:ext cx="777240" cy="914400"/>
          </a:xfrm>
          <a:prstGeom prst="rect">
            <a:avLst/>
          </a:prstGeom>
          <a:noFill/>
          <a:ln/>
        </p:spPr>
        <p:txBody>
          <a:bodyPr wrap="square" lIns="0" tIns="0" rIns="0" bIns="0" rtlCol="0" anchor="ctr"/>
          <a:lstStyle/>
          <a:p>
            <a:pPr indent="0" marL="0">
              <a:buNone/>
            </a:pPr>
            <a:r>
              <a:rPr lang="en-US" sz="4000" b="1" dirty="0">
                <a:solidFill>
                  <a:srgbClr val="E8491D"/>
                </a:solidFill>
                <a:latin typeface="Arial" pitchFamily="34" charset="0"/>
                <a:ea typeface="Arial" pitchFamily="34" charset="-122"/>
                <a:cs typeface="Arial" pitchFamily="34" charset="-120"/>
              </a:rPr>
              <a:t>2</a:t>
            </a:r>
            <a:endParaRPr lang="en-US" sz="4000" dirty="0"/>
          </a:p>
        </p:txBody>
      </p:sp>
      <p:sp>
        <p:nvSpPr>
          <p:cNvPr id="13" name="Text 11"/>
          <p:cNvSpPr/>
          <p:nvPr/>
        </p:nvSpPr>
        <p:spPr>
          <a:xfrm>
            <a:off x="7328916" y="1883664"/>
            <a:ext cx="3168396" cy="566928"/>
          </a:xfrm>
          <a:prstGeom prst="rect">
            <a:avLst/>
          </a:prstGeom>
          <a:noFill/>
          <a:ln/>
        </p:spPr>
        <p:txBody>
          <a:bodyPr wrap="square" lIns="0" tIns="0" rIns="0" bIns="0" rtlCol="0" anchor="ctr"/>
          <a:lstStyle/>
          <a:p>
            <a:pPr indent="0" marL="0">
              <a:buNone/>
            </a:pPr>
            <a:r>
              <a:rPr lang="en-US" sz="1350" b="1" dirty="0">
                <a:solidFill>
                  <a:srgbClr val="1A2027"/>
                </a:solidFill>
                <a:latin typeface="Arial" pitchFamily="34" charset="0"/>
                <a:ea typeface="Arial" pitchFamily="34" charset="-122"/>
                <a:cs typeface="Arial" pitchFamily="34" charset="-120"/>
              </a:rPr>
              <a:t>Human Factors &amp; Behavioral Leadership</a:t>
            </a:r>
            <a:endParaRPr lang="en-US" sz="1350" dirty="0"/>
          </a:p>
        </p:txBody>
      </p:sp>
      <p:sp>
        <p:nvSpPr>
          <p:cNvPr id="14" name="Text 12"/>
          <p:cNvSpPr/>
          <p:nvPr/>
        </p:nvSpPr>
        <p:spPr>
          <a:xfrm>
            <a:off x="7328916" y="2450592"/>
            <a:ext cx="3168396" cy="50292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Stress, panic, discipline, unsafe-act prevention</a:t>
            </a:r>
            <a:endParaRPr lang="en-US" sz="1050" dirty="0"/>
          </a:p>
        </p:txBody>
      </p:sp>
      <p:sp>
        <p:nvSpPr>
          <p:cNvPr id="15" name="Text 13"/>
          <p:cNvSpPr/>
          <p:nvPr/>
        </p:nvSpPr>
        <p:spPr>
          <a:xfrm>
            <a:off x="10588752" y="1883664"/>
            <a:ext cx="822960" cy="320040"/>
          </a:xfrm>
          <a:prstGeom prst="rect">
            <a:avLst/>
          </a:prstGeom>
          <a:noFill/>
          <a:ln/>
        </p:spPr>
        <p:txBody>
          <a:bodyPr wrap="square" lIns="0" tIns="0" rIns="0" bIns="0" rtlCol="0" anchor="ctr"/>
          <a:lstStyle/>
          <a:p>
            <a:pPr algn="r" indent="0" marL="0">
              <a:buNone/>
            </a:pPr>
            <a:r>
              <a:rPr lang="en-US" sz="1050" b="1" dirty="0">
                <a:solidFill>
                  <a:srgbClr val="F5A623"/>
                </a:solidFill>
                <a:latin typeface="Arial" pitchFamily="34" charset="0"/>
                <a:ea typeface="Arial" pitchFamily="34" charset="-122"/>
                <a:cs typeface="Arial" pitchFamily="34" charset="-120"/>
              </a:rPr>
              <a:t>Day 1</a:t>
            </a:r>
            <a:endParaRPr lang="en-US" sz="1050" dirty="0"/>
          </a:p>
        </p:txBody>
      </p:sp>
      <p:sp>
        <p:nvSpPr>
          <p:cNvPr id="16" name="Shape 14"/>
          <p:cNvSpPr/>
          <p:nvPr/>
        </p:nvSpPr>
        <p:spPr>
          <a:xfrm>
            <a:off x="594360" y="3218688"/>
            <a:ext cx="5317236" cy="1298448"/>
          </a:xfrm>
          <a:prstGeom prst="roundRect">
            <a:avLst>
              <a:gd name="adj" fmla="val 5634"/>
            </a:avLst>
          </a:prstGeom>
          <a:solidFill>
            <a:srgbClr val="F3F4F5"/>
          </a:solidFill>
          <a:ln/>
        </p:spPr>
      </p:sp>
      <p:sp>
        <p:nvSpPr>
          <p:cNvPr id="17" name="Text 15"/>
          <p:cNvSpPr/>
          <p:nvPr/>
        </p:nvSpPr>
        <p:spPr>
          <a:xfrm>
            <a:off x="795528" y="3419856"/>
            <a:ext cx="777240" cy="914400"/>
          </a:xfrm>
          <a:prstGeom prst="rect">
            <a:avLst/>
          </a:prstGeom>
          <a:noFill/>
          <a:ln/>
        </p:spPr>
        <p:txBody>
          <a:bodyPr wrap="square" lIns="0" tIns="0" rIns="0" bIns="0" rtlCol="0" anchor="ctr"/>
          <a:lstStyle/>
          <a:p>
            <a:pPr indent="0" marL="0">
              <a:buNone/>
            </a:pPr>
            <a:r>
              <a:rPr lang="en-US" sz="4000" b="1" dirty="0">
                <a:solidFill>
                  <a:srgbClr val="E8491D"/>
                </a:solidFill>
                <a:latin typeface="Arial" pitchFamily="34" charset="0"/>
                <a:ea typeface="Arial" pitchFamily="34" charset="-122"/>
                <a:cs typeface="Arial" pitchFamily="34" charset="-120"/>
              </a:rPr>
              <a:t>3</a:t>
            </a:r>
            <a:endParaRPr lang="en-US" sz="4000" dirty="0"/>
          </a:p>
        </p:txBody>
      </p:sp>
      <p:sp>
        <p:nvSpPr>
          <p:cNvPr id="18" name="Text 16"/>
          <p:cNvSpPr/>
          <p:nvPr/>
        </p:nvSpPr>
        <p:spPr>
          <a:xfrm>
            <a:off x="1645920" y="3364992"/>
            <a:ext cx="3168396" cy="566928"/>
          </a:xfrm>
          <a:prstGeom prst="rect">
            <a:avLst/>
          </a:prstGeom>
          <a:noFill/>
          <a:ln/>
        </p:spPr>
        <p:txBody>
          <a:bodyPr wrap="square" lIns="0" tIns="0" rIns="0" bIns="0" rtlCol="0" anchor="ctr"/>
          <a:lstStyle/>
          <a:p>
            <a:pPr indent="0" marL="0">
              <a:buNone/>
            </a:pPr>
            <a:r>
              <a:rPr lang="en-US" sz="1350" b="1" dirty="0">
                <a:solidFill>
                  <a:srgbClr val="1A2027"/>
                </a:solidFill>
                <a:latin typeface="Arial" pitchFamily="34" charset="0"/>
                <a:ea typeface="Arial" pitchFamily="34" charset="-122"/>
                <a:cs typeface="Arial" pitchFamily="34" charset="-120"/>
              </a:rPr>
              <a:t>Tactical Fire Response &amp; Scene Management</a:t>
            </a:r>
            <a:endParaRPr lang="en-US" sz="1350" dirty="0"/>
          </a:p>
        </p:txBody>
      </p:sp>
      <p:sp>
        <p:nvSpPr>
          <p:cNvPr id="19" name="Text 17"/>
          <p:cNvSpPr/>
          <p:nvPr/>
        </p:nvSpPr>
        <p:spPr>
          <a:xfrm>
            <a:off x="1645920" y="3931920"/>
            <a:ext cx="3168396" cy="50292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Attack strategies, size-up, risk-based decisions, resources</a:t>
            </a:r>
            <a:endParaRPr lang="en-US" sz="1050" dirty="0"/>
          </a:p>
        </p:txBody>
      </p:sp>
      <p:sp>
        <p:nvSpPr>
          <p:cNvPr id="20" name="Text 18"/>
          <p:cNvSpPr/>
          <p:nvPr/>
        </p:nvSpPr>
        <p:spPr>
          <a:xfrm>
            <a:off x="4905756" y="3364992"/>
            <a:ext cx="822960" cy="320040"/>
          </a:xfrm>
          <a:prstGeom prst="rect">
            <a:avLst/>
          </a:prstGeom>
          <a:noFill/>
          <a:ln/>
        </p:spPr>
        <p:txBody>
          <a:bodyPr wrap="square" lIns="0" tIns="0" rIns="0" bIns="0" rtlCol="0" anchor="ctr"/>
          <a:lstStyle/>
          <a:p>
            <a:pPr algn="r" indent="0" marL="0">
              <a:buNone/>
            </a:pPr>
            <a:r>
              <a:rPr lang="en-US" sz="1050" b="1" dirty="0">
                <a:solidFill>
                  <a:srgbClr val="F5A623"/>
                </a:solidFill>
                <a:latin typeface="Arial" pitchFamily="34" charset="0"/>
                <a:ea typeface="Arial" pitchFamily="34" charset="-122"/>
                <a:cs typeface="Arial" pitchFamily="34" charset="-120"/>
              </a:rPr>
              <a:t>Day 2</a:t>
            </a:r>
            <a:endParaRPr lang="en-US" sz="1050" dirty="0"/>
          </a:p>
        </p:txBody>
      </p:sp>
      <p:sp>
        <p:nvSpPr>
          <p:cNvPr id="21" name="Shape 19"/>
          <p:cNvSpPr/>
          <p:nvPr/>
        </p:nvSpPr>
        <p:spPr>
          <a:xfrm>
            <a:off x="6277356" y="3218688"/>
            <a:ext cx="5317236" cy="1298448"/>
          </a:xfrm>
          <a:prstGeom prst="roundRect">
            <a:avLst>
              <a:gd name="adj" fmla="val 5634"/>
            </a:avLst>
          </a:prstGeom>
          <a:solidFill>
            <a:srgbClr val="F3F4F5"/>
          </a:solidFill>
          <a:ln/>
        </p:spPr>
      </p:sp>
      <p:sp>
        <p:nvSpPr>
          <p:cNvPr id="22" name="Text 20"/>
          <p:cNvSpPr/>
          <p:nvPr/>
        </p:nvSpPr>
        <p:spPr>
          <a:xfrm>
            <a:off x="6478524" y="3419856"/>
            <a:ext cx="777240" cy="914400"/>
          </a:xfrm>
          <a:prstGeom prst="rect">
            <a:avLst/>
          </a:prstGeom>
          <a:noFill/>
          <a:ln/>
        </p:spPr>
        <p:txBody>
          <a:bodyPr wrap="square" lIns="0" tIns="0" rIns="0" bIns="0" rtlCol="0" anchor="ctr"/>
          <a:lstStyle/>
          <a:p>
            <a:pPr indent="0" marL="0">
              <a:buNone/>
            </a:pPr>
            <a:r>
              <a:rPr lang="en-US" sz="4000" b="1" dirty="0">
                <a:solidFill>
                  <a:srgbClr val="E8491D"/>
                </a:solidFill>
                <a:latin typeface="Arial" pitchFamily="34" charset="0"/>
                <a:ea typeface="Arial" pitchFamily="34" charset="-122"/>
                <a:cs typeface="Arial" pitchFamily="34" charset="-120"/>
              </a:rPr>
              <a:t>4</a:t>
            </a:r>
            <a:endParaRPr lang="en-US" sz="4000" dirty="0"/>
          </a:p>
        </p:txBody>
      </p:sp>
      <p:sp>
        <p:nvSpPr>
          <p:cNvPr id="23" name="Text 21"/>
          <p:cNvSpPr/>
          <p:nvPr/>
        </p:nvSpPr>
        <p:spPr>
          <a:xfrm>
            <a:off x="7328916" y="3364992"/>
            <a:ext cx="3168396" cy="566928"/>
          </a:xfrm>
          <a:prstGeom prst="rect">
            <a:avLst/>
          </a:prstGeom>
          <a:noFill/>
          <a:ln/>
        </p:spPr>
        <p:txBody>
          <a:bodyPr wrap="square" lIns="0" tIns="0" rIns="0" bIns="0" rtlCol="0" anchor="ctr"/>
          <a:lstStyle/>
          <a:p>
            <a:pPr indent="0" marL="0">
              <a:buNone/>
            </a:pPr>
            <a:r>
              <a:rPr lang="en-US" sz="1350" b="1" dirty="0">
                <a:solidFill>
                  <a:srgbClr val="1A2027"/>
                </a:solidFill>
                <a:latin typeface="Arial" pitchFamily="34" charset="0"/>
                <a:ea typeface="Arial" pitchFamily="34" charset="-122"/>
                <a:cs typeface="Arial" pitchFamily="34" charset="-120"/>
              </a:rPr>
              <a:t>Communication &amp; Command</a:t>
            </a:r>
            <a:endParaRPr lang="en-US" sz="1350" dirty="0"/>
          </a:p>
        </p:txBody>
      </p:sp>
      <p:sp>
        <p:nvSpPr>
          <p:cNvPr id="24" name="Text 22"/>
          <p:cNvSpPr/>
          <p:nvPr/>
        </p:nvSpPr>
        <p:spPr>
          <a:xfrm>
            <a:off x="7328916" y="3931920"/>
            <a:ext cx="3168396" cy="50292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Protocols, multi-team coordination, control in escalation</a:t>
            </a:r>
            <a:endParaRPr lang="en-US" sz="1050" dirty="0"/>
          </a:p>
        </p:txBody>
      </p:sp>
      <p:sp>
        <p:nvSpPr>
          <p:cNvPr id="25" name="Text 23"/>
          <p:cNvSpPr/>
          <p:nvPr/>
        </p:nvSpPr>
        <p:spPr>
          <a:xfrm>
            <a:off x="10588752" y="3364992"/>
            <a:ext cx="822960" cy="320040"/>
          </a:xfrm>
          <a:prstGeom prst="rect">
            <a:avLst/>
          </a:prstGeom>
          <a:noFill/>
          <a:ln/>
        </p:spPr>
        <p:txBody>
          <a:bodyPr wrap="square" lIns="0" tIns="0" rIns="0" bIns="0" rtlCol="0" anchor="ctr"/>
          <a:lstStyle/>
          <a:p>
            <a:pPr algn="r" indent="0" marL="0">
              <a:buNone/>
            </a:pPr>
            <a:r>
              <a:rPr lang="en-US" sz="1050" b="1" dirty="0">
                <a:solidFill>
                  <a:srgbClr val="F5A623"/>
                </a:solidFill>
                <a:latin typeface="Arial" pitchFamily="34" charset="0"/>
                <a:ea typeface="Arial" pitchFamily="34" charset="-122"/>
                <a:cs typeface="Arial" pitchFamily="34" charset="-120"/>
              </a:rPr>
              <a:t>Day 2</a:t>
            </a:r>
            <a:endParaRPr lang="en-US" sz="1050" dirty="0"/>
          </a:p>
        </p:txBody>
      </p:sp>
      <p:sp>
        <p:nvSpPr>
          <p:cNvPr id="26" name="Shape 24"/>
          <p:cNvSpPr/>
          <p:nvPr/>
        </p:nvSpPr>
        <p:spPr>
          <a:xfrm>
            <a:off x="594360" y="4700016"/>
            <a:ext cx="5317236" cy="1298448"/>
          </a:xfrm>
          <a:prstGeom prst="roundRect">
            <a:avLst>
              <a:gd name="adj" fmla="val 5634"/>
            </a:avLst>
          </a:prstGeom>
          <a:solidFill>
            <a:srgbClr val="F3F4F5"/>
          </a:solidFill>
          <a:ln/>
        </p:spPr>
      </p:sp>
      <p:sp>
        <p:nvSpPr>
          <p:cNvPr id="27" name="Text 25"/>
          <p:cNvSpPr/>
          <p:nvPr/>
        </p:nvSpPr>
        <p:spPr>
          <a:xfrm>
            <a:off x="795528" y="4901184"/>
            <a:ext cx="777240" cy="914400"/>
          </a:xfrm>
          <a:prstGeom prst="rect">
            <a:avLst/>
          </a:prstGeom>
          <a:noFill/>
          <a:ln/>
        </p:spPr>
        <p:txBody>
          <a:bodyPr wrap="square" lIns="0" tIns="0" rIns="0" bIns="0" rtlCol="0" anchor="ctr"/>
          <a:lstStyle/>
          <a:p>
            <a:pPr indent="0" marL="0">
              <a:buNone/>
            </a:pPr>
            <a:r>
              <a:rPr lang="en-US" sz="4000" b="1" dirty="0">
                <a:solidFill>
                  <a:srgbClr val="E8491D"/>
                </a:solidFill>
                <a:latin typeface="Arial" pitchFamily="34" charset="0"/>
                <a:ea typeface="Arial" pitchFamily="34" charset="-122"/>
                <a:cs typeface="Arial" pitchFamily="34" charset="-120"/>
              </a:rPr>
              <a:t>5</a:t>
            </a:r>
            <a:endParaRPr lang="en-US" sz="4000" dirty="0"/>
          </a:p>
        </p:txBody>
      </p:sp>
      <p:sp>
        <p:nvSpPr>
          <p:cNvPr id="28" name="Text 26"/>
          <p:cNvSpPr/>
          <p:nvPr/>
        </p:nvSpPr>
        <p:spPr>
          <a:xfrm>
            <a:off x="1645920" y="4846320"/>
            <a:ext cx="3168396" cy="566928"/>
          </a:xfrm>
          <a:prstGeom prst="rect">
            <a:avLst/>
          </a:prstGeom>
          <a:noFill/>
          <a:ln/>
        </p:spPr>
        <p:txBody>
          <a:bodyPr wrap="square" lIns="0" tIns="0" rIns="0" bIns="0" rtlCol="0" anchor="ctr"/>
          <a:lstStyle/>
          <a:p>
            <a:pPr indent="0" marL="0">
              <a:buNone/>
            </a:pPr>
            <a:r>
              <a:rPr lang="en-US" sz="1350" b="1" dirty="0">
                <a:solidFill>
                  <a:srgbClr val="1A2027"/>
                </a:solidFill>
                <a:latin typeface="Arial" pitchFamily="34" charset="0"/>
                <a:ea typeface="Arial" pitchFamily="34" charset="-122"/>
                <a:cs typeface="Arial" pitchFamily="34" charset="-120"/>
              </a:rPr>
              <a:t>Incident Command &amp; Emergency Control</a:t>
            </a:r>
            <a:endParaRPr lang="en-US" sz="1350" dirty="0"/>
          </a:p>
        </p:txBody>
      </p:sp>
      <p:sp>
        <p:nvSpPr>
          <p:cNvPr id="29" name="Text 27"/>
          <p:cNvSpPr/>
          <p:nvPr/>
        </p:nvSpPr>
        <p:spPr>
          <a:xfrm>
            <a:off x="1645920" y="5413248"/>
            <a:ext cx="3168396" cy="50292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ICS principles, control zones, escalation, accountability</a:t>
            </a:r>
            <a:endParaRPr lang="en-US" sz="1050" dirty="0"/>
          </a:p>
        </p:txBody>
      </p:sp>
      <p:sp>
        <p:nvSpPr>
          <p:cNvPr id="30" name="Text 28"/>
          <p:cNvSpPr/>
          <p:nvPr/>
        </p:nvSpPr>
        <p:spPr>
          <a:xfrm>
            <a:off x="4905756" y="4846320"/>
            <a:ext cx="822960" cy="320040"/>
          </a:xfrm>
          <a:prstGeom prst="rect">
            <a:avLst/>
          </a:prstGeom>
          <a:noFill/>
          <a:ln/>
        </p:spPr>
        <p:txBody>
          <a:bodyPr wrap="square" lIns="0" tIns="0" rIns="0" bIns="0" rtlCol="0" anchor="ctr"/>
          <a:lstStyle/>
          <a:p>
            <a:pPr algn="r" indent="0" marL="0">
              <a:buNone/>
            </a:pPr>
            <a:r>
              <a:rPr lang="en-US" sz="1050" b="1" dirty="0">
                <a:solidFill>
                  <a:srgbClr val="F5A623"/>
                </a:solidFill>
                <a:latin typeface="Arial" pitchFamily="34" charset="0"/>
                <a:ea typeface="Arial" pitchFamily="34" charset="-122"/>
                <a:cs typeface="Arial" pitchFamily="34" charset="-120"/>
              </a:rPr>
              <a:t>Day 2</a:t>
            </a:r>
            <a:endParaRPr lang="en-US" sz="1050" dirty="0"/>
          </a:p>
        </p:txBody>
      </p:sp>
      <p:sp>
        <p:nvSpPr>
          <p:cNvPr id="31" name="Shape 29"/>
          <p:cNvSpPr/>
          <p:nvPr/>
        </p:nvSpPr>
        <p:spPr>
          <a:xfrm>
            <a:off x="6277356" y="4700016"/>
            <a:ext cx="5317236" cy="1298448"/>
          </a:xfrm>
          <a:prstGeom prst="roundRect">
            <a:avLst>
              <a:gd name="adj" fmla="val 5634"/>
            </a:avLst>
          </a:prstGeom>
          <a:solidFill>
            <a:srgbClr val="F3F4F5"/>
          </a:solidFill>
          <a:ln/>
        </p:spPr>
      </p:sp>
      <p:sp>
        <p:nvSpPr>
          <p:cNvPr id="32" name="Text 30"/>
          <p:cNvSpPr/>
          <p:nvPr/>
        </p:nvSpPr>
        <p:spPr>
          <a:xfrm>
            <a:off x="6478524" y="4901184"/>
            <a:ext cx="777240" cy="914400"/>
          </a:xfrm>
          <a:prstGeom prst="rect">
            <a:avLst/>
          </a:prstGeom>
          <a:noFill/>
          <a:ln/>
        </p:spPr>
        <p:txBody>
          <a:bodyPr wrap="square" lIns="0" tIns="0" rIns="0" bIns="0" rtlCol="0" anchor="ctr"/>
          <a:lstStyle/>
          <a:p>
            <a:pPr indent="0" marL="0">
              <a:buNone/>
            </a:pPr>
            <a:r>
              <a:rPr lang="en-US" sz="4000" b="1" dirty="0">
                <a:solidFill>
                  <a:srgbClr val="E8491D"/>
                </a:solidFill>
                <a:latin typeface="Arial" pitchFamily="34" charset="0"/>
                <a:ea typeface="Arial" pitchFamily="34" charset="-122"/>
                <a:cs typeface="Arial" pitchFamily="34" charset="-120"/>
              </a:rPr>
              <a:t>6</a:t>
            </a:r>
            <a:endParaRPr lang="en-US" sz="4000" dirty="0"/>
          </a:p>
        </p:txBody>
      </p:sp>
      <p:sp>
        <p:nvSpPr>
          <p:cNvPr id="33" name="Text 31"/>
          <p:cNvSpPr/>
          <p:nvPr/>
        </p:nvSpPr>
        <p:spPr>
          <a:xfrm>
            <a:off x="7328916" y="4846320"/>
            <a:ext cx="3168396" cy="566928"/>
          </a:xfrm>
          <a:prstGeom prst="rect">
            <a:avLst/>
          </a:prstGeom>
          <a:noFill/>
          <a:ln/>
        </p:spPr>
        <p:txBody>
          <a:bodyPr wrap="square" lIns="0" tIns="0" rIns="0" bIns="0" rtlCol="0" anchor="ctr"/>
          <a:lstStyle/>
          <a:p>
            <a:pPr indent="0" marL="0">
              <a:buNone/>
            </a:pPr>
            <a:r>
              <a:rPr lang="en-US" sz="1350" b="1" dirty="0">
                <a:solidFill>
                  <a:srgbClr val="1A2027"/>
                </a:solidFill>
                <a:latin typeface="Arial" pitchFamily="34" charset="0"/>
                <a:ea typeface="Arial" pitchFamily="34" charset="-122"/>
                <a:cs typeface="Arial" pitchFamily="34" charset="-120"/>
              </a:rPr>
              <a:t>Full-Scale Simulation &amp; Evaluation</a:t>
            </a:r>
            <a:endParaRPr lang="en-US" sz="1350" dirty="0"/>
          </a:p>
        </p:txBody>
      </p:sp>
      <p:sp>
        <p:nvSpPr>
          <p:cNvPr id="34" name="Text 32"/>
          <p:cNvSpPr/>
          <p:nvPr/>
        </p:nvSpPr>
        <p:spPr>
          <a:xfrm>
            <a:off x="7328916" y="5413248"/>
            <a:ext cx="3168396" cy="50292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Complex scenarios, real-time evaluation, structured debrief</a:t>
            </a:r>
            <a:endParaRPr lang="en-US" sz="1050" dirty="0"/>
          </a:p>
        </p:txBody>
      </p:sp>
      <p:sp>
        <p:nvSpPr>
          <p:cNvPr id="35" name="Text 33"/>
          <p:cNvSpPr/>
          <p:nvPr/>
        </p:nvSpPr>
        <p:spPr>
          <a:xfrm>
            <a:off x="10588752" y="4846320"/>
            <a:ext cx="822960" cy="320040"/>
          </a:xfrm>
          <a:prstGeom prst="rect">
            <a:avLst/>
          </a:prstGeom>
          <a:noFill/>
          <a:ln/>
        </p:spPr>
        <p:txBody>
          <a:bodyPr wrap="square" lIns="0" tIns="0" rIns="0" bIns="0" rtlCol="0" anchor="ctr"/>
          <a:lstStyle/>
          <a:p>
            <a:pPr algn="r" indent="0" marL="0">
              <a:buNone/>
            </a:pPr>
            <a:r>
              <a:rPr lang="en-US" sz="1050" b="1" dirty="0">
                <a:solidFill>
                  <a:srgbClr val="F5A623"/>
                </a:solidFill>
                <a:latin typeface="Arial" pitchFamily="34" charset="0"/>
                <a:ea typeface="Arial" pitchFamily="34" charset="-122"/>
                <a:cs typeface="Arial" pitchFamily="34" charset="-120"/>
              </a:rPr>
              <a:t>Day 3</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10</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HOW YOU WILL BE MEASURED</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Assessment &amp; certification</a:t>
            </a:r>
            <a:endParaRPr lang="en-US" sz="3000" dirty="0"/>
          </a:p>
        </p:txBody>
      </p:sp>
      <p:sp>
        <p:nvSpPr>
          <p:cNvPr id="6" name="Shape 4"/>
          <p:cNvSpPr/>
          <p:nvPr/>
        </p:nvSpPr>
        <p:spPr>
          <a:xfrm>
            <a:off x="594360" y="1783080"/>
            <a:ext cx="3453384" cy="2880360"/>
          </a:xfrm>
          <a:prstGeom prst="roundRect">
            <a:avLst>
              <a:gd name="adj" fmla="val 3175"/>
            </a:avLst>
          </a:prstGeom>
          <a:solidFill>
            <a:srgbClr val="F3F4F5"/>
          </a:solidFill>
          <a:ln/>
        </p:spPr>
      </p:sp>
      <p:sp>
        <p:nvSpPr>
          <p:cNvPr id="7" name="Shape 5"/>
          <p:cNvSpPr/>
          <p:nvPr/>
        </p:nvSpPr>
        <p:spPr>
          <a:xfrm>
            <a:off x="822960" y="2011680"/>
            <a:ext cx="548640" cy="548640"/>
          </a:xfrm>
          <a:prstGeom prst="ellipse">
            <a:avLst/>
          </a:prstGeom>
          <a:solidFill>
            <a:srgbClr val="E8491D"/>
          </a:solidFill>
          <a:ln/>
        </p:spPr>
      </p:sp>
      <p:pic>
        <p:nvPicPr>
          <p:cNvPr id="8" name="Image 0" descr="/tmp/claude-0/-home-user-My-Future-Idaes/0806094f-208a-506e-82b2-f78683d50c82/scratchpad/icons/FaEye_white.png">    </p:cNvPr>
          <p:cNvPicPr>
            <a:picLocks noChangeAspect="1"/>
          </p:cNvPicPr>
          <p:nvPr/>
        </p:nvPicPr>
        <p:blipFill>
          <a:blip r:embed="rId1"/>
          <a:stretch>
            <a:fillRect/>
          </a:stretch>
        </p:blipFill>
        <p:spPr>
          <a:xfrm>
            <a:off x="954634" y="2143354"/>
            <a:ext cx="285293" cy="285293"/>
          </a:xfrm>
          <a:prstGeom prst="rect">
            <a:avLst/>
          </a:prstGeom>
        </p:spPr>
      </p:pic>
      <p:sp>
        <p:nvSpPr>
          <p:cNvPr id="9" name="Text 6"/>
          <p:cNvSpPr/>
          <p:nvPr/>
        </p:nvSpPr>
        <p:spPr>
          <a:xfrm>
            <a:off x="822960" y="2697480"/>
            <a:ext cx="2996184" cy="658368"/>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Leadership performance evaluation</a:t>
            </a:r>
            <a:endParaRPr lang="en-US" sz="1400" dirty="0"/>
          </a:p>
        </p:txBody>
      </p:sp>
      <p:sp>
        <p:nvSpPr>
          <p:cNvPr id="10" name="Text 7"/>
          <p:cNvSpPr/>
          <p:nvPr/>
        </p:nvSpPr>
        <p:spPr>
          <a:xfrm>
            <a:off x="822960" y="3383280"/>
            <a:ext cx="2996184" cy="96012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Continuous assessor observation across all practical work — command presence, decisions, control of the team.</a:t>
            </a:r>
            <a:endParaRPr lang="en-US" sz="1050" dirty="0"/>
          </a:p>
        </p:txBody>
      </p:sp>
      <p:sp>
        <p:nvSpPr>
          <p:cNvPr id="11" name="Text 8"/>
          <p:cNvSpPr/>
          <p:nvPr/>
        </p:nvSpPr>
        <p:spPr>
          <a:xfrm>
            <a:off x="822960" y="4315968"/>
            <a:ext cx="2996184" cy="274320"/>
          </a:xfrm>
          <a:prstGeom prst="rect">
            <a:avLst/>
          </a:prstGeom>
          <a:noFill/>
          <a:ln/>
        </p:spPr>
        <p:txBody>
          <a:bodyPr wrap="square" lIns="0" tIns="0" rIns="0" bIns="0" rtlCol="0" anchor="ctr"/>
          <a:lstStyle/>
          <a:p>
            <a:pPr indent="0" marL="0">
              <a:buNone/>
            </a:pPr>
            <a:r>
              <a:rPr lang="en-US" sz="1050" b="1" dirty="0">
                <a:solidFill>
                  <a:srgbClr val="F5A623"/>
                </a:solidFill>
                <a:latin typeface="Arial" pitchFamily="34" charset="0"/>
                <a:ea typeface="Arial" pitchFamily="34" charset="-122"/>
                <a:cs typeface="Arial" pitchFamily="34" charset="-120"/>
              </a:rPr>
              <a:t>Throughout</a:t>
            </a:r>
            <a:endParaRPr lang="en-US" sz="1050" dirty="0"/>
          </a:p>
        </p:txBody>
      </p:sp>
      <p:sp>
        <p:nvSpPr>
          <p:cNvPr id="12" name="Shape 9"/>
          <p:cNvSpPr/>
          <p:nvPr/>
        </p:nvSpPr>
        <p:spPr>
          <a:xfrm>
            <a:off x="4367784" y="1783080"/>
            <a:ext cx="3453384" cy="2880360"/>
          </a:xfrm>
          <a:prstGeom prst="roundRect">
            <a:avLst>
              <a:gd name="adj" fmla="val 3175"/>
            </a:avLst>
          </a:prstGeom>
          <a:solidFill>
            <a:srgbClr val="F3F4F5"/>
          </a:solidFill>
          <a:ln/>
        </p:spPr>
      </p:sp>
      <p:sp>
        <p:nvSpPr>
          <p:cNvPr id="13" name="Shape 10"/>
          <p:cNvSpPr/>
          <p:nvPr/>
        </p:nvSpPr>
        <p:spPr>
          <a:xfrm>
            <a:off x="4596384" y="2011680"/>
            <a:ext cx="548640" cy="548640"/>
          </a:xfrm>
          <a:prstGeom prst="ellipse">
            <a:avLst/>
          </a:prstGeom>
          <a:solidFill>
            <a:srgbClr val="E8491D"/>
          </a:solidFill>
          <a:ln/>
        </p:spPr>
      </p:sp>
      <p:pic>
        <p:nvPicPr>
          <p:cNvPr id="14" name="Image 1" descr="/tmp/claude-0/-home-user-My-Future-Idaes/0806094f-208a-506e-82b2-f78683d50c82/scratchpad/icons/FaFire_white.png">    </p:cNvPr>
          <p:cNvPicPr>
            <a:picLocks noChangeAspect="1"/>
          </p:cNvPicPr>
          <p:nvPr/>
        </p:nvPicPr>
        <p:blipFill>
          <a:blip r:embed="rId2"/>
          <a:stretch>
            <a:fillRect/>
          </a:stretch>
        </p:blipFill>
        <p:spPr>
          <a:xfrm>
            <a:off x="4728058" y="2143354"/>
            <a:ext cx="285293" cy="285293"/>
          </a:xfrm>
          <a:prstGeom prst="rect">
            <a:avLst/>
          </a:prstGeom>
        </p:spPr>
      </p:pic>
      <p:sp>
        <p:nvSpPr>
          <p:cNvPr id="15" name="Text 11"/>
          <p:cNvSpPr/>
          <p:nvPr/>
        </p:nvSpPr>
        <p:spPr>
          <a:xfrm>
            <a:off x="4596384" y="2697480"/>
            <a:ext cx="2996184" cy="658368"/>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Scenario-based assessments</a:t>
            </a:r>
            <a:endParaRPr lang="en-US" sz="1400" dirty="0"/>
          </a:p>
        </p:txBody>
      </p:sp>
      <p:sp>
        <p:nvSpPr>
          <p:cNvPr id="16" name="Text 12"/>
          <p:cNvSpPr/>
          <p:nvPr/>
        </p:nvSpPr>
        <p:spPr>
          <a:xfrm>
            <a:off x="4596384" y="3383280"/>
            <a:ext cx="2996184" cy="96012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Graded performance in tactical drills, command simulations and the Day 3 full-scale exercise.</a:t>
            </a:r>
            <a:endParaRPr lang="en-US" sz="1050" dirty="0"/>
          </a:p>
        </p:txBody>
      </p:sp>
      <p:sp>
        <p:nvSpPr>
          <p:cNvPr id="17" name="Text 13"/>
          <p:cNvSpPr/>
          <p:nvPr/>
        </p:nvSpPr>
        <p:spPr>
          <a:xfrm>
            <a:off x="4596384" y="4315968"/>
            <a:ext cx="2996184" cy="274320"/>
          </a:xfrm>
          <a:prstGeom prst="rect">
            <a:avLst/>
          </a:prstGeom>
          <a:noFill/>
          <a:ln/>
        </p:spPr>
        <p:txBody>
          <a:bodyPr wrap="square" lIns="0" tIns="0" rIns="0" bIns="0" rtlCol="0" anchor="ctr"/>
          <a:lstStyle/>
          <a:p>
            <a:pPr indent="0" marL="0">
              <a:buNone/>
            </a:pPr>
            <a:r>
              <a:rPr lang="en-US" sz="1050" b="1" dirty="0">
                <a:solidFill>
                  <a:srgbClr val="F5A623"/>
                </a:solidFill>
                <a:latin typeface="Arial" pitchFamily="34" charset="0"/>
                <a:ea typeface="Arial" pitchFamily="34" charset="-122"/>
                <a:cs typeface="Arial" pitchFamily="34" charset="-120"/>
              </a:rPr>
              <a:t>Days 2–3</a:t>
            </a:r>
            <a:endParaRPr lang="en-US" sz="1050" dirty="0"/>
          </a:p>
        </p:txBody>
      </p:sp>
      <p:sp>
        <p:nvSpPr>
          <p:cNvPr id="18" name="Shape 14"/>
          <p:cNvSpPr/>
          <p:nvPr/>
        </p:nvSpPr>
        <p:spPr>
          <a:xfrm>
            <a:off x="8141208" y="1783080"/>
            <a:ext cx="3453384" cy="2880360"/>
          </a:xfrm>
          <a:prstGeom prst="roundRect">
            <a:avLst>
              <a:gd name="adj" fmla="val 3175"/>
            </a:avLst>
          </a:prstGeom>
          <a:solidFill>
            <a:srgbClr val="F3F4F5"/>
          </a:solidFill>
          <a:ln/>
        </p:spPr>
      </p:sp>
      <p:sp>
        <p:nvSpPr>
          <p:cNvPr id="19" name="Shape 15"/>
          <p:cNvSpPr/>
          <p:nvPr/>
        </p:nvSpPr>
        <p:spPr>
          <a:xfrm>
            <a:off x="8369808" y="2011680"/>
            <a:ext cx="548640" cy="548640"/>
          </a:xfrm>
          <a:prstGeom prst="ellipse">
            <a:avLst/>
          </a:prstGeom>
          <a:solidFill>
            <a:srgbClr val="E8491D"/>
          </a:solidFill>
          <a:ln/>
        </p:spPr>
      </p:sp>
      <p:pic>
        <p:nvPicPr>
          <p:cNvPr id="20" name="Image 2" descr="/tmp/claude-0/-home-user-My-Future-Idaes/0806094f-208a-506e-82b2-f78683d50c82/scratchpad/icons/FaClipboardCheck_white.png">    </p:cNvPr>
          <p:cNvPicPr>
            <a:picLocks noChangeAspect="1"/>
          </p:cNvPicPr>
          <p:nvPr/>
        </p:nvPicPr>
        <p:blipFill>
          <a:blip r:embed="rId3"/>
          <a:stretch>
            <a:fillRect/>
          </a:stretch>
        </p:blipFill>
        <p:spPr>
          <a:xfrm>
            <a:off x="8501482" y="2143354"/>
            <a:ext cx="285293" cy="285293"/>
          </a:xfrm>
          <a:prstGeom prst="rect">
            <a:avLst/>
          </a:prstGeom>
        </p:spPr>
      </p:pic>
      <p:sp>
        <p:nvSpPr>
          <p:cNvPr id="21" name="Text 16"/>
          <p:cNvSpPr/>
          <p:nvPr/>
        </p:nvSpPr>
        <p:spPr>
          <a:xfrm>
            <a:off x="8369808" y="2697480"/>
            <a:ext cx="2996184" cy="658368"/>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Final competency validation</a:t>
            </a:r>
            <a:endParaRPr lang="en-US" sz="1400" dirty="0"/>
          </a:p>
        </p:txBody>
      </p:sp>
      <p:sp>
        <p:nvSpPr>
          <p:cNvPr id="22" name="Text 17"/>
          <p:cNvSpPr/>
          <p:nvPr/>
        </p:nvSpPr>
        <p:spPr>
          <a:xfrm>
            <a:off x="8369808" y="3383280"/>
            <a:ext cx="2996184" cy="96012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Structured sign-off against the Fire Team Leader competency profile, plus knowledge check.</a:t>
            </a:r>
            <a:endParaRPr lang="en-US" sz="1050" dirty="0"/>
          </a:p>
        </p:txBody>
      </p:sp>
      <p:sp>
        <p:nvSpPr>
          <p:cNvPr id="23" name="Text 18"/>
          <p:cNvSpPr/>
          <p:nvPr/>
        </p:nvSpPr>
        <p:spPr>
          <a:xfrm>
            <a:off x="8369808" y="4315968"/>
            <a:ext cx="2996184" cy="274320"/>
          </a:xfrm>
          <a:prstGeom prst="rect">
            <a:avLst/>
          </a:prstGeom>
          <a:noFill/>
          <a:ln/>
        </p:spPr>
        <p:txBody>
          <a:bodyPr wrap="square" lIns="0" tIns="0" rIns="0" bIns="0" rtlCol="0" anchor="ctr"/>
          <a:lstStyle/>
          <a:p>
            <a:pPr indent="0" marL="0">
              <a:buNone/>
            </a:pPr>
            <a:r>
              <a:rPr lang="en-US" sz="1050" b="1" dirty="0">
                <a:solidFill>
                  <a:srgbClr val="F5A623"/>
                </a:solidFill>
                <a:latin typeface="Arial" pitchFamily="34" charset="0"/>
                <a:ea typeface="Arial" pitchFamily="34" charset="-122"/>
                <a:cs typeface="Arial" pitchFamily="34" charset="-120"/>
              </a:rPr>
              <a:t>Day 3</a:t>
            </a:r>
            <a:endParaRPr lang="en-US" sz="1050" dirty="0"/>
          </a:p>
        </p:txBody>
      </p:sp>
      <p:sp>
        <p:nvSpPr>
          <p:cNvPr id="24" name="Shape 19"/>
          <p:cNvSpPr/>
          <p:nvPr/>
        </p:nvSpPr>
        <p:spPr>
          <a:xfrm>
            <a:off x="594360" y="4983480"/>
            <a:ext cx="11000232" cy="1143000"/>
          </a:xfrm>
          <a:prstGeom prst="roundRect">
            <a:avLst>
              <a:gd name="adj" fmla="val 6400"/>
            </a:avLst>
          </a:prstGeom>
          <a:solidFill>
            <a:srgbClr val="14181C"/>
          </a:solidFill>
          <a:ln/>
        </p:spPr>
      </p:sp>
      <p:sp>
        <p:nvSpPr>
          <p:cNvPr id="25" name="Shape 20"/>
          <p:cNvSpPr/>
          <p:nvPr/>
        </p:nvSpPr>
        <p:spPr>
          <a:xfrm>
            <a:off x="868680" y="5257800"/>
            <a:ext cx="594360" cy="594360"/>
          </a:xfrm>
          <a:prstGeom prst="ellipse">
            <a:avLst/>
          </a:prstGeom>
          <a:solidFill>
            <a:srgbClr val="F5A623"/>
          </a:solidFill>
          <a:ln/>
        </p:spPr>
      </p:sp>
      <p:pic>
        <p:nvPicPr>
          <p:cNvPr id="26" name="Image 3" descr="/tmp/claude-0/-home-user-My-Future-Idaes/0806094f-208a-506e-82b2-f78683d50c82/scratchpad/icons/FaAward_ink.png">    </p:cNvPr>
          <p:cNvPicPr>
            <a:picLocks noChangeAspect="1"/>
          </p:cNvPicPr>
          <p:nvPr/>
        </p:nvPicPr>
        <p:blipFill>
          <a:blip r:embed="rId4"/>
          <a:stretch>
            <a:fillRect/>
          </a:stretch>
        </p:blipFill>
        <p:spPr>
          <a:xfrm>
            <a:off x="1011326" y="5400446"/>
            <a:ext cx="309067" cy="309067"/>
          </a:xfrm>
          <a:prstGeom prst="rect">
            <a:avLst/>
          </a:prstGeom>
        </p:spPr>
      </p:pic>
      <p:sp>
        <p:nvSpPr>
          <p:cNvPr id="27" name="Text 21"/>
          <p:cNvSpPr/>
          <p:nvPr/>
        </p:nvSpPr>
        <p:spPr>
          <a:xfrm>
            <a:off x="1691640" y="5074920"/>
            <a:ext cx="9628632" cy="960120"/>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Certificate of Competency — Fire Fighting Team Leader.  </a:t>
            </a:r>
            <a:pPr indent="0" marL="0">
              <a:buNone/>
            </a:pPr>
            <a:r>
              <a:rPr lang="en-US" sz="1250" dirty="0">
                <a:solidFill>
                  <a:srgbClr val="9AA5AD"/>
                </a:solidFill>
                <a:latin typeface="Arial" pitchFamily="34" charset="0"/>
                <a:ea typeface="Arial" pitchFamily="34" charset="-122"/>
                <a:cs typeface="Arial" pitchFamily="34" charset="-120"/>
              </a:rPr>
              <a:t>Issued by NEFT Energies (ISO &amp; TVTC approved; accreditations include IADC, OPITO, NFPA, NEBOSH, IOSH) upon successful validation.</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11</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BUILT ON RECOGNIZED PRACTICE</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Standards this course draws from</a:t>
            </a:r>
            <a:endParaRPr lang="en-US" sz="3000" dirty="0"/>
          </a:p>
        </p:txBody>
      </p:sp>
      <p:sp>
        <p:nvSpPr>
          <p:cNvPr id="6" name="Shape 4"/>
          <p:cNvSpPr/>
          <p:nvPr/>
        </p:nvSpPr>
        <p:spPr>
          <a:xfrm>
            <a:off x="594360" y="1737360"/>
            <a:ext cx="5317236" cy="1828800"/>
          </a:xfrm>
          <a:prstGeom prst="roundRect">
            <a:avLst>
              <a:gd name="adj" fmla="val 5000"/>
            </a:avLst>
          </a:prstGeom>
          <a:solidFill>
            <a:srgbClr val="F3F4F5"/>
          </a:solidFill>
          <a:ln/>
        </p:spPr>
      </p:sp>
      <p:sp>
        <p:nvSpPr>
          <p:cNvPr id="7" name="Shape 5"/>
          <p:cNvSpPr/>
          <p:nvPr/>
        </p:nvSpPr>
        <p:spPr>
          <a:xfrm>
            <a:off x="822960" y="1965960"/>
            <a:ext cx="530352" cy="530352"/>
          </a:xfrm>
          <a:prstGeom prst="ellipse">
            <a:avLst/>
          </a:prstGeom>
          <a:solidFill>
            <a:srgbClr val="E8491D"/>
          </a:solidFill>
          <a:ln/>
        </p:spPr>
      </p:sp>
      <p:pic>
        <p:nvPicPr>
          <p:cNvPr id="8" name="Image 0" descr="/tmp/claude-0/-home-user-My-Future-Idaes/0806094f-208a-506e-82b2-f78683d50c82/scratchpad/icons/FaBookOpen_white.png">    </p:cNvPr>
          <p:cNvPicPr>
            <a:picLocks noChangeAspect="1"/>
          </p:cNvPicPr>
          <p:nvPr/>
        </p:nvPicPr>
        <p:blipFill>
          <a:blip r:embed="rId1"/>
          <a:stretch>
            <a:fillRect/>
          </a:stretch>
        </p:blipFill>
        <p:spPr>
          <a:xfrm>
            <a:off x="950244" y="2093244"/>
            <a:ext cx="275783" cy="275783"/>
          </a:xfrm>
          <a:prstGeom prst="rect">
            <a:avLst/>
          </a:prstGeom>
        </p:spPr>
      </p:pic>
      <p:sp>
        <p:nvSpPr>
          <p:cNvPr id="9" name="Text 6"/>
          <p:cNvSpPr/>
          <p:nvPr/>
        </p:nvSpPr>
        <p:spPr>
          <a:xfrm>
            <a:off x="1527048" y="1956816"/>
            <a:ext cx="4174236" cy="384048"/>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NFPA guidance</a:t>
            </a:r>
            <a:endParaRPr lang="en-US" sz="1400" dirty="0"/>
          </a:p>
        </p:txBody>
      </p:sp>
      <p:sp>
        <p:nvSpPr>
          <p:cNvPr id="10" name="Text 7"/>
          <p:cNvSpPr/>
          <p:nvPr/>
        </p:nvSpPr>
        <p:spPr>
          <a:xfrm>
            <a:off x="1527048" y="2359152"/>
            <a:ext cx="4128516" cy="114300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Industrial fire brigade practice (NFPA 600 family), fire officer professional qualifications (NFPA 1021 concepts), and occupational safety principles for fire teams.</a:t>
            </a:r>
            <a:endParaRPr lang="en-US" sz="1050" dirty="0"/>
          </a:p>
        </p:txBody>
      </p:sp>
      <p:sp>
        <p:nvSpPr>
          <p:cNvPr id="11" name="Shape 8"/>
          <p:cNvSpPr/>
          <p:nvPr/>
        </p:nvSpPr>
        <p:spPr>
          <a:xfrm>
            <a:off x="6277356" y="1737360"/>
            <a:ext cx="5317236" cy="1828800"/>
          </a:xfrm>
          <a:prstGeom prst="roundRect">
            <a:avLst>
              <a:gd name="adj" fmla="val 5000"/>
            </a:avLst>
          </a:prstGeom>
          <a:solidFill>
            <a:srgbClr val="F3F4F5"/>
          </a:solidFill>
          <a:ln/>
        </p:spPr>
      </p:sp>
      <p:sp>
        <p:nvSpPr>
          <p:cNvPr id="12" name="Shape 9"/>
          <p:cNvSpPr/>
          <p:nvPr/>
        </p:nvSpPr>
        <p:spPr>
          <a:xfrm>
            <a:off x="6505956" y="1965960"/>
            <a:ext cx="530352" cy="530352"/>
          </a:xfrm>
          <a:prstGeom prst="ellipse">
            <a:avLst/>
          </a:prstGeom>
          <a:solidFill>
            <a:srgbClr val="E8491D"/>
          </a:solidFill>
          <a:ln/>
        </p:spPr>
      </p:sp>
      <p:pic>
        <p:nvPicPr>
          <p:cNvPr id="13" name="Image 1" descr="/tmp/claude-0/-home-user-My-Future-Idaes/0806094f-208a-506e-82b2-f78683d50c82/scratchpad/icons/FaSitemap_white.png">    </p:cNvPr>
          <p:cNvPicPr>
            <a:picLocks noChangeAspect="1"/>
          </p:cNvPicPr>
          <p:nvPr/>
        </p:nvPicPr>
        <p:blipFill>
          <a:blip r:embed="rId2"/>
          <a:stretch>
            <a:fillRect/>
          </a:stretch>
        </p:blipFill>
        <p:spPr>
          <a:xfrm>
            <a:off x="6633240" y="2093244"/>
            <a:ext cx="275783" cy="275783"/>
          </a:xfrm>
          <a:prstGeom prst="rect">
            <a:avLst/>
          </a:prstGeom>
        </p:spPr>
      </p:pic>
      <p:sp>
        <p:nvSpPr>
          <p:cNvPr id="14" name="Text 10"/>
          <p:cNvSpPr/>
          <p:nvPr/>
        </p:nvSpPr>
        <p:spPr>
          <a:xfrm>
            <a:off x="7210044" y="1956816"/>
            <a:ext cx="4174236" cy="384048"/>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Incident Command System</a:t>
            </a:r>
            <a:endParaRPr lang="en-US" sz="1400" dirty="0"/>
          </a:p>
        </p:txBody>
      </p:sp>
      <p:sp>
        <p:nvSpPr>
          <p:cNvPr id="15" name="Text 11"/>
          <p:cNvSpPr/>
          <p:nvPr/>
        </p:nvSpPr>
        <p:spPr>
          <a:xfrm>
            <a:off x="7210044" y="2359152"/>
            <a:ext cx="4128516" cy="114300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Internationally recognized ICS doctrine: unity of command, span of control, modular growth, common terminology.</a:t>
            </a:r>
            <a:endParaRPr lang="en-US" sz="1050" dirty="0"/>
          </a:p>
        </p:txBody>
      </p:sp>
      <p:sp>
        <p:nvSpPr>
          <p:cNvPr id="16" name="Shape 12"/>
          <p:cNvSpPr/>
          <p:nvPr/>
        </p:nvSpPr>
        <p:spPr>
          <a:xfrm>
            <a:off x="594360" y="3749040"/>
            <a:ext cx="5317236" cy="1828800"/>
          </a:xfrm>
          <a:prstGeom prst="roundRect">
            <a:avLst>
              <a:gd name="adj" fmla="val 5000"/>
            </a:avLst>
          </a:prstGeom>
          <a:solidFill>
            <a:srgbClr val="F3F4F5"/>
          </a:solidFill>
          <a:ln/>
        </p:spPr>
      </p:sp>
      <p:sp>
        <p:nvSpPr>
          <p:cNvPr id="17" name="Shape 13"/>
          <p:cNvSpPr/>
          <p:nvPr/>
        </p:nvSpPr>
        <p:spPr>
          <a:xfrm>
            <a:off x="822960" y="3977640"/>
            <a:ext cx="530352" cy="530352"/>
          </a:xfrm>
          <a:prstGeom prst="ellipse">
            <a:avLst/>
          </a:prstGeom>
          <a:solidFill>
            <a:srgbClr val="E8491D"/>
          </a:solidFill>
          <a:ln/>
        </p:spPr>
      </p:sp>
      <p:pic>
        <p:nvPicPr>
          <p:cNvPr id="18" name="Image 2" descr="/tmp/claude-0/-home-user-My-Future-Idaes/0806094f-208a-506e-82b2-f78683d50c82/scratchpad/icons/FaShieldAlt_white.png">    </p:cNvPr>
          <p:cNvPicPr>
            <a:picLocks noChangeAspect="1"/>
          </p:cNvPicPr>
          <p:nvPr/>
        </p:nvPicPr>
        <p:blipFill>
          <a:blip r:embed="rId3"/>
          <a:stretch>
            <a:fillRect/>
          </a:stretch>
        </p:blipFill>
        <p:spPr>
          <a:xfrm>
            <a:off x="950244" y="4104924"/>
            <a:ext cx="275783" cy="275783"/>
          </a:xfrm>
          <a:prstGeom prst="rect">
            <a:avLst/>
          </a:prstGeom>
        </p:spPr>
      </p:pic>
      <p:sp>
        <p:nvSpPr>
          <p:cNvPr id="19" name="Text 14"/>
          <p:cNvSpPr/>
          <p:nvPr/>
        </p:nvSpPr>
        <p:spPr>
          <a:xfrm>
            <a:off x="1527048" y="3968496"/>
            <a:ext cx="4174236" cy="384048"/>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Regulatory intent</a:t>
            </a:r>
            <a:endParaRPr lang="en-US" sz="1400" dirty="0"/>
          </a:p>
        </p:txBody>
      </p:sp>
      <p:sp>
        <p:nvSpPr>
          <p:cNvPr id="20" name="Text 15"/>
          <p:cNvSpPr/>
          <p:nvPr/>
        </p:nvSpPr>
        <p:spPr>
          <a:xfrm>
            <a:off x="1527048" y="4370832"/>
            <a:ext cx="4128516" cy="114300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Industrial fire brigade and emergency-response duty-of-care expectations applied in high-hazard energy operations.</a:t>
            </a:r>
            <a:endParaRPr lang="en-US" sz="1050" dirty="0"/>
          </a:p>
        </p:txBody>
      </p:sp>
      <p:sp>
        <p:nvSpPr>
          <p:cNvPr id="21" name="Shape 16"/>
          <p:cNvSpPr/>
          <p:nvPr/>
        </p:nvSpPr>
        <p:spPr>
          <a:xfrm>
            <a:off x="6277356" y="3749040"/>
            <a:ext cx="5317236" cy="1828800"/>
          </a:xfrm>
          <a:prstGeom prst="roundRect">
            <a:avLst>
              <a:gd name="adj" fmla="val 5000"/>
            </a:avLst>
          </a:prstGeom>
          <a:solidFill>
            <a:srgbClr val="F3F4F5"/>
          </a:solidFill>
          <a:ln/>
        </p:spPr>
      </p:sp>
      <p:sp>
        <p:nvSpPr>
          <p:cNvPr id="22" name="Shape 17"/>
          <p:cNvSpPr/>
          <p:nvPr/>
        </p:nvSpPr>
        <p:spPr>
          <a:xfrm>
            <a:off x="6505956" y="3977640"/>
            <a:ext cx="530352" cy="530352"/>
          </a:xfrm>
          <a:prstGeom prst="ellipse">
            <a:avLst/>
          </a:prstGeom>
          <a:solidFill>
            <a:srgbClr val="E8491D"/>
          </a:solidFill>
          <a:ln/>
        </p:spPr>
      </p:sp>
      <p:pic>
        <p:nvPicPr>
          <p:cNvPr id="23" name="Image 3" descr="/tmp/claude-0/-home-user-My-Future-Idaes/0806094f-208a-506e-82b2-f78683d50c82/scratchpad/icons/FaHardHat_white.png">    </p:cNvPr>
          <p:cNvPicPr>
            <a:picLocks noChangeAspect="1"/>
          </p:cNvPicPr>
          <p:nvPr/>
        </p:nvPicPr>
        <p:blipFill>
          <a:blip r:embed="rId4"/>
          <a:stretch>
            <a:fillRect/>
          </a:stretch>
        </p:blipFill>
        <p:spPr>
          <a:xfrm>
            <a:off x="6633240" y="4104924"/>
            <a:ext cx="275783" cy="275783"/>
          </a:xfrm>
          <a:prstGeom prst="rect">
            <a:avLst/>
          </a:prstGeom>
        </p:spPr>
      </p:pic>
      <p:sp>
        <p:nvSpPr>
          <p:cNvPr id="24" name="Text 18"/>
          <p:cNvSpPr/>
          <p:nvPr/>
        </p:nvSpPr>
        <p:spPr>
          <a:xfrm>
            <a:off x="7210044" y="3968496"/>
            <a:ext cx="4174236" cy="384048"/>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Operator &amp; contractor practice</a:t>
            </a:r>
            <a:endParaRPr lang="en-US" sz="1400" dirty="0"/>
          </a:p>
        </p:txBody>
      </p:sp>
      <p:sp>
        <p:nvSpPr>
          <p:cNvPr id="25" name="Text 19"/>
          <p:cNvSpPr/>
          <p:nvPr/>
        </p:nvSpPr>
        <p:spPr>
          <a:xfrm>
            <a:off x="7210044" y="4370832"/>
            <a:ext cx="4128516" cy="114300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Saudi Aramco contractor emergency-readiness expectations and SANAD's own emergency response plan — the course plugs into them, it does not replace them.</a:t>
            </a:r>
            <a:endParaRPr lang="en-US" sz="1050" dirty="0"/>
          </a:p>
        </p:txBody>
      </p:sp>
      <p:sp>
        <p:nvSpPr>
          <p:cNvPr id="26" name="Text 20"/>
          <p:cNvSpPr/>
          <p:nvPr/>
        </p:nvSpPr>
        <p:spPr>
          <a:xfrm>
            <a:off x="594360" y="5806440"/>
            <a:ext cx="11000232" cy="457200"/>
          </a:xfrm>
          <a:prstGeom prst="rect">
            <a:avLst/>
          </a:prstGeom>
          <a:noFill/>
          <a:ln/>
        </p:spPr>
        <p:txBody>
          <a:bodyPr wrap="square" lIns="0" tIns="0" rIns="0" bIns="0" rtlCol="0" anchor="ctr"/>
          <a:lstStyle/>
          <a:p>
            <a:pPr indent="0" marL="0">
              <a:buNone/>
            </a:pPr>
            <a:r>
              <a:rPr lang="en-US" sz="1200" b="1" dirty="0">
                <a:solidFill>
                  <a:srgbClr val="C13415"/>
                </a:solidFill>
                <a:latin typeface="Arial" pitchFamily="34" charset="0"/>
                <a:ea typeface="Arial" pitchFamily="34" charset="-122"/>
                <a:cs typeface="Arial" pitchFamily="34" charset="-120"/>
              </a:rPr>
              <a:t>Site rules win.  </a:t>
            </a:r>
            <a:pPr indent="0" marL="0">
              <a:buNone/>
            </a:pPr>
            <a:r>
              <a:rPr lang="en-US" sz="1200" dirty="0">
                <a:solidFill>
                  <a:srgbClr val="5A646C"/>
                </a:solidFill>
                <a:latin typeface="Arial" pitchFamily="34" charset="0"/>
                <a:ea typeface="Arial" pitchFamily="34" charset="-122"/>
                <a:cs typeface="Arial" pitchFamily="34" charset="-120"/>
              </a:rPr>
              <a:t>Where anything here differs from your rig's approved emergency response plan or Saudi Aramco direction, the approved site procedure governs.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81C"/>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9AA5AD"/>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9AA5AD"/>
                </a:solidFill>
                <a:latin typeface="Arial" pitchFamily="34" charset="0"/>
                <a:ea typeface="Arial" pitchFamily="34" charset="-122"/>
                <a:cs typeface="Arial" pitchFamily="34" charset="-120"/>
              </a:rPr>
              <a:t>12</a:t>
            </a:r>
            <a:endParaRPr lang="en-US" sz="850" dirty="0"/>
          </a:p>
        </p:txBody>
      </p:sp>
      <p:pic>
        <p:nvPicPr>
          <p:cNvPr id="4" name="Image 0" descr="/home/user/My-Future-Idaes/SANAD-Fire-Team-Leader-Course/assets/img/day1.jpg">    </p:cNvPr>
          <p:cNvPicPr>
            <a:picLocks noChangeAspect="1"/>
          </p:cNvPicPr>
          <p:nvPr/>
        </p:nvPicPr>
        <p:blipFill>
          <a:blip r:embed="rId1"/>
          <a:srcRect l="0" r="0" t="0" b="0"/>
          <a:stretch/>
        </p:blipFill>
        <p:spPr>
          <a:xfrm>
            <a:off x="0" y="0"/>
            <a:ext cx="12188952" cy="6858000"/>
          </a:xfrm>
          <a:prstGeom prst="rect">
            <a:avLst/>
          </a:prstGeom>
        </p:spPr>
      </p:pic>
      <p:sp>
        <p:nvSpPr>
          <p:cNvPr id="5" name="Shape 2"/>
          <p:cNvSpPr/>
          <p:nvPr/>
        </p:nvSpPr>
        <p:spPr>
          <a:xfrm>
            <a:off x="0" y="0"/>
            <a:ext cx="6309360" cy="6858000"/>
          </a:xfrm>
          <a:prstGeom prst="rect">
            <a:avLst/>
          </a:prstGeom>
          <a:solidFill>
            <a:srgbClr val="14181C">
              <a:alpha val="82000"/>
            </a:srgbClr>
          </a:solidFill>
          <a:ln/>
        </p:spPr>
      </p:sp>
      <p:sp>
        <p:nvSpPr>
          <p:cNvPr id="6" name="Text 3"/>
          <p:cNvSpPr/>
          <p:nvPr/>
        </p:nvSpPr>
        <p:spPr>
          <a:xfrm>
            <a:off x="594360" y="1234440"/>
            <a:ext cx="5120640" cy="365760"/>
          </a:xfrm>
          <a:prstGeom prst="rect">
            <a:avLst/>
          </a:prstGeom>
          <a:noFill/>
          <a:ln/>
        </p:spPr>
        <p:txBody>
          <a:bodyPr wrap="square" lIns="0" tIns="0" rIns="0" bIns="0" rtlCol="0" anchor="ctr"/>
          <a:lstStyle/>
          <a:p>
            <a:pPr indent="0" marL="0">
              <a:buNone/>
            </a:pPr>
            <a:r>
              <a:rPr lang="en-US" sz="1500" b="1" spc="400" kern="0" dirty="0">
                <a:solidFill>
                  <a:srgbClr val="F5A623"/>
                </a:solidFill>
                <a:latin typeface="Arial" pitchFamily="34" charset="0"/>
                <a:ea typeface="Arial" pitchFamily="34" charset="-122"/>
                <a:cs typeface="Arial" pitchFamily="34" charset="-120"/>
              </a:rPr>
              <a:t>DAY 1 OF 3</a:t>
            </a:r>
            <a:endParaRPr lang="en-US" sz="1500" dirty="0"/>
          </a:p>
        </p:txBody>
      </p:sp>
      <p:sp>
        <p:nvSpPr>
          <p:cNvPr id="7" name="Text 4"/>
          <p:cNvSpPr/>
          <p:nvPr/>
        </p:nvSpPr>
        <p:spPr>
          <a:xfrm>
            <a:off x="594360" y="1691640"/>
            <a:ext cx="5394960" cy="1554480"/>
          </a:xfrm>
          <a:prstGeom prst="rect">
            <a:avLst/>
          </a:prstGeom>
          <a:noFill/>
          <a:ln/>
        </p:spPr>
        <p:txBody>
          <a:bodyPr wrap="square" lIns="0" tIns="0" rIns="0" bIns="0" rtlCol="0" anchor="ctr"/>
          <a:lstStyle/>
          <a:p>
            <a:pPr indent="0" marL="0">
              <a:lnSpc>
                <a:spcPts val="4400"/>
              </a:lnSpc>
              <a:buNone/>
            </a:pPr>
            <a:r>
              <a:rPr lang="en-US" sz="4000" b="1" dirty="0">
                <a:solidFill>
                  <a:srgbClr val="FFFFFF"/>
                </a:solidFill>
                <a:latin typeface="Arial" pitchFamily="34" charset="0"/>
                <a:ea typeface="Arial" pitchFamily="34" charset="-122"/>
                <a:cs typeface="Arial" pitchFamily="34" charset="-120"/>
              </a:rPr>
              <a:t>LEAD.</a:t>
            </a:r>
            <a:endParaRPr lang="en-US" sz="4000" dirty="0"/>
          </a:p>
          <a:p>
            <a:pPr indent="0" marL="0">
              <a:lnSpc>
                <a:spcPts val="4400"/>
              </a:lnSpc>
              <a:buNone/>
            </a:pPr>
            <a:r>
              <a:rPr lang="en-US" sz="4000" b="1" dirty="0">
                <a:solidFill>
                  <a:srgbClr val="FFFFFF"/>
                </a:solidFill>
                <a:latin typeface="Arial" pitchFamily="34" charset="0"/>
                <a:ea typeface="Arial" pitchFamily="34" charset="-122"/>
                <a:cs typeface="Arial" pitchFamily="34" charset="-120"/>
              </a:rPr>
              <a:t>The Leader Under Pressure</a:t>
            </a:r>
            <a:endParaRPr lang="en-US" sz="4000" dirty="0"/>
          </a:p>
        </p:txBody>
      </p:sp>
      <p:sp>
        <p:nvSpPr>
          <p:cNvPr id="8" name="Text 5"/>
          <p:cNvSpPr/>
          <p:nvPr/>
        </p:nvSpPr>
        <p:spPr>
          <a:xfrm>
            <a:off x="594360" y="3291840"/>
            <a:ext cx="5212080" cy="777240"/>
          </a:xfrm>
          <a:prstGeom prst="rect">
            <a:avLst/>
          </a:prstGeom>
          <a:noFill/>
          <a:ln/>
        </p:spPr>
        <p:txBody>
          <a:bodyPr wrap="square" lIns="0" tIns="0" rIns="0" bIns="0" rtlCol="0" anchor="ctr"/>
          <a:lstStyle/>
          <a:p>
            <a:pPr indent="0" marL="0">
              <a:buNone/>
            </a:pPr>
            <a:r>
              <a:rPr lang="en-US" sz="1400" dirty="0">
                <a:solidFill>
                  <a:srgbClr val="D9DEE2"/>
                </a:solidFill>
                <a:latin typeface="Arial" pitchFamily="34" charset="0"/>
                <a:ea typeface="Arial" pitchFamily="34" charset="-122"/>
                <a:cs typeface="Arial" pitchFamily="34" charset="-120"/>
              </a:rPr>
              <a:t>Foundations of emergency leadership — and the human factors that decide whether a team performs or panics.</a:t>
            </a:r>
            <a:endParaRPr lang="en-US" sz="1400" dirty="0"/>
          </a:p>
        </p:txBody>
      </p:sp>
      <p:sp>
        <p:nvSpPr>
          <p:cNvPr id="9" name="Shape 6"/>
          <p:cNvSpPr/>
          <p:nvPr/>
        </p:nvSpPr>
        <p:spPr>
          <a:xfrm>
            <a:off x="594360" y="4379976"/>
            <a:ext cx="274320" cy="274320"/>
          </a:xfrm>
          <a:prstGeom prst="ellipse">
            <a:avLst/>
          </a:prstGeom>
          <a:solidFill>
            <a:srgbClr val="E8491D"/>
          </a:solidFill>
          <a:ln/>
        </p:spPr>
      </p:sp>
      <p:sp>
        <p:nvSpPr>
          <p:cNvPr id="10" name="Text 7"/>
          <p:cNvSpPr/>
          <p:nvPr/>
        </p:nvSpPr>
        <p:spPr>
          <a:xfrm>
            <a:off x="1051560" y="4297680"/>
            <a:ext cx="484632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Module 1 — Leadership in Emergency Response</a:t>
            </a:r>
            <a:endParaRPr lang="en-US" sz="1300" dirty="0"/>
          </a:p>
        </p:txBody>
      </p:sp>
      <p:sp>
        <p:nvSpPr>
          <p:cNvPr id="11" name="Shape 8"/>
          <p:cNvSpPr/>
          <p:nvPr/>
        </p:nvSpPr>
        <p:spPr>
          <a:xfrm>
            <a:off x="594360" y="4946904"/>
            <a:ext cx="274320" cy="274320"/>
          </a:xfrm>
          <a:prstGeom prst="ellipse">
            <a:avLst/>
          </a:prstGeom>
          <a:solidFill>
            <a:srgbClr val="E8491D"/>
          </a:solidFill>
          <a:ln/>
        </p:spPr>
      </p:sp>
      <p:sp>
        <p:nvSpPr>
          <p:cNvPr id="12" name="Text 9"/>
          <p:cNvSpPr/>
          <p:nvPr/>
        </p:nvSpPr>
        <p:spPr>
          <a:xfrm>
            <a:off x="1051560" y="4864608"/>
            <a:ext cx="484632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Module 2 — Human Factors &amp; Behavioral Leadership</a:t>
            </a:r>
            <a:endParaRPr lang="en-US" sz="1300" dirty="0"/>
          </a:p>
        </p:txBody>
      </p:sp>
      <p:sp>
        <p:nvSpPr>
          <p:cNvPr id="13" name="Shape 10"/>
          <p:cNvSpPr/>
          <p:nvPr/>
        </p:nvSpPr>
        <p:spPr>
          <a:xfrm>
            <a:off x="594360" y="5513832"/>
            <a:ext cx="274320" cy="274320"/>
          </a:xfrm>
          <a:prstGeom prst="ellipse">
            <a:avLst/>
          </a:prstGeom>
          <a:solidFill>
            <a:srgbClr val="E8491D"/>
          </a:solidFill>
          <a:ln/>
        </p:spPr>
      </p:sp>
      <p:sp>
        <p:nvSpPr>
          <p:cNvPr id="14" name="Text 11"/>
          <p:cNvSpPr/>
          <p:nvPr/>
        </p:nvSpPr>
        <p:spPr>
          <a:xfrm>
            <a:off x="1051560" y="5431536"/>
            <a:ext cx="484632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Role-plays, decision drills, behavioral simulations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13</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DAY 1 — LEAD</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Schedule of the day</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94360" y="1645920"/>
          <a:ext cx="11000232" cy="914400"/>
        </p:xfrm>
        <a:graphic>
          <a:graphicData uri="http://schemas.openxmlformats.org/drawingml/2006/table">
            <a:tbl>
              <a:tblPr/>
              <a:tblGrid>
                <a:gridCol w="1554480"/>
                <a:gridCol w="7616952"/>
                <a:gridCol w="1828800"/>
              </a:tblGrid>
              <a:tr h="310896">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TIME</a:t>
                      </a:r>
                      <a:endParaRPr lang="en-US" sz="110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14181C"/>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SESSION</a:t>
                      </a:r>
                      <a:endParaRPr lang="en-US" sz="110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14181C"/>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MODE</a:t>
                      </a:r>
                      <a:endParaRPr lang="en-US" sz="110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14181C"/>
                    </a:solidFill>
                  </a:tcPr>
                </a:tc>
              </a:tr>
              <a:tr h="310896">
                <a:tc>
                  <a:txBody>
                    <a:bodyPr/>
                    <a:lstStyle/>
                    <a:p>
                      <a:pPr indent="0" marL="0">
                        <a:buNone/>
                      </a:pPr>
                      <a:r>
                        <a:rPr lang="en-US" sz="1050" b="1" dirty="0">
                          <a:solidFill>
                            <a:srgbClr val="1A2027"/>
                          </a:solidFill>
                          <a:latin typeface="Arial" pitchFamily="34" charset="0"/>
                          <a:ea typeface="Arial" pitchFamily="34" charset="-122"/>
                          <a:cs typeface="Arial" pitchFamily="34" charset="-120"/>
                        </a:rPr>
                        <a:t>07:30</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050" dirty="0">
                          <a:solidFill>
                            <a:srgbClr val="1A2027"/>
                          </a:solidFill>
                          <a:latin typeface="Arial" pitchFamily="34" charset="0"/>
                          <a:ea typeface="Arial" pitchFamily="34" charset="-122"/>
                          <a:cs typeface="Arial" pitchFamily="34" charset="-120"/>
                        </a:rPr>
                        <a:t>Registration, safety briefing &amp; course opening</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050" dirty="0">
                          <a:solidFill>
                            <a:srgbClr val="5A646C"/>
                          </a:solidFill>
                          <a:latin typeface="Arial" pitchFamily="34" charset="0"/>
                          <a:ea typeface="Arial" pitchFamily="34" charset="-122"/>
                          <a:cs typeface="Arial" pitchFamily="34" charset="-120"/>
                        </a:rPr>
                        <a:t>Classroom</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r>
              <a:tr h="310896">
                <a:tc>
                  <a:txBody>
                    <a:bodyPr/>
                    <a:lstStyle/>
                    <a:p>
                      <a:pPr indent="0" marL="0">
                        <a:buNone/>
                      </a:pPr>
                      <a:r>
                        <a:rPr lang="en-US" sz="1050" b="1" dirty="0">
                          <a:solidFill>
                            <a:srgbClr val="1A2027"/>
                          </a:solidFill>
                          <a:latin typeface="Arial" pitchFamily="34" charset="0"/>
                          <a:ea typeface="Arial" pitchFamily="34" charset="-122"/>
                          <a:cs typeface="Arial" pitchFamily="34" charset="-120"/>
                        </a:rPr>
                        <a:t>08:00</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indent="0" marL="0">
                        <a:buNone/>
                      </a:pPr>
                      <a:r>
                        <a:rPr lang="en-US" sz="1050" dirty="0">
                          <a:solidFill>
                            <a:srgbClr val="1A2027"/>
                          </a:solidFill>
                          <a:latin typeface="Arial" pitchFamily="34" charset="0"/>
                          <a:ea typeface="Arial" pitchFamily="34" charset="-122"/>
                          <a:cs typeface="Arial" pitchFamily="34" charset="-120"/>
                        </a:rPr>
                        <a:t>Expectations, introductions &amp; pre-course assessment</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indent="0" marL="0">
                        <a:buNone/>
                      </a:pPr>
                      <a:r>
                        <a:rPr lang="en-US" sz="1050" dirty="0">
                          <a:solidFill>
                            <a:srgbClr val="5A646C"/>
                          </a:solidFill>
                          <a:latin typeface="Arial" pitchFamily="34" charset="0"/>
                          <a:ea typeface="Arial" pitchFamily="34" charset="-122"/>
                          <a:cs typeface="Arial" pitchFamily="34" charset="-120"/>
                        </a:rPr>
                        <a:t>Classroom</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r>
              <a:tr h="310896">
                <a:tc>
                  <a:txBody>
                    <a:bodyPr/>
                    <a:lstStyle/>
                    <a:p>
                      <a:pPr indent="0" marL="0">
                        <a:buNone/>
                      </a:pPr>
                      <a:r>
                        <a:rPr lang="en-US" sz="1050" b="1" dirty="0">
                          <a:solidFill>
                            <a:srgbClr val="1A2027"/>
                          </a:solidFill>
                          <a:latin typeface="Arial" pitchFamily="34" charset="0"/>
                          <a:ea typeface="Arial" pitchFamily="34" charset="-122"/>
                          <a:cs typeface="Arial" pitchFamily="34" charset="-120"/>
                        </a:rPr>
                        <a:t>08:30</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050" dirty="0">
                          <a:solidFill>
                            <a:srgbClr val="1A2027"/>
                          </a:solidFill>
                          <a:latin typeface="Arial" pitchFamily="34" charset="0"/>
                          <a:ea typeface="Arial" pitchFamily="34" charset="-122"/>
                          <a:cs typeface="Arial" pitchFamily="34" charset="-120"/>
                        </a:rPr>
                        <a:t>Module 1 — The role of the Fire Team Leader on a SANAD rig</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050" dirty="0">
                          <a:solidFill>
                            <a:srgbClr val="5A646C"/>
                          </a:solidFill>
                          <a:latin typeface="Arial" pitchFamily="34" charset="0"/>
                          <a:ea typeface="Arial" pitchFamily="34" charset="-122"/>
                          <a:cs typeface="Arial" pitchFamily="34" charset="-120"/>
                        </a:rPr>
                        <a:t>Classroom</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r>
              <a:tr h="310896">
                <a:tc>
                  <a:txBody>
                    <a:bodyPr/>
                    <a:lstStyle/>
                    <a:p>
                      <a:pPr indent="0" marL="0">
                        <a:buNone/>
                      </a:pPr>
                      <a:r>
                        <a:rPr lang="en-US" sz="1050" b="1" dirty="0">
                          <a:solidFill>
                            <a:srgbClr val="1A2027"/>
                          </a:solidFill>
                          <a:latin typeface="Arial" pitchFamily="34" charset="0"/>
                          <a:ea typeface="Arial" pitchFamily="34" charset="-122"/>
                          <a:cs typeface="Arial" pitchFamily="34" charset="-120"/>
                        </a:rPr>
                        <a:t>09:45</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indent="0" marL="0">
                        <a:buNone/>
                      </a:pPr>
                      <a:r>
                        <a:rPr lang="en-US" sz="1050" dirty="0">
                          <a:solidFill>
                            <a:srgbClr val="1A2027"/>
                          </a:solidFill>
                          <a:latin typeface="Arial" pitchFamily="34" charset="0"/>
                          <a:ea typeface="Arial" pitchFamily="34" charset="-122"/>
                          <a:cs typeface="Arial" pitchFamily="34" charset="-120"/>
                        </a:rPr>
                        <a:t>Break</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indent="0" marL="0">
                        <a:buNone/>
                      </a:pPr>
                      <a:r>
                        <a:rPr lang="en-US" sz="1050" dirty="0">
                          <a:solidFill>
                            <a:srgbClr val="5A646C"/>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r>
              <a:tr h="310896">
                <a:tc>
                  <a:txBody>
                    <a:bodyPr/>
                    <a:lstStyle/>
                    <a:p>
                      <a:pPr indent="0" marL="0">
                        <a:buNone/>
                      </a:pPr>
                      <a:r>
                        <a:rPr lang="en-US" sz="1050" b="1" dirty="0">
                          <a:solidFill>
                            <a:srgbClr val="1A2027"/>
                          </a:solidFill>
                          <a:latin typeface="Arial" pitchFamily="34" charset="0"/>
                          <a:ea typeface="Arial" pitchFamily="34" charset="-122"/>
                          <a:cs typeface="Arial" pitchFamily="34" charset="-120"/>
                        </a:rPr>
                        <a:t>10:00</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050" dirty="0">
                          <a:solidFill>
                            <a:srgbClr val="1A2027"/>
                          </a:solidFill>
                          <a:latin typeface="Arial" pitchFamily="34" charset="0"/>
                          <a:ea typeface="Arial" pitchFamily="34" charset="-122"/>
                          <a:cs typeface="Arial" pitchFamily="34" charset="-120"/>
                        </a:rPr>
                        <a:t>Module 1 — Command presence, leadership styles, decision-making under uncertainty</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050" dirty="0">
                          <a:solidFill>
                            <a:srgbClr val="5A646C"/>
                          </a:solidFill>
                          <a:latin typeface="Arial" pitchFamily="34" charset="0"/>
                          <a:ea typeface="Arial" pitchFamily="34" charset="-122"/>
                          <a:cs typeface="Arial" pitchFamily="34" charset="-120"/>
                        </a:rPr>
                        <a:t>Classroom</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r>
              <a:tr h="310896">
                <a:tc>
                  <a:txBody>
                    <a:bodyPr/>
                    <a:lstStyle/>
                    <a:p>
                      <a:pPr indent="0" marL="0">
                        <a:buNone/>
                      </a:pPr>
                      <a:r>
                        <a:rPr lang="en-US" sz="1050" b="1" dirty="0">
                          <a:solidFill>
                            <a:srgbClr val="1A2027"/>
                          </a:solidFill>
                          <a:latin typeface="Arial" pitchFamily="34" charset="0"/>
                          <a:ea typeface="Arial" pitchFamily="34" charset="-122"/>
                          <a:cs typeface="Arial" pitchFamily="34" charset="-120"/>
                        </a:rPr>
                        <a:t>11:30</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indent="0" marL="0">
                        <a:buNone/>
                      </a:pPr>
                      <a:r>
                        <a:rPr lang="en-US" sz="1050" dirty="0">
                          <a:solidFill>
                            <a:srgbClr val="1A2027"/>
                          </a:solidFill>
                          <a:latin typeface="Arial" pitchFamily="34" charset="0"/>
                          <a:ea typeface="Arial" pitchFamily="34" charset="-122"/>
                          <a:cs typeface="Arial" pitchFamily="34" charset="-120"/>
                        </a:rPr>
                        <a:t>Leadership role-play scenarios &amp; time-pressure decision drills</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indent="0" marL="0">
                        <a:buNone/>
                      </a:pPr>
                      <a:r>
                        <a:rPr lang="en-US" sz="1050" b="1" dirty="0">
                          <a:solidFill>
                            <a:srgbClr val="E8491D"/>
                          </a:solidFill>
                          <a:latin typeface="Arial" pitchFamily="34" charset="0"/>
                          <a:ea typeface="Arial" pitchFamily="34" charset="-122"/>
                          <a:cs typeface="Arial" pitchFamily="34" charset="-120"/>
                        </a:rPr>
                        <a:t>Practical</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r>
              <a:tr h="310896">
                <a:tc>
                  <a:txBody>
                    <a:bodyPr/>
                    <a:lstStyle/>
                    <a:p>
                      <a:pPr indent="0" marL="0">
                        <a:buNone/>
                      </a:pPr>
                      <a:r>
                        <a:rPr lang="en-US" sz="1050" b="1" dirty="0">
                          <a:solidFill>
                            <a:srgbClr val="1A2027"/>
                          </a:solidFill>
                          <a:latin typeface="Arial" pitchFamily="34" charset="0"/>
                          <a:ea typeface="Arial" pitchFamily="34" charset="-122"/>
                          <a:cs typeface="Arial" pitchFamily="34" charset="-120"/>
                        </a:rPr>
                        <a:t>12:30</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050" dirty="0">
                          <a:solidFill>
                            <a:srgbClr val="1A2027"/>
                          </a:solidFill>
                          <a:latin typeface="Arial" pitchFamily="34" charset="0"/>
                          <a:ea typeface="Arial" pitchFamily="34" charset="-122"/>
                          <a:cs typeface="Arial" pitchFamily="34" charset="-120"/>
                        </a:rPr>
                        <a:t>Lunch &amp; prayer</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050" dirty="0">
                          <a:solidFill>
                            <a:srgbClr val="5A646C"/>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r>
              <a:tr h="310896">
                <a:tc>
                  <a:txBody>
                    <a:bodyPr/>
                    <a:lstStyle/>
                    <a:p>
                      <a:pPr indent="0" marL="0">
                        <a:buNone/>
                      </a:pPr>
                      <a:r>
                        <a:rPr lang="en-US" sz="1050" b="1" dirty="0">
                          <a:solidFill>
                            <a:srgbClr val="1A2027"/>
                          </a:solidFill>
                          <a:latin typeface="Arial" pitchFamily="34" charset="0"/>
                          <a:ea typeface="Arial" pitchFamily="34" charset="-122"/>
                          <a:cs typeface="Arial" pitchFamily="34" charset="-120"/>
                        </a:rPr>
                        <a:t>13:30</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indent="0" marL="0">
                        <a:buNone/>
                      </a:pPr>
                      <a:r>
                        <a:rPr lang="en-US" sz="1050" dirty="0">
                          <a:solidFill>
                            <a:srgbClr val="1A2027"/>
                          </a:solidFill>
                          <a:latin typeface="Arial" pitchFamily="34" charset="0"/>
                          <a:ea typeface="Arial" pitchFamily="34" charset="-122"/>
                          <a:cs typeface="Arial" pitchFamily="34" charset="-120"/>
                        </a:rPr>
                        <a:t>Module 2 — Stress and human performance in emergencies</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indent="0" marL="0">
                        <a:buNone/>
                      </a:pPr>
                      <a:r>
                        <a:rPr lang="en-US" sz="1050" dirty="0">
                          <a:solidFill>
                            <a:srgbClr val="5A646C"/>
                          </a:solidFill>
                          <a:latin typeface="Arial" pitchFamily="34" charset="0"/>
                          <a:ea typeface="Arial" pitchFamily="34" charset="-122"/>
                          <a:cs typeface="Arial" pitchFamily="34" charset="-120"/>
                        </a:rPr>
                        <a:t>Classroom</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r>
              <a:tr h="310896">
                <a:tc>
                  <a:txBody>
                    <a:bodyPr/>
                    <a:lstStyle/>
                    <a:p>
                      <a:pPr indent="0" marL="0">
                        <a:buNone/>
                      </a:pPr>
                      <a:r>
                        <a:rPr lang="en-US" sz="1050" b="1" dirty="0">
                          <a:solidFill>
                            <a:srgbClr val="1A2027"/>
                          </a:solidFill>
                          <a:latin typeface="Arial" pitchFamily="34" charset="0"/>
                          <a:ea typeface="Arial" pitchFamily="34" charset="-122"/>
                          <a:cs typeface="Arial" pitchFamily="34" charset="-120"/>
                        </a:rPr>
                        <a:t>14:30</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050" dirty="0">
                          <a:solidFill>
                            <a:srgbClr val="1A2027"/>
                          </a:solidFill>
                          <a:latin typeface="Arial" pitchFamily="34" charset="0"/>
                          <a:ea typeface="Arial" pitchFamily="34" charset="-122"/>
                          <a:cs typeface="Arial" pitchFamily="34" charset="-120"/>
                        </a:rPr>
                        <a:t>Module 2 — Managing panic and fear; behavioral control &amp; discipline</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050" dirty="0">
                          <a:solidFill>
                            <a:srgbClr val="5A646C"/>
                          </a:solidFill>
                          <a:latin typeface="Arial" pitchFamily="34" charset="0"/>
                          <a:ea typeface="Arial" pitchFamily="34" charset="-122"/>
                          <a:cs typeface="Arial" pitchFamily="34" charset="-120"/>
                        </a:rPr>
                        <a:t>Classroom</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r>
              <a:tr h="310896">
                <a:tc>
                  <a:txBody>
                    <a:bodyPr/>
                    <a:lstStyle/>
                    <a:p>
                      <a:pPr indent="0" marL="0">
                        <a:buNone/>
                      </a:pPr>
                      <a:r>
                        <a:rPr lang="en-US" sz="1050" b="1" dirty="0">
                          <a:solidFill>
                            <a:srgbClr val="1A2027"/>
                          </a:solidFill>
                          <a:latin typeface="Arial" pitchFamily="34" charset="0"/>
                          <a:ea typeface="Arial" pitchFamily="34" charset="-122"/>
                          <a:cs typeface="Arial" pitchFamily="34" charset="-120"/>
                        </a:rPr>
                        <a:t>15:15</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indent="0" marL="0">
                        <a:buNone/>
                      </a:pPr>
                      <a:r>
                        <a:rPr lang="en-US" sz="1050" dirty="0">
                          <a:solidFill>
                            <a:srgbClr val="1A2027"/>
                          </a:solidFill>
                          <a:latin typeface="Arial" pitchFamily="34" charset="0"/>
                          <a:ea typeface="Arial" pitchFamily="34" charset="-122"/>
                          <a:cs typeface="Arial" pitchFamily="34" charset="-120"/>
                        </a:rPr>
                        <a:t>Behavioral leadership simulations &amp; team performance exercises</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indent="0" marL="0">
                        <a:buNone/>
                      </a:pPr>
                      <a:r>
                        <a:rPr lang="en-US" sz="1050" b="1" dirty="0">
                          <a:solidFill>
                            <a:srgbClr val="E8491D"/>
                          </a:solidFill>
                          <a:latin typeface="Arial" pitchFamily="34" charset="0"/>
                          <a:ea typeface="Arial" pitchFamily="34" charset="-122"/>
                          <a:cs typeface="Arial" pitchFamily="34" charset="-120"/>
                        </a:rPr>
                        <a:t>Practical</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r>
              <a:tr h="310896">
                <a:tc>
                  <a:txBody>
                    <a:bodyPr/>
                    <a:lstStyle/>
                    <a:p>
                      <a:pPr indent="0" marL="0">
                        <a:buNone/>
                      </a:pPr>
                      <a:r>
                        <a:rPr lang="en-US" sz="1050" b="1" dirty="0">
                          <a:solidFill>
                            <a:srgbClr val="1A2027"/>
                          </a:solidFill>
                          <a:latin typeface="Arial" pitchFamily="34" charset="0"/>
                          <a:ea typeface="Arial" pitchFamily="34" charset="-122"/>
                          <a:cs typeface="Arial" pitchFamily="34" charset="-120"/>
                        </a:rPr>
                        <a:t>16:15</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050" dirty="0">
                          <a:solidFill>
                            <a:srgbClr val="1A2027"/>
                          </a:solidFill>
                          <a:latin typeface="Arial" pitchFamily="34" charset="0"/>
                          <a:ea typeface="Arial" pitchFamily="34" charset="-122"/>
                          <a:cs typeface="Arial" pitchFamily="34" charset="-120"/>
                        </a:rPr>
                        <a:t>Day 1 debrief, takeaways &amp; evening assignment</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050" dirty="0">
                          <a:solidFill>
                            <a:srgbClr val="5A646C"/>
                          </a:solidFill>
                          <a:latin typeface="Arial" pitchFamily="34" charset="0"/>
                          <a:ea typeface="Arial" pitchFamily="34" charset="-122"/>
                          <a:cs typeface="Arial" pitchFamily="34" charset="-120"/>
                        </a:rPr>
                        <a:t>Classroom</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81C"/>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9AA5AD"/>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9AA5AD"/>
                </a:solidFill>
                <a:latin typeface="Arial" pitchFamily="34" charset="0"/>
                <a:ea typeface="Arial" pitchFamily="34" charset="-122"/>
                <a:cs typeface="Arial" pitchFamily="34" charset="-120"/>
              </a:rPr>
              <a:t>14</a:t>
            </a:r>
            <a:endParaRPr lang="en-US" sz="850" dirty="0"/>
          </a:p>
        </p:txBody>
      </p:sp>
      <p:pic>
        <p:nvPicPr>
          <p:cNvPr id="4" name="Image 0" descr="/home/user/My-Future-Idaes/SANAD-Fire-Team-Leader-Course/assets/img/day1.jpg">    </p:cNvPr>
          <p:cNvPicPr>
            <a:picLocks noChangeAspect="1"/>
          </p:cNvPicPr>
          <p:nvPr/>
        </p:nvPicPr>
        <p:blipFill>
          <a:blip r:embed="rId1"/>
          <a:srcRect l="0" r="0" t="0" b="0"/>
          <a:stretch/>
        </p:blipFill>
        <p:spPr>
          <a:xfrm>
            <a:off x="7040880" y="0"/>
            <a:ext cx="5148072" cy="6858000"/>
          </a:xfrm>
          <a:prstGeom prst="rect">
            <a:avLst/>
          </a:prstGeom>
        </p:spPr>
      </p:pic>
      <p:sp>
        <p:nvSpPr>
          <p:cNvPr id="5" name="Shape 2"/>
          <p:cNvSpPr/>
          <p:nvPr/>
        </p:nvSpPr>
        <p:spPr>
          <a:xfrm>
            <a:off x="7040880" y="0"/>
            <a:ext cx="5148072" cy="6858000"/>
          </a:xfrm>
          <a:prstGeom prst="rect">
            <a:avLst/>
          </a:prstGeom>
          <a:solidFill>
            <a:srgbClr val="14181C">
              <a:alpha val="28000"/>
            </a:srgbClr>
          </a:solidFill>
          <a:ln/>
        </p:spPr>
      </p:sp>
      <p:sp>
        <p:nvSpPr>
          <p:cNvPr id="6" name="Text 3"/>
          <p:cNvSpPr/>
          <p:nvPr/>
        </p:nvSpPr>
        <p:spPr>
          <a:xfrm>
            <a:off x="594360" y="777240"/>
            <a:ext cx="2743200" cy="320040"/>
          </a:xfrm>
          <a:prstGeom prst="rect">
            <a:avLst/>
          </a:prstGeom>
          <a:noFill/>
          <a:ln/>
        </p:spPr>
        <p:txBody>
          <a:bodyPr wrap="square" lIns="0" tIns="0" rIns="0" bIns="0" rtlCol="0" anchor="ctr"/>
          <a:lstStyle/>
          <a:p>
            <a:pPr indent="0" marL="0">
              <a:buNone/>
            </a:pPr>
            <a:r>
              <a:rPr lang="en-US" sz="1300" b="1" spc="400" kern="0" dirty="0">
                <a:solidFill>
                  <a:srgbClr val="9AA5AD"/>
                </a:solidFill>
                <a:latin typeface="Arial" pitchFamily="34" charset="0"/>
                <a:ea typeface="Arial" pitchFamily="34" charset="-122"/>
                <a:cs typeface="Arial" pitchFamily="34" charset="-120"/>
              </a:rPr>
              <a:t>MODULE</a:t>
            </a:r>
            <a:endParaRPr lang="en-US" sz="1300" dirty="0"/>
          </a:p>
        </p:txBody>
      </p:sp>
      <p:sp>
        <p:nvSpPr>
          <p:cNvPr id="7" name="Text 4"/>
          <p:cNvSpPr/>
          <p:nvPr/>
        </p:nvSpPr>
        <p:spPr>
          <a:xfrm>
            <a:off x="548640" y="960120"/>
            <a:ext cx="2194560" cy="1554480"/>
          </a:xfrm>
          <a:prstGeom prst="rect">
            <a:avLst/>
          </a:prstGeom>
          <a:noFill/>
          <a:ln/>
        </p:spPr>
        <p:txBody>
          <a:bodyPr wrap="square" lIns="0" tIns="0" rIns="0" bIns="0" rtlCol="0" anchor="ctr"/>
          <a:lstStyle/>
          <a:p>
            <a:pPr indent="0" marL="0">
              <a:buNone/>
            </a:pPr>
            <a:r>
              <a:rPr lang="en-US" sz="9600" b="1" dirty="0">
                <a:solidFill>
                  <a:srgbClr val="E8491D"/>
                </a:solidFill>
                <a:latin typeface="Arial" pitchFamily="34" charset="0"/>
                <a:ea typeface="Arial" pitchFamily="34" charset="-122"/>
                <a:cs typeface="Arial" pitchFamily="34" charset="-120"/>
              </a:rPr>
              <a:t>01</a:t>
            </a:r>
            <a:endParaRPr lang="en-US" sz="9600" dirty="0"/>
          </a:p>
        </p:txBody>
      </p:sp>
      <p:sp>
        <p:nvSpPr>
          <p:cNvPr id="8" name="Text 5"/>
          <p:cNvSpPr/>
          <p:nvPr/>
        </p:nvSpPr>
        <p:spPr>
          <a:xfrm>
            <a:off x="594360" y="2651760"/>
            <a:ext cx="6309360" cy="1143000"/>
          </a:xfrm>
          <a:prstGeom prst="rect">
            <a:avLst/>
          </a:prstGeom>
          <a:noFill/>
          <a:ln/>
        </p:spPr>
        <p:txBody>
          <a:bodyPr wrap="square" lIns="0" tIns="0" rIns="0" bIns="0" rtlCol="0" anchor="ctr"/>
          <a:lstStyle/>
          <a:p>
            <a:pPr indent="0" marL="0">
              <a:lnSpc>
                <a:spcPts val="3600"/>
              </a:lnSpc>
              <a:buNone/>
            </a:pPr>
            <a:r>
              <a:rPr lang="en-US" sz="3100" b="1" dirty="0">
                <a:solidFill>
                  <a:srgbClr val="FFFFFF"/>
                </a:solidFill>
                <a:latin typeface="Arial" pitchFamily="34" charset="0"/>
                <a:ea typeface="Arial" pitchFamily="34" charset="-122"/>
                <a:cs typeface="Arial" pitchFamily="34" charset="-120"/>
              </a:rPr>
              <a:t>Leadership in</a:t>
            </a:r>
            <a:endParaRPr lang="en-US" sz="3100" dirty="0"/>
          </a:p>
          <a:p>
            <a:pPr indent="0" marL="0">
              <a:lnSpc>
                <a:spcPts val="3600"/>
              </a:lnSpc>
              <a:buNone/>
            </a:pPr>
            <a:r>
              <a:rPr lang="en-US" sz="3100" b="1" dirty="0">
                <a:solidFill>
                  <a:srgbClr val="FFFFFF"/>
                </a:solidFill>
                <a:latin typeface="Arial" pitchFamily="34" charset="0"/>
                <a:ea typeface="Arial" pitchFamily="34" charset="-122"/>
                <a:cs typeface="Arial" pitchFamily="34" charset="-120"/>
              </a:rPr>
              <a:t>Emergency Response</a:t>
            </a:r>
            <a:endParaRPr lang="en-US" sz="3100" dirty="0"/>
          </a:p>
        </p:txBody>
      </p:sp>
      <p:sp>
        <p:nvSpPr>
          <p:cNvPr id="9" name="Text 6"/>
          <p:cNvSpPr/>
          <p:nvPr/>
        </p:nvSpPr>
        <p:spPr>
          <a:xfrm>
            <a:off x="594360" y="3840480"/>
            <a:ext cx="6126480" cy="685800"/>
          </a:xfrm>
          <a:prstGeom prst="rect">
            <a:avLst/>
          </a:prstGeom>
          <a:noFill/>
          <a:ln/>
        </p:spPr>
        <p:txBody>
          <a:bodyPr wrap="square" lIns="0" tIns="0" rIns="0" bIns="0" rtlCol="0" anchor="ctr"/>
          <a:lstStyle/>
          <a:p>
            <a:pPr indent="0" marL="0">
              <a:buNone/>
            </a:pPr>
            <a:r>
              <a:rPr lang="en-US" sz="1350" b="1" dirty="0">
                <a:solidFill>
                  <a:srgbClr val="F5A623"/>
                </a:solidFill>
                <a:latin typeface="Arial" pitchFamily="34" charset="0"/>
                <a:ea typeface="Arial" pitchFamily="34" charset="-122"/>
                <a:cs typeface="Arial" pitchFamily="34" charset="-120"/>
              </a:rPr>
              <a:t>OBJECTIVE — </a:t>
            </a:r>
            <a:pPr indent="0" marL="0">
              <a:buNone/>
            </a:pPr>
            <a:r>
              <a:rPr lang="en-US" sz="1350" dirty="0">
                <a:solidFill>
                  <a:srgbClr val="D9DEE2"/>
                </a:solidFill>
                <a:latin typeface="Arial" pitchFamily="34" charset="0"/>
                <a:ea typeface="Arial" pitchFamily="34" charset="-122"/>
                <a:cs typeface="Arial" pitchFamily="34" charset="-120"/>
              </a:rPr>
              <a:t>Build leadership capability under pressure.</a:t>
            </a:r>
            <a:endParaRPr lang="en-US" sz="1350" dirty="0"/>
          </a:p>
        </p:txBody>
      </p:sp>
      <p:sp>
        <p:nvSpPr>
          <p:cNvPr id="10" name="Shape 7"/>
          <p:cNvSpPr/>
          <p:nvPr/>
        </p:nvSpPr>
        <p:spPr>
          <a:xfrm>
            <a:off x="594360" y="4828032"/>
            <a:ext cx="146304" cy="146304"/>
          </a:xfrm>
          <a:prstGeom prst="ellipse">
            <a:avLst/>
          </a:prstGeom>
          <a:solidFill>
            <a:srgbClr val="E8491D"/>
          </a:solidFill>
          <a:ln/>
        </p:spPr>
      </p:sp>
      <p:sp>
        <p:nvSpPr>
          <p:cNvPr id="11" name="Text 8"/>
          <p:cNvSpPr/>
          <p:nvPr/>
        </p:nvSpPr>
        <p:spPr>
          <a:xfrm>
            <a:off x="886968" y="4709160"/>
            <a:ext cx="2743200" cy="5029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Role of the Fire Team Leader</a:t>
            </a:r>
            <a:endParaRPr lang="en-US" sz="1150" dirty="0"/>
          </a:p>
        </p:txBody>
      </p:sp>
      <p:sp>
        <p:nvSpPr>
          <p:cNvPr id="12" name="Shape 9"/>
          <p:cNvSpPr/>
          <p:nvPr/>
        </p:nvSpPr>
        <p:spPr>
          <a:xfrm>
            <a:off x="3749040" y="4828032"/>
            <a:ext cx="146304" cy="146304"/>
          </a:xfrm>
          <a:prstGeom prst="ellipse">
            <a:avLst/>
          </a:prstGeom>
          <a:solidFill>
            <a:srgbClr val="E8491D"/>
          </a:solidFill>
          <a:ln/>
        </p:spPr>
      </p:sp>
      <p:sp>
        <p:nvSpPr>
          <p:cNvPr id="13" name="Text 10"/>
          <p:cNvSpPr/>
          <p:nvPr/>
        </p:nvSpPr>
        <p:spPr>
          <a:xfrm>
            <a:off x="4041648" y="4709160"/>
            <a:ext cx="2743200" cy="5029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Command presence &amp; authority</a:t>
            </a:r>
            <a:endParaRPr lang="en-US" sz="1150" dirty="0"/>
          </a:p>
        </p:txBody>
      </p:sp>
      <p:sp>
        <p:nvSpPr>
          <p:cNvPr id="14" name="Shape 11"/>
          <p:cNvSpPr/>
          <p:nvPr/>
        </p:nvSpPr>
        <p:spPr>
          <a:xfrm>
            <a:off x="594360" y="5486400"/>
            <a:ext cx="146304" cy="146304"/>
          </a:xfrm>
          <a:prstGeom prst="ellipse">
            <a:avLst/>
          </a:prstGeom>
          <a:solidFill>
            <a:srgbClr val="E8491D"/>
          </a:solidFill>
          <a:ln/>
        </p:spPr>
      </p:sp>
      <p:sp>
        <p:nvSpPr>
          <p:cNvPr id="15" name="Text 12"/>
          <p:cNvSpPr/>
          <p:nvPr/>
        </p:nvSpPr>
        <p:spPr>
          <a:xfrm>
            <a:off x="886968" y="5367528"/>
            <a:ext cx="2743200" cy="5029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Leadership styles in emergencies</a:t>
            </a:r>
            <a:endParaRPr lang="en-US" sz="1150" dirty="0"/>
          </a:p>
        </p:txBody>
      </p:sp>
      <p:sp>
        <p:nvSpPr>
          <p:cNvPr id="16" name="Shape 13"/>
          <p:cNvSpPr/>
          <p:nvPr/>
        </p:nvSpPr>
        <p:spPr>
          <a:xfrm>
            <a:off x="3749040" y="5486400"/>
            <a:ext cx="146304" cy="146304"/>
          </a:xfrm>
          <a:prstGeom prst="ellipse">
            <a:avLst/>
          </a:prstGeom>
          <a:solidFill>
            <a:srgbClr val="E8491D"/>
          </a:solidFill>
          <a:ln/>
        </p:spPr>
      </p:sp>
      <p:sp>
        <p:nvSpPr>
          <p:cNvPr id="17" name="Text 14"/>
          <p:cNvSpPr/>
          <p:nvPr/>
        </p:nvSpPr>
        <p:spPr>
          <a:xfrm>
            <a:off x="4041648" y="5367528"/>
            <a:ext cx="2743200" cy="5029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Decisions in uncertain conditions</a:t>
            </a:r>
            <a:endParaRPr lang="en-US" sz="1150" dirty="0"/>
          </a:p>
        </p:txBody>
      </p:sp>
      <p:sp>
        <p:nvSpPr>
          <p:cNvPr id="18" name="Shape 15"/>
          <p:cNvSpPr/>
          <p:nvPr/>
        </p:nvSpPr>
        <p:spPr>
          <a:xfrm>
            <a:off x="6080760" y="777240"/>
            <a:ext cx="640080" cy="640080"/>
          </a:xfrm>
          <a:prstGeom prst="ellipse">
            <a:avLst/>
          </a:prstGeom>
          <a:solidFill>
            <a:srgbClr val="1F262C"/>
          </a:solidFill>
          <a:ln/>
        </p:spPr>
      </p:sp>
      <p:pic>
        <p:nvPicPr>
          <p:cNvPr id="19" name="Image 1" descr="/tmp/claude-0/-home-user-My-Future-Idaes/0806094f-208a-506e-82b2-f78683d50c82/scratchpad/icons/FaChess_flame.png">    </p:cNvPr>
          <p:cNvPicPr>
            <a:picLocks noChangeAspect="1"/>
          </p:cNvPicPr>
          <p:nvPr/>
        </p:nvPicPr>
        <p:blipFill>
          <a:blip r:embed="rId2"/>
          <a:stretch>
            <a:fillRect/>
          </a:stretch>
        </p:blipFill>
        <p:spPr>
          <a:xfrm>
            <a:off x="6234379" y="930859"/>
            <a:ext cx="332842" cy="33284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15</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1</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The Fire Team Leader on a SANAD rig</a:t>
            </a:r>
            <a:endParaRPr lang="en-US" sz="3000" dirty="0"/>
          </a:p>
        </p:txBody>
      </p:sp>
      <p:sp>
        <p:nvSpPr>
          <p:cNvPr id="6" name="Text 4"/>
          <p:cNvSpPr/>
          <p:nvPr/>
        </p:nvSpPr>
        <p:spPr>
          <a:xfrm>
            <a:off x="594360" y="1508760"/>
            <a:ext cx="10789920" cy="411480"/>
          </a:xfrm>
          <a:prstGeom prst="rect">
            <a:avLst/>
          </a:prstGeom>
          <a:noFill/>
          <a:ln/>
        </p:spPr>
        <p:txBody>
          <a:bodyPr wrap="square" lIns="0" tIns="0" rIns="0" bIns="0" rtlCol="0" anchor="ctr"/>
          <a:lstStyle/>
          <a:p>
            <a:pPr indent="0" marL="0">
              <a:buNone/>
            </a:pPr>
            <a:r>
              <a:rPr lang="en-US" sz="1400" i="1" dirty="0">
                <a:solidFill>
                  <a:srgbClr val="5A646C"/>
                </a:solidFill>
                <a:latin typeface="Arial" pitchFamily="34" charset="0"/>
                <a:ea typeface="Arial" pitchFamily="34" charset="-122"/>
                <a:cs typeface="Arial" pitchFamily="34" charset="-120"/>
              </a:rPr>
              <a:t>You are the pivot between the alarm and the outcome. Four things are yours and no one else's:</a:t>
            </a:r>
            <a:endParaRPr lang="en-US" sz="1400" dirty="0"/>
          </a:p>
        </p:txBody>
      </p:sp>
      <p:sp>
        <p:nvSpPr>
          <p:cNvPr id="7" name="Shape 5"/>
          <p:cNvSpPr/>
          <p:nvPr/>
        </p:nvSpPr>
        <p:spPr>
          <a:xfrm>
            <a:off x="594360" y="2103120"/>
            <a:ext cx="5317236" cy="1783080"/>
          </a:xfrm>
          <a:prstGeom prst="roundRect">
            <a:avLst>
              <a:gd name="adj" fmla="val 5128"/>
            </a:avLst>
          </a:prstGeom>
          <a:solidFill>
            <a:srgbClr val="F3F4F5"/>
          </a:solidFill>
          <a:ln/>
        </p:spPr>
      </p:sp>
      <p:sp>
        <p:nvSpPr>
          <p:cNvPr id="8" name="Shape 6"/>
          <p:cNvSpPr/>
          <p:nvPr/>
        </p:nvSpPr>
        <p:spPr>
          <a:xfrm>
            <a:off x="822960" y="2331720"/>
            <a:ext cx="548640" cy="548640"/>
          </a:xfrm>
          <a:prstGeom prst="ellipse">
            <a:avLst/>
          </a:prstGeom>
          <a:solidFill>
            <a:srgbClr val="E8491D"/>
          </a:solidFill>
          <a:ln/>
        </p:spPr>
      </p:sp>
      <p:pic>
        <p:nvPicPr>
          <p:cNvPr id="9" name="Image 0" descr="/tmp/claude-0/-home-user-My-Future-Idaes/0806094f-208a-506e-82b2-f78683d50c82/scratchpad/icons/FaBell_white.png">    </p:cNvPr>
          <p:cNvPicPr>
            <a:picLocks noChangeAspect="1"/>
          </p:cNvPicPr>
          <p:nvPr/>
        </p:nvPicPr>
        <p:blipFill>
          <a:blip r:embed="rId1"/>
          <a:stretch>
            <a:fillRect/>
          </a:stretch>
        </p:blipFill>
        <p:spPr>
          <a:xfrm>
            <a:off x="954634" y="2463394"/>
            <a:ext cx="285293" cy="285293"/>
          </a:xfrm>
          <a:prstGeom prst="rect">
            <a:avLst/>
          </a:prstGeom>
        </p:spPr>
      </p:pic>
      <p:sp>
        <p:nvSpPr>
          <p:cNvPr id="10" name="Text 7"/>
          <p:cNvSpPr/>
          <p:nvPr/>
        </p:nvSpPr>
        <p:spPr>
          <a:xfrm>
            <a:off x="1554480" y="2304288"/>
            <a:ext cx="4128516" cy="384048"/>
          </a:xfrm>
          <a:prstGeom prst="rect">
            <a:avLst/>
          </a:prstGeom>
          <a:noFill/>
          <a:ln/>
        </p:spPr>
        <p:txBody>
          <a:bodyPr wrap="square" lIns="0" tIns="0" rIns="0" bIns="0" rtlCol="0" anchor="ctr"/>
          <a:lstStyle/>
          <a:p>
            <a:pPr indent="0" marL="0">
              <a:buNone/>
            </a:pPr>
            <a:r>
              <a:rPr lang="en-US" sz="1450" b="1" dirty="0">
                <a:solidFill>
                  <a:srgbClr val="1A2027"/>
                </a:solidFill>
                <a:latin typeface="Arial" pitchFamily="34" charset="0"/>
                <a:ea typeface="Arial" pitchFamily="34" charset="-122"/>
                <a:cs typeface="Arial" pitchFamily="34" charset="-120"/>
              </a:rPr>
              <a:t>Own the first response</a:t>
            </a:r>
            <a:endParaRPr lang="en-US" sz="1450" dirty="0"/>
          </a:p>
        </p:txBody>
      </p:sp>
      <p:sp>
        <p:nvSpPr>
          <p:cNvPr id="11" name="Text 8"/>
          <p:cNvSpPr/>
          <p:nvPr/>
        </p:nvSpPr>
        <p:spPr>
          <a:xfrm>
            <a:off x="1554480" y="2724912"/>
            <a:ext cx="4082796" cy="1051560"/>
          </a:xfrm>
          <a:prstGeom prst="rect">
            <a:avLst/>
          </a:prstGeom>
          <a:noFill/>
          <a:ln/>
        </p:spPr>
        <p:txBody>
          <a:bodyPr wrap="square" lIns="0" tIns="0" rIns="0" bIns="0" rtlCol="0" anchor="ctr"/>
          <a:lstStyle/>
          <a:p>
            <a:pPr indent="0" marL="0">
              <a:buNone/>
            </a:pPr>
            <a:r>
              <a:rPr lang="en-US" sz="1100" dirty="0">
                <a:solidFill>
                  <a:srgbClr val="5A646C"/>
                </a:solidFill>
                <a:latin typeface="Arial" pitchFamily="34" charset="0"/>
                <a:ea typeface="Arial" pitchFamily="34" charset="-122"/>
                <a:cs typeface="Arial" pitchFamily="34" charset="-120"/>
              </a:rPr>
              <a:t>Take command at the scene, confirm the alarm, declare the incident level and set the initial plan before it sets itself.</a:t>
            </a:r>
            <a:endParaRPr lang="en-US" sz="1100" dirty="0"/>
          </a:p>
        </p:txBody>
      </p:sp>
      <p:sp>
        <p:nvSpPr>
          <p:cNvPr id="12" name="Shape 9"/>
          <p:cNvSpPr/>
          <p:nvPr/>
        </p:nvSpPr>
        <p:spPr>
          <a:xfrm>
            <a:off x="6277356" y="2103120"/>
            <a:ext cx="5317236" cy="1783080"/>
          </a:xfrm>
          <a:prstGeom prst="roundRect">
            <a:avLst>
              <a:gd name="adj" fmla="val 5128"/>
            </a:avLst>
          </a:prstGeom>
          <a:solidFill>
            <a:srgbClr val="F3F4F5"/>
          </a:solidFill>
          <a:ln/>
        </p:spPr>
      </p:sp>
      <p:sp>
        <p:nvSpPr>
          <p:cNvPr id="13" name="Shape 10"/>
          <p:cNvSpPr/>
          <p:nvPr/>
        </p:nvSpPr>
        <p:spPr>
          <a:xfrm>
            <a:off x="6505956" y="2331720"/>
            <a:ext cx="548640" cy="548640"/>
          </a:xfrm>
          <a:prstGeom prst="ellipse">
            <a:avLst/>
          </a:prstGeom>
          <a:solidFill>
            <a:srgbClr val="E8491D"/>
          </a:solidFill>
          <a:ln/>
        </p:spPr>
      </p:sp>
      <p:pic>
        <p:nvPicPr>
          <p:cNvPr id="14" name="Image 1" descr="/tmp/claude-0/-home-user-My-Future-Idaes/0806094f-208a-506e-82b2-f78683d50c82/scratchpad/icons/FaUsers_white.png">    </p:cNvPr>
          <p:cNvPicPr>
            <a:picLocks noChangeAspect="1"/>
          </p:cNvPicPr>
          <p:nvPr/>
        </p:nvPicPr>
        <p:blipFill>
          <a:blip r:embed="rId2"/>
          <a:stretch>
            <a:fillRect/>
          </a:stretch>
        </p:blipFill>
        <p:spPr>
          <a:xfrm>
            <a:off x="6637630" y="2463394"/>
            <a:ext cx="285293" cy="285293"/>
          </a:xfrm>
          <a:prstGeom prst="rect">
            <a:avLst/>
          </a:prstGeom>
        </p:spPr>
      </p:pic>
      <p:sp>
        <p:nvSpPr>
          <p:cNvPr id="15" name="Text 11"/>
          <p:cNvSpPr/>
          <p:nvPr/>
        </p:nvSpPr>
        <p:spPr>
          <a:xfrm>
            <a:off x="7237476" y="2304288"/>
            <a:ext cx="4128516" cy="384048"/>
          </a:xfrm>
          <a:prstGeom prst="rect">
            <a:avLst/>
          </a:prstGeom>
          <a:noFill/>
          <a:ln/>
        </p:spPr>
        <p:txBody>
          <a:bodyPr wrap="square" lIns="0" tIns="0" rIns="0" bIns="0" rtlCol="0" anchor="ctr"/>
          <a:lstStyle/>
          <a:p>
            <a:pPr indent="0" marL="0">
              <a:buNone/>
            </a:pPr>
            <a:r>
              <a:rPr lang="en-US" sz="1450" b="1" dirty="0">
                <a:solidFill>
                  <a:srgbClr val="1A2027"/>
                </a:solidFill>
                <a:latin typeface="Arial" pitchFamily="34" charset="0"/>
                <a:ea typeface="Arial" pitchFamily="34" charset="-122"/>
                <a:cs typeface="Arial" pitchFamily="34" charset="-120"/>
              </a:rPr>
              <a:t>Account for people</a:t>
            </a:r>
            <a:endParaRPr lang="en-US" sz="1450" dirty="0"/>
          </a:p>
        </p:txBody>
      </p:sp>
      <p:sp>
        <p:nvSpPr>
          <p:cNvPr id="16" name="Text 12"/>
          <p:cNvSpPr/>
          <p:nvPr/>
        </p:nvSpPr>
        <p:spPr>
          <a:xfrm>
            <a:off x="7237476" y="2724912"/>
            <a:ext cx="4082796" cy="1051560"/>
          </a:xfrm>
          <a:prstGeom prst="rect">
            <a:avLst/>
          </a:prstGeom>
          <a:noFill/>
          <a:ln/>
        </p:spPr>
        <p:txBody>
          <a:bodyPr wrap="square" lIns="0" tIns="0" rIns="0" bIns="0" rtlCol="0" anchor="ctr"/>
          <a:lstStyle/>
          <a:p>
            <a:pPr indent="0" marL="0">
              <a:buNone/>
            </a:pPr>
            <a:r>
              <a:rPr lang="en-US" sz="1100" dirty="0">
                <a:solidFill>
                  <a:srgbClr val="5A646C"/>
                </a:solidFill>
                <a:latin typeface="Arial" pitchFamily="34" charset="0"/>
                <a:ea typeface="Arial" pitchFamily="34" charset="-122"/>
                <a:cs typeface="Arial" pitchFamily="34" charset="-120"/>
              </a:rPr>
              <a:t>Muster, headcount, missing-person confirmation. People first, then exposures, then the fire.</a:t>
            </a:r>
            <a:endParaRPr lang="en-US" sz="1100" dirty="0"/>
          </a:p>
        </p:txBody>
      </p:sp>
      <p:sp>
        <p:nvSpPr>
          <p:cNvPr id="17" name="Shape 13"/>
          <p:cNvSpPr/>
          <p:nvPr/>
        </p:nvSpPr>
        <p:spPr>
          <a:xfrm>
            <a:off x="594360" y="4069080"/>
            <a:ext cx="5317236" cy="1783080"/>
          </a:xfrm>
          <a:prstGeom prst="roundRect">
            <a:avLst>
              <a:gd name="adj" fmla="val 5128"/>
            </a:avLst>
          </a:prstGeom>
          <a:solidFill>
            <a:srgbClr val="F3F4F5"/>
          </a:solidFill>
          <a:ln/>
        </p:spPr>
      </p:sp>
      <p:sp>
        <p:nvSpPr>
          <p:cNvPr id="18" name="Shape 14"/>
          <p:cNvSpPr/>
          <p:nvPr/>
        </p:nvSpPr>
        <p:spPr>
          <a:xfrm>
            <a:off x="822960" y="4297680"/>
            <a:ext cx="548640" cy="548640"/>
          </a:xfrm>
          <a:prstGeom prst="ellipse">
            <a:avLst/>
          </a:prstGeom>
          <a:solidFill>
            <a:srgbClr val="E8491D"/>
          </a:solidFill>
          <a:ln/>
        </p:spPr>
      </p:sp>
      <p:pic>
        <p:nvPicPr>
          <p:cNvPr id="19" name="Image 2" descr="/tmp/claude-0/-home-user-My-Future-Idaes/0806094f-208a-506e-82b2-f78683d50c82/scratchpad/icons/FaSitemap_white.png">    </p:cNvPr>
          <p:cNvPicPr>
            <a:picLocks noChangeAspect="1"/>
          </p:cNvPicPr>
          <p:nvPr/>
        </p:nvPicPr>
        <p:blipFill>
          <a:blip r:embed="rId3"/>
          <a:stretch>
            <a:fillRect/>
          </a:stretch>
        </p:blipFill>
        <p:spPr>
          <a:xfrm>
            <a:off x="954634" y="4429354"/>
            <a:ext cx="285293" cy="285293"/>
          </a:xfrm>
          <a:prstGeom prst="rect">
            <a:avLst/>
          </a:prstGeom>
        </p:spPr>
      </p:pic>
      <p:sp>
        <p:nvSpPr>
          <p:cNvPr id="20" name="Text 15"/>
          <p:cNvSpPr/>
          <p:nvPr/>
        </p:nvSpPr>
        <p:spPr>
          <a:xfrm>
            <a:off x="1554480" y="4270248"/>
            <a:ext cx="4128516" cy="384048"/>
          </a:xfrm>
          <a:prstGeom prst="rect">
            <a:avLst/>
          </a:prstGeom>
          <a:noFill/>
          <a:ln/>
        </p:spPr>
        <p:txBody>
          <a:bodyPr wrap="square" lIns="0" tIns="0" rIns="0" bIns="0" rtlCol="0" anchor="ctr"/>
          <a:lstStyle/>
          <a:p>
            <a:pPr indent="0" marL="0">
              <a:buNone/>
            </a:pPr>
            <a:r>
              <a:rPr lang="en-US" sz="1450" b="1" dirty="0">
                <a:solidFill>
                  <a:srgbClr val="1A2027"/>
                </a:solidFill>
                <a:latin typeface="Arial" pitchFamily="34" charset="0"/>
                <a:ea typeface="Arial" pitchFamily="34" charset="-122"/>
                <a:cs typeface="Arial" pitchFamily="34" charset="-120"/>
              </a:rPr>
              <a:t>Interface upward</a:t>
            </a:r>
            <a:endParaRPr lang="en-US" sz="1450" dirty="0"/>
          </a:p>
        </p:txBody>
      </p:sp>
      <p:sp>
        <p:nvSpPr>
          <p:cNvPr id="21" name="Text 16"/>
          <p:cNvSpPr/>
          <p:nvPr/>
        </p:nvSpPr>
        <p:spPr>
          <a:xfrm>
            <a:off x="1554480" y="4690872"/>
            <a:ext cx="4082796" cy="1051560"/>
          </a:xfrm>
          <a:prstGeom prst="rect">
            <a:avLst/>
          </a:prstGeom>
          <a:noFill/>
          <a:ln/>
        </p:spPr>
        <p:txBody>
          <a:bodyPr wrap="square" lIns="0" tIns="0" rIns="0" bIns="0" rtlCol="0" anchor="ctr"/>
          <a:lstStyle/>
          <a:p>
            <a:pPr indent="0" marL="0">
              <a:buNone/>
            </a:pPr>
            <a:r>
              <a:rPr lang="en-US" sz="1100" dirty="0">
                <a:solidFill>
                  <a:srgbClr val="5A646C"/>
                </a:solidFill>
                <a:latin typeface="Arial" pitchFamily="34" charset="0"/>
                <a:ea typeface="Arial" pitchFamily="34" charset="-122"/>
                <a:cs typeface="Arial" pitchFamily="34" charset="-120"/>
              </a:rPr>
              <a:t>Feed the rig manager / toolpusher and the emergency response plan with clear, timed situation reports.</a:t>
            </a:r>
            <a:endParaRPr lang="en-US" sz="1100" dirty="0"/>
          </a:p>
        </p:txBody>
      </p:sp>
      <p:sp>
        <p:nvSpPr>
          <p:cNvPr id="22" name="Shape 17"/>
          <p:cNvSpPr/>
          <p:nvPr/>
        </p:nvSpPr>
        <p:spPr>
          <a:xfrm>
            <a:off x="6277356" y="4069080"/>
            <a:ext cx="5317236" cy="1783080"/>
          </a:xfrm>
          <a:prstGeom prst="roundRect">
            <a:avLst>
              <a:gd name="adj" fmla="val 5128"/>
            </a:avLst>
          </a:prstGeom>
          <a:solidFill>
            <a:srgbClr val="F3F4F5"/>
          </a:solidFill>
          <a:ln/>
        </p:spPr>
      </p:sp>
      <p:sp>
        <p:nvSpPr>
          <p:cNvPr id="23" name="Shape 18"/>
          <p:cNvSpPr/>
          <p:nvPr/>
        </p:nvSpPr>
        <p:spPr>
          <a:xfrm>
            <a:off x="6505956" y="4297680"/>
            <a:ext cx="548640" cy="548640"/>
          </a:xfrm>
          <a:prstGeom prst="ellipse">
            <a:avLst/>
          </a:prstGeom>
          <a:solidFill>
            <a:srgbClr val="E8491D"/>
          </a:solidFill>
          <a:ln/>
        </p:spPr>
      </p:sp>
      <p:pic>
        <p:nvPicPr>
          <p:cNvPr id="24" name="Image 3" descr="/tmp/claude-0/-home-user-My-Future-Idaes/0806094f-208a-506e-82b2-f78683d50c82/scratchpad/icons/FaPeopleArrows_white.png">    </p:cNvPr>
          <p:cNvPicPr>
            <a:picLocks noChangeAspect="1"/>
          </p:cNvPicPr>
          <p:nvPr/>
        </p:nvPicPr>
        <p:blipFill>
          <a:blip r:embed="rId4"/>
          <a:stretch>
            <a:fillRect/>
          </a:stretch>
        </p:blipFill>
        <p:spPr>
          <a:xfrm>
            <a:off x="6637630" y="4429354"/>
            <a:ext cx="285293" cy="285293"/>
          </a:xfrm>
          <a:prstGeom prst="rect">
            <a:avLst/>
          </a:prstGeom>
        </p:spPr>
      </p:pic>
      <p:sp>
        <p:nvSpPr>
          <p:cNvPr id="25" name="Text 19"/>
          <p:cNvSpPr/>
          <p:nvPr/>
        </p:nvSpPr>
        <p:spPr>
          <a:xfrm>
            <a:off x="7237476" y="4270248"/>
            <a:ext cx="4128516" cy="384048"/>
          </a:xfrm>
          <a:prstGeom prst="rect">
            <a:avLst/>
          </a:prstGeom>
          <a:noFill/>
          <a:ln/>
        </p:spPr>
        <p:txBody>
          <a:bodyPr wrap="square" lIns="0" tIns="0" rIns="0" bIns="0" rtlCol="0" anchor="ctr"/>
          <a:lstStyle/>
          <a:p>
            <a:pPr indent="0" marL="0">
              <a:buNone/>
            </a:pPr>
            <a:r>
              <a:rPr lang="en-US" sz="1450" b="1" dirty="0">
                <a:solidFill>
                  <a:srgbClr val="1A2027"/>
                </a:solidFill>
                <a:latin typeface="Arial" pitchFamily="34" charset="0"/>
                <a:ea typeface="Arial" pitchFamily="34" charset="-122"/>
                <a:cs typeface="Arial" pitchFamily="34" charset="-120"/>
              </a:rPr>
              <a:t>Hand over cleanly</a:t>
            </a:r>
            <a:endParaRPr lang="en-US" sz="1450" dirty="0"/>
          </a:p>
        </p:txBody>
      </p:sp>
      <p:sp>
        <p:nvSpPr>
          <p:cNvPr id="26" name="Text 20"/>
          <p:cNvSpPr/>
          <p:nvPr/>
        </p:nvSpPr>
        <p:spPr>
          <a:xfrm>
            <a:off x="7237476" y="4690872"/>
            <a:ext cx="4082796" cy="1051560"/>
          </a:xfrm>
          <a:prstGeom prst="rect">
            <a:avLst/>
          </a:prstGeom>
          <a:noFill/>
          <a:ln/>
        </p:spPr>
        <p:txBody>
          <a:bodyPr wrap="square" lIns="0" tIns="0" rIns="0" bIns="0" rtlCol="0" anchor="ctr"/>
          <a:lstStyle/>
          <a:p>
            <a:pPr indent="0" marL="0">
              <a:buNone/>
            </a:pPr>
            <a:r>
              <a:rPr lang="en-US" sz="1100" dirty="0">
                <a:solidFill>
                  <a:srgbClr val="5A646C"/>
                </a:solidFill>
                <a:latin typeface="Arial" pitchFamily="34" charset="0"/>
                <a:ea typeface="Arial" pitchFamily="34" charset="-122"/>
                <a:cs typeface="Arial" pitchFamily="34" charset="-120"/>
              </a:rPr>
              <a:t>When Saudi Aramco Fire Protection or Civil Defense arrives, brief and transfer command like a professional.</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16</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1</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The team you command</a:t>
            </a:r>
            <a:endParaRPr lang="en-US" sz="3000" dirty="0"/>
          </a:p>
        </p:txBody>
      </p:sp>
      <p:sp>
        <p:nvSpPr>
          <p:cNvPr id="6" name="Text 4"/>
          <p:cNvSpPr/>
          <p:nvPr/>
        </p:nvSpPr>
        <p:spPr>
          <a:xfrm>
            <a:off x="594360" y="1481328"/>
            <a:ext cx="10881360" cy="411480"/>
          </a:xfrm>
          <a:prstGeom prst="rect">
            <a:avLst/>
          </a:prstGeom>
          <a:noFill/>
          <a:ln/>
        </p:spPr>
        <p:txBody>
          <a:bodyPr wrap="square" lIns="0" tIns="0" rIns="0" bIns="0" rtlCol="0" anchor="ctr"/>
          <a:lstStyle/>
          <a:p>
            <a:pPr indent="0" marL="0">
              <a:buNone/>
            </a:pPr>
            <a:r>
              <a:rPr lang="en-US" sz="1350" i="1" dirty="0">
                <a:solidFill>
                  <a:srgbClr val="5A646C"/>
                </a:solidFill>
                <a:latin typeface="Arial" pitchFamily="34" charset="0"/>
                <a:ea typeface="Arial" pitchFamily="34" charset="-122"/>
                <a:cs typeface="Arial" pitchFamily="34" charset="-120"/>
              </a:rPr>
              <a:t>A leader commands roles, not a crowd. Know each position's job, load and failure mode:</a:t>
            </a:r>
            <a:endParaRPr lang="en-US" sz="1350" dirty="0"/>
          </a:p>
        </p:txBody>
      </p:sp>
      <p:sp>
        <p:nvSpPr>
          <p:cNvPr id="7" name="Shape 5"/>
          <p:cNvSpPr/>
          <p:nvPr/>
        </p:nvSpPr>
        <p:spPr>
          <a:xfrm>
            <a:off x="594360" y="2057400"/>
            <a:ext cx="1995221" cy="3200400"/>
          </a:xfrm>
          <a:prstGeom prst="roundRect">
            <a:avLst>
              <a:gd name="adj" fmla="val 4583"/>
            </a:avLst>
          </a:prstGeom>
          <a:solidFill>
            <a:srgbClr val="F3F4F5"/>
          </a:solidFill>
          <a:ln/>
        </p:spPr>
      </p:sp>
      <p:sp>
        <p:nvSpPr>
          <p:cNvPr id="8" name="Shape 6"/>
          <p:cNvSpPr/>
          <p:nvPr/>
        </p:nvSpPr>
        <p:spPr>
          <a:xfrm>
            <a:off x="777240" y="2267712"/>
            <a:ext cx="493776" cy="493776"/>
          </a:xfrm>
          <a:prstGeom prst="ellipse">
            <a:avLst/>
          </a:prstGeom>
          <a:solidFill>
            <a:srgbClr val="E8491D"/>
          </a:solidFill>
          <a:ln/>
        </p:spPr>
      </p:sp>
      <p:pic>
        <p:nvPicPr>
          <p:cNvPr id="9" name="Image 0" descr="/tmp/claude-0/-home-user-My-Future-Idaes/0806094f-208a-506e-82b2-f78683d50c82/scratchpad/icons/FaFire_white.png">    </p:cNvPr>
          <p:cNvPicPr>
            <a:picLocks noChangeAspect="1"/>
          </p:cNvPicPr>
          <p:nvPr/>
        </p:nvPicPr>
        <p:blipFill>
          <a:blip r:embed="rId1"/>
          <a:stretch>
            <a:fillRect/>
          </a:stretch>
        </p:blipFill>
        <p:spPr>
          <a:xfrm>
            <a:off x="895746" y="2386218"/>
            <a:ext cx="256764" cy="256764"/>
          </a:xfrm>
          <a:prstGeom prst="rect">
            <a:avLst/>
          </a:prstGeom>
        </p:spPr>
      </p:pic>
      <p:sp>
        <p:nvSpPr>
          <p:cNvPr id="10" name="Text 7"/>
          <p:cNvSpPr/>
          <p:nvPr/>
        </p:nvSpPr>
        <p:spPr>
          <a:xfrm>
            <a:off x="777240" y="2907792"/>
            <a:ext cx="1629461" cy="685800"/>
          </a:xfrm>
          <a:prstGeom prst="rect">
            <a:avLst/>
          </a:prstGeom>
          <a:noFill/>
          <a:ln/>
        </p:spPr>
        <p:txBody>
          <a:bodyPr wrap="square" lIns="0" tIns="0" rIns="0" bIns="0" rtlCol="0" anchor="ctr"/>
          <a:lstStyle/>
          <a:p>
            <a:pPr indent="0" marL="0">
              <a:buNone/>
            </a:pPr>
            <a:r>
              <a:rPr lang="en-US" sz="1200" b="1" dirty="0">
                <a:solidFill>
                  <a:srgbClr val="1A2027"/>
                </a:solidFill>
                <a:latin typeface="Arial" pitchFamily="34" charset="0"/>
                <a:ea typeface="Arial" pitchFamily="34" charset="-122"/>
                <a:cs typeface="Arial" pitchFamily="34" charset="-120"/>
              </a:rPr>
              <a:t>Nozzle operator</a:t>
            </a:r>
            <a:endParaRPr lang="en-US" sz="1200" dirty="0"/>
          </a:p>
        </p:txBody>
      </p:sp>
      <p:sp>
        <p:nvSpPr>
          <p:cNvPr id="11" name="Text 8"/>
          <p:cNvSpPr/>
          <p:nvPr/>
        </p:nvSpPr>
        <p:spPr>
          <a:xfrm>
            <a:off x="777240" y="3611880"/>
            <a:ext cx="1629461" cy="1508760"/>
          </a:xfrm>
          <a:prstGeom prst="rect">
            <a:avLst/>
          </a:prstGeom>
          <a:noFill/>
          <a:ln/>
        </p:spPr>
        <p:txBody>
          <a:bodyPr wrap="square" lIns="0" tIns="0" rIns="0" bIns="0" rtlCol="0" anchor="ctr"/>
          <a:lstStyle/>
          <a:p>
            <a:pPr indent="0" marL="0">
              <a:buNone/>
            </a:pPr>
            <a:r>
              <a:rPr lang="en-US" sz="950" dirty="0">
                <a:solidFill>
                  <a:srgbClr val="5A646C"/>
                </a:solidFill>
                <a:latin typeface="Arial" pitchFamily="34" charset="0"/>
                <a:ea typeface="Arial" pitchFamily="34" charset="-122"/>
                <a:cs typeface="Arial" pitchFamily="34" charset="-120"/>
              </a:rPr>
              <a:t>Controls the stream and the advance. Fails by fixation — watch their tunnel vision.</a:t>
            </a:r>
            <a:endParaRPr lang="en-US" sz="950" dirty="0"/>
          </a:p>
        </p:txBody>
      </p:sp>
      <p:sp>
        <p:nvSpPr>
          <p:cNvPr id="12" name="Shape 9"/>
          <p:cNvSpPr/>
          <p:nvPr/>
        </p:nvSpPr>
        <p:spPr>
          <a:xfrm>
            <a:off x="2845613" y="2057400"/>
            <a:ext cx="1995221" cy="3200400"/>
          </a:xfrm>
          <a:prstGeom prst="roundRect">
            <a:avLst>
              <a:gd name="adj" fmla="val 4583"/>
            </a:avLst>
          </a:prstGeom>
          <a:solidFill>
            <a:srgbClr val="F3F4F5"/>
          </a:solidFill>
          <a:ln/>
        </p:spPr>
      </p:sp>
      <p:sp>
        <p:nvSpPr>
          <p:cNvPr id="13" name="Shape 10"/>
          <p:cNvSpPr/>
          <p:nvPr/>
        </p:nvSpPr>
        <p:spPr>
          <a:xfrm>
            <a:off x="3028493" y="2267712"/>
            <a:ext cx="493776" cy="493776"/>
          </a:xfrm>
          <a:prstGeom prst="ellipse">
            <a:avLst/>
          </a:prstGeom>
          <a:solidFill>
            <a:srgbClr val="E8491D"/>
          </a:solidFill>
          <a:ln/>
        </p:spPr>
      </p:sp>
      <p:pic>
        <p:nvPicPr>
          <p:cNvPr id="14" name="Image 1" descr="/tmp/claude-0/-home-user-My-Future-Idaes/0806094f-208a-506e-82b2-f78683d50c82/scratchpad/icons/FaUsers_white.png">    </p:cNvPr>
          <p:cNvPicPr>
            <a:picLocks noChangeAspect="1"/>
          </p:cNvPicPr>
          <p:nvPr/>
        </p:nvPicPr>
        <p:blipFill>
          <a:blip r:embed="rId2"/>
          <a:stretch>
            <a:fillRect/>
          </a:stretch>
        </p:blipFill>
        <p:spPr>
          <a:xfrm>
            <a:off x="3146999" y="2386218"/>
            <a:ext cx="256764" cy="256764"/>
          </a:xfrm>
          <a:prstGeom prst="rect">
            <a:avLst/>
          </a:prstGeom>
        </p:spPr>
      </p:pic>
      <p:sp>
        <p:nvSpPr>
          <p:cNvPr id="15" name="Text 11"/>
          <p:cNvSpPr/>
          <p:nvPr/>
        </p:nvSpPr>
        <p:spPr>
          <a:xfrm>
            <a:off x="3028493" y="2907792"/>
            <a:ext cx="1629461" cy="685800"/>
          </a:xfrm>
          <a:prstGeom prst="rect">
            <a:avLst/>
          </a:prstGeom>
          <a:noFill/>
          <a:ln/>
        </p:spPr>
        <p:txBody>
          <a:bodyPr wrap="square" lIns="0" tIns="0" rIns="0" bIns="0" rtlCol="0" anchor="ctr"/>
          <a:lstStyle/>
          <a:p>
            <a:pPr indent="0" marL="0">
              <a:buNone/>
            </a:pPr>
            <a:r>
              <a:rPr lang="en-US" sz="1200" b="1" dirty="0">
                <a:solidFill>
                  <a:srgbClr val="1A2027"/>
                </a:solidFill>
                <a:latin typeface="Arial" pitchFamily="34" charset="0"/>
                <a:ea typeface="Arial" pitchFamily="34" charset="-122"/>
                <a:cs typeface="Arial" pitchFamily="34" charset="-120"/>
              </a:rPr>
              <a:t>Backup / hose team</a:t>
            </a:r>
            <a:endParaRPr lang="en-US" sz="1200" dirty="0"/>
          </a:p>
        </p:txBody>
      </p:sp>
      <p:sp>
        <p:nvSpPr>
          <p:cNvPr id="16" name="Text 12"/>
          <p:cNvSpPr/>
          <p:nvPr/>
        </p:nvSpPr>
        <p:spPr>
          <a:xfrm>
            <a:off x="3028493" y="3611880"/>
            <a:ext cx="1629461" cy="1508760"/>
          </a:xfrm>
          <a:prstGeom prst="rect">
            <a:avLst/>
          </a:prstGeom>
          <a:noFill/>
          <a:ln/>
        </p:spPr>
        <p:txBody>
          <a:bodyPr wrap="square" lIns="0" tIns="0" rIns="0" bIns="0" rtlCol="0" anchor="ctr"/>
          <a:lstStyle/>
          <a:p>
            <a:pPr indent="0" marL="0">
              <a:buNone/>
            </a:pPr>
            <a:r>
              <a:rPr lang="en-US" sz="950" dirty="0">
                <a:solidFill>
                  <a:srgbClr val="5A646C"/>
                </a:solidFill>
                <a:latin typeface="Arial" pitchFamily="34" charset="0"/>
                <a:ea typeface="Arial" pitchFamily="34" charset="-122"/>
                <a:cs typeface="Arial" pitchFamily="34" charset="-120"/>
              </a:rPr>
              <a:t>Feeds line, shares nozzle reaction, protects the advance. Fails silently — check their fatigue.</a:t>
            </a:r>
            <a:endParaRPr lang="en-US" sz="950" dirty="0"/>
          </a:p>
        </p:txBody>
      </p:sp>
      <p:sp>
        <p:nvSpPr>
          <p:cNvPr id="17" name="Shape 13"/>
          <p:cNvSpPr/>
          <p:nvPr/>
        </p:nvSpPr>
        <p:spPr>
          <a:xfrm>
            <a:off x="5096866" y="2057400"/>
            <a:ext cx="1995221" cy="3200400"/>
          </a:xfrm>
          <a:prstGeom prst="roundRect">
            <a:avLst>
              <a:gd name="adj" fmla="val 4583"/>
            </a:avLst>
          </a:prstGeom>
          <a:solidFill>
            <a:srgbClr val="F3F4F5"/>
          </a:solidFill>
          <a:ln/>
        </p:spPr>
      </p:sp>
      <p:sp>
        <p:nvSpPr>
          <p:cNvPr id="18" name="Shape 14"/>
          <p:cNvSpPr/>
          <p:nvPr/>
        </p:nvSpPr>
        <p:spPr>
          <a:xfrm>
            <a:off x="5279746" y="2267712"/>
            <a:ext cx="493776" cy="493776"/>
          </a:xfrm>
          <a:prstGeom prst="ellipse">
            <a:avLst/>
          </a:prstGeom>
          <a:solidFill>
            <a:srgbClr val="E8491D"/>
          </a:solidFill>
          <a:ln/>
        </p:spPr>
      </p:sp>
      <p:pic>
        <p:nvPicPr>
          <p:cNvPr id="19" name="Image 2" descr="/tmp/claude-0/-home-user-My-Future-Idaes/0806094f-208a-506e-82b2-f78683d50c82/scratchpad/icons/FaWater_white.png">    </p:cNvPr>
          <p:cNvPicPr>
            <a:picLocks noChangeAspect="1"/>
          </p:cNvPicPr>
          <p:nvPr/>
        </p:nvPicPr>
        <p:blipFill>
          <a:blip r:embed="rId3"/>
          <a:stretch>
            <a:fillRect/>
          </a:stretch>
        </p:blipFill>
        <p:spPr>
          <a:xfrm>
            <a:off x="5398252" y="2386218"/>
            <a:ext cx="256764" cy="256764"/>
          </a:xfrm>
          <a:prstGeom prst="rect">
            <a:avLst/>
          </a:prstGeom>
        </p:spPr>
      </p:pic>
      <p:sp>
        <p:nvSpPr>
          <p:cNvPr id="20" name="Text 15"/>
          <p:cNvSpPr/>
          <p:nvPr/>
        </p:nvSpPr>
        <p:spPr>
          <a:xfrm>
            <a:off x="5279746" y="2907792"/>
            <a:ext cx="1629461" cy="685800"/>
          </a:xfrm>
          <a:prstGeom prst="rect">
            <a:avLst/>
          </a:prstGeom>
          <a:noFill/>
          <a:ln/>
        </p:spPr>
        <p:txBody>
          <a:bodyPr wrap="square" lIns="0" tIns="0" rIns="0" bIns="0" rtlCol="0" anchor="ctr"/>
          <a:lstStyle/>
          <a:p>
            <a:pPr indent="0" marL="0">
              <a:buNone/>
            </a:pPr>
            <a:r>
              <a:rPr lang="en-US" sz="1200" b="1" dirty="0">
                <a:solidFill>
                  <a:srgbClr val="1A2027"/>
                </a:solidFill>
                <a:latin typeface="Arial" pitchFamily="34" charset="0"/>
                <a:ea typeface="Arial" pitchFamily="34" charset="-122"/>
                <a:cs typeface="Arial" pitchFamily="34" charset="-120"/>
              </a:rPr>
              <a:t>Pump / hydrant operator</a:t>
            </a:r>
            <a:endParaRPr lang="en-US" sz="1200" dirty="0"/>
          </a:p>
        </p:txBody>
      </p:sp>
      <p:sp>
        <p:nvSpPr>
          <p:cNvPr id="21" name="Text 16"/>
          <p:cNvSpPr/>
          <p:nvPr/>
        </p:nvSpPr>
        <p:spPr>
          <a:xfrm>
            <a:off x="5279746" y="3611880"/>
            <a:ext cx="1629461" cy="1508760"/>
          </a:xfrm>
          <a:prstGeom prst="rect">
            <a:avLst/>
          </a:prstGeom>
          <a:noFill/>
          <a:ln/>
        </p:spPr>
        <p:txBody>
          <a:bodyPr wrap="square" lIns="0" tIns="0" rIns="0" bIns="0" rtlCol="0" anchor="ctr"/>
          <a:lstStyle/>
          <a:p>
            <a:pPr indent="0" marL="0">
              <a:buNone/>
            </a:pPr>
            <a:r>
              <a:rPr lang="en-US" sz="950" dirty="0">
                <a:solidFill>
                  <a:srgbClr val="5A646C"/>
                </a:solidFill>
                <a:latin typeface="Arial" pitchFamily="34" charset="0"/>
                <a:ea typeface="Arial" pitchFamily="34" charset="-122"/>
                <a:cs typeface="Arial" pitchFamily="34" charset="-120"/>
              </a:rPr>
              <a:t>Owns pressure and supply. A supply failure mid-attack is a leader's emergency.</a:t>
            </a:r>
            <a:endParaRPr lang="en-US" sz="950" dirty="0"/>
          </a:p>
        </p:txBody>
      </p:sp>
      <p:sp>
        <p:nvSpPr>
          <p:cNvPr id="22" name="Shape 17"/>
          <p:cNvSpPr/>
          <p:nvPr/>
        </p:nvSpPr>
        <p:spPr>
          <a:xfrm>
            <a:off x="7348118" y="2057400"/>
            <a:ext cx="1995221" cy="3200400"/>
          </a:xfrm>
          <a:prstGeom prst="roundRect">
            <a:avLst>
              <a:gd name="adj" fmla="val 4583"/>
            </a:avLst>
          </a:prstGeom>
          <a:solidFill>
            <a:srgbClr val="F3F4F5"/>
          </a:solidFill>
          <a:ln/>
        </p:spPr>
      </p:sp>
      <p:sp>
        <p:nvSpPr>
          <p:cNvPr id="23" name="Shape 18"/>
          <p:cNvSpPr/>
          <p:nvPr/>
        </p:nvSpPr>
        <p:spPr>
          <a:xfrm>
            <a:off x="7530998" y="2267712"/>
            <a:ext cx="493776" cy="493776"/>
          </a:xfrm>
          <a:prstGeom prst="ellipse">
            <a:avLst/>
          </a:prstGeom>
          <a:solidFill>
            <a:srgbClr val="E8491D"/>
          </a:solidFill>
          <a:ln/>
        </p:spPr>
      </p:sp>
      <p:pic>
        <p:nvPicPr>
          <p:cNvPr id="24" name="Image 3" descr="/tmp/claude-0/-home-user-My-Future-Idaes/0806094f-208a-506e-82b2-f78683d50c82/scratchpad/icons/FaTasks_white.png">    </p:cNvPr>
          <p:cNvPicPr>
            <a:picLocks noChangeAspect="1"/>
          </p:cNvPicPr>
          <p:nvPr/>
        </p:nvPicPr>
        <p:blipFill>
          <a:blip r:embed="rId4"/>
          <a:stretch>
            <a:fillRect/>
          </a:stretch>
        </p:blipFill>
        <p:spPr>
          <a:xfrm>
            <a:off x="7649505" y="2386218"/>
            <a:ext cx="256764" cy="256764"/>
          </a:xfrm>
          <a:prstGeom prst="rect">
            <a:avLst/>
          </a:prstGeom>
        </p:spPr>
      </p:pic>
      <p:sp>
        <p:nvSpPr>
          <p:cNvPr id="25" name="Text 19"/>
          <p:cNvSpPr/>
          <p:nvPr/>
        </p:nvSpPr>
        <p:spPr>
          <a:xfrm>
            <a:off x="7530998" y="2907792"/>
            <a:ext cx="1629461" cy="685800"/>
          </a:xfrm>
          <a:prstGeom prst="rect">
            <a:avLst/>
          </a:prstGeom>
          <a:noFill/>
          <a:ln/>
        </p:spPr>
        <p:txBody>
          <a:bodyPr wrap="square" lIns="0" tIns="0" rIns="0" bIns="0" rtlCol="0" anchor="ctr"/>
          <a:lstStyle/>
          <a:p>
            <a:pPr indent="0" marL="0">
              <a:buNone/>
            </a:pPr>
            <a:r>
              <a:rPr lang="en-US" sz="1200" b="1" dirty="0">
                <a:solidFill>
                  <a:srgbClr val="1A2027"/>
                </a:solidFill>
                <a:latin typeface="Arial" pitchFamily="34" charset="0"/>
                <a:ea typeface="Arial" pitchFamily="34" charset="-122"/>
                <a:cs typeface="Arial" pitchFamily="34" charset="-120"/>
              </a:rPr>
              <a:t>BA entry control</a:t>
            </a:r>
            <a:endParaRPr lang="en-US" sz="1200" dirty="0"/>
          </a:p>
        </p:txBody>
      </p:sp>
      <p:sp>
        <p:nvSpPr>
          <p:cNvPr id="26" name="Text 20"/>
          <p:cNvSpPr/>
          <p:nvPr/>
        </p:nvSpPr>
        <p:spPr>
          <a:xfrm>
            <a:off x="7530998" y="3611880"/>
            <a:ext cx="1629461" cy="1508760"/>
          </a:xfrm>
          <a:prstGeom prst="rect">
            <a:avLst/>
          </a:prstGeom>
          <a:noFill/>
          <a:ln/>
        </p:spPr>
        <p:txBody>
          <a:bodyPr wrap="square" lIns="0" tIns="0" rIns="0" bIns="0" rtlCol="0" anchor="ctr"/>
          <a:lstStyle/>
          <a:p>
            <a:pPr indent="0" marL="0">
              <a:buNone/>
            </a:pPr>
            <a:r>
              <a:rPr lang="en-US" sz="950" dirty="0">
                <a:solidFill>
                  <a:srgbClr val="5A646C"/>
                </a:solidFill>
                <a:latin typeface="Arial" pitchFamily="34" charset="0"/>
                <a:ea typeface="Arial" pitchFamily="34" charset="-122"/>
                <a:cs typeface="Arial" pitchFamily="34" charset="-120"/>
              </a:rPr>
              <a:t>Logs entries, cylinder times, due-outs. The one role you never leave unfilled.</a:t>
            </a:r>
            <a:endParaRPr lang="en-US" sz="950" dirty="0"/>
          </a:p>
        </p:txBody>
      </p:sp>
      <p:sp>
        <p:nvSpPr>
          <p:cNvPr id="27" name="Shape 21"/>
          <p:cNvSpPr/>
          <p:nvPr/>
        </p:nvSpPr>
        <p:spPr>
          <a:xfrm>
            <a:off x="9599371" y="2057400"/>
            <a:ext cx="1995221" cy="3200400"/>
          </a:xfrm>
          <a:prstGeom prst="roundRect">
            <a:avLst>
              <a:gd name="adj" fmla="val 4583"/>
            </a:avLst>
          </a:prstGeom>
          <a:solidFill>
            <a:srgbClr val="F3F4F5"/>
          </a:solidFill>
          <a:ln/>
        </p:spPr>
      </p:sp>
      <p:sp>
        <p:nvSpPr>
          <p:cNvPr id="28" name="Shape 22"/>
          <p:cNvSpPr/>
          <p:nvPr/>
        </p:nvSpPr>
        <p:spPr>
          <a:xfrm>
            <a:off x="9782251" y="2267712"/>
            <a:ext cx="493776" cy="493776"/>
          </a:xfrm>
          <a:prstGeom prst="ellipse">
            <a:avLst/>
          </a:prstGeom>
          <a:solidFill>
            <a:srgbClr val="E8491D"/>
          </a:solidFill>
          <a:ln/>
        </p:spPr>
      </p:sp>
      <p:pic>
        <p:nvPicPr>
          <p:cNvPr id="29" name="Image 4" descr="/tmp/claude-0/-home-user-My-Future-Idaes/0806094f-208a-506e-82b2-f78683d50c82/scratchpad/icons/FaFirstAid_white.png">    </p:cNvPr>
          <p:cNvPicPr>
            <a:picLocks noChangeAspect="1"/>
          </p:cNvPicPr>
          <p:nvPr/>
        </p:nvPicPr>
        <p:blipFill>
          <a:blip r:embed="rId5"/>
          <a:stretch>
            <a:fillRect/>
          </a:stretch>
        </p:blipFill>
        <p:spPr>
          <a:xfrm>
            <a:off x="9900757" y="2386218"/>
            <a:ext cx="256764" cy="256764"/>
          </a:xfrm>
          <a:prstGeom prst="rect">
            <a:avLst/>
          </a:prstGeom>
        </p:spPr>
      </p:pic>
      <p:sp>
        <p:nvSpPr>
          <p:cNvPr id="30" name="Text 23"/>
          <p:cNvSpPr/>
          <p:nvPr/>
        </p:nvSpPr>
        <p:spPr>
          <a:xfrm>
            <a:off x="9782251" y="2907792"/>
            <a:ext cx="1629461" cy="685800"/>
          </a:xfrm>
          <a:prstGeom prst="rect">
            <a:avLst/>
          </a:prstGeom>
          <a:noFill/>
          <a:ln/>
        </p:spPr>
        <p:txBody>
          <a:bodyPr wrap="square" lIns="0" tIns="0" rIns="0" bIns="0" rtlCol="0" anchor="ctr"/>
          <a:lstStyle/>
          <a:p>
            <a:pPr indent="0" marL="0">
              <a:buNone/>
            </a:pPr>
            <a:r>
              <a:rPr lang="en-US" sz="1200" b="1" dirty="0">
                <a:solidFill>
                  <a:srgbClr val="1A2027"/>
                </a:solidFill>
                <a:latin typeface="Arial" pitchFamily="34" charset="0"/>
                <a:ea typeface="Arial" pitchFamily="34" charset="-122"/>
                <a:cs typeface="Arial" pitchFamily="34" charset="-120"/>
              </a:rPr>
              <a:t>Medic / runner</a:t>
            </a:r>
            <a:endParaRPr lang="en-US" sz="1200" dirty="0"/>
          </a:p>
        </p:txBody>
      </p:sp>
      <p:sp>
        <p:nvSpPr>
          <p:cNvPr id="31" name="Text 24"/>
          <p:cNvSpPr/>
          <p:nvPr/>
        </p:nvSpPr>
        <p:spPr>
          <a:xfrm>
            <a:off x="9782251" y="3611880"/>
            <a:ext cx="1629461" cy="1508760"/>
          </a:xfrm>
          <a:prstGeom prst="rect">
            <a:avLst/>
          </a:prstGeom>
          <a:noFill/>
          <a:ln/>
        </p:spPr>
        <p:txBody>
          <a:bodyPr wrap="square" lIns="0" tIns="0" rIns="0" bIns="0" rtlCol="0" anchor="ctr"/>
          <a:lstStyle/>
          <a:p>
            <a:pPr indent="0" marL="0">
              <a:buNone/>
            </a:pPr>
            <a:r>
              <a:rPr lang="en-US" sz="950" dirty="0">
                <a:solidFill>
                  <a:srgbClr val="5A646C"/>
                </a:solidFill>
                <a:latin typeface="Arial" pitchFamily="34" charset="0"/>
                <a:ea typeface="Arial" pitchFamily="34" charset="-122"/>
                <a:cs typeface="Arial" pitchFamily="34" charset="-120"/>
              </a:rPr>
              <a:t>First aid, messages when radios fail, rehab support. Your flexible reserve.</a:t>
            </a:r>
            <a:endParaRPr lang="en-US" sz="950" dirty="0"/>
          </a:p>
        </p:txBody>
      </p:sp>
      <p:sp>
        <p:nvSpPr>
          <p:cNvPr id="32" name="Shape 25"/>
          <p:cNvSpPr/>
          <p:nvPr/>
        </p:nvSpPr>
        <p:spPr>
          <a:xfrm>
            <a:off x="594360" y="5532120"/>
            <a:ext cx="11000232" cy="713232"/>
          </a:xfrm>
          <a:prstGeom prst="roundRect">
            <a:avLst>
              <a:gd name="adj" fmla="val 10256"/>
            </a:avLst>
          </a:prstGeom>
          <a:solidFill>
            <a:srgbClr val="14181C"/>
          </a:solidFill>
          <a:ln/>
        </p:spPr>
      </p:sp>
      <p:sp>
        <p:nvSpPr>
          <p:cNvPr id="33" name="Text 26"/>
          <p:cNvSpPr/>
          <p:nvPr/>
        </p:nvSpPr>
        <p:spPr>
          <a:xfrm>
            <a:off x="822960" y="5532120"/>
            <a:ext cx="10543032" cy="713232"/>
          </a:xfrm>
          <a:prstGeom prst="rect">
            <a:avLst/>
          </a:prstGeom>
          <a:noFill/>
          <a:ln/>
        </p:spPr>
        <p:txBody>
          <a:bodyPr wrap="square" lIns="0" tIns="0" rIns="0" bIns="0" rtlCol="0" anchor="ctr"/>
          <a:lstStyle/>
          <a:p>
            <a:pPr indent="0" marL="0">
              <a:buNone/>
            </a:pPr>
            <a:r>
              <a:rPr lang="en-US" sz="1150" b="1" dirty="0">
                <a:solidFill>
                  <a:srgbClr val="F5A623"/>
                </a:solidFill>
                <a:latin typeface="Arial" pitchFamily="34" charset="0"/>
                <a:ea typeface="Arial" pitchFamily="34" charset="-122"/>
                <a:cs typeface="Arial" pitchFamily="34" charset="-120"/>
              </a:rPr>
              <a:t>Leader's rule:  </a:t>
            </a:r>
            <a:pPr indent="0" marL="0">
              <a:buNone/>
            </a:pPr>
            <a:r>
              <a:rPr lang="en-US" sz="1150" dirty="0">
                <a:solidFill>
                  <a:srgbClr val="FFFFFF"/>
                </a:solidFill>
                <a:latin typeface="Arial" pitchFamily="34" charset="0"/>
                <a:ea typeface="Arial" pitchFamily="34" charset="-122"/>
                <a:cs typeface="Arial" pitchFamily="34" charset="-120"/>
              </a:rPr>
              <a:t>you fill every role before the first line is charged — and you personally fill none of them. The leader who grabs a nozzle has just resigned from command.</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17</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1</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Command presence: look, sound, act</a:t>
            </a:r>
            <a:endParaRPr lang="en-US" sz="3000" dirty="0"/>
          </a:p>
        </p:txBody>
      </p:sp>
      <p:sp>
        <p:nvSpPr>
          <p:cNvPr id="6" name="Shape 4"/>
          <p:cNvSpPr/>
          <p:nvPr/>
        </p:nvSpPr>
        <p:spPr>
          <a:xfrm>
            <a:off x="594360" y="1691640"/>
            <a:ext cx="3453384" cy="3291840"/>
          </a:xfrm>
          <a:prstGeom prst="roundRect">
            <a:avLst>
              <a:gd name="adj" fmla="val 2778"/>
            </a:avLst>
          </a:prstGeom>
          <a:solidFill>
            <a:srgbClr val="F3F4F5"/>
          </a:solidFill>
          <a:ln/>
        </p:spPr>
      </p:sp>
      <p:sp>
        <p:nvSpPr>
          <p:cNvPr id="7" name="Shape 5"/>
          <p:cNvSpPr/>
          <p:nvPr/>
        </p:nvSpPr>
        <p:spPr>
          <a:xfrm>
            <a:off x="822960" y="1901952"/>
            <a:ext cx="548640" cy="548640"/>
          </a:xfrm>
          <a:prstGeom prst="ellipse">
            <a:avLst/>
          </a:prstGeom>
          <a:solidFill>
            <a:srgbClr val="E8491D"/>
          </a:solidFill>
          <a:ln/>
        </p:spPr>
      </p:sp>
      <p:pic>
        <p:nvPicPr>
          <p:cNvPr id="8" name="Image 0" descr="/tmp/claude-0/-home-user-My-Future-Idaes/0806094f-208a-506e-82b2-f78683d50c82/scratchpad/icons/FaEye_white.png">    </p:cNvPr>
          <p:cNvPicPr>
            <a:picLocks noChangeAspect="1"/>
          </p:cNvPicPr>
          <p:nvPr/>
        </p:nvPicPr>
        <p:blipFill>
          <a:blip r:embed="rId1"/>
          <a:stretch>
            <a:fillRect/>
          </a:stretch>
        </p:blipFill>
        <p:spPr>
          <a:xfrm>
            <a:off x="954634" y="2033626"/>
            <a:ext cx="285293" cy="285293"/>
          </a:xfrm>
          <a:prstGeom prst="rect">
            <a:avLst/>
          </a:prstGeom>
        </p:spPr>
      </p:pic>
      <p:sp>
        <p:nvSpPr>
          <p:cNvPr id="9" name="Text 6"/>
          <p:cNvSpPr/>
          <p:nvPr/>
        </p:nvSpPr>
        <p:spPr>
          <a:xfrm>
            <a:off x="1508760" y="1938528"/>
            <a:ext cx="2356104" cy="502920"/>
          </a:xfrm>
          <a:prstGeom prst="rect">
            <a:avLst/>
          </a:prstGeom>
          <a:noFill/>
          <a:ln/>
        </p:spPr>
        <p:txBody>
          <a:bodyPr wrap="square" lIns="0" tIns="0" rIns="0" bIns="0" rtlCol="0" anchor="ctr"/>
          <a:lstStyle/>
          <a:p>
            <a:pPr indent="0" marL="0">
              <a:buNone/>
            </a:pPr>
            <a:r>
              <a:rPr lang="en-US" sz="1450" b="1" dirty="0">
                <a:solidFill>
                  <a:srgbClr val="1A2027"/>
                </a:solidFill>
                <a:latin typeface="Arial" pitchFamily="34" charset="0"/>
                <a:ea typeface="Arial" pitchFamily="34" charset="-122"/>
                <a:cs typeface="Arial" pitchFamily="34" charset="-120"/>
              </a:rPr>
              <a:t>LOOK in command</a:t>
            </a:r>
            <a:endParaRPr lang="en-US" sz="1450" dirty="0"/>
          </a:p>
        </p:txBody>
      </p:sp>
      <p:sp>
        <p:nvSpPr>
          <p:cNvPr id="10" name="Text 7"/>
          <p:cNvSpPr/>
          <p:nvPr/>
        </p:nvSpPr>
        <p:spPr>
          <a:xfrm>
            <a:off x="822960" y="2651760"/>
            <a:ext cx="2996184" cy="2194560"/>
          </a:xfrm>
          <a:prstGeom prst="rect">
            <a:avLst/>
          </a:prstGeom>
          <a:noFill/>
          <a:ln/>
        </p:spPr>
        <p:txBody>
          <a:bodyPr wrap="square" rtlCol="0" anchor="ctr"/>
          <a:lstStyle/>
          <a:p>
            <a:pPr marL="177800" indent="-177800">
              <a:spcAft>
                <a:spcPts val="800"/>
              </a:spcAft>
              <a:buSzPct val="100000"/>
              <a:buChar char="•"/>
            </a:pPr>
            <a:r>
              <a:rPr lang="en-US" sz="1100" dirty="0">
                <a:solidFill>
                  <a:srgbClr val="5A646C"/>
                </a:solidFill>
                <a:latin typeface="Arial" pitchFamily="34" charset="0"/>
                <a:ea typeface="Arial" pitchFamily="34" charset="-122"/>
                <a:cs typeface="Arial" pitchFamily="34" charset="-120"/>
              </a:rPr>
              <a:t>Positioned where you can see the scene and be seen</a:t>
            </a:r>
            <a:endParaRPr lang="en-US" sz="1100" dirty="0"/>
          </a:p>
          <a:p>
            <a:pPr marL="177800" indent="-177800">
              <a:spcAft>
                <a:spcPts val="800"/>
              </a:spcAft>
              <a:buSzPct val="100000"/>
              <a:buChar char="•"/>
            </a:pPr>
            <a:r>
              <a:rPr lang="en-US" sz="1100" dirty="0">
                <a:solidFill>
                  <a:srgbClr val="5A646C"/>
                </a:solidFill>
                <a:latin typeface="Arial" pitchFamily="34" charset="0"/>
                <a:ea typeface="Arial" pitchFamily="34" charset="-122"/>
                <a:cs typeface="Arial" pitchFamily="34" charset="-120"/>
              </a:rPr>
              <a:t>Still, deliberate movement — no running, no flapping</a:t>
            </a:r>
            <a:endParaRPr lang="en-US" sz="1100" dirty="0"/>
          </a:p>
          <a:p>
            <a:pPr marL="177800" indent="-177800">
              <a:spcAft>
                <a:spcPts val="800"/>
              </a:spcAft>
              <a:buSzPct val="100000"/>
              <a:buChar char="•"/>
            </a:pPr>
            <a:r>
              <a:rPr lang="en-US" sz="1100" dirty="0">
                <a:solidFill>
                  <a:srgbClr val="5A646C"/>
                </a:solidFill>
                <a:latin typeface="Arial" pitchFamily="34" charset="0"/>
                <a:ea typeface="Arial" pitchFamily="34" charset="-122"/>
                <a:cs typeface="Arial" pitchFamily="34" charset="-120"/>
              </a:rPr>
              <a:t>PPE immaculate; you are the standard</a:t>
            </a:r>
            <a:endParaRPr lang="en-US" sz="1100" dirty="0"/>
          </a:p>
        </p:txBody>
      </p:sp>
      <p:sp>
        <p:nvSpPr>
          <p:cNvPr id="11" name="Shape 8"/>
          <p:cNvSpPr/>
          <p:nvPr/>
        </p:nvSpPr>
        <p:spPr>
          <a:xfrm>
            <a:off x="4367784" y="1691640"/>
            <a:ext cx="3453384" cy="3291840"/>
          </a:xfrm>
          <a:prstGeom prst="roundRect">
            <a:avLst>
              <a:gd name="adj" fmla="val 2778"/>
            </a:avLst>
          </a:prstGeom>
          <a:solidFill>
            <a:srgbClr val="14181C"/>
          </a:solidFill>
          <a:ln/>
        </p:spPr>
      </p:sp>
      <p:sp>
        <p:nvSpPr>
          <p:cNvPr id="12" name="Shape 9"/>
          <p:cNvSpPr/>
          <p:nvPr/>
        </p:nvSpPr>
        <p:spPr>
          <a:xfrm>
            <a:off x="4596384" y="1901952"/>
            <a:ext cx="548640" cy="548640"/>
          </a:xfrm>
          <a:prstGeom prst="ellipse">
            <a:avLst/>
          </a:prstGeom>
          <a:solidFill>
            <a:srgbClr val="E8491D"/>
          </a:solidFill>
          <a:ln/>
        </p:spPr>
      </p:sp>
      <p:pic>
        <p:nvPicPr>
          <p:cNvPr id="13" name="Image 1" descr="/tmp/claude-0/-home-user-My-Future-Idaes/0806094f-208a-506e-82b2-f78683d50c82/scratchpad/icons/FaMicrophone_white.png">    </p:cNvPr>
          <p:cNvPicPr>
            <a:picLocks noChangeAspect="1"/>
          </p:cNvPicPr>
          <p:nvPr/>
        </p:nvPicPr>
        <p:blipFill>
          <a:blip r:embed="rId2"/>
          <a:stretch>
            <a:fillRect/>
          </a:stretch>
        </p:blipFill>
        <p:spPr>
          <a:xfrm>
            <a:off x="4728058" y="2033626"/>
            <a:ext cx="285293" cy="285293"/>
          </a:xfrm>
          <a:prstGeom prst="rect">
            <a:avLst/>
          </a:prstGeom>
        </p:spPr>
      </p:pic>
      <p:sp>
        <p:nvSpPr>
          <p:cNvPr id="14" name="Text 10"/>
          <p:cNvSpPr/>
          <p:nvPr/>
        </p:nvSpPr>
        <p:spPr>
          <a:xfrm>
            <a:off x="5282184" y="1938528"/>
            <a:ext cx="2356104" cy="502920"/>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SOUND in command</a:t>
            </a:r>
            <a:endParaRPr lang="en-US" sz="1450" dirty="0"/>
          </a:p>
        </p:txBody>
      </p:sp>
      <p:sp>
        <p:nvSpPr>
          <p:cNvPr id="15" name="Text 11"/>
          <p:cNvSpPr/>
          <p:nvPr/>
        </p:nvSpPr>
        <p:spPr>
          <a:xfrm>
            <a:off x="4596384" y="2651760"/>
            <a:ext cx="2996184" cy="2194560"/>
          </a:xfrm>
          <a:prstGeom prst="rect">
            <a:avLst/>
          </a:prstGeom>
          <a:noFill/>
          <a:ln/>
        </p:spPr>
        <p:txBody>
          <a:bodyPr wrap="square" rtlCol="0" anchor="ctr"/>
          <a:lstStyle/>
          <a:p>
            <a:pPr marL="177800" indent="-177800">
              <a:spcAft>
                <a:spcPts val="800"/>
              </a:spcAft>
              <a:buSzPct val="100000"/>
              <a:buChar char="•"/>
            </a:pPr>
            <a:r>
              <a:rPr lang="en-US" sz="1100" dirty="0">
                <a:solidFill>
                  <a:srgbClr val="D9DEE2"/>
                </a:solidFill>
                <a:latin typeface="Arial" pitchFamily="34" charset="0"/>
                <a:ea typeface="Arial" pitchFamily="34" charset="-122"/>
                <a:cs typeface="Arial" pitchFamily="34" charset="-120"/>
              </a:rPr>
              <a:t>Lower, slower, louder than the chaos</a:t>
            </a:r>
            <a:endParaRPr lang="en-US" sz="1100" dirty="0"/>
          </a:p>
          <a:p>
            <a:pPr marL="177800" indent="-177800">
              <a:spcAft>
                <a:spcPts val="800"/>
              </a:spcAft>
              <a:buSzPct val="100000"/>
              <a:buChar char="•"/>
            </a:pPr>
            <a:r>
              <a:rPr lang="en-US" sz="1100" dirty="0">
                <a:solidFill>
                  <a:srgbClr val="D9DEE2"/>
                </a:solidFill>
                <a:latin typeface="Arial" pitchFamily="34" charset="0"/>
                <a:ea typeface="Arial" pitchFamily="34" charset="-122"/>
                <a:cs typeface="Arial" pitchFamily="34" charset="-120"/>
              </a:rPr>
              <a:t>Short imperative sentences: name → task → confirm</a:t>
            </a:r>
            <a:endParaRPr lang="en-US" sz="1100" dirty="0"/>
          </a:p>
          <a:p>
            <a:pPr marL="177800" indent="-177800">
              <a:spcAft>
                <a:spcPts val="800"/>
              </a:spcAft>
              <a:buSzPct val="100000"/>
              <a:buChar char="•"/>
            </a:pPr>
            <a:r>
              <a:rPr lang="en-US" sz="1100" dirty="0">
                <a:solidFill>
                  <a:srgbClr val="D9DEE2"/>
                </a:solidFill>
                <a:latin typeface="Arial" pitchFamily="34" charset="0"/>
                <a:ea typeface="Arial" pitchFamily="34" charset="-122"/>
                <a:cs typeface="Arial" pitchFamily="34" charset="-120"/>
              </a:rPr>
              <a:t>No shouting matches — repeat once, then act</a:t>
            </a:r>
            <a:endParaRPr lang="en-US" sz="1100" dirty="0"/>
          </a:p>
        </p:txBody>
      </p:sp>
      <p:sp>
        <p:nvSpPr>
          <p:cNvPr id="16" name="Shape 12"/>
          <p:cNvSpPr/>
          <p:nvPr/>
        </p:nvSpPr>
        <p:spPr>
          <a:xfrm>
            <a:off x="8141208" y="1691640"/>
            <a:ext cx="3453384" cy="3291840"/>
          </a:xfrm>
          <a:prstGeom prst="roundRect">
            <a:avLst>
              <a:gd name="adj" fmla="val 2778"/>
            </a:avLst>
          </a:prstGeom>
          <a:solidFill>
            <a:srgbClr val="F3F4F5"/>
          </a:solidFill>
          <a:ln/>
        </p:spPr>
      </p:sp>
      <p:sp>
        <p:nvSpPr>
          <p:cNvPr id="17" name="Shape 13"/>
          <p:cNvSpPr/>
          <p:nvPr/>
        </p:nvSpPr>
        <p:spPr>
          <a:xfrm>
            <a:off x="8369808" y="1901952"/>
            <a:ext cx="548640" cy="548640"/>
          </a:xfrm>
          <a:prstGeom prst="ellipse">
            <a:avLst/>
          </a:prstGeom>
          <a:solidFill>
            <a:srgbClr val="E8491D"/>
          </a:solidFill>
          <a:ln/>
        </p:spPr>
      </p:sp>
      <p:pic>
        <p:nvPicPr>
          <p:cNvPr id="18" name="Image 2" descr="/tmp/claude-0/-home-user-My-Future-Idaes/0806094f-208a-506e-82b2-f78683d50c82/scratchpad/icons/FaBolt_white.png">    </p:cNvPr>
          <p:cNvPicPr>
            <a:picLocks noChangeAspect="1"/>
          </p:cNvPicPr>
          <p:nvPr/>
        </p:nvPicPr>
        <p:blipFill>
          <a:blip r:embed="rId3"/>
          <a:stretch>
            <a:fillRect/>
          </a:stretch>
        </p:blipFill>
        <p:spPr>
          <a:xfrm>
            <a:off x="8501482" y="2033626"/>
            <a:ext cx="285293" cy="285293"/>
          </a:xfrm>
          <a:prstGeom prst="rect">
            <a:avLst/>
          </a:prstGeom>
        </p:spPr>
      </p:pic>
      <p:sp>
        <p:nvSpPr>
          <p:cNvPr id="19" name="Text 14"/>
          <p:cNvSpPr/>
          <p:nvPr/>
        </p:nvSpPr>
        <p:spPr>
          <a:xfrm>
            <a:off x="9055608" y="1938528"/>
            <a:ext cx="2356104" cy="502920"/>
          </a:xfrm>
          <a:prstGeom prst="rect">
            <a:avLst/>
          </a:prstGeom>
          <a:noFill/>
          <a:ln/>
        </p:spPr>
        <p:txBody>
          <a:bodyPr wrap="square" lIns="0" tIns="0" rIns="0" bIns="0" rtlCol="0" anchor="ctr"/>
          <a:lstStyle/>
          <a:p>
            <a:pPr indent="0" marL="0">
              <a:buNone/>
            </a:pPr>
            <a:r>
              <a:rPr lang="en-US" sz="1450" b="1" dirty="0">
                <a:solidFill>
                  <a:srgbClr val="1A2027"/>
                </a:solidFill>
                <a:latin typeface="Arial" pitchFamily="34" charset="0"/>
                <a:ea typeface="Arial" pitchFamily="34" charset="-122"/>
                <a:cs typeface="Arial" pitchFamily="34" charset="-120"/>
              </a:rPr>
              <a:t>ACT in command</a:t>
            </a:r>
            <a:endParaRPr lang="en-US" sz="1450" dirty="0"/>
          </a:p>
        </p:txBody>
      </p:sp>
      <p:sp>
        <p:nvSpPr>
          <p:cNvPr id="20" name="Text 15"/>
          <p:cNvSpPr/>
          <p:nvPr/>
        </p:nvSpPr>
        <p:spPr>
          <a:xfrm>
            <a:off x="8369808" y="2651760"/>
            <a:ext cx="2996184" cy="2194560"/>
          </a:xfrm>
          <a:prstGeom prst="rect">
            <a:avLst/>
          </a:prstGeom>
          <a:noFill/>
          <a:ln/>
        </p:spPr>
        <p:txBody>
          <a:bodyPr wrap="square" rtlCol="0" anchor="ctr"/>
          <a:lstStyle/>
          <a:p>
            <a:pPr marL="177800" indent="-177800">
              <a:spcAft>
                <a:spcPts val="800"/>
              </a:spcAft>
              <a:buSzPct val="100000"/>
              <a:buChar char="•"/>
            </a:pPr>
            <a:r>
              <a:rPr lang="en-US" sz="1100" dirty="0">
                <a:solidFill>
                  <a:srgbClr val="5A646C"/>
                </a:solidFill>
                <a:latin typeface="Arial" pitchFamily="34" charset="0"/>
                <a:ea typeface="Arial" pitchFamily="34" charset="-122"/>
                <a:cs typeface="Arial" pitchFamily="34" charset="-120"/>
              </a:rPr>
              <a:t>Decide visibly; broadcast the plan early</a:t>
            </a:r>
            <a:endParaRPr lang="en-US" sz="1100" dirty="0"/>
          </a:p>
          <a:p>
            <a:pPr marL="177800" indent="-177800">
              <a:spcAft>
                <a:spcPts val="800"/>
              </a:spcAft>
              <a:buSzPct val="100000"/>
              <a:buChar char="•"/>
            </a:pPr>
            <a:r>
              <a:rPr lang="en-US" sz="1100" dirty="0">
                <a:solidFill>
                  <a:srgbClr val="5A646C"/>
                </a:solidFill>
                <a:latin typeface="Arial" pitchFamily="34" charset="0"/>
                <a:ea typeface="Arial" pitchFamily="34" charset="-122"/>
                <a:cs typeface="Arial" pitchFamily="34" charset="-120"/>
              </a:rPr>
              <a:t>Give tasks, not lectures — one task per person</a:t>
            </a:r>
            <a:endParaRPr lang="en-US" sz="1100" dirty="0"/>
          </a:p>
          <a:p>
            <a:pPr marL="177800" indent="-177800">
              <a:spcAft>
                <a:spcPts val="800"/>
              </a:spcAft>
              <a:buSzPct val="100000"/>
              <a:buChar char="•"/>
            </a:pPr>
            <a:r>
              <a:rPr lang="en-US" sz="1100" dirty="0">
                <a:solidFill>
                  <a:srgbClr val="5A646C"/>
                </a:solidFill>
                <a:latin typeface="Arial" pitchFamily="34" charset="0"/>
                <a:ea typeface="Arial" pitchFamily="34" charset="-122"/>
                <a:cs typeface="Arial" pitchFamily="34" charset="-120"/>
              </a:rPr>
              <a:t>Correct unsafe behavior instantly, every time</a:t>
            </a:r>
            <a:endParaRPr lang="en-US" sz="1100" dirty="0"/>
          </a:p>
        </p:txBody>
      </p:sp>
      <p:sp>
        <p:nvSpPr>
          <p:cNvPr id="21" name="Shape 16"/>
          <p:cNvSpPr/>
          <p:nvPr/>
        </p:nvSpPr>
        <p:spPr>
          <a:xfrm>
            <a:off x="594360" y="5257800"/>
            <a:ext cx="11000232" cy="960120"/>
          </a:xfrm>
          <a:prstGeom prst="roundRect">
            <a:avLst>
              <a:gd name="adj" fmla="val 7619"/>
            </a:avLst>
          </a:prstGeom>
          <a:solidFill>
            <a:srgbClr val="F3F4F5"/>
          </a:solidFill>
          <a:ln/>
        </p:spPr>
      </p:sp>
      <p:sp>
        <p:nvSpPr>
          <p:cNvPr id="22" name="Text 17"/>
          <p:cNvSpPr/>
          <p:nvPr/>
        </p:nvSpPr>
        <p:spPr>
          <a:xfrm>
            <a:off x="868680" y="5257800"/>
            <a:ext cx="10451592" cy="960120"/>
          </a:xfrm>
          <a:prstGeom prst="rect">
            <a:avLst/>
          </a:prstGeom>
          <a:noFill/>
          <a:ln/>
        </p:spPr>
        <p:txBody>
          <a:bodyPr wrap="square" lIns="0" tIns="0" rIns="0" bIns="0" rtlCol="0" anchor="ctr"/>
          <a:lstStyle/>
          <a:p>
            <a:pPr algn="ctr" indent="0" marL="0">
              <a:buNone/>
            </a:pPr>
            <a:r>
              <a:rPr lang="en-US" sz="1500" b="1" i="1" dirty="0">
                <a:solidFill>
                  <a:srgbClr val="C13415"/>
                </a:solidFill>
                <a:latin typeface="Arial" pitchFamily="34" charset="0"/>
                <a:ea typeface="Arial" pitchFamily="34" charset="-122"/>
                <a:cs typeface="Arial" pitchFamily="34" charset="-120"/>
              </a:rPr>
              <a:t>“The team does not follow the plan. The team follows the calmest person who has one.”</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18</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1</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Leadership styles — and when to switch</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94360" y="1737360"/>
          <a:ext cx="11000232" cy="914400"/>
        </p:xfrm>
        <a:graphic>
          <a:graphicData uri="http://schemas.openxmlformats.org/drawingml/2006/table">
            <a:tbl>
              <a:tblPr/>
              <a:tblGrid>
                <a:gridCol w="2103120"/>
                <a:gridCol w="3291840"/>
                <a:gridCol w="3502152"/>
                <a:gridCol w="2103120"/>
              </a:tblGrid>
              <a:tr h="566928">
                <a:tc>
                  <a:txBody>
                    <a:bodyPr/>
                    <a:lstStyle/>
                    <a:p>
                      <a:pPr indent="0" marL="0">
                        <a:buNone/>
                      </a:pPr>
                      <a:r>
                        <a:rPr lang="en-US" sz="1100" b="1" dirty="0">
                          <a:solidFill>
                            <a:srgbClr val="FFFFFF"/>
                          </a:solidFill>
                          <a:latin typeface="Arial" pitchFamily="34" charset="0"/>
                          <a:ea typeface="Arial" pitchFamily="34" charset="-122"/>
                          <a:cs typeface="Arial" pitchFamily="34" charset="-120"/>
                        </a:rPr>
                        <a:t>STYLE</a:t>
                      </a:r>
                      <a:endParaRPr lang="en-US" sz="1100" dirty="0">
                        <a:latin typeface="Arial" charset="0"/>
                        <a:ea typeface="Arial" charset="0"/>
                        <a:cs typeface="Arial" charset="0"/>
                      </a:endParaRPr>
                    </a:p>
                  </a:txBody>
                  <a:tcPr marL="73152" marR="73152" marT="73152" marB="73152"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14181C"/>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HOW IT WORKS</a:t>
                      </a:r>
                      <a:endParaRPr lang="en-US" sz="1100" dirty="0">
                        <a:latin typeface="Arial" charset="0"/>
                        <a:ea typeface="Arial" charset="0"/>
                        <a:cs typeface="Arial" charset="0"/>
                      </a:endParaRPr>
                    </a:p>
                  </a:txBody>
                  <a:tcPr marL="73152" marR="73152" marT="73152" marB="73152"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14181C"/>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USE WHEN</a:t>
                      </a:r>
                      <a:endParaRPr lang="en-US" sz="1100" dirty="0">
                        <a:latin typeface="Arial" charset="0"/>
                        <a:ea typeface="Arial" charset="0"/>
                        <a:cs typeface="Arial" charset="0"/>
                      </a:endParaRPr>
                    </a:p>
                  </a:txBody>
                  <a:tcPr marL="73152" marR="73152" marT="73152" marB="73152"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14181C"/>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RULE OF THUMB</a:t>
                      </a:r>
                      <a:endParaRPr lang="en-US" sz="1100" dirty="0">
                        <a:latin typeface="Arial" charset="0"/>
                        <a:ea typeface="Arial" charset="0"/>
                        <a:cs typeface="Arial" charset="0"/>
                      </a:endParaRPr>
                    </a:p>
                  </a:txBody>
                  <a:tcPr marL="73152" marR="73152" marT="73152" marB="73152"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14181C"/>
                    </a:solidFill>
                  </a:tcPr>
                </a:tc>
              </a:tr>
              <a:tr h="566928">
                <a:tc>
                  <a:txBody>
                    <a:bodyPr/>
                    <a:lstStyle/>
                    <a:p>
                      <a:pPr indent="0" marL="0">
                        <a:buNone/>
                      </a:pPr>
                      <a:r>
                        <a:rPr lang="en-US" sz="1150" b="1" dirty="0">
                          <a:solidFill>
                            <a:srgbClr val="E8491D"/>
                          </a:solidFill>
                          <a:latin typeface="Arial" pitchFamily="34" charset="0"/>
                          <a:ea typeface="Arial" pitchFamily="34" charset="-122"/>
                          <a:cs typeface="Arial" pitchFamily="34" charset="-120"/>
                        </a:rPr>
                        <a:t>DIRECTIVE</a:t>
                      </a:r>
                      <a:endParaRPr lang="en-US" sz="1150" dirty="0">
                        <a:latin typeface="Arial" charset="0"/>
                        <a:ea typeface="Arial" charset="0"/>
                        <a:cs typeface="Arial" charset="0"/>
                      </a:endParaRPr>
                    </a:p>
                  </a:txBody>
                  <a:tcPr marL="73152" marR="73152" marT="73152" marB="73152"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150" dirty="0">
                          <a:solidFill>
                            <a:srgbClr val="1A2027"/>
                          </a:solidFill>
                          <a:latin typeface="Arial" pitchFamily="34" charset="0"/>
                          <a:ea typeface="Arial" pitchFamily="34" charset="-122"/>
                          <a:cs typeface="Arial" pitchFamily="34" charset="-120"/>
                        </a:rPr>
                        <a:t>Leader decides, team executes</a:t>
                      </a:r>
                      <a:endParaRPr lang="en-US" sz="1150" dirty="0">
                        <a:latin typeface="Arial" charset="0"/>
                        <a:ea typeface="Arial" charset="0"/>
                        <a:cs typeface="Arial" charset="0"/>
                      </a:endParaRPr>
                    </a:p>
                  </a:txBody>
                  <a:tcPr marL="73152" marR="73152" marT="73152" marB="73152"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150" dirty="0">
                          <a:solidFill>
                            <a:srgbClr val="1A2027"/>
                          </a:solidFill>
                          <a:latin typeface="Arial" pitchFamily="34" charset="0"/>
                          <a:ea typeface="Arial" pitchFamily="34" charset="-122"/>
                          <a:cs typeface="Arial" pitchFamily="34" charset="-120"/>
                        </a:rPr>
                        <a:t>Active fire, casualties, seconds matter</a:t>
                      </a:r>
                      <a:endParaRPr lang="en-US" sz="1150" dirty="0">
                        <a:latin typeface="Arial" charset="0"/>
                        <a:ea typeface="Arial" charset="0"/>
                        <a:cs typeface="Arial" charset="0"/>
                      </a:endParaRPr>
                    </a:p>
                  </a:txBody>
                  <a:tcPr marL="73152" marR="73152" marT="73152" marB="73152"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150" dirty="0">
                          <a:solidFill>
                            <a:srgbClr val="1A2027"/>
                          </a:solidFill>
                          <a:latin typeface="Arial" pitchFamily="34" charset="0"/>
                          <a:ea typeface="Arial" pitchFamily="34" charset="-122"/>
                          <a:cs typeface="Arial" pitchFamily="34" charset="-120"/>
                        </a:rPr>
                        <a:t>Default under fire</a:t>
                      </a:r>
                      <a:endParaRPr lang="en-US" sz="1150" dirty="0">
                        <a:latin typeface="Arial" charset="0"/>
                        <a:ea typeface="Arial" charset="0"/>
                        <a:cs typeface="Arial" charset="0"/>
                      </a:endParaRPr>
                    </a:p>
                  </a:txBody>
                  <a:tcPr marL="73152" marR="73152" marT="73152" marB="73152"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E8491D"/>
                          </a:solidFill>
                          <a:latin typeface="Arial" pitchFamily="34" charset="0"/>
                          <a:ea typeface="Arial" pitchFamily="34" charset="-122"/>
                          <a:cs typeface="Arial" pitchFamily="34" charset="-120"/>
                        </a:rPr>
                        <a:t>CONSULTATIVE</a:t>
                      </a:r>
                      <a:endParaRPr lang="en-US" sz="1150" dirty="0">
                        <a:latin typeface="Arial" charset="0"/>
                        <a:ea typeface="Arial" charset="0"/>
                        <a:cs typeface="Arial" charset="0"/>
                      </a:endParaRPr>
                    </a:p>
                  </a:txBody>
                  <a:tcPr marL="73152" marR="73152" marT="73152" marB="73152"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indent="0" marL="0">
                        <a:buNone/>
                      </a:pPr>
                      <a:r>
                        <a:rPr lang="en-US" sz="1150" dirty="0">
                          <a:solidFill>
                            <a:srgbClr val="1A2027"/>
                          </a:solidFill>
                          <a:latin typeface="Arial" pitchFamily="34" charset="0"/>
                          <a:ea typeface="Arial" pitchFamily="34" charset="-122"/>
                          <a:cs typeface="Arial" pitchFamily="34" charset="-120"/>
                        </a:rPr>
                        <a:t>Leader decides after quick input</a:t>
                      </a:r>
                      <a:endParaRPr lang="en-US" sz="1150" dirty="0">
                        <a:latin typeface="Arial" charset="0"/>
                        <a:ea typeface="Arial" charset="0"/>
                        <a:cs typeface="Arial" charset="0"/>
                      </a:endParaRPr>
                    </a:p>
                  </a:txBody>
                  <a:tcPr marL="73152" marR="73152" marT="73152" marB="73152"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indent="0" marL="0">
                        <a:buNone/>
                      </a:pPr>
                      <a:r>
                        <a:rPr lang="en-US" sz="1150" dirty="0">
                          <a:solidFill>
                            <a:srgbClr val="1A2027"/>
                          </a:solidFill>
                          <a:latin typeface="Arial" pitchFamily="34" charset="0"/>
                          <a:ea typeface="Arial" pitchFamily="34" charset="-122"/>
                          <a:cs typeface="Arial" pitchFamily="34" charset="-120"/>
                        </a:rPr>
                        <a:t>Complex scene, specialist knowledge on the team</a:t>
                      </a:r>
                      <a:endParaRPr lang="en-US" sz="1150" dirty="0">
                        <a:latin typeface="Arial" charset="0"/>
                        <a:ea typeface="Arial" charset="0"/>
                        <a:cs typeface="Arial" charset="0"/>
                      </a:endParaRPr>
                    </a:p>
                  </a:txBody>
                  <a:tcPr marL="73152" marR="73152" marT="73152" marB="73152"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indent="0" marL="0">
                        <a:buNone/>
                      </a:pPr>
                      <a:r>
                        <a:rPr lang="en-US" sz="1150" dirty="0">
                          <a:solidFill>
                            <a:srgbClr val="1A2027"/>
                          </a:solidFill>
                          <a:latin typeface="Arial" pitchFamily="34" charset="0"/>
                          <a:ea typeface="Arial" pitchFamily="34" charset="-122"/>
                          <a:cs typeface="Arial" pitchFamily="34" charset="-120"/>
                        </a:rPr>
                        <a:t>When minutes allow</a:t>
                      </a:r>
                      <a:endParaRPr lang="en-US" sz="1150" dirty="0">
                        <a:latin typeface="Arial" charset="0"/>
                        <a:ea typeface="Arial" charset="0"/>
                        <a:cs typeface="Arial" charset="0"/>
                      </a:endParaRPr>
                    </a:p>
                  </a:txBody>
                  <a:tcPr marL="73152" marR="73152" marT="73152" marB="73152"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r>
              <a:tr h="566928">
                <a:tc>
                  <a:txBody>
                    <a:bodyPr/>
                    <a:lstStyle/>
                    <a:p>
                      <a:pPr indent="0" marL="0">
                        <a:buNone/>
                      </a:pPr>
                      <a:r>
                        <a:rPr lang="en-US" sz="1150" b="1" dirty="0">
                          <a:solidFill>
                            <a:srgbClr val="E8491D"/>
                          </a:solidFill>
                          <a:latin typeface="Arial" pitchFamily="34" charset="0"/>
                          <a:ea typeface="Arial" pitchFamily="34" charset="-122"/>
                          <a:cs typeface="Arial" pitchFamily="34" charset="-120"/>
                        </a:rPr>
                        <a:t>DELEGATIVE</a:t>
                      </a:r>
                      <a:endParaRPr lang="en-US" sz="1150" dirty="0">
                        <a:latin typeface="Arial" charset="0"/>
                        <a:ea typeface="Arial" charset="0"/>
                        <a:cs typeface="Arial" charset="0"/>
                      </a:endParaRPr>
                    </a:p>
                  </a:txBody>
                  <a:tcPr marL="73152" marR="73152" marT="73152" marB="73152"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150" dirty="0">
                          <a:solidFill>
                            <a:srgbClr val="1A2027"/>
                          </a:solidFill>
                          <a:latin typeface="Arial" pitchFamily="34" charset="0"/>
                          <a:ea typeface="Arial" pitchFamily="34" charset="-122"/>
                          <a:cs typeface="Arial" pitchFamily="34" charset="-120"/>
                        </a:rPr>
                        <a:t>Leader assigns outcomes, not steps</a:t>
                      </a:r>
                      <a:endParaRPr lang="en-US" sz="1150" dirty="0">
                        <a:latin typeface="Arial" charset="0"/>
                        <a:ea typeface="Arial" charset="0"/>
                        <a:cs typeface="Arial" charset="0"/>
                      </a:endParaRPr>
                    </a:p>
                  </a:txBody>
                  <a:tcPr marL="73152" marR="73152" marT="73152" marB="73152"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150" dirty="0">
                          <a:solidFill>
                            <a:srgbClr val="1A2027"/>
                          </a:solidFill>
                          <a:latin typeface="Arial" pitchFamily="34" charset="0"/>
                          <a:ea typeface="Arial" pitchFamily="34" charset="-122"/>
                          <a:cs typeface="Arial" pitchFamily="34" charset="-120"/>
                        </a:rPr>
                        <a:t>Trained sub-teams, parallel tasks, long incidents</a:t>
                      </a:r>
                      <a:endParaRPr lang="en-US" sz="1150" dirty="0">
                        <a:latin typeface="Arial" charset="0"/>
                        <a:ea typeface="Arial" charset="0"/>
                        <a:cs typeface="Arial" charset="0"/>
                      </a:endParaRPr>
                    </a:p>
                  </a:txBody>
                  <a:tcPr marL="73152" marR="73152" marT="73152" marB="73152"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150" dirty="0">
                          <a:solidFill>
                            <a:srgbClr val="1A2027"/>
                          </a:solidFill>
                          <a:latin typeface="Arial" pitchFamily="34" charset="0"/>
                          <a:ea typeface="Arial" pitchFamily="34" charset="-122"/>
                          <a:cs typeface="Arial" pitchFamily="34" charset="-120"/>
                        </a:rPr>
                        <a:t>For endurance phases</a:t>
                      </a:r>
                      <a:endParaRPr lang="en-US" sz="1150" dirty="0">
                        <a:latin typeface="Arial" charset="0"/>
                        <a:ea typeface="Arial" charset="0"/>
                        <a:cs typeface="Arial" charset="0"/>
                      </a:endParaRPr>
                    </a:p>
                  </a:txBody>
                  <a:tcPr marL="73152" marR="73152" marT="73152" marB="73152"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r>
            </a:tbl>
          </a:graphicData>
        </a:graphic>
      </p:graphicFrame>
      <p:sp>
        <p:nvSpPr>
          <p:cNvPr id="7" name="Shape 4"/>
          <p:cNvSpPr/>
          <p:nvPr/>
        </p:nvSpPr>
        <p:spPr>
          <a:xfrm>
            <a:off x="594360" y="4480560"/>
            <a:ext cx="11000232" cy="1554480"/>
          </a:xfrm>
          <a:prstGeom prst="roundRect">
            <a:avLst>
              <a:gd name="adj" fmla="val 5882"/>
            </a:avLst>
          </a:prstGeom>
          <a:solidFill>
            <a:srgbClr val="14181C"/>
          </a:solidFill>
          <a:ln/>
        </p:spPr>
      </p:sp>
      <p:sp>
        <p:nvSpPr>
          <p:cNvPr id="8" name="Shape 5"/>
          <p:cNvSpPr/>
          <p:nvPr/>
        </p:nvSpPr>
        <p:spPr>
          <a:xfrm>
            <a:off x="868680" y="4846320"/>
            <a:ext cx="640080" cy="640080"/>
          </a:xfrm>
          <a:prstGeom prst="ellipse">
            <a:avLst/>
          </a:prstGeom>
          <a:solidFill>
            <a:srgbClr val="F5A623"/>
          </a:solidFill>
          <a:ln/>
        </p:spPr>
      </p:sp>
      <p:pic>
        <p:nvPicPr>
          <p:cNvPr id="9" name="Image 0" descr="/tmp/claude-0/-home-user-My-Future-Idaes/0806094f-208a-506e-82b2-f78683d50c82/scratchpad/icons/FaExclamationTriangle_ink.png">    </p:cNvPr>
          <p:cNvPicPr>
            <a:picLocks noChangeAspect="1"/>
          </p:cNvPicPr>
          <p:nvPr/>
        </p:nvPicPr>
        <p:blipFill>
          <a:blip r:embed="rId1"/>
          <a:stretch>
            <a:fillRect/>
          </a:stretch>
        </p:blipFill>
        <p:spPr>
          <a:xfrm>
            <a:off x="1022299" y="4999939"/>
            <a:ext cx="332842" cy="332842"/>
          </a:xfrm>
          <a:prstGeom prst="rect">
            <a:avLst/>
          </a:prstGeom>
        </p:spPr>
      </p:pic>
      <p:sp>
        <p:nvSpPr>
          <p:cNvPr id="10" name="Text 6"/>
          <p:cNvSpPr/>
          <p:nvPr/>
        </p:nvSpPr>
        <p:spPr>
          <a:xfrm>
            <a:off x="1737360" y="4617720"/>
            <a:ext cx="9537192" cy="1280160"/>
          </a:xfrm>
          <a:prstGeom prst="rect">
            <a:avLst/>
          </a:prstGeom>
          <a:noFill/>
          <a:ln/>
        </p:spPr>
        <p:txBody>
          <a:bodyPr wrap="square" lIns="0" tIns="0" rIns="0" bIns="0" rtlCol="0" anchor="ctr"/>
          <a:lstStyle/>
          <a:p>
            <a:pPr indent="0" marL="0">
              <a:buNone/>
            </a:pPr>
            <a:r>
              <a:rPr lang="en-US" sz="1500" b="1" dirty="0">
                <a:solidFill>
                  <a:srgbClr val="F5A623"/>
                </a:solidFill>
                <a:latin typeface="Arial" pitchFamily="34" charset="0"/>
                <a:ea typeface="Arial" pitchFamily="34" charset="-122"/>
                <a:cs typeface="Arial" pitchFamily="34" charset="-120"/>
              </a:rPr>
              <a:t>The emergency default is DIRECTIVE.
</a:t>
            </a:r>
            <a:pPr indent="0" marL="0">
              <a:buNone/>
            </a:pPr>
            <a:r>
              <a:rPr lang="en-US" sz="1200" dirty="0">
                <a:solidFill>
                  <a:srgbClr val="D9DEE2"/>
                </a:solidFill>
                <a:latin typeface="Arial" pitchFamily="34" charset="0"/>
                <a:ea typeface="Arial" pitchFamily="34" charset="-122"/>
                <a:cs typeface="Arial" pitchFamily="34" charset="-120"/>
              </a:rPr>
              <a:t>Consultation is a luxury of time. When the scene is dynamic, decide, direct, and adjust. You can apologize for tone later — you cannot apologize for hesitation.</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19</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1</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Authority, accountability, duty of care</a:t>
            </a:r>
            <a:endParaRPr lang="en-US" sz="3000" dirty="0"/>
          </a:p>
        </p:txBody>
      </p:sp>
      <p:sp>
        <p:nvSpPr>
          <p:cNvPr id="6" name="Shape 4"/>
          <p:cNvSpPr/>
          <p:nvPr/>
        </p:nvSpPr>
        <p:spPr>
          <a:xfrm>
            <a:off x="594360" y="1783080"/>
            <a:ext cx="3453384" cy="3063240"/>
          </a:xfrm>
          <a:prstGeom prst="roundRect">
            <a:avLst>
              <a:gd name="adj" fmla="val 2985"/>
            </a:avLst>
          </a:prstGeom>
          <a:solidFill>
            <a:srgbClr val="F3F4F5"/>
          </a:solidFill>
          <a:ln/>
        </p:spPr>
      </p:sp>
      <p:sp>
        <p:nvSpPr>
          <p:cNvPr id="7" name="Shape 5"/>
          <p:cNvSpPr/>
          <p:nvPr/>
        </p:nvSpPr>
        <p:spPr>
          <a:xfrm>
            <a:off x="822960" y="2011680"/>
            <a:ext cx="548640" cy="548640"/>
          </a:xfrm>
          <a:prstGeom prst="ellipse">
            <a:avLst/>
          </a:prstGeom>
          <a:solidFill>
            <a:srgbClr val="E8491D"/>
          </a:solidFill>
          <a:ln/>
        </p:spPr>
      </p:sp>
      <p:pic>
        <p:nvPicPr>
          <p:cNvPr id="8" name="Image 0" descr="/tmp/claude-0/-home-user-My-Future-Idaes/0806094f-208a-506e-82b2-f78683d50c82/scratchpad/icons/FaBullhorn_white.png">    </p:cNvPr>
          <p:cNvPicPr>
            <a:picLocks noChangeAspect="1"/>
          </p:cNvPicPr>
          <p:nvPr/>
        </p:nvPicPr>
        <p:blipFill>
          <a:blip r:embed="rId1"/>
          <a:stretch>
            <a:fillRect/>
          </a:stretch>
        </p:blipFill>
        <p:spPr>
          <a:xfrm>
            <a:off x="954634" y="2143354"/>
            <a:ext cx="285293" cy="285293"/>
          </a:xfrm>
          <a:prstGeom prst="rect">
            <a:avLst/>
          </a:prstGeom>
        </p:spPr>
      </p:pic>
      <p:sp>
        <p:nvSpPr>
          <p:cNvPr id="9" name="Text 6"/>
          <p:cNvSpPr/>
          <p:nvPr/>
        </p:nvSpPr>
        <p:spPr>
          <a:xfrm>
            <a:off x="822960" y="2697480"/>
            <a:ext cx="2996184" cy="411480"/>
          </a:xfrm>
          <a:prstGeom prst="rect">
            <a:avLst/>
          </a:prstGeom>
          <a:noFill/>
          <a:ln/>
        </p:spPr>
        <p:txBody>
          <a:bodyPr wrap="square" lIns="0" tIns="0" rIns="0" bIns="0" rtlCol="0" anchor="ctr"/>
          <a:lstStyle/>
          <a:p>
            <a:pPr indent="0" marL="0">
              <a:buNone/>
            </a:pPr>
            <a:r>
              <a:rPr lang="en-US" sz="1450" b="1" dirty="0">
                <a:solidFill>
                  <a:srgbClr val="1A2027"/>
                </a:solidFill>
                <a:latin typeface="Arial" pitchFamily="34" charset="0"/>
                <a:ea typeface="Arial" pitchFamily="34" charset="-122"/>
                <a:cs typeface="Arial" pitchFamily="34" charset="-120"/>
              </a:rPr>
              <a:t>Your authority</a:t>
            </a:r>
            <a:endParaRPr lang="en-US" sz="1450" dirty="0"/>
          </a:p>
        </p:txBody>
      </p:sp>
      <p:sp>
        <p:nvSpPr>
          <p:cNvPr id="10" name="Text 7"/>
          <p:cNvSpPr/>
          <p:nvPr/>
        </p:nvSpPr>
        <p:spPr>
          <a:xfrm>
            <a:off x="822960" y="3154680"/>
            <a:ext cx="2996184" cy="1600200"/>
          </a:xfrm>
          <a:prstGeom prst="rect">
            <a:avLst/>
          </a:prstGeom>
          <a:noFill/>
          <a:ln/>
        </p:spPr>
        <p:txBody>
          <a:bodyPr wrap="square" lIns="0" tIns="0" rIns="0" bIns="0" rtlCol="0" anchor="ctr"/>
          <a:lstStyle/>
          <a:p>
            <a:pPr indent="0" marL="0">
              <a:buNone/>
            </a:pPr>
            <a:r>
              <a:rPr lang="en-US" sz="1100" dirty="0">
                <a:solidFill>
                  <a:srgbClr val="5A646C"/>
                </a:solidFill>
                <a:latin typeface="Arial" pitchFamily="34" charset="0"/>
                <a:ea typeface="Arial" pitchFamily="34" charset="-122"/>
                <a:cs typeface="Arial" pitchFamily="34" charset="-120"/>
              </a:rPr>
              <a:t>Delegated by the rig's emergency response plan: during a fire response you direct the fire team — and anyone on scene — until relieved. Use it fully; it exists for the worst hour.</a:t>
            </a:r>
            <a:endParaRPr lang="en-US" sz="1100" dirty="0"/>
          </a:p>
        </p:txBody>
      </p:sp>
      <p:sp>
        <p:nvSpPr>
          <p:cNvPr id="11" name="Shape 8"/>
          <p:cNvSpPr/>
          <p:nvPr/>
        </p:nvSpPr>
        <p:spPr>
          <a:xfrm>
            <a:off x="4367784" y="1783080"/>
            <a:ext cx="3453384" cy="3063240"/>
          </a:xfrm>
          <a:prstGeom prst="roundRect">
            <a:avLst>
              <a:gd name="adj" fmla="val 2985"/>
            </a:avLst>
          </a:prstGeom>
          <a:solidFill>
            <a:srgbClr val="F3F4F5"/>
          </a:solidFill>
          <a:ln/>
        </p:spPr>
      </p:sp>
      <p:sp>
        <p:nvSpPr>
          <p:cNvPr id="12" name="Shape 9"/>
          <p:cNvSpPr/>
          <p:nvPr/>
        </p:nvSpPr>
        <p:spPr>
          <a:xfrm>
            <a:off x="4596384" y="2011680"/>
            <a:ext cx="548640" cy="548640"/>
          </a:xfrm>
          <a:prstGeom prst="ellipse">
            <a:avLst/>
          </a:prstGeom>
          <a:solidFill>
            <a:srgbClr val="E8491D"/>
          </a:solidFill>
          <a:ln/>
        </p:spPr>
      </p:sp>
      <p:pic>
        <p:nvPicPr>
          <p:cNvPr id="13" name="Image 1" descr="/tmp/claude-0/-home-user-My-Future-Idaes/0806094f-208a-506e-82b2-f78683d50c82/scratchpad/icons/FaBalanceScale_white.png">    </p:cNvPr>
          <p:cNvPicPr>
            <a:picLocks noChangeAspect="1"/>
          </p:cNvPicPr>
          <p:nvPr/>
        </p:nvPicPr>
        <p:blipFill>
          <a:blip r:embed="rId2"/>
          <a:stretch>
            <a:fillRect/>
          </a:stretch>
        </p:blipFill>
        <p:spPr>
          <a:xfrm>
            <a:off x="4728058" y="2143354"/>
            <a:ext cx="285293" cy="285293"/>
          </a:xfrm>
          <a:prstGeom prst="rect">
            <a:avLst/>
          </a:prstGeom>
        </p:spPr>
      </p:pic>
      <p:sp>
        <p:nvSpPr>
          <p:cNvPr id="14" name="Text 10"/>
          <p:cNvSpPr/>
          <p:nvPr/>
        </p:nvSpPr>
        <p:spPr>
          <a:xfrm>
            <a:off x="4596384" y="2697480"/>
            <a:ext cx="2996184" cy="411480"/>
          </a:xfrm>
          <a:prstGeom prst="rect">
            <a:avLst/>
          </a:prstGeom>
          <a:noFill/>
          <a:ln/>
        </p:spPr>
        <p:txBody>
          <a:bodyPr wrap="square" lIns="0" tIns="0" rIns="0" bIns="0" rtlCol="0" anchor="ctr"/>
          <a:lstStyle/>
          <a:p>
            <a:pPr indent="0" marL="0">
              <a:buNone/>
            </a:pPr>
            <a:r>
              <a:rPr lang="en-US" sz="1450" b="1" dirty="0">
                <a:solidFill>
                  <a:srgbClr val="1A2027"/>
                </a:solidFill>
                <a:latin typeface="Arial" pitchFamily="34" charset="0"/>
                <a:ea typeface="Arial" pitchFamily="34" charset="-122"/>
                <a:cs typeface="Arial" pitchFamily="34" charset="-120"/>
              </a:rPr>
              <a:t>Your accountability</a:t>
            </a:r>
            <a:endParaRPr lang="en-US" sz="1450" dirty="0"/>
          </a:p>
        </p:txBody>
      </p:sp>
      <p:sp>
        <p:nvSpPr>
          <p:cNvPr id="15" name="Text 11"/>
          <p:cNvSpPr/>
          <p:nvPr/>
        </p:nvSpPr>
        <p:spPr>
          <a:xfrm>
            <a:off x="4596384" y="3154680"/>
            <a:ext cx="2996184" cy="1600200"/>
          </a:xfrm>
          <a:prstGeom prst="rect">
            <a:avLst/>
          </a:prstGeom>
          <a:noFill/>
          <a:ln/>
        </p:spPr>
        <p:txBody>
          <a:bodyPr wrap="square" lIns="0" tIns="0" rIns="0" bIns="0" rtlCol="0" anchor="ctr"/>
          <a:lstStyle/>
          <a:p>
            <a:pPr indent="0" marL="0">
              <a:buNone/>
            </a:pPr>
            <a:r>
              <a:rPr lang="en-US" sz="1100" dirty="0">
                <a:solidFill>
                  <a:srgbClr val="5A646C"/>
                </a:solidFill>
                <a:latin typeface="Arial" pitchFamily="34" charset="0"/>
                <a:ea typeface="Arial" pitchFamily="34" charset="-122"/>
                <a:cs typeface="Arial" pitchFamily="34" charset="-120"/>
              </a:rPr>
              <a:t>You answer for the outcome of your orders AND for the orders you failed to give. 'Nobody told me' is not available at your rank.</a:t>
            </a:r>
            <a:endParaRPr lang="en-US" sz="1100" dirty="0"/>
          </a:p>
        </p:txBody>
      </p:sp>
      <p:sp>
        <p:nvSpPr>
          <p:cNvPr id="16" name="Shape 12"/>
          <p:cNvSpPr/>
          <p:nvPr/>
        </p:nvSpPr>
        <p:spPr>
          <a:xfrm>
            <a:off x="8141208" y="1783080"/>
            <a:ext cx="3453384" cy="3063240"/>
          </a:xfrm>
          <a:prstGeom prst="roundRect">
            <a:avLst>
              <a:gd name="adj" fmla="val 2985"/>
            </a:avLst>
          </a:prstGeom>
          <a:solidFill>
            <a:srgbClr val="F3F4F5"/>
          </a:solidFill>
          <a:ln/>
        </p:spPr>
      </p:sp>
      <p:sp>
        <p:nvSpPr>
          <p:cNvPr id="17" name="Shape 13"/>
          <p:cNvSpPr/>
          <p:nvPr/>
        </p:nvSpPr>
        <p:spPr>
          <a:xfrm>
            <a:off x="8369808" y="2011680"/>
            <a:ext cx="548640" cy="548640"/>
          </a:xfrm>
          <a:prstGeom prst="ellipse">
            <a:avLst/>
          </a:prstGeom>
          <a:solidFill>
            <a:srgbClr val="E8491D"/>
          </a:solidFill>
          <a:ln/>
        </p:spPr>
      </p:sp>
      <p:pic>
        <p:nvPicPr>
          <p:cNvPr id="18" name="Image 2" descr="/tmp/claude-0/-home-user-My-Future-Idaes/0806094f-208a-506e-82b2-f78683d50c82/scratchpad/icons/FaHeartbeat_white.png">    </p:cNvPr>
          <p:cNvPicPr>
            <a:picLocks noChangeAspect="1"/>
          </p:cNvPicPr>
          <p:nvPr/>
        </p:nvPicPr>
        <p:blipFill>
          <a:blip r:embed="rId3"/>
          <a:stretch>
            <a:fillRect/>
          </a:stretch>
        </p:blipFill>
        <p:spPr>
          <a:xfrm>
            <a:off x="8501482" y="2143354"/>
            <a:ext cx="285293" cy="285293"/>
          </a:xfrm>
          <a:prstGeom prst="rect">
            <a:avLst/>
          </a:prstGeom>
        </p:spPr>
      </p:pic>
      <p:sp>
        <p:nvSpPr>
          <p:cNvPr id="19" name="Text 14"/>
          <p:cNvSpPr/>
          <p:nvPr/>
        </p:nvSpPr>
        <p:spPr>
          <a:xfrm>
            <a:off x="8369808" y="2697480"/>
            <a:ext cx="2996184" cy="411480"/>
          </a:xfrm>
          <a:prstGeom prst="rect">
            <a:avLst/>
          </a:prstGeom>
          <a:noFill/>
          <a:ln/>
        </p:spPr>
        <p:txBody>
          <a:bodyPr wrap="square" lIns="0" tIns="0" rIns="0" bIns="0" rtlCol="0" anchor="ctr"/>
          <a:lstStyle/>
          <a:p>
            <a:pPr indent="0" marL="0">
              <a:buNone/>
            </a:pPr>
            <a:r>
              <a:rPr lang="en-US" sz="1450" b="1" dirty="0">
                <a:solidFill>
                  <a:srgbClr val="1A2027"/>
                </a:solidFill>
                <a:latin typeface="Arial" pitchFamily="34" charset="0"/>
                <a:ea typeface="Arial" pitchFamily="34" charset="-122"/>
                <a:cs typeface="Arial" pitchFamily="34" charset="-120"/>
              </a:rPr>
              <a:t>Your duty of care</a:t>
            </a:r>
            <a:endParaRPr lang="en-US" sz="1450" dirty="0"/>
          </a:p>
        </p:txBody>
      </p:sp>
      <p:sp>
        <p:nvSpPr>
          <p:cNvPr id="20" name="Text 15"/>
          <p:cNvSpPr/>
          <p:nvPr/>
        </p:nvSpPr>
        <p:spPr>
          <a:xfrm>
            <a:off x="8369808" y="3154680"/>
            <a:ext cx="2996184" cy="1600200"/>
          </a:xfrm>
          <a:prstGeom prst="rect">
            <a:avLst/>
          </a:prstGeom>
          <a:noFill/>
          <a:ln/>
        </p:spPr>
        <p:txBody>
          <a:bodyPr wrap="square" lIns="0" tIns="0" rIns="0" bIns="0" rtlCol="0" anchor="ctr"/>
          <a:lstStyle/>
          <a:p>
            <a:pPr indent="0" marL="0">
              <a:buNone/>
            </a:pPr>
            <a:r>
              <a:rPr lang="en-US" sz="1100" dirty="0">
                <a:solidFill>
                  <a:srgbClr val="5A646C"/>
                </a:solidFill>
                <a:latin typeface="Arial" pitchFamily="34" charset="0"/>
                <a:ea typeface="Arial" pitchFamily="34" charset="-122"/>
                <a:cs typeface="Arial" pitchFamily="34" charset="-120"/>
              </a:rPr>
              <a:t>Every person you command is somebody's father, son, brother. You spend their courage carefully, and never for property alone.</a:t>
            </a:r>
            <a:endParaRPr lang="en-US" sz="1100" dirty="0"/>
          </a:p>
        </p:txBody>
      </p:sp>
      <p:sp>
        <p:nvSpPr>
          <p:cNvPr id="21" name="Shape 16"/>
          <p:cNvSpPr/>
          <p:nvPr/>
        </p:nvSpPr>
        <p:spPr>
          <a:xfrm>
            <a:off x="594360" y="5166360"/>
            <a:ext cx="11000232" cy="1005840"/>
          </a:xfrm>
          <a:prstGeom prst="roundRect">
            <a:avLst>
              <a:gd name="adj" fmla="val 9091"/>
            </a:avLst>
          </a:prstGeom>
          <a:solidFill>
            <a:srgbClr val="14181C"/>
          </a:solidFill>
          <a:ln/>
        </p:spPr>
      </p:sp>
      <p:sp>
        <p:nvSpPr>
          <p:cNvPr id="22" name="Text 17"/>
          <p:cNvSpPr/>
          <p:nvPr/>
        </p:nvSpPr>
        <p:spPr>
          <a:xfrm>
            <a:off x="868680" y="5166360"/>
            <a:ext cx="10360152" cy="1005840"/>
          </a:xfrm>
          <a:prstGeom prst="rect">
            <a:avLst/>
          </a:prstGeom>
          <a:noFill/>
          <a:ln/>
        </p:spPr>
        <p:txBody>
          <a:bodyPr wrap="square" lIns="0" tIns="0" rIns="0" bIns="0" rtlCol="0" anchor="ctr"/>
          <a:lstStyle/>
          <a:p>
            <a:pPr indent="0" marL="0">
              <a:buNone/>
            </a:pPr>
            <a:r>
              <a:rPr lang="en-US" sz="1200" b="1" dirty="0">
                <a:solidFill>
                  <a:srgbClr val="F5A623"/>
                </a:solidFill>
                <a:latin typeface="Arial" pitchFamily="34" charset="0"/>
                <a:ea typeface="Arial" pitchFamily="34" charset="-122"/>
                <a:cs typeface="Arial" pitchFamily="34" charset="-120"/>
              </a:rPr>
              <a:t>Moral courage is a command skill.  </a:t>
            </a:r>
            <a:pPr indent="0" marL="0">
              <a:buNone/>
            </a:pPr>
            <a:r>
              <a:rPr lang="en-US" sz="1200" dirty="0">
                <a:solidFill>
                  <a:srgbClr val="FFFFFF"/>
                </a:solidFill>
                <a:latin typeface="Arial" pitchFamily="34" charset="0"/>
                <a:ea typeface="Arial" pitchFamily="34" charset="-122"/>
                <a:cs typeface="Arial" pitchFamily="34" charset="-120"/>
              </a:rPr>
              <a:t>The hardest orders are 'we are NOT going in' and 'everybody out.' You will practice giving both this week — so the first time is not on a real fireground.</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20</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1</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Deciding in the fog: the OODA loop</a:t>
            </a:r>
            <a:endParaRPr lang="en-US" sz="3000" dirty="0"/>
          </a:p>
        </p:txBody>
      </p:sp>
      <p:sp>
        <p:nvSpPr>
          <p:cNvPr id="6" name="Shape 4"/>
          <p:cNvSpPr/>
          <p:nvPr/>
        </p:nvSpPr>
        <p:spPr>
          <a:xfrm>
            <a:off x="594360" y="1874520"/>
            <a:ext cx="2395728" cy="2103120"/>
          </a:xfrm>
          <a:prstGeom prst="roundRect">
            <a:avLst>
              <a:gd name="adj" fmla="val 4348"/>
            </a:avLst>
          </a:prstGeom>
          <a:solidFill>
            <a:srgbClr val="F3F4F5"/>
          </a:solidFill>
          <a:ln/>
        </p:spPr>
      </p:sp>
      <p:sp>
        <p:nvSpPr>
          <p:cNvPr id="7" name="Text 5"/>
          <p:cNvSpPr/>
          <p:nvPr/>
        </p:nvSpPr>
        <p:spPr>
          <a:xfrm>
            <a:off x="777240" y="2011680"/>
            <a:ext cx="731520" cy="548640"/>
          </a:xfrm>
          <a:prstGeom prst="rect">
            <a:avLst/>
          </a:prstGeom>
          <a:noFill/>
          <a:ln/>
        </p:spPr>
        <p:txBody>
          <a:bodyPr wrap="square" lIns="0" tIns="0" rIns="0" bIns="0" rtlCol="0" anchor="ctr"/>
          <a:lstStyle/>
          <a:p>
            <a:pPr indent="0" marL="0">
              <a:buNone/>
            </a:pPr>
            <a:r>
              <a:rPr lang="en-US" sz="2600" b="1" dirty="0">
                <a:solidFill>
                  <a:srgbClr val="E8491D"/>
                </a:solidFill>
                <a:latin typeface="Arial" pitchFamily="34" charset="0"/>
                <a:ea typeface="Arial" pitchFamily="34" charset="-122"/>
                <a:cs typeface="Arial" pitchFamily="34" charset="-120"/>
              </a:rPr>
              <a:t>1</a:t>
            </a:r>
            <a:endParaRPr lang="en-US" sz="2600" dirty="0"/>
          </a:p>
        </p:txBody>
      </p:sp>
      <p:sp>
        <p:nvSpPr>
          <p:cNvPr id="8" name="Text 6"/>
          <p:cNvSpPr/>
          <p:nvPr/>
        </p:nvSpPr>
        <p:spPr>
          <a:xfrm>
            <a:off x="777240" y="2560320"/>
            <a:ext cx="2029968" cy="320040"/>
          </a:xfrm>
          <a:prstGeom prst="rect">
            <a:avLst/>
          </a:prstGeom>
          <a:noFill/>
          <a:ln/>
        </p:spPr>
        <p:txBody>
          <a:bodyPr wrap="square" lIns="0" tIns="0" rIns="0" bIns="0" rtlCol="0" anchor="ctr"/>
          <a:lstStyle/>
          <a:p>
            <a:pPr indent="0" marL="0">
              <a:buNone/>
            </a:pPr>
            <a:r>
              <a:rPr lang="en-US" sz="1400" b="1" spc="100" kern="0" dirty="0">
                <a:solidFill>
                  <a:srgbClr val="1A2027"/>
                </a:solidFill>
                <a:latin typeface="Arial" pitchFamily="34" charset="0"/>
                <a:ea typeface="Arial" pitchFamily="34" charset="-122"/>
                <a:cs typeface="Arial" pitchFamily="34" charset="-120"/>
              </a:rPr>
              <a:t>OBSERVE</a:t>
            </a:r>
            <a:endParaRPr lang="en-US" sz="1400" dirty="0"/>
          </a:p>
        </p:txBody>
      </p:sp>
      <p:sp>
        <p:nvSpPr>
          <p:cNvPr id="9" name="Text 7"/>
          <p:cNvSpPr/>
          <p:nvPr/>
        </p:nvSpPr>
        <p:spPr>
          <a:xfrm>
            <a:off x="777240" y="2898648"/>
            <a:ext cx="2029968" cy="96012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What is actually happening? Smoke, wind, people, sounds — raw facts, not assumptions.</a:t>
            </a:r>
            <a:endParaRPr lang="en-US" sz="1000" dirty="0"/>
          </a:p>
        </p:txBody>
      </p:sp>
      <p:sp>
        <p:nvSpPr>
          <p:cNvPr id="10" name="Text 8"/>
          <p:cNvSpPr/>
          <p:nvPr/>
        </p:nvSpPr>
        <p:spPr>
          <a:xfrm>
            <a:off x="3008376" y="2651760"/>
            <a:ext cx="457200" cy="548640"/>
          </a:xfrm>
          <a:prstGeom prst="rect">
            <a:avLst/>
          </a:prstGeom>
          <a:noFill/>
          <a:ln/>
        </p:spPr>
        <p:txBody>
          <a:bodyPr wrap="square" lIns="0" tIns="0" rIns="0" bIns="0" rtlCol="0" anchor="ctr"/>
          <a:lstStyle/>
          <a:p>
            <a:pPr algn="ctr" indent="0" marL="0">
              <a:buNone/>
            </a:pPr>
            <a:r>
              <a:rPr lang="en-US" sz="2600" b="1" dirty="0">
                <a:solidFill>
                  <a:srgbClr val="E8491D"/>
                </a:solidFill>
                <a:latin typeface="Arial" pitchFamily="34" charset="0"/>
                <a:ea typeface="Arial" pitchFamily="34" charset="-122"/>
                <a:cs typeface="Arial" pitchFamily="34" charset="-120"/>
              </a:rPr>
              <a:t>→</a:t>
            </a:r>
            <a:endParaRPr lang="en-US" sz="2600" dirty="0"/>
          </a:p>
        </p:txBody>
      </p:sp>
      <p:sp>
        <p:nvSpPr>
          <p:cNvPr id="11" name="Shape 9"/>
          <p:cNvSpPr/>
          <p:nvPr/>
        </p:nvSpPr>
        <p:spPr>
          <a:xfrm>
            <a:off x="3493008" y="1874520"/>
            <a:ext cx="2395728" cy="2103120"/>
          </a:xfrm>
          <a:prstGeom prst="roundRect">
            <a:avLst>
              <a:gd name="adj" fmla="val 4348"/>
            </a:avLst>
          </a:prstGeom>
          <a:solidFill>
            <a:srgbClr val="F3F4F5"/>
          </a:solidFill>
          <a:ln/>
        </p:spPr>
      </p:sp>
      <p:sp>
        <p:nvSpPr>
          <p:cNvPr id="12" name="Text 10"/>
          <p:cNvSpPr/>
          <p:nvPr/>
        </p:nvSpPr>
        <p:spPr>
          <a:xfrm>
            <a:off x="3675888" y="2011680"/>
            <a:ext cx="731520" cy="548640"/>
          </a:xfrm>
          <a:prstGeom prst="rect">
            <a:avLst/>
          </a:prstGeom>
          <a:noFill/>
          <a:ln/>
        </p:spPr>
        <p:txBody>
          <a:bodyPr wrap="square" lIns="0" tIns="0" rIns="0" bIns="0" rtlCol="0" anchor="ctr"/>
          <a:lstStyle/>
          <a:p>
            <a:pPr indent="0" marL="0">
              <a:buNone/>
            </a:pPr>
            <a:r>
              <a:rPr lang="en-US" sz="2600" b="1" dirty="0">
                <a:solidFill>
                  <a:srgbClr val="E8491D"/>
                </a:solidFill>
                <a:latin typeface="Arial" pitchFamily="34" charset="0"/>
                <a:ea typeface="Arial" pitchFamily="34" charset="-122"/>
                <a:cs typeface="Arial" pitchFamily="34" charset="-120"/>
              </a:rPr>
              <a:t>2</a:t>
            </a:r>
            <a:endParaRPr lang="en-US" sz="2600" dirty="0"/>
          </a:p>
        </p:txBody>
      </p:sp>
      <p:sp>
        <p:nvSpPr>
          <p:cNvPr id="13" name="Text 11"/>
          <p:cNvSpPr/>
          <p:nvPr/>
        </p:nvSpPr>
        <p:spPr>
          <a:xfrm>
            <a:off x="3675888" y="2560320"/>
            <a:ext cx="2029968" cy="320040"/>
          </a:xfrm>
          <a:prstGeom prst="rect">
            <a:avLst/>
          </a:prstGeom>
          <a:noFill/>
          <a:ln/>
        </p:spPr>
        <p:txBody>
          <a:bodyPr wrap="square" lIns="0" tIns="0" rIns="0" bIns="0" rtlCol="0" anchor="ctr"/>
          <a:lstStyle/>
          <a:p>
            <a:pPr indent="0" marL="0">
              <a:buNone/>
            </a:pPr>
            <a:r>
              <a:rPr lang="en-US" sz="1400" b="1" spc="100" kern="0" dirty="0">
                <a:solidFill>
                  <a:srgbClr val="1A2027"/>
                </a:solidFill>
                <a:latin typeface="Arial" pitchFamily="34" charset="0"/>
                <a:ea typeface="Arial" pitchFamily="34" charset="-122"/>
                <a:cs typeface="Arial" pitchFamily="34" charset="-120"/>
              </a:rPr>
              <a:t>ORIENT</a:t>
            </a:r>
            <a:endParaRPr lang="en-US" sz="1400" dirty="0"/>
          </a:p>
        </p:txBody>
      </p:sp>
      <p:sp>
        <p:nvSpPr>
          <p:cNvPr id="14" name="Text 12"/>
          <p:cNvSpPr/>
          <p:nvPr/>
        </p:nvSpPr>
        <p:spPr>
          <a:xfrm>
            <a:off x="3675888" y="2898648"/>
            <a:ext cx="2029968" cy="96012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What does it mean here? Match the picture against known rig fire patterns.</a:t>
            </a:r>
            <a:endParaRPr lang="en-US" sz="1000" dirty="0"/>
          </a:p>
        </p:txBody>
      </p:sp>
      <p:sp>
        <p:nvSpPr>
          <p:cNvPr id="15" name="Text 13"/>
          <p:cNvSpPr/>
          <p:nvPr/>
        </p:nvSpPr>
        <p:spPr>
          <a:xfrm>
            <a:off x="5907024" y="2651760"/>
            <a:ext cx="457200" cy="548640"/>
          </a:xfrm>
          <a:prstGeom prst="rect">
            <a:avLst/>
          </a:prstGeom>
          <a:noFill/>
          <a:ln/>
        </p:spPr>
        <p:txBody>
          <a:bodyPr wrap="square" lIns="0" tIns="0" rIns="0" bIns="0" rtlCol="0" anchor="ctr"/>
          <a:lstStyle/>
          <a:p>
            <a:pPr algn="ctr" indent="0" marL="0">
              <a:buNone/>
            </a:pPr>
            <a:r>
              <a:rPr lang="en-US" sz="2600" b="1" dirty="0">
                <a:solidFill>
                  <a:srgbClr val="E8491D"/>
                </a:solidFill>
                <a:latin typeface="Arial" pitchFamily="34" charset="0"/>
                <a:ea typeface="Arial" pitchFamily="34" charset="-122"/>
                <a:cs typeface="Arial" pitchFamily="34" charset="-120"/>
              </a:rPr>
              <a:t>→</a:t>
            </a:r>
            <a:endParaRPr lang="en-US" sz="2600" dirty="0"/>
          </a:p>
        </p:txBody>
      </p:sp>
      <p:sp>
        <p:nvSpPr>
          <p:cNvPr id="16" name="Shape 14"/>
          <p:cNvSpPr/>
          <p:nvPr/>
        </p:nvSpPr>
        <p:spPr>
          <a:xfrm>
            <a:off x="6391656" y="1874520"/>
            <a:ext cx="2395728" cy="2103120"/>
          </a:xfrm>
          <a:prstGeom prst="roundRect">
            <a:avLst>
              <a:gd name="adj" fmla="val 4348"/>
            </a:avLst>
          </a:prstGeom>
          <a:solidFill>
            <a:srgbClr val="F3F4F5"/>
          </a:solidFill>
          <a:ln/>
        </p:spPr>
      </p:sp>
      <p:sp>
        <p:nvSpPr>
          <p:cNvPr id="17" name="Text 15"/>
          <p:cNvSpPr/>
          <p:nvPr/>
        </p:nvSpPr>
        <p:spPr>
          <a:xfrm>
            <a:off x="6574536" y="2011680"/>
            <a:ext cx="731520" cy="548640"/>
          </a:xfrm>
          <a:prstGeom prst="rect">
            <a:avLst/>
          </a:prstGeom>
          <a:noFill/>
          <a:ln/>
        </p:spPr>
        <p:txBody>
          <a:bodyPr wrap="square" lIns="0" tIns="0" rIns="0" bIns="0" rtlCol="0" anchor="ctr"/>
          <a:lstStyle/>
          <a:p>
            <a:pPr indent="0" marL="0">
              <a:buNone/>
            </a:pPr>
            <a:r>
              <a:rPr lang="en-US" sz="2600" b="1" dirty="0">
                <a:solidFill>
                  <a:srgbClr val="E8491D"/>
                </a:solidFill>
                <a:latin typeface="Arial" pitchFamily="34" charset="0"/>
                <a:ea typeface="Arial" pitchFamily="34" charset="-122"/>
                <a:cs typeface="Arial" pitchFamily="34" charset="-120"/>
              </a:rPr>
              <a:t>3</a:t>
            </a:r>
            <a:endParaRPr lang="en-US" sz="2600" dirty="0"/>
          </a:p>
        </p:txBody>
      </p:sp>
      <p:sp>
        <p:nvSpPr>
          <p:cNvPr id="18" name="Text 16"/>
          <p:cNvSpPr/>
          <p:nvPr/>
        </p:nvSpPr>
        <p:spPr>
          <a:xfrm>
            <a:off x="6574536" y="2560320"/>
            <a:ext cx="2029968" cy="320040"/>
          </a:xfrm>
          <a:prstGeom prst="rect">
            <a:avLst/>
          </a:prstGeom>
          <a:noFill/>
          <a:ln/>
        </p:spPr>
        <p:txBody>
          <a:bodyPr wrap="square" lIns="0" tIns="0" rIns="0" bIns="0" rtlCol="0" anchor="ctr"/>
          <a:lstStyle/>
          <a:p>
            <a:pPr indent="0" marL="0">
              <a:buNone/>
            </a:pPr>
            <a:r>
              <a:rPr lang="en-US" sz="1400" b="1" spc="100" kern="0" dirty="0">
                <a:solidFill>
                  <a:srgbClr val="1A2027"/>
                </a:solidFill>
                <a:latin typeface="Arial" pitchFamily="34" charset="0"/>
                <a:ea typeface="Arial" pitchFamily="34" charset="-122"/>
                <a:cs typeface="Arial" pitchFamily="34" charset="-120"/>
              </a:rPr>
              <a:t>DECIDE</a:t>
            </a:r>
            <a:endParaRPr lang="en-US" sz="1400" dirty="0"/>
          </a:p>
        </p:txBody>
      </p:sp>
      <p:sp>
        <p:nvSpPr>
          <p:cNvPr id="19" name="Text 17"/>
          <p:cNvSpPr/>
          <p:nvPr/>
        </p:nvSpPr>
        <p:spPr>
          <a:xfrm>
            <a:off x="6574536" y="2898648"/>
            <a:ext cx="2029968" cy="96012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Pick the best available option — not the perfect one.</a:t>
            </a:r>
            <a:endParaRPr lang="en-US" sz="1000" dirty="0"/>
          </a:p>
        </p:txBody>
      </p:sp>
      <p:sp>
        <p:nvSpPr>
          <p:cNvPr id="20" name="Text 18"/>
          <p:cNvSpPr/>
          <p:nvPr/>
        </p:nvSpPr>
        <p:spPr>
          <a:xfrm>
            <a:off x="8805672" y="2651760"/>
            <a:ext cx="457200" cy="548640"/>
          </a:xfrm>
          <a:prstGeom prst="rect">
            <a:avLst/>
          </a:prstGeom>
          <a:noFill/>
          <a:ln/>
        </p:spPr>
        <p:txBody>
          <a:bodyPr wrap="square" lIns="0" tIns="0" rIns="0" bIns="0" rtlCol="0" anchor="ctr"/>
          <a:lstStyle/>
          <a:p>
            <a:pPr algn="ctr" indent="0" marL="0">
              <a:buNone/>
            </a:pPr>
            <a:r>
              <a:rPr lang="en-US" sz="2600" b="1" dirty="0">
                <a:solidFill>
                  <a:srgbClr val="E8491D"/>
                </a:solidFill>
                <a:latin typeface="Arial" pitchFamily="34" charset="0"/>
                <a:ea typeface="Arial" pitchFamily="34" charset="-122"/>
                <a:cs typeface="Arial" pitchFamily="34" charset="-120"/>
              </a:rPr>
              <a:t>→</a:t>
            </a:r>
            <a:endParaRPr lang="en-US" sz="2600" dirty="0"/>
          </a:p>
        </p:txBody>
      </p:sp>
      <p:sp>
        <p:nvSpPr>
          <p:cNvPr id="21" name="Shape 19"/>
          <p:cNvSpPr/>
          <p:nvPr/>
        </p:nvSpPr>
        <p:spPr>
          <a:xfrm>
            <a:off x="9290304" y="1874520"/>
            <a:ext cx="2395728" cy="2103120"/>
          </a:xfrm>
          <a:prstGeom prst="roundRect">
            <a:avLst>
              <a:gd name="adj" fmla="val 4348"/>
            </a:avLst>
          </a:prstGeom>
          <a:solidFill>
            <a:srgbClr val="F3F4F5"/>
          </a:solidFill>
          <a:ln/>
        </p:spPr>
      </p:sp>
      <p:sp>
        <p:nvSpPr>
          <p:cNvPr id="22" name="Text 20"/>
          <p:cNvSpPr/>
          <p:nvPr/>
        </p:nvSpPr>
        <p:spPr>
          <a:xfrm>
            <a:off x="9473184" y="2011680"/>
            <a:ext cx="731520" cy="548640"/>
          </a:xfrm>
          <a:prstGeom prst="rect">
            <a:avLst/>
          </a:prstGeom>
          <a:noFill/>
          <a:ln/>
        </p:spPr>
        <p:txBody>
          <a:bodyPr wrap="square" lIns="0" tIns="0" rIns="0" bIns="0" rtlCol="0" anchor="ctr"/>
          <a:lstStyle/>
          <a:p>
            <a:pPr indent="0" marL="0">
              <a:buNone/>
            </a:pPr>
            <a:r>
              <a:rPr lang="en-US" sz="2600" b="1" dirty="0">
                <a:solidFill>
                  <a:srgbClr val="E8491D"/>
                </a:solidFill>
                <a:latin typeface="Arial" pitchFamily="34" charset="0"/>
                <a:ea typeface="Arial" pitchFamily="34" charset="-122"/>
                <a:cs typeface="Arial" pitchFamily="34" charset="-120"/>
              </a:rPr>
              <a:t>4</a:t>
            </a:r>
            <a:endParaRPr lang="en-US" sz="2600" dirty="0"/>
          </a:p>
        </p:txBody>
      </p:sp>
      <p:sp>
        <p:nvSpPr>
          <p:cNvPr id="23" name="Text 21"/>
          <p:cNvSpPr/>
          <p:nvPr/>
        </p:nvSpPr>
        <p:spPr>
          <a:xfrm>
            <a:off x="9473184" y="2560320"/>
            <a:ext cx="2029968" cy="320040"/>
          </a:xfrm>
          <a:prstGeom prst="rect">
            <a:avLst/>
          </a:prstGeom>
          <a:noFill/>
          <a:ln/>
        </p:spPr>
        <p:txBody>
          <a:bodyPr wrap="square" lIns="0" tIns="0" rIns="0" bIns="0" rtlCol="0" anchor="ctr"/>
          <a:lstStyle/>
          <a:p>
            <a:pPr indent="0" marL="0">
              <a:buNone/>
            </a:pPr>
            <a:r>
              <a:rPr lang="en-US" sz="1400" b="1" spc="100" kern="0" dirty="0">
                <a:solidFill>
                  <a:srgbClr val="1A2027"/>
                </a:solidFill>
                <a:latin typeface="Arial" pitchFamily="34" charset="0"/>
                <a:ea typeface="Arial" pitchFamily="34" charset="-122"/>
                <a:cs typeface="Arial" pitchFamily="34" charset="-120"/>
              </a:rPr>
              <a:t>ACT</a:t>
            </a:r>
            <a:endParaRPr lang="en-US" sz="1400" dirty="0"/>
          </a:p>
        </p:txBody>
      </p:sp>
      <p:sp>
        <p:nvSpPr>
          <p:cNvPr id="24" name="Text 22"/>
          <p:cNvSpPr/>
          <p:nvPr/>
        </p:nvSpPr>
        <p:spPr>
          <a:xfrm>
            <a:off x="9473184" y="2898648"/>
            <a:ext cx="2029968" cy="96012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Execute hard, watch the result, and loop again.</a:t>
            </a:r>
            <a:endParaRPr lang="en-US" sz="1000" dirty="0"/>
          </a:p>
        </p:txBody>
      </p:sp>
      <p:sp>
        <p:nvSpPr>
          <p:cNvPr id="25" name="Shape 23"/>
          <p:cNvSpPr/>
          <p:nvPr/>
        </p:nvSpPr>
        <p:spPr>
          <a:xfrm>
            <a:off x="594360" y="4434840"/>
            <a:ext cx="5317236" cy="1645920"/>
          </a:xfrm>
          <a:prstGeom prst="roundRect">
            <a:avLst>
              <a:gd name="adj" fmla="val 5556"/>
            </a:avLst>
          </a:prstGeom>
          <a:solidFill>
            <a:srgbClr val="14181C"/>
          </a:solidFill>
          <a:ln/>
        </p:spPr>
      </p:sp>
      <p:sp>
        <p:nvSpPr>
          <p:cNvPr id="26" name="Text 24"/>
          <p:cNvSpPr/>
          <p:nvPr/>
        </p:nvSpPr>
        <p:spPr>
          <a:xfrm>
            <a:off x="868680" y="4572000"/>
            <a:ext cx="4768596" cy="1371600"/>
          </a:xfrm>
          <a:prstGeom prst="rect">
            <a:avLst/>
          </a:prstGeom>
          <a:noFill/>
          <a:ln/>
        </p:spPr>
        <p:txBody>
          <a:bodyPr wrap="square" lIns="0" tIns="0" rIns="0" bIns="0" rtlCol="0" anchor="ctr"/>
          <a:lstStyle/>
          <a:p>
            <a:pPr indent="0" marL="0">
              <a:buNone/>
            </a:pPr>
            <a:r>
              <a:rPr lang="en-US" sz="1450" b="1" dirty="0">
                <a:solidFill>
                  <a:srgbClr val="F5A623"/>
                </a:solidFill>
                <a:latin typeface="Arial" pitchFamily="34" charset="0"/>
                <a:ea typeface="Arial" pitchFamily="34" charset="-122"/>
                <a:cs typeface="Arial" pitchFamily="34" charset="-120"/>
              </a:rPr>
              <a:t>The 70% rule.
</a:t>
            </a:r>
            <a:pPr indent="0" marL="0">
              <a:buNone/>
            </a:pPr>
            <a:r>
              <a:rPr lang="en-US" sz="1150" dirty="0">
                <a:solidFill>
                  <a:srgbClr val="D9DEE2"/>
                </a:solidFill>
                <a:latin typeface="Arial" pitchFamily="34" charset="0"/>
                <a:ea typeface="Arial" pitchFamily="34" charset="-122"/>
                <a:cs typeface="Arial" pitchFamily="34" charset="-120"/>
              </a:rPr>
              <a:t>A good decision executed now beats a perfect decision executed too late. Act when you have ~70% of the information — the loop will correct the rest.</a:t>
            </a:r>
            <a:endParaRPr lang="en-US" sz="1450" dirty="0"/>
          </a:p>
        </p:txBody>
      </p:sp>
      <p:sp>
        <p:nvSpPr>
          <p:cNvPr id="27" name="Shape 25"/>
          <p:cNvSpPr/>
          <p:nvPr/>
        </p:nvSpPr>
        <p:spPr>
          <a:xfrm>
            <a:off x="6277356" y="4434840"/>
            <a:ext cx="5317236" cy="1645920"/>
          </a:xfrm>
          <a:prstGeom prst="roundRect">
            <a:avLst>
              <a:gd name="adj" fmla="val 5556"/>
            </a:avLst>
          </a:prstGeom>
          <a:solidFill>
            <a:srgbClr val="F3F4F5"/>
          </a:solidFill>
          <a:ln/>
        </p:spPr>
      </p:sp>
      <p:sp>
        <p:nvSpPr>
          <p:cNvPr id="28" name="Text 26"/>
          <p:cNvSpPr/>
          <p:nvPr/>
        </p:nvSpPr>
        <p:spPr>
          <a:xfrm>
            <a:off x="6551676" y="4572000"/>
            <a:ext cx="4768596" cy="1371600"/>
          </a:xfrm>
          <a:prstGeom prst="rect">
            <a:avLst/>
          </a:prstGeom>
          <a:noFill/>
          <a:ln/>
        </p:spPr>
        <p:txBody>
          <a:bodyPr wrap="square" lIns="0" tIns="0" rIns="0" bIns="0" rtlCol="0" anchor="ctr"/>
          <a:lstStyle/>
          <a:p>
            <a:pPr indent="0" marL="0">
              <a:buNone/>
            </a:pPr>
            <a:r>
              <a:rPr lang="en-US" sz="1450" b="1" dirty="0">
                <a:solidFill>
                  <a:srgbClr val="C13415"/>
                </a:solidFill>
                <a:latin typeface="Arial" pitchFamily="34" charset="0"/>
                <a:ea typeface="Arial" pitchFamily="34" charset="-122"/>
                <a:cs typeface="Arial" pitchFamily="34" charset="-120"/>
              </a:rPr>
              <a:t>Recognition beats analysis.
</a:t>
            </a:r>
            <a:pPr indent="0" marL="0">
              <a:buNone/>
            </a:pPr>
            <a:r>
              <a:rPr lang="en-US" sz="1150" dirty="0">
                <a:solidFill>
                  <a:srgbClr val="5A646C"/>
                </a:solidFill>
                <a:latin typeface="Arial" pitchFamily="34" charset="0"/>
                <a:ea typeface="Arial" pitchFamily="34" charset="-122"/>
                <a:cs typeface="Arial" pitchFamily="34" charset="-120"/>
              </a:rPr>
              <a:t>Experienced leaders don't compare options — they recognize patterns. That is why this course drills scenarios: we are building your pattern library.</a:t>
            </a:r>
            <a:endParaRPr lang="en-US" sz="14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181C"/>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9AA5AD"/>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9AA5AD"/>
                </a:solidFill>
                <a:latin typeface="Arial" pitchFamily="34" charset="0"/>
                <a:ea typeface="Arial" pitchFamily="34" charset="-122"/>
                <a:cs typeface="Arial" pitchFamily="34" charset="-120"/>
              </a:rPr>
              <a:t>21</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1</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The first 60 seconds of command</a:t>
            </a:r>
            <a:endParaRPr lang="en-US" sz="3000" dirty="0"/>
          </a:p>
        </p:txBody>
      </p:sp>
      <p:sp>
        <p:nvSpPr>
          <p:cNvPr id="6" name="Text 4"/>
          <p:cNvSpPr/>
          <p:nvPr/>
        </p:nvSpPr>
        <p:spPr>
          <a:xfrm>
            <a:off x="594360" y="1481328"/>
            <a:ext cx="10515600" cy="384048"/>
          </a:xfrm>
          <a:prstGeom prst="rect">
            <a:avLst/>
          </a:prstGeom>
          <a:noFill/>
          <a:ln/>
        </p:spPr>
        <p:txBody>
          <a:bodyPr wrap="square" lIns="0" tIns="0" rIns="0" bIns="0" rtlCol="0" anchor="ctr"/>
          <a:lstStyle/>
          <a:p>
            <a:pPr indent="0" marL="0">
              <a:buNone/>
            </a:pPr>
            <a:r>
              <a:rPr lang="en-US" sz="1350" i="1" dirty="0">
                <a:solidFill>
                  <a:srgbClr val="9AA5AD"/>
                </a:solidFill>
                <a:latin typeface="Arial" pitchFamily="34" charset="0"/>
                <a:ea typeface="Arial" pitchFamily="34" charset="-122"/>
                <a:cs typeface="Arial" pitchFamily="34" charset="-120"/>
              </a:rPr>
              <a:t>From the moment the alarm sounds, five actions — in order, every time:</a:t>
            </a:r>
            <a:endParaRPr lang="en-US" sz="1350" dirty="0"/>
          </a:p>
        </p:txBody>
      </p:sp>
      <p:sp>
        <p:nvSpPr>
          <p:cNvPr id="7" name="Shape 5"/>
          <p:cNvSpPr/>
          <p:nvPr/>
        </p:nvSpPr>
        <p:spPr>
          <a:xfrm>
            <a:off x="594360" y="2148840"/>
            <a:ext cx="1980590" cy="3017520"/>
          </a:xfrm>
          <a:prstGeom prst="roundRect">
            <a:avLst>
              <a:gd name="adj" fmla="val 4617"/>
            </a:avLst>
          </a:prstGeom>
          <a:solidFill>
            <a:srgbClr val="1F262C"/>
          </a:solidFill>
          <a:ln w="9525">
            <a:solidFill>
              <a:srgbClr val="39434B"/>
            </a:solidFill>
            <a:prstDash val="solid"/>
          </a:ln>
        </p:spPr>
      </p:sp>
      <p:sp>
        <p:nvSpPr>
          <p:cNvPr id="8" name="Text 6"/>
          <p:cNvSpPr/>
          <p:nvPr/>
        </p:nvSpPr>
        <p:spPr>
          <a:xfrm>
            <a:off x="758952" y="2286000"/>
            <a:ext cx="914400" cy="640080"/>
          </a:xfrm>
          <a:prstGeom prst="rect">
            <a:avLst/>
          </a:prstGeom>
          <a:noFill/>
          <a:ln/>
        </p:spPr>
        <p:txBody>
          <a:bodyPr wrap="square" lIns="0" tIns="0" rIns="0" bIns="0" rtlCol="0" anchor="ctr"/>
          <a:lstStyle/>
          <a:p>
            <a:pPr indent="0" marL="0">
              <a:buNone/>
            </a:pPr>
            <a:r>
              <a:rPr lang="en-US" sz="3000" b="1" dirty="0">
                <a:solidFill>
                  <a:srgbClr val="E8491D"/>
                </a:solidFill>
                <a:latin typeface="Arial" pitchFamily="34" charset="0"/>
                <a:ea typeface="Arial" pitchFamily="34" charset="-122"/>
                <a:cs typeface="Arial" pitchFamily="34" charset="-120"/>
              </a:rPr>
              <a:t>1</a:t>
            </a:r>
            <a:endParaRPr lang="en-US" sz="3000" dirty="0"/>
          </a:p>
        </p:txBody>
      </p:sp>
      <p:sp>
        <p:nvSpPr>
          <p:cNvPr id="9" name="Shape 7"/>
          <p:cNvSpPr/>
          <p:nvPr/>
        </p:nvSpPr>
        <p:spPr>
          <a:xfrm>
            <a:off x="1861718" y="2331720"/>
            <a:ext cx="502920" cy="502920"/>
          </a:xfrm>
          <a:prstGeom prst="ellipse">
            <a:avLst/>
          </a:prstGeom>
          <a:solidFill>
            <a:srgbClr val="E8491D"/>
          </a:solidFill>
          <a:ln/>
        </p:spPr>
      </p:sp>
      <p:pic>
        <p:nvPicPr>
          <p:cNvPr id="10" name="Image 0" descr="/tmp/claude-0/-home-user-My-Future-Idaes/0806094f-208a-506e-82b2-f78683d50c82/scratchpad/icons/FaEye_white.png">    </p:cNvPr>
          <p:cNvPicPr>
            <a:picLocks noChangeAspect="1"/>
          </p:cNvPicPr>
          <p:nvPr/>
        </p:nvPicPr>
        <p:blipFill>
          <a:blip r:embed="rId1"/>
          <a:stretch>
            <a:fillRect/>
          </a:stretch>
        </p:blipFill>
        <p:spPr>
          <a:xfrm>
            <a:off x="1982419" y="2452421"/>
            <a:ext cx="261518" cy="261518"/>
          </a:xfrm>
          <a:prstGeom prst="rect">
            <a:avLst/>
          </a:prstGeom>
        </p:spPr>
      </p:pic>
      <p:sp>
        <p:nvSpPr>
          <p:cNvPr id="11" name="Text 8"/>
          <p:cNvSpPr/>
          <p:nvPr/>
        </p:nvSpPr>
        <p:spPr>
          <a:xfrm>
            <a:off x="758952" y="3063240"/>
            <a:ext cx="1651406" cy="365760"/>
          </a:xfrm>
          <a:prstGeom prst="rect">
            <a:avLst/>
          </a:prstGeom>
          <a:noFill/>
          <a:ln/>
        </p:spPr>
        <p:txBody>
          <a:bodyPr wrap="square" lIns="0" tIns="0" rIns="0" bIns="0" rtlCol="0" anchor="ctr"/>
          <a:lstStyle/>
          <a:p>
            <a:pPr indent="0" marL="0">
              <a:buNone/>
            </a:pPr>
            <a:r>
              <a:rPr lang="en-US" sz="1350" b="1" spc="100" kern="0" dirty="0">
                <a:solidFill>
                  <a:srgbClr val="FFFFFF"/>
                </a:solidFill>
                <a:latin typeface="Arial" pitchFamily="34" charset="0"/>
                <a:ea typeface="Arial" pitchFamily="34" charset="-122"/>
                <a:cs typeface="Arial" pitchFamily="34" charset="-120"/>
              </a:rPr>
              <a:t>ASSESS</a:t>
            </a:r>
            <a:endParaRPr lang="en-US" sz="1350" dirty="0"/>
          </a:p>
        </p:txBody>
      </p:sp>
      <p:sp>
        <p:nvSpPr>
          <p:cNvPr id="12" name="Text 9"/>
          <p:cNvSpPr/>
          <p:nvPr/>
        </p:nvSpPr>
        <p:spPr>
          <a:xfrm>
            <a:off x="758952" y="3474720"/>
            <a:ext cx="1651406" cy="1463040"/>
          </a:xfrm>
          <a:prstGeom prst="rect">
            <a:avLst/>
          </a:prstGeom>
          <a:noFill/>
          <a:ln/>
        </p:spPr>
        <p:txBody>
          <a:bodyPr wrap="square" lIns="0" tIns="0" rIns="0" bIns="0" rtlCol="0" anchor="ctr"/>
          <a:lstStyle/>
          <a:p>
            <a:pPr indent="0" marL="0">
              <a:buNone/>
            </a:pPr>
            <a:r>
              <a:rPr lang="en-US" sz="1000" dirty="0">
                <a:solidFill>
                  <a:srgbClr val="9AA5AD"/>
                </a:solidFill>
                <a:latin typeface="Arial" pitchFamily="34" charset="0"/>
                <a:ea typeface="Arial" pitchFamily="34" charset="-122"/>
                <a:cs typeface="Arial" pitchFamily="34" charset="-120"/>
              </a:rPr>
              <a:t>10 seconds of disciplined looking: what, where, who, wind.</a:t>
            </a:r>
            <a:endParaRPr lang="en-US" sz="1000" dirty="0"/>
          </a:p>
        </p:txBody>
      </p:sp>
      <p:sp>
        <p:nvSpPr>
          <p:cNvPr id="13" name="Shape 10"/>
          <p:cNvSpPr/>
          <p:nvPr/>
        </p:nvSpPr>
        <p:spPr>
          <a:xfrm>
            <a:off x="2849270" y="2148840"/>
            <a:ext cx="1980590" cy="3017520"/>
          </a:xfrm>
          <a:prstGeom prst="roundRect">
            <a:avLst>
              <a:gd name="adj" fmla="val 4617"/>
            </a:avLst>
          </a:prstGeom>
          <a:solidFill>
            <a:srgbClr val="1F262C"/>
          </a:solidFill>
          <a:ln w="9525">
            <a:solidFill>
              <a:srgbClr val="39434B"/>
            </a:solidFill>
            <a:prstDash val="solid"/>
          </a:ln>
        </p:spPr>
      </p:sp>
      <p:sp>
        <p:nvSpPr>
          <p:cNvPr id="14" name="Text 11"/>
          <p:cNvSpPr/>
          <p:nvPr/>
        </p:nvSpPr>
        <p:spPr>
          <a:xfrm>
            <a:off x="3013862" y="2286000"/>
            <a:ext cx="914400" cy="640080"/>
          </a:xfrm>
          <a:prstGeom prst="rect">
            <a:avLst/>
          </a:prstGeom>
          <a:noFill/>
          <a:ln/>
        </p:spPr>
        <p:txBody>
          <a:bodyPr wrap="square" lIns="0" tIns="0" rIns="0" bIns="0" rtlCol="0" anchor="ctr"/>
          <a:lstStyle/>
          <a:p>
            <a:pPr indent="0" marL="0">
              <a:buNone/>
            </a:pPr>
            <a:r>
              <a:rPr lang="en-US" sz="3000" b="1" dirty="0">
                <a:solidFill>
                  <a:srgbClr val="E8491D"/>
                </a:solidFill>
                <a:latin typeface="Arial" pitchFamily="34" charset="0"/>
                <a:ea typeface="Arial" pitchFamily="34" charset="-122"/>
                <a:cs typeface="Arial" pitchFamily="34" charset="-120"/>
              </a:rPr>
              <a:t>2</a:t>
            </a:r>
            <a:endParaRPr lang="en-US" sz="3000" dirty="0"/>
          </a:p>
        </p:txBody>
      </p:sp>
      <p:sp>
        <p:nvSpPr>
          <p:cNvPr id="15" name="Shape 12"/>
          <p:cNvSpPr/>
          <p:nvPr/>
        </p:nvSpPr>
        <p:spPr>
          <a:xfrm>
            <a:off x="4116629" y="2331720"/>
            <a:ext cx="502920" cy="502920"/>
          </a:xfrm>
          <a:prstGeom prst="ellipse">
            <a:avLst/>
          </a:prstGeom>
          <a:solidFill>
            <a:srgbClr val="E8491D"/>
          </a:solidFill>
          <a:ln/>
        </p:spPr>
      </p:sp>
      <p:pic>
        <p:nvPicPr>
          <p:cNvPr id="16" name="Image 1" descr="/tmp/claude-0/-home-user-My-Future-Idaes/0806094f-208a-506e-82b2-f78683d50c82/scratchpad/icons/FaBullhorn_white.png">    </p:cNvPr>
          <p:cNvPicPr>
            <a:picLocks noChangeAspect="1"/>
          </p:cNvPicPr>
          <p:nvPr/>
        </p:nvPicPr>
        <p:blipFill>
          <a:blip r:embed="rId2"/>
          <a:stretch>
            <a:fillRect/>
          </a:stretch>
        </p:blipFill>
        <p:spPr>
          <a:xfrm>
            <a:off x="4237330" y="2452421"/>
            <a:ext cx="261518" cy="261518"/>
          </a:xfrm>
          <a:prstGeom prst="rect">
            <a:avLst/>
          </a:prstGeom>
        </p:spPr>
      </p:pic>
      <p:sp>
        <p:nvSpPr>
          <p:cNvPr id="17" name="Text 13"/>
          <p:cNvSpPr/>
          <p:nvPr/>
        </p:nvSpPr>
        <p:spPr>
          <a:xfrm>
            <a:off x="3013862" y="3063240"/>
            <a:ext cx="1651406" cy="365760"/>
          </a:xfrm>
          <a:prstGeom prst="rect">
            <a:avLst/>
          </a:prstGeom>
          <a:noFill/>
          <a:ln/>
        </p:spPr>
        <p:txBody>
          <a:bodyPr wrap="square" lIns="0" tIns="0" rIns="0" bIns="0" rtlCol="0" anchor="ctr"/>
          <a:lstStyle/>
          <a:p>
            <a:pPr indent="0" marL="0">
              <a:buNone/>
            </a:pPr>
            <a:r>
              <a:rPr lang="en-US" sz="1350" b="1" spc="100" kern="0" dirty="0">
                <a:solidFill>
                  <a:srgbClr val="FFFFFF"/>
                </a:solidFill>
                <a:latin typeface="Arial" pitchFamily="34" charset="0"/>
                <a:ea typeface="Arial" pitchFamily="34" charset="-122"/>
                <a:cs typeface="Arial" pitchFamily="34" charset="-120"/>
              </a:rPr>
              <a:t>DECLARE</a:t>
            </a:r>
            <a:endParaRPr lang="en-US" sz="1350" dirty="0"/>
          </a:p>
        </p:txBody>
      </p:sp>
      <p:sp>
        <p:nvSpPr>
          <p:cNvPr id="18" name="Text 14"/>
          <p:cNvSpPr/>
          <p:nvPr/>
        </p:nvSpPr>
        <p:spPr>
          <a:xfrm>
            <a:off x="3013862" y="3474720"/>
            <a:ext cx="1651406" cy="1463040"/>
          </a:xfrm>
          <a:prstGeom prst="rect">
            <a:avLst/>
          </a:prstGeom>
          <a:noFill/>
          <a:ln/>
        </p:spPr>
        <p:txBody>
          <a:bodyPr wrap="square" lIns="0" tIns="0" rIns="0" bIns="0" rtlCol="0" anchor="ctr"/>
          <a:lstStyle/>
          <a:p>
            <a:pPr indent="0" marL="0">
              <a:buNone/>
            </a:pPr>
            <a:r>
              <a:rPr lang="en-US" sz="1000" dirty="0">
                <a:solidFill>
                  <a:srgbClr val="9AA5AD"/>
                </a:solidFill>
                <a:latin typeface="Arial" pitchFamily="34" charset="0"/>
                <a:ea typeface="Arial" pitchFamily="34" charset="-122"/>
                <a:cs typeface="Arial" pitchFamily="34" charset="-120"/>
              </a:rPr>
              <a:t>“This is [name], I have command.” Confirm alarm level.</a:t>
            </a:r>
            <a:endParaRPr lang="en-US" sz="1000" dirty="0"/>
          </a:p>
        </p:txBody>
      </p:sp>
      <p:sp>
        <p:nvSpPr>
          <p:cNvPr id="19" name="Shape 15"/>
          <p:cNvSpPr/>
          <p:nvPr/>
        </p:nvSpPr>
        <p:spPr>
          <a:xfrm>
            <a:off x="5104181" y="2148840"/>
            <a:ext cx="1980590" cy="3017520"/>
          </a:xfrm>
          <a:prstGeom prst="roundRect">
            <a:avLst>
              <a:gd name="adj" fmla="val 4617"/>
            </a:avLst>
          </a:prstGeom>
          <a:solidFill>
            <a:srgbClr val="1F262C"/>
          </a:solidFill>
          <a:ln w="9525">
            <a:solidFill>
              <a:srgbClr val="39434B"/>
            </a:solidFill>
            <a:prstDash val="solid"/>
          </a:ln>
        </p:spPr>
      </p:sp>
      <p:sp>
        <p:nvSpPr>
          <p:cNvPr id="20" name="Text 16"/>
          <p:cNvSpPr/>
          <p:nvPr/>
        </p:nvSpPr>
        <p:spPr>
          <a:xfrm>
            <a:off x="5268773" y="2286000"/>
            <a:ext cx="914400" cy="640080"/>
          </a:xfrm>
          <a:prstGeom prst="rect">
            <a:avLst/>
          </a:prstGeom>
          <a:noFill/>
          <a:ln/>
        </p:spPr>
        <p:txBody>
          <a:bodyPr wrap="square" lIns="0" tIns="0" rIns="0" bIns="0" rtlCol="0" anchor="ctr"/>
          <a:lstStyle/>
          <a:p>
            <a:pPr indent="0" marL="0">
              <a:buNone/>
            </a:pPr>
            <a:r>
              <a:rPr lang="en-US" sz="3000" b="1" dirty="0">
                <a:solidFill>
                  <a:srgbClr val="E8491D"/>
                </a:solidFill>
                <a:latin typeface="Arial" pitchFamily="34" charset="0"/>
                <a:ea typeface="Arial" pitchFamily="34" charset="-122"/>
                <a:cs typeface="Arial" pitchFamily="34" charset="-120"/>
              </a:rPr>
              <a:t>3</a:t>
            </a:r>
            <a:endParaRPr lang="en-US" sz="3000" dirty="0"/>
          </a:p>
        </p:txBody>
      </p:sp>
      <p:sp>
        <p:nvSpPr>
          <p:cNvPr id="21" name="Shape 17"/>
          <p:cNvSpPr/>
          <p:nvPr/>
        </p:nvSpPr>
        <p:spPr>
          <a:xfrm>
            <a:off x="6371539" y="2331720"/>
            <a:ext cx="502920" cy="502920"/>
          </a:xfrm>
          <a:prstGeom prst="ellipse">
            <a:avLst/>
          </a:prstGeom>
          <a:solidFill>
            <a:srgbClr val="E8491D"/>
          </a:solidFill>
          <a:ln/>
        </p:spPr>
      </p:sp>
      <p:pic>
        <p:nvPicPr>
          <p:cNvPr id="22" name="Image 2" descr="/tmp/claude-0/-home-user-My-Future-Idaes/0806094f-208a-506e-82b2-f78683d50c82/scratchpad/icons/FaUsers_white.png">    </p:cNvPr>
          <p:cNvPicPr>
            <a:picLocks noChangeAspect="1"/>
          </p:cNvPicPr>
          <p:nvPr/>
        </p:nvPicPr>
        <p:blipFill>
          <a:blip r:embed="rId3"/>
          <a:stretch>
            <a:fillRect/>
          </a:stretch>
        </p:blipFill>
        <p:spPr>
          <a:xfrm>
            <a:off x="6492240" y="2452421"/>
            <a:ext cx="261518" cy="261518"/>
          </a:xfrm>
          <a:prstGeom prst="rect">
            <a:avLst/>
          </a:prstGeom>
        </p:spPr>
      </p:pic>
      <p:sp>
        <p:nvSpPr>
          <p:cNvPr id="23" name="Text 18"/>
          <p:cNvSpPr/>
          <p:nvPr/>
        </p:nvSpPr>
        <p:spPr>
          <a:xfrm>
            <a:off x="5268773" y="3063240"/>
            <a:ext cx="1651406" cy="365760"/>
          </a:xfrm>
          <a:prstGeom prst="rect">
            <a:avLst/>
          </a:prstGeom>
          <a:noFill/>
          <a:ln/>
        </p:spPr>
        <p:txBody>
          <a:bodyPr wrap="square" lIns="0" tIns="0" rIns="0" bIns="0" rtlCol="0" anchor="ctr"/>
          <a:lstStyle/>
          <a:p>
            <a:pPr indent="0" marL="0">
              <a:buNone/>
            </a:pPr>
            <a:r>
              <a:rPr lang="en-US" sz="1350" b="1" spc="100" kern="0" dirty="0">
                <a:solidFill>
                  <a:srgbClr val="FFFFFF"/>
                </a:solidFill>
                <a:latin typeface="Arial" pitchFamily="34" charset="0"/>
                <a:ea typeface="Arial" pitchFamily="34" charset="-122"/>
                <a:cs typeface="Arial" pitchFamily="34" charset="-120"/>
              </a:rPr>
              <a:t>DEPLOY</a:t>
            </a:r>
            <a:endParaRPr lang="en-US" sz="1350" dirty="0"/>
          </a:p>
        </p:txBody>
      </p:sp>
      <p:sp>
        <p:nvSpPr>
          <p:cNvPr id="24" name="Text 19"/>
          <p:cNvSpPr/>
          <p:nvPr/>
        </p:nvSpPr>
        <p:spPr>
          <a:xfrm>
            <a:off x="5268773" y="3474720"/>
            <a:ext cx="1651406" cy="1463040"/>
          </a:xfrm>
          <a:prstGeom prst="rect">
            <a:avLst/>
          </a:prstGeom>
          <a:noFill/>
          <a:ln/>
        </p:spPr>
        <p:txBody>
          <a:bodyPr wrap="square" lIns="0" tIns="0" rIns="0" bIns="0" rtlCol="0" anchor="ctr"/>
          <a:lstStyle/>
          <a:p>
            <a:pPr indent="0" marL="0">
              <a:buNone/>
            </a:pPr>
            <a:r>
              <a:rPr lang="en-US" sz="1000" dirty="0">
                <a:solidFill>
                  <a:srgbClr val="9AA5AD"/>
                </a:solidFill>
                <a:latin typeface="Arial" pitchFamily="34" charset="0"/>
                <a:ea typeface="Arial" pitchFamily="34" charset="-122"/>
                <a:cs typeface="Arial" pitchFamily="34" charset="-120"/>
              </a:rPr>
              <a:t>First tasks out: hose team, muster check, isolation.</a:t>
            </a:r>
            <a:endParaRPr lang="en-US" sz="1000" dirty="0"/>
          </a:p>
        </p:txBody>
      </p:sp>
      <p:sp>
        <p:nvSpPr>
          <p:cNvPr id="25" name="Shape 20"/>
          <p:cNvSpPr/>
          <p:nvPr/>
        </p:nvSpPr>
        <p:spPr>
          <a:xfrm>
            <a:off x="7359091" y="2148840"/>
            <a:ext cx="1980590" cy="3017520"/>
          </a:xfrm>
          <a:prstGeom prst="roundRect">
            <a:avLst>
              <a:gd name="adj" fmla="val 4617"/>
            </a:avLst>
          </a:prstGeom>
          <a:solidFill>
            <a:srgbClr val="1F262C"/>
          </a:solidFill>
          <a:ln w="9525">
            <a:solidFill>
              <a:srgbClr val="39434B"/>
            </a:solidFill>
            <a:prstDash val="solid"/>
          </a:ln>
        </p:spPr>
      </p:sp>
      <p:sp>
        <p:nvSpPr>
          <p:cNvPr id="26" name="Text 21"/>
          <p:cNvSpPr/>
          <p:nvPr/>
        </p:nvSpPr>
        <p:spPr>
          <a:xfrm>
            <a:off x="7523683" y="2286000"/>
            <a:ext cx="914400" cy="640080"/>
          </a:xfrm>
          <a:prstGeom prst="rect">
            <a:avLst/>
          </a:prstGeom>
          <a:noFill/>
          <a:ln/>
        </p:spPr>
        <p:txBody>
          <a:bodyPr wrap="square" lIns="0" tIns="0" rIns="0" bIns="0" rtlCol="0" anchor="ctr"/>
          <a:lstStyle/>
          <a:p>
            <a:pPr indent="0" marL="0">
              <a:buNone/>
            </a:pPr>
            <a:r>
              <a:rPr lang="en-US" sz="3000" b="1" dirty="0">
                <a:solidFill>
                  <a:srgbClr val="E8491D"/>
                </a:solidFill>
                <a:latin typeface="Arial" pitchFamily="34" charset="0"/>
                <a:ea typeface="Arial" pitchFamily="34" charset="-122"/>
                <a:cs typeface="Arial" pitchFamily="34" charset="-120"/>
              </a:rPr>
              <a:t>4</a:t>
            </a:r>
            <a:endParaRPr lang="en-US" sz="3000" dirty="0"/>
          </a:p>
        </p:txBody>
      </p:sp>
      <p:sp>
        <p:nvSpPr>
          <p:cNvPr id="27" name="Shape 22"/>
          <p:cNvSpPr/>
          <p:nvPr/>
        </p:nvSpPr>
        <p:spPr>
          <a:xfrm>
            <a:off x="8626450" y="2331720"/>
            <a:ext cx="502920" cy="502920"/>
          </a:xfrm>
          <a:prstGeom prst="ellipse">
            <a:avLst/>
          </a:prstGeom>
          <a:solidFill>
            <a:srgbClr val="E8491D"/>
          </a:solidFill>
          <a:ln/>
        </p:spPr>
      </p:sp>
      <p:pic>
        <p:nvPicPr>
          <p:cNvPr id="28" name="Image 3" descr="/tmp/claude-0/-home-user-My-Future-Idaes/0806094f-208a-506e-82b2-f78683d50c82/scratchpad/icons/FaBroadcastTower_white.png">    </p:cNvPr>
          <p:cNvPicPr>
            <a:picLocks noChangeAspect="1"/>
          </p:cNvPicPr>
          <p:nvPr/>
        </p:nvPicPr>
        <p:blipFill>
          <a:blip r:embed="rId4"/>
          <a:stretch>
            <a:fillRect/>
          </a:stretch>
        </p:blipFill>
        <p:spPr>
          <a:xfrm>
            <a:off x="8747150" y="2452421"/>
            <a:ext cx="261518" cy="261518"/>
          </a:xfrm>
          <a:prstGeom prst="rect">
            <a:avLst/>
          </a:prstGeom>
        </p:spPr>
      </p:pic>
      <p:sp>
        <p:nvSpPr>
          <p:cNvPr id="29" name="Text 23"/>
          <p:cNvSpPr/>
          <p:nvPr/>
        </p:nvSpPr>
        <p:spPr>
          <a:xfrm>
            <a:off x="7523683" y="3063240"/>
            <a:ext cx="1651406" cy="365760"/>
          </a:xfrm>
          <a:prstGeom prst="rect">
            <a:avLst/>
          </a:prstGeom>
          <a:noFill/>
          <a:ln/>
        </p:spPr>
        <p:txBody>
          <a:bodyPr wrap="square" lIns="0" tIns="0" rIns="0" bIns="0" rtlCol="0" anchor="ctr"/>
          <a:lstStyle/>
          <a:p>
            <a:pPr indent="0" marL="0">
              <a:buNone/>
            </a:pPr>
            <a:r>
              <a:rPr lang="en-US" sz="1350" b="1" spc="100" kern="0" dirty="0">
                <a:solidFill>
                  <a:srgbClr val="FFFFFF"/>
                </a:solidFill>
                <a:latin typeface="Arial" pitchFamily="34" charset="0"/>
                <a:ea typeface="Arial" pitchFamily="34" charset="-122"/>
                <a:cs typeface="Arial" pitchFamily="34" charset="-120"/>
              </a:rPr>
              <a:t>COMMUNICATE</a:t>
            </a:r>
            <a:endParaRPr lang="en-US" sz="1350" dirty="0"/>
          </a:p>
        </p:txBody>
      </p:sp>
      <p:sp>
        <p:nvSpPr>
          <p:cNvPr id="30" name="Text 24"/>
          <p:cNvSpPr/>
          <p:nvPr/>
        </p:nvSpPr>
        <p:spPr>
          <a:xfrm>
            <a:off x="7523683" y="3474720"/>
            <a:ext cx="1651406" cy="1463040"/>
          </a:xfrm>
          <a:prstGeom prst="rect">
            <a:avLst/>
          </a:prstGeom>
          <a:noFill/>
          <a:ln/>
        </p:spPr>
        <p:txBody>
          <a:bodyPr wrap="square" lIns="0" tIns="0" rIns="0" bIns="0" rtlCol="0" anchor="ctr"/>
          <a:lstStyle/>
          <a:p>
            <a:pPr indent="0" marL="0">
              <a:buNone/>
            </a:pPr>
            <a:r>
              <a:rPr lang="en-US" sz="1000" dirty="0">
                <a:solidFill>
                  <a:srgbClr val="9AA5AD"/>
                </a:solidFill>
                <a:latin typeface="Arial" pitchFamily="34" charset="0"/>
                <a:ea typeface="Arial" pitchFamily="34" charset="-122"/>
                <a:cs typeface="Arial" pitchFamily="34" charset="-120"/>
              </a:rPr>
              <a:t>First SITREP up to rig management — 20 seconds, structured.</a:t>
            </a:r>
            <a:endParaRPr lang="en-US" sz="1000" dirty="0"/>
          </a:p>
        </p:txBody>
      </p:sp>
      <p:sp>
        <p:nvSpPr>
          <p:cNvPr id="31" name="Shape 25"/>
          <p:cNvSpPr/>
          <p:nvPr/>
        </p:nvSpPr>
        <p:spPr>
          <a:xfrm>
            <a:off x="9614002" y="2148840"/>
            <a:ext cx="1980590" cy="3017520"/>
          </a:xfrm>
          <a:prstGeom prst="roundRect">
            <a:avLst>
              <a:gd name="adj" fmla="val 4617"/>
            </a:avLst>
          </a:prstGeom>
          <a:solidFill>
            <a:srgbClr val="1F262C"/>
          </a:solidFill>
          <a:ln w="9525">
            <a:solidFill>
              <a:srgbClr val="39434B"/>
            </a:solidFill>
            <a:prstDash val="solid"/>
          </a:ln>
        </p:spPr>
      </p:sp>
      <p:sp>
        <p:nvSpPr>
          <p:cNvPr id="32" name="Text 26"/>
          <p:cNvSpPr/>
          <p:nvPr/>
        </p:nvSpPr>
        <p:spPr>
          <a:xfrm>
            <a:off x="9778594" y="2286000"/>
            <a:ext cx="914400" cy="640080"/>
          </a:xfrm>
          <a:prstGeom prst="rect">
            <a:avLst/>
          </a:prstGeom>
          <a:noFill/>
          <a:ln/>
        </p:spPr>
        <p:txBody>
          <a:bodyPr wrap="square" lIns="0" tIns="0" rIns="0" bIns="0" rtlCol="0" anchor="ctr"/>
          <a:lstStyle/>
          <a:p>
            <a:pPr indent="0" marL="0">
              <a:buNone/>
            </a:pPr>
            <a:r>
              <a:rPr lang="en-US" sz="3000" b="1" dirty="0">
                <a:solidFill>
                  <a:srgbClr val="E8491D"/>
                </a:solidFill>
                <a:latin typeface="Arial" pitchFamily="34" charset="0"/>
                <a:ea typeface="Arial" pitchFamily="34" charset="-122"/>
                <a:cs typeface="Arial" pitchFamily="34" charset="-120"/>
              </a:rPr>
              <a:t>5</a:t>
            </a:r>
            <a:endParaRPr lang="en-US" sz="3000" dirty="0"/>
          </a:p>
        </p:txBody>
      </p:sp>
      <p:sp>
        <p:nvSpPr>
          <p:cNvPr id="33" name="Shape 27"/>
          <p:cNvSpPr/>
          <p:nvPr/>
        </p:nvSpPr>
        <p:spPr>
          <a:xfrm>
            <a:off x="10881360" y="2331720"/>
            <a:ext cx="502920" cy="502920"/>
          </a:xfrm>
          <a:prstGeom prst="ellipse">
            <a:avLst/>
          </a:prstGeom>
          <a:solidFill>
            <a:srgbClr val="E8491D"/>
          </a:solidFill>
          <a:ln/>
        </p:spPr>
      </p:sp>
      <p:pic>
        <p:nvPicPr>
          <p:cNvPr id="34" name="Image 4" descr="/tmp/claude-0/-home-user-My-Future-Idaes/0806094f-208a-506e-82b2-f78683d50c82/scratchpad/icons/FaSyncAlt_white.png">    </p:cNvPr>
          <p:cNvPicPr>
            <a:picLocks noChangeAspect="1"/>
          </p:cNvPicPr>
          <p:nvPr/>
        </p:nvPicPr>
        <p:blipFill>
          <a:blip r:embed="rId5"/>
          <a:stretch>
            <a:fillRect/>
          </a:stretch>
        </p:blipFill>
        <p:spPr>
          <a:xfrm>
            <a:off x="11002061" y="2452421"/>
            <a:ext cx="261518" cy="261518"/>
          </a:xfrm>
          <a:prstGeom prst="rect">
            <a:avLst/>
          </a:prstGeom>
        </p:spPr>
      </p:pic>
      <p:sp>
        <p:nvSpPr>
          <p:cNvPr id="35" name="Text 28"/>
          <p:cNvSpPr/>
          <p:nvPr/>
        </p:nvSpPr>
        <p:spPr>
          <a:xfrm>
            <a:off x="9778594" y="3063240"/>
            <a:ext cx="1651406" cy="365760"/>
          </a:xfrm>
          <a:prstGeom prst="rect">
            <a:avLst/>
          </a:prstGeom>
          <a:noFill/>
          <a:ln/>
        </p:spPr>
        <p:txBody>
          <a:bodyPr wrap="square" lIns="0" tIns="0" rIns="0" bIns="0" rtlCol="0" anchor="ctr"/>
          <a:lstStyle/>
          <a:p>
            <a:pPr indent="0" marL="0">
              <a:buNone/>
            </a:pPr>
            <a:r>
              <a:rPr lang="en-US" sz="1350" b="1" spc="100" kern="0" dirty="0">
                <a:solidFill>
                  <a:srgbClr val="FFFFFF"/>
                </a:solidFill>
                <a:latin typeface="Arial" pitchFamily="34" charset="0"/>
                <a:ea typeface="Arial" pitchFamily="34" charset="-122"/>
                <a:cs typeface="Arial" pitchFamily="34" charset="-120"/>
              </a:rPr>
              <a:t>REASSESS</a:t>
            </a:r>
            <a:endParaRPr lang="en-US" sz="1350" dirty="0"/>
          </a:p>
        </p:txBody>
      </p:sp>
      <p:sp>
        <p:nvSpPr>
          <p:cNvPr id="36" name="Text 29"/>
          <p:cNvSpPr/>
          <p:nvPr/>
        </p:nvSpPr>
        <p:spPr>
          <a:xfrm>
            <a:off x="9778594" y="3474720"/>
            <a:ext cx="1651406" cy="1463040"/>
          </a:xfrm>
          <a:prstGeom prst="rect">
            <a:avLst/>
          </a:prstGeom>
          <a:noFill/>
          <a:ln/>
        </p:spPr>
        <p:txBody>
          <a:bodyPr wrap="square" lIns="0" tIns="0" rIns="0" bIns="0" rtlCol="0" anchor="ctr"/>
          <a:lstStyle/>
          <a:p>
            <a:pPr indent="0" marL="0">
              <a:buNone/>
            </a:pPr>
            <a:r>
              <a:rPr lang="en-US" sz="1000" dirty="0">
                <a:solidFill>
                  <a:srgbClr val="9AA5AD"/>
                </a:solidFill>
                <a:latin typeface="Arial" pitchFamily="34" charset="0"/>
                <a:ea typeface="Arial" pitchFamily="34" charset="-122"/>
                <a:cs typeface="Arial" pitchFamily="34" charset="-120"/>
              </a:rPr>
              <a:t>Loop. Conditions changed the moment you started.</a:t>
            </a:r>
            <a:endParaRPr lang="en-US" sz="1000" dirty="0"/>
          </a:p>
        </p:txBody>
      </p:sp>
      <p:sp>
        <p:nvSpPr>
          <p:cNvPr id="37" name="Text 30"/>
          <p:cNvSpPr/>
          <p:nvPr/>
        </p:nvSpPr>
        <p:spPr>
          <a:xfrm>
            <a:off x="594360" y="5486400"/>
            <a:ext cx="11000232" cy="548640"/>
          </a:xfrm>
          <a:prstGeom prst="rect">
            <a:avLst/>
          </a:prstGeom>
          <a:noFill/>
          <a:ln/>
        </p:spPr>
        <p:txBody>
          <a:bodyPr wrap="square" lIns="0" tIns="0" rIns="0" bIns="0" rtlCol="0" anchor="ctr"/>
          <a:lstStyle/>
          <a:p>
            <a:pPr indent="0" marL="0">
              <a:buNone/>
            </a:pPr>
            <a:r>
              <a:rPr lang="en-US" sz="1250" b="1" dirty="0">
                <a:solidFill>
                  <a:srgbClr val="F5A623"/>
                </a:solidFill>
                <a:latin typeface="Arial" pitchFamily="34" charset="0"/>
                <a:ea typeface="Arial" pitchFamily="34" charset="-122"/>
                <a:cs typeface="Arial" pitchFamily="34" charset="-120"/>
              </a:rPr>
              <a:t>Drill target:  </a:t>
            </a:r>
            <a:pPr indent="0" marL="0">
              <a:buNone/>
            </a:pPr>
            <a:r>
              <a:rPr lang="en-US" sz="1250" dirty="0">
                <a:solidFill>
                  <a:srgbClr val="D9DEE2"/>
                </a:solidFill>
                <a:latin typeface="Arial" pitchFamily="34" charset="0"/>
                <a:ea typeface="Arial" pitchFamily="34" charset="-122"/>
                <a:cs typeface="Arial" pitchFamily="34" charset="-120"/>
              </a:rPr>
              <a:t>all five, out loud, inside 60 seconds — under a stopwatch, in front of the class. You will run this drill until it is reflex.</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4181C"/>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9AA5AD"/>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9AA5AD"/>
                </a:solidFill>
                <a:latin typeface="Arial" pitchFamily="34" charset="0"/>
                <a:ea typeface="Arial" pitchFamily="34" charset="-122"/>
                <a:cs typeface="Arial" pitchFamily="34" charset="-120"/>
              </a:rPr>
              <a:t>22</a:t>
            </a:r>
            <a:endParaRPr lang="en-US" sz="850" dirty="0"/>
          </a:p>
        </p:txBody>
      </p:sp>
      <p:pic>
        <p:nvPicPr>
          <p:cNvPr id="4" name="Image 0" descr="/home/user/My-Future-Idaes/SANAD-Fire-Team-Leader-Course/assets/img/flames.jpg">    </p:cNvPr>
          <p:cNvPicPr>
            <a:picLocks noChangeAspect="1"/>
          </p:cNvPicPr>
          <p:nvPr/>
        </p:nvPicPr>
        <p:blipFill>
          <a:blip r:embed="rId1"/>
          <a:srcRect l="0" r="0" t="0" b="0"/>
          <a:stretch/>
        </p:blipFill>
        <p:spPr>
          <a:xfrm>
            <a:off x="0" y="0"/>
            <a:ext cx="12188952" cy="6858000"/>
          </a:xfrm>
          <a:prstGeom prst="rect">
            <a:avLst/>
          </a:prstGeom>
        </p:spPr>
      </p:pic>
      <p:sp>
        <p:nvSpPr>
          <p:cNvPr id="5" name="Shape 2"/>
          <p:cNvSpPr/>
          <p:nvPr/>
        </p:nvSpPr>
        <p:spPr>
          <a:xfrm>
            <a:off x="0" y="0"/>
            <a:ext cx="12188952" cy="6858000"/>
          </a:xfrm>
          <a:prstGeom prst="rect">
            <a:avLst/>
          </a:prstGeom>
          <a:solidFill>
            <a:srgbClr val="14181C">
              <a:alpha val="78000"/>
            </a:srgbClr>
          </a:solidFill>
          <a:ln/>
        </p:spPr>
      </p:sp>
      <p:sp>
        <p:nvSpPr>
          <p:cNvPr id="6" name="Text 3"/>
          <p:cNvSpPr/>
          <p:nvPr/>
        </p:nvSpPr>
        <p:spPr>
          <a:xfrm>
            <a:off x="594360" y="502920"/>
            <a:ext cx="54864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Arial" pitchFamily="34" charset="0"/>
                <a:ea typeface="Arial" pitchFamily="34" charset="-122"/>
                <a:cs typeface="Arial" pitchFamily="34" charset="-120"/>
              </a:rPr>
              <a:t>CASE STUDY — MODULE 1</a:t>
            </a:r>
            <a:endParaRPr lang="en-US" sz="1200" dirty="0"/>
          </a:p>
        </p:txBody>
      </p:sp>
      <p:sp>
        <p:nvSpPr>
          <p:cNvPr id="7" name="Text 4"/>
          <p:cNvSpPr/>
          <p:nvPr/>
        </p:nvSpPr>
        <p:spPr>
          <a:xfrm>
            <a:off x="594360" y="868680"/>
            <a:ext cx="7315200" cy="1280160"/>
          </a:xfrm>
          <a:prstGeom prst="rect">
            <a:avLst/>
          </a:prstGeom>
          <a:noFill/>
          <a:ln/>
        </p:spPr>
        <p:txBody>
          <a:bodyPr wrap="square" lIns="0" tIns="0" rIns="0" bIns="0" rtlCol="0" anchor="ctr"/>
          <a:lstStyle/>
          <a:p>
            <a:pPr indent="0" marL="0">
              <a:lnSpc>
                <a:spcPts val="3400"/>
              </a:lnSpc>
              <a:buNone/>
            </a:pPr>
            <a:r>
              <a:rPr lang="en-US" sz="3000" b="1" dirty="0">
                <a:solidFill>
                  <a:srgbClr val="FFFFFF"/>
                </a:solidFill>
                <a:latin typeface="Arial" pitchFamily="34" charset="0"/>
                <a:ea typeface="Arial" pitchFamily="34" charset="-122"/>
                <a:cs typeface="Arial" pitchFamily="34" charset="-120"/>
              </a:rPr>
              <a:t>When command fails:</a:t>
            </a:r>
            <a:endParaRPr lang="en-US" sz="3000" dirty="0"/>
          </a:p>
          <a:p>
            <a:pPr indent="0" marL="0">
              <a:lnSpc>
                <a:spcPts val="3400"/>
              </a:lnSpc>
              <a:buNone/>
            </a:pPr>
            <a:r>
              <a:rPr lang="en-US" sz="3000" b="1" dirty="0">
                <a:solidFill>
                  <a:srgbClr val="FFFFFF"/>
                </a:solidFill>
                <a:latin typeface="Arial" pitchFamily="34" charset="0"/>
                <a:ea typeface="Arial" pitchFamily="34" charset="-122"/>
                <a:cs typeface="Arial" pitchFamily="34" charset="-120"/>
              </a:rPr>
              <a:t>Piper Alpha, 1988</a:t>
            </a:r>
            <a:endParaRPr lang="en-US" sz="3000" dirty="0"/>
          </a:p>
        </p:txBody>
      </p:sp>
      <p:sp>
        <p:nvSpPr>
          <p:cNvPr id="8" name="Shape 5"/>
          <p:cNvSpPr/>
          <p:nvPr/>
        </p:nvSpPr>
        <p:spPr>
          <a:xfrm>
            <a:off x="594360" y="2514600"/>
            <a:ext cx="5317236" cy="1207008"/>
          </a:xfrm>
          <a:prstGeom prst="roundRect">
            <a:avLst>
              <a:gd name="adj" fmla="val 6061"/>
            </a:avLst>
          </a:prstGeom>
          <a:solidFill>
            <a:srgbClr val="14181C">
              <a:alpha val="82000"/>
            </a:srgbClr>
          </a:solidFill>
          <a:ln/>
        </p:spPr>
      </p:sp>
      <p:sp>
        <p:nvSpPr>
          <p:cNvPr id="9" name="Text 6"/>
          <p:cNvSpPr/>
          <p:nvPr/>
        </p:nvSpPr>
        <p:spPr>
          <a:xfrm>
            <a:off x="822960" y="2624328"/>
            <a:ext cx="4860036" cy="1005840"/>
          </a:xfrm>
          <a:prstGeom prst="rect">
            <a:avLst/>
          </a:prstGeom>
          <a:noFill/>
          <a:ln/>
        </p:spPr>
        <p:txBody>
          <a:bodyPr wrap="square" lIns="0" tIns="0" rIns="0" bIns="0" rtlCol="0" anchor="ctr"/>
          <a:lstStyle/>
          <a:p>
            <a:pPr indent="0" marL="0">
              <a:buNone/>
            </a:pPr>
            <a:r>
              <a:rPr lang="en-US" sz="1300" b="1" dirty="0">
                <a:solidFill>
                  <a:srgbClr val="F5A623"/>
                </a:solidFill>
                <a:latin typeface="Arial" pitchFamily="34" charset="0"/>
                <a:ea typeface="Arial" pitchFamily="34" charset="-122"/>
                <a:cs typeface="Arial" pitchFamily="34" charset="-120"/>
              </a:rPr>
              <a:t>167 lives  —  </a:t>
            </a:r>
            <a:pPr indent="0" marL="0">
              <a:buNone/>
            </a:pPr>
            <a:r>
              <a:rPr lang="en-US" sz="1150" dirty="0">
                <a:solidFill>
                  <a:srgbClr val="E8EBED"/>
                </a:solidFill>
                <a:latin typeface="Arial" pitchFamily="34" charset="0"/>
                <a:ea typeface="Arial" pitchFamily="34" charset="-122"/>
                <a:cs typeface="Arial" pitchFamily="34" charset="-120"/>
              </a:rPr>
              <a:t>lost on a North Sea production platform — the industry's darkest leadership lesson.</a:t>
            </a:r>
            <a:endParaRPr lang="en-US" sz="1300" dirty="0"/>
          </a:p>
        </p:txBody>
      </p:sp>
      <p:sp>
        <p:nvSpPr>
          <p:cNvPr id="10" name="Shape 7"/>
          <p:cNvSpPr/>
          <p:nvPr/>
        </p:nvSpPr>
        <p:spPr>
          <a:xfrm>
            <a:off x="6277356" y="2514600"/>
            <a:ext cx="5317236" cy="1207008"/>
          </a:xfrm>
          <a:prstGeom prst="roundRect">
            <a:avLst>
              <a:gd name="adj" fmla="val 6061"/>
            </a:avLst>
          </a:prstGeom>
          <a:solidFill>
            <a:srgbClr val="14181C">
              <a:alpha val="82000"/>
            </a:srgbClr>
          </a:solidFill>
          <a:ln/>
        </p:spPr>
      </p:sp>
      <p:sp>
        <p:nvSpPr>
          <p:cNvPr id="11" name="Text 8"/>
          <p:cNvSpPr/>
          <p:nvPr/>
        </p:nvSpPr>
        <p:spPr>
          <a:xfrm>
            <a:off x="6505956" y="2624328"/>
            <a:ext cx="4860036" cy="1005840"/>
          </a:xfrm>
          <a:prstGeom prst="rect">
            <a:avLst/>
          </a:prstGeom>
          <a:noFill/>
          <a:ln/>
        </p:spPr>
        <p:txBody>
          <a:bodyPr wrap="square" lIns="0" tIns="0" rIns="0" bIns="0" rtlCol="0" anchor="ctr"/>
          <a:lstStyle/>
          <a:p>
            <a:pPr indent="0" marL="0">
              <a:buNone/>
            </a:pPr>
            <a:r>
              <a:rPr lang="en-US" sz="1300" b="1" dirty="0">
                <a:solidFill>
                  <a:srgbClr val="F5A623"/>
                </a:solidFill>
                <a:latin typeface="Arial" pitchFamily="34" charset="0"/>
                <a:ea typeface="Arial" pitchFamily="34" charset="-122"/>
                <a:cs typeface="Arial" pitchFamily="34" charset="-120"/>
              </a:rPr>
              <a:t>Command vacuum  —  </a:t>
            </a:r>
            <a:pPr indent="0" marL="0">
              <a:buNone/>
            </a:pPr>
            <a:r>
              <a:rPr lang="en-US" sz="1150" dirty="0">
                <a:solidFill>
                  <a:srgbClr val="E8EBED"/>
                </a:solidFill>
                <a:latin typeface="Arial" pitchFamily="34" charset="0"/>
                <a:ea typeface="Arial" pitchFamily="34" charset="-122"/>
                <a:cs typeface="Arial" pitchFamily="34" charset="-120"/>
              </a:rPr>
              <a:t>Senior leadership was unable to take effective command; no clear orders reached the crew.</a:t>
            </a:r>
            <a:endParaRPr lang="en-US" sz="1300" dirty="0"/>
          </a:p>
        </p:txBody>
      </p:sp>
      <p:sp>
        <p:nvSpPr>
          <p:cNvPr id="12" name="Shape 9"/>
          <p:cNvSpPr/>
          <p:nvPr/>
        </p:nvSpPr>
        <p:spPr>
          <a:xfrm>
            <a:off x="594360" y="3886200"/>
            <a:ext cx="5317236" cy="1207008"/>
          </a:xfrm>
          <a:prstGeom prst="roundRect">
            <a:avLst>
              <a:gd name="adj" fmla="val 6061"/>
            </a:avLst>
          </a:prstGeom>
          <a:solidFill>
            <a:srgbClr val="14181C">
              <a:alpha val="82000"/>
            </a:srgbClr>
          </a:solidFill>
          <a:ln/>
        </p:spPr>
      </p:sp>
      <p:sp>
        <p:nvSpPr>
          <p:cNvPr id="13" name="Text 10"/>
          <p:cNvSpPr/>
          <p:nvPr/>
        </p:nvSpPr>
        <p:spPr>
          <a:xfrm>
            <a:off x="822960" y="3995928"/>
            <a:ext cx="4860036" cy="1005840"/>
          </a:xfrm>
          <a:prstGeom prst="rect">
            <a:avLst/>
          </a:prstGeom>
          <a:noFill/>
          <a:ln/>
        </p:spPr>
        <p:txBody>
          <a:bodyPr wrap="square" lIns="0" tIns="0" rIns="0" bIns="0" rtlCol="0" anchor="ctr"/>
          <a:lstStyle/>
          <a:p>
            <a:pPr indent="0" marL="0">
              <a:buNone/>
            </a:pPr>
            <a:r>
              <a:rPr lang="en-US" sz="1300" b="1" dirty="0">
                <a:solidFill>
                  <a:srgbClr val="F5A623"/>
                </a:solidFill>
                <a:latin typeface="Arial" pitchFamily="34" charset="0"/>
                <a:ea typeface="Arial" pitchFamily="34" charset="-122"/>
                <a:cs typeface="Arial" pitchFamily="34" charset="-120"/>
              </a:rPr>
              <a:t>Muster breakdown  —  </a:t>
            </a:r>
            <a:pPr indent="0" marL="0">
              <a:buNone/>
            </a:pPr>
            <a:r>
              <a:rPr lang="en-US" sz="1150" dirty="0">
                <a:solidFill>
                  <a:srgbClr val="E8EBED"/>
                </a:solidFill>
                <a:latin typeface="Arial" pitchFamily="34" charset="0"/>
                <a:ea typeface="Arial" pitchFamily="34" charset="-122"/>
                <a:cs typeface="Arial" pitchFamily="34" charset="-120"/>
              </a:rPr>
              <a:t>Most victims died waiting in the accommodation for instructions that never came.</a:t>
            </a:r>
            <a:endParaRPr lang="en-US" sz="1300" dirty="0"/>
          </a:p>
        </p:txBody>
      </p:sp>
      <p:sp>
        <p:nvSpPr>
          <p:cNvPr id="14" name="Shape 11"/>
          <p:cNvSpPr/>
          <p:nvPr/>
        </p:nvSpPr>
        <p:spPr>
          <a:xfrm>
            <a:off x="6277356" y="3886200"/>
            <a:ext cx="5317236" cy="1207008"/>
          </a:xfrm>
          <a:prstGeom prst="roundRect">
            <a:avLst>
              <a:gd name="adj" fmla="val 6061"/>
            </a:avLst>
          </a:prstGeom>
          <a:solidFill>
            <a:srgbClr val="14181C">
              <a:alpha val="82000"/>
            </a:srgbClr>
          </a:solidFill>
          <a:ln/>
        </p:spPr>
      </p:sp>
      <p:sp>
        <p:nvSpPr>
          <p:cNvPr id="15" name="Text 12"/>
          <p:cNvSpPr/>
          <p:nvPr/>
        </p:nvSpPr>
        <p:spPr>
          <a:xfrm>
            <a:off x="6505956" y="3995928"/>
            <a:ext cx="4860036" cy="1005840"/>
          </a:xfrm>
          <a:prstGeom prst="rect">
            <a:avLst/>
          </a:prstGeom>
          <a:noFill/>
          <a:ln/>
        </p:spPr>
        <p:txBody>
          <a:bodyPr wrap="square" lIns="0" tIns="0" rIns="0" bIns="0" rtlCol="0" anchor="ctr"/>
          <a:lstStyle/>
          <a:p>
            <a:pPr indent="0" marL="0">
              <a:buNone/>
            </a:pPr>
            <a:r>
              <a:rPr lang="en-US" sz="1300" b="1" dirty="0">
                <a:solidFill>
                  <a:srgbClr val="F5A623"/>
                </a:solidFill>
                <a:latin typeface="Arial" pitchFamily="34" charset="0"/>
                <a:ea typeface="Arial" pitchFamily="34" charset="-122"/>
                <a:cs typeface="Arial" pitchFamily="34" charset="-120"/>
              </a:rPr>
              <a:t>Survivors decided  —  </a:t>
            </a:r>
            <a:pPr indent="0" marL="0">
              <a:buNone/>
            </a:pPr>
            <a:r>
              <a:rPr lang="en-US" sz="1150" dirty="0">
                <a:solidFill>
                  <a:srgbClr val="E8EBED"/>
                </a:solidFill>
                <a:latin typeface="Arial" pitchFamily="34" charset="0"/>
                <a:ea typeface="Arial" pitchFamily="34" charset="-122"/>
                <a:cs typeface="Arial" pitchFamily="34" charset="-120"/>
              </a:rPr>
              <a:t>Those who lived largely made their own decision to move — leadership had defaulted to individuals.</a:t>
            </a:r>
            <a:endParaRPr lang="en-US" sz="1300" dirty="0"/>
          </a:p>
        </p:txBody>
      </p:sp>
      <p:sp>
        <p:nvSpPr>
          <p:cNvPr id="16" name="Shape 13"/>
          <p:cNvSpPr/>
          <p:nvPr/>
        </p:nvSpPr>
        <p:spPr>
          <a:xfrm>
            <a:off x="594360" y="5440680"/>
            <a:ext cx="11000232" cy="777240"/>
          </a:xfrm>
          <a:prstGeom prst="roundRect">
            <a:avLst>
              <a:gd name="adj" fmla="val 9412"/>
            </a:avLst>
          </a:prstGeom>
          <a:solidFill>
            <a:srgbClr val="E8491D"/>
          </a:solidFill>
          <a:ln/>
        </p:spPr>
      </p:sp>
      <p:sp>
        <p:nvSpPr>
          <p:cNvPr id="17" name="Text 14"/>
          <p:cNvSpPr/>
          <p:nvPr/>
        </p:nvSpPr>
        <p:spPr>
          <a:xfrm>
            <a:off x="868680" y="5440680"/>
            <a:ext cx="10451592" cy="77724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The lesson is not about equipment. It is that in the worst hour, somebody must visibly, audibly, unmistakably COMMAND.</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23</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1 — PRACTICAL</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Leading when the clock is hostile</a:t>
            </a:r>
            <a:endParaRPr lang="en-US" sz="3000" dirty="0"/>
          </a:p>
        </p:txBody>
      </p:sp>
      <p:sp>
        <p:nvSpPr>
          <p:cNvPr id="6" name="Shape 4"/>
          <p:cNvSpPr/>
          <p:nvPr/>
        </p:nvSpPr>
        <p:spPr>
          <a:xfrm>
            <a:off x="9445752" y="438912"/>
            <a:ext cx="2148840" cy="457200"/>
          </a:xfrm>
          <a:prstGeom prst="roundRect">
            <a:avLst>
              <a:gd name="adj" fmla="val 50000"/>
            </a:avLst>
          </a:prstGeom>
          <a:solidFill>
            <a:srgbClr val="E8491D"/>
          </a:solidFill>
          <a:ln/>
        </p:spPr>
      </p:sp>
      <p:sp>
        <p:nvSpPr>
          <p:cNvPr id="7" name="Text 5"/>
          <p:cNvSpPr/>
          <p:nvPr/>
        </p:nvSpPr>
        <p:spPr>
          <a:xfrm>
            <a:off x="9445752" y="438912"/>
            <a:ext cx="2148840" cy="457200"/>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Arial" pitchFamily="34" charset="0"/>
                <a:ea typeface="Arial" pitchFamily="34" charset="-122"/>
                <a:cs typeface="Arial" pitchFamily="34" charset="-120"/>
              </a:rPr>
              <a:t>PRACTICAL BLOCK</a:t>
            </a:r>
            <a:endParaRPr lang="en-US" sz="1100" dirty="0"/>
          </a:p>
        </p:txBody>
      </p:sp>
      <p:sp>
        <p:nvSpPr>
          <p:cNvPr id="8" name="Text 6"/>
          <p:cNvSpPr/>
          <p:nvPr/>
        </p:nvSpPr>
        <p:spPr>
          <a:xfrm>
            <a:off x="594360" y="1536192"/>
            <a:ext cx="11000232" cy="502920"/>
          </a:xfrm>
          <a:prstGeom prst="rect">
            <a:avLst/>
          </a:prstGeom>
          <a:noFill/>
          <a:ln/>
        </p:spPr>
        <p:txBody>
          <a:bodyPr wrap="square" lIns="0" tIns="0" rIns="0" bIns="0" rtlCol="0" anchor="ctr"/>
          <a:lstStyle/>
          <a:p>
            <a:pPr indent="0" marL="0">
              <a:buNone/>
            </a:pPr>
            <a:r>
              <a:rPr lang="en-US" sz="1350" i="1" dirty="0">
                <a:solidFill>
                  <a:srgbClr val="5A646C"/>
                </a:solidFill>
                <a:latin typeface="Arial" pitchFamily="34" charset="0"/>
                <a:ea typeface="Arial" pitchFamily="34" charset="-122"/>
                <a:cs typeface="Arial" pitchFamily="34" charset="-120"/>
              </a:rPr>
              <a:t>Instructor-led pressure labs. Every participant leads at least twice; every performance is peer-reviewed.</a:t>
            </a:r>
            <a:endParaRPr lang="en-US" sz="1350" dirty="0"/>
          </a:p>
        </p:txBody>
      </p:sp>
      <p:sp>
        <p:nvSpPr>
          <p:cNvPr id="9" name="Shape 7"/>
          <p:cNvSpPr/>
          <p:nvPr/>
        </p:nvSpPr>
        <p:spPr>
          <a:xfrm>
            <a:off x="594360" y="2194560"/>
            <a:ext cx="3453384" cy="3200400"/>
          </a:xfrm>
          <a:prstGeom prst="roundRect">
            <a:avLst>
              <a:gd name="adj" fmla="val 2857"/>
            </a:avLst>
          </a:prstGeom>
          <a:solidFill>
            <a:srgbClr val="F3F4F5"/>
          </a:solidFill>
          <a:ln/>
        </p:spPr>
      </p:sp>
      <p:sp>
        <p:nvSpPr>
          <p:cNvPr id="10" name="Shape 8"/>
          <p:cNvSpPr/>
          <p:nvPr/>
        </p:nvSpPr>
        <p:spPr>
          <a:xfrm>
            <a:off x="822960" y="2423160"/>
            <a:ext cx="548640" cy="548640"/>
          </a:xfrm>
          <a:prstGeom prst="ellipse">
            <a:avLst/>
          </a:prstGeom>
          <a:solidFill>
            <a:srgbClr val="E8491D"/>
          </a:solidFill>
          <a:ln/>
        </p:spPr>
      </p:sp>
      <p:pic>
        <p:nvPicPr>
          <p:cNvPr id="11" name="Image 0" descr="/tmp/claude-0/-home-user-My-Future-Idaes/0806094f-208a-506e-82b2-f78683d50c82/scratchpad/icons/FaUsers_white.png">    </p:cNvPr>
          <p:cNvPicPr>
            <a:picLocks noChangeAspect="1"/>
          </p:cNvPicPr>
          <p:nvPr/>
        </p:nvPicPr>
        <p:blipFill>
          <a:blip r:embed="rId1"/>
          <a:stretch>
            <a:fillRect/>
          </a:stretch>
        </p:blipFill>
        <p:spPr>
          <a:xfrm>
            <a:off x="954634" y="2554834"/>
            <a:ext cx="285293" cy="285293"/>
          </a:xfrm>
          <a:prstGeom prst="rect">
            <a:avLst/>
          </a:prstGeom>
        </p:spPr>
      </p:pic>
      <p:sp>
        <p:nvSpPr>
          <p:cNvPr id="12" name="Text 9"/>
          <p:cNvSpPr/>
          <p:nvPr/>
        </p:nvSpPr>
        <p:spPr>
          <a:xfrm>
            <a:off x="822960" y="3108960"/>
            <a:ext cx="2996184" cy="621792"/>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Leadership role-plays</a:t>
            </a:r>
            <a:endParaRPr lang="en-US" sz="1400" dirty="0"/>
          </a:p>
        </p:txBody>
      </p:sp>
      <p:sp>
        <p:nvSpPr>
          <p:cNvPr id="13" name="Text 10"/>
          <p:cNvSpPr/>
          <p:nvPr/>
        </p:nvSpPr>
        <p:spPr>
          <a:xfrm>
            <a:off x="822960" y="3749040"/>
            <a:ext cx="2996184" cy="150876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Take command of a staged rig incident: confused crew, conflicting reports, one radio. Lead the first five minutes.</a:t>
            </a:r>
            <a:endParaRPr lang="en-US" sz="1050" dirty="0"/>
          </a:p>
        </p:txBody>
      </p:sp>
      <p:sp>
        <p:nvSpPr>
          <p:cNvPr id="14" name="Shape 11"/>
          <p:cNvSpPr/>
          <p:nvPr/>
        </p:nvSpPr>
        <p:spPr>
          <a:xfrm>
            <a:off x="4367784" y="2194560"/>
            <a:ext cx="3453384" cy="3200400"/>
          </a:xfrm>
          <a:prstGeom prst="roundRect">
            <a:avLst>
              <a:gd name="adj" fmla="val 2857"/>
            </a:avLst>
          </a:prstGeom>
          <a:solidFill>
            <a:srgbClr val="F3F4F5"/>
          </a:solidFill>
          <a:ln/>
        </p:spPr>
      </p:sp>
      <p:sp>
        <p:nvSpPr>
          <p:cNvPr id="15" name="Shape 12"/>
          <p:cNvSpPr/>
          <p:nvPr/>
        </p:nvSpPr>
        <p:spPr>
          <a:xfrm>
            <a:off x="4596384" y="2423160"/>
            <a:ext cx="548640" cy="548640"/>
          </a:xfrm>
          <a:prstGeom prst="ellipse">
            <a:avLst/>
          </a:prstGeom>
          <a:solidFill>
            <a:srgbClr val="E8491D"/>
          </a:solidFill>
          <a:ln/>
        </p:spPr>
      </p:sp>
      <p:pic>
        <p:nvPicPr>
          <p:cNvPr id="16" name="Image 1" descr="/tmp/claude-0/-home-user-My-Future-Idaes/0806094f-208a-506e-82b2-f78683d50c82/scratchpad/icons/FaStopwatch_white.png">    </p:cNvPr>
          <p:cNvPicPr>
            <a:picLocks noChangeAspect="1"/>
          </p:cNvPicPr>
          <p:nvPr/>
        </p:nvPicPr>
        <p:blipFill>
          <a:blip r:embed="rId2"/>
          <a:stretch>
            <a:fillRect/>
          </a:stretch>
        </p:blipFill>
        <p:spPr>
          <a:xfrm>
            <a:off x="4728058" y="2554834"/>
            <a:ext cx="285293" cy="285293"/>
          </a:xfrm>
          <a:prstGeom prst="rect">
            <a:avLst/>
          </a:prstGeom>
        </p:spPr>
      </p:pic>
      <p:sp>
        <p:nvSpPr>
          <p:cNvPr id="17" name="Text 13"/>
          <p:cNvSpPr/>
          <p:nvPr/>
        </p:nvSpPr>
        <p:spPr>
          <a:xfrm>
            <a:off x="4596384" y="3108960"/>
            <a:ext cx="2996184" cy="621792"/>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60-second decision drills</a:t>
            </a:r>
            <a:endParaRPr lang="en-US" sz="1400" dirty="0"/>
          </a:p>
        </p:txBody>
      </p:sp>
      <p:sp>
        <p:nvSpPr>
          <p:cNvPr id="18" name="Text 14"/>
          <p:cNvSpPr/>
          <p:nvPr/>
        </p:nvSpPr>
        <p:spPr>
          <a:xfrm>
            <a:off x="4596384" y="3749040"/>
            <a:ext cx="2996184" cy="150876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Scenario cards, stopwatch running: assess, declare, deploy, communicate, reassess — graded on order and clarity.</a:t>
            </a:r>
            <a:endParaRPr lang="en-US" sz="1050" dirty="0"/>
          </a:p>
        </p:txBody>
      </p:sp>
      <p:sp>
        <p:nvSpPr>
          <p:cNvPr id="19" name="Shape 15"/>
          <p:cNvSpPr/>
          <p:nvPr/>
        </p:nvSpPr>
        <p:spPr>
          <a:xfrm>
            <a:off x="8141208" y="2194560"/>
            <a:ext cx="3453384" cy="3200400"/>
          </a:xfrm>
          <a:prstGeom prst="roundRect">
            <a:avLst>
              <a:gd name="adj" fmla="val 2857"/>
            </a:avLst>
          </a:prstGeom>
          <a:solidFill>
            <a:srgbClr val="F3F4F5"/>
          </a:solidFill>
          <a:ln/>
        </p:spPr>
      </p:sp>
      <p:sp>
        <p:nvSpPr>
          <p:cNvPr id="20" name="Shape 16"/>
          <p:cNvSpPr/>
          <p:nvPr/>
        </p:nvSpPr>
        <p:spPr>
          <a:xfrm>
            <a:off x="8369808" y="2423160"/>
            <a:ext cx="548640" cy="548640"/>
          </a:xfrm>
          <a:prstGeom prst="ellipse">
            <a:avLst/>
          </a:prstGeom>
          <a:solidFill>
            <a:srgbClr val="E8491D"/>
          </a:solidFill>
          <a:ln/>
        </p:spPr>
      </p:sp>
      <p:pic>
        <p:nvPicPr>
          <p:cNvPr id="21" name="Image 2" descr="/tmp/claude-0/-home-user-My-Future-Idaes/0806094f-208a-506e-82b2-f78683d50c82/scratchpad/icons/FaComments_white.png">    </p:cNvPr>
          <p:cNvPicPr>
            <a:picLocks noChangeAspect="1"/>
          </p:cNvPicPr>
          <p:nvPr/>
        </p:nvPicPr>
        <p:blipFill>
          <a:blip r:embed="rId3"/>
          <a:stretch>
            <a:fillRect/>
          </a:stretch>
        </p:blipFill>
        <p:spPr>
          <a:xfrm>
            <a:off x="8501482" y="2554834"/>
            <a:ext cx="285293" cy="285293"/>
          </a:xfrm>
          <a:prstGeom prst="rect">
            <a:avLst/>
          </a:prstGeom>
        </p:spPr>
      </p:pic>
      <p:sp>
        <p:nvSpPr>
          <p:cNvPr id="22" name="Text 17"/>
          <p:cNvSpPr/>
          <p:nvPr/>
        </p:nvSpPr>
        <p:spPr>
          <a:xfrm>
            <a:off x="8369808" y="3108960"/>
            <a:ext cx="2996184" cy="621792"/>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Hot-seat challenge</a:t>
            </a:r>
            <a:endParaRPr lang="en-US" sz="1400" dirty="0"/>
          </a:p>
        </p:txBody>
      </p:sp>
      <p:sp>
        <p:nvSpPr>
          <p:cNvPr id="23" name="Text 18"/>
          <p:cNvSpPr/>
          <p:nvPr/>
        </p:nvSpPr>
        <p:spPr>
          <a:xfrm>
            <a:off x="8369808" y="3749040"/>
            <a:ext cx="2996184" cy="150876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The class injects complications mid-scenario. Hold command, re-plan aloud, keep the team moving.</a:t>
            </a:r>
            <a:endParaRPr lang="en-US" sz="1050" dirty="0"/>
          </a:p>
        </p:txBody>
      </p:sp>
      <p:sp>
        <p:nvSpPr>
          <p:cNvPr id="24" name="Shape 19"/>
          <p:cNvSpPr/>
          <p:nvPr/>
        </p:nvSpPr>
        <p:spPr>
          <a:xfrm>
            <a:off x="594360" y="5623560"/>
            <a:ext cx="11000232" cy="658368"/>
          </a:xfrm>
          <a:prstGeom prst="roundRect">
            <a:avLst>
              <a:gd name="adj" fmla="val 11111"/>
            </a:avLst>
          </a:prstGeom>
          <a:solidFill>
            <a:srgbClr val="14181C"/>
          </a:solidFill>
          <a:ln/>
        </p:spPr>
      </p:sp>
      <p:sp>
        <p:nvSpPr>
          <p:cNvPr id="25" name="Text 20"/>
          <p:cNvSpPr/>
          <p:nvPr/>
        </p:nvSpPr>
        <p:spPr>
          <a:xfrm>
            <a:off x="822960" y="5623560"/>
            <a:ext cx="10543032" cy="658368"/>
          </a:xfrm>
          <a:prstGeom prst="rect">
            <a:avLst/>
          </a:prstGeom>
          <a:noFill/>
          <a:ln/>
        </p:spPr>
        <p:txBody>
          <a:bodyPr wrap="square" lIns="0" tIns="0" rIns="0" bIns="0" rtlCol="0" anchor="ctr"/>
          <a:lstStyle/>
          <a:p>
            <a:pPr indent="0" marL="0">
              <a:buNone/>
            </a:pPr>
            <a:r>
              <a:rPr lang="en-US" sz="1150" b="1" dirty="0">
                <a:solidFill>
                  <a:srgbClr val="F5A623"/>
                </a:solidFill>
                <a:latin typeface="Arial" pitchFamily="34" charset="0"/>
                <a:ea typeface="Arial" pitchFamily="34" charset="-122"/>
                <a:cs typeface="Arial" pitchFamily="34" charset="-120"/>
              </a:rPr>
              <a:t>ASSESSED:  </a:t>
            </a:r>
            <a:pPr indent="0" marL="0">
              <a:buNone/>
            </a:pPr>
            <a:r>
              <a:rPr lang="en-US" sz="1150" dirty="0">
                <a:solidFill>
                  <a:srgbClr val="FFFFFF"/>
                </a:solidFill>
                <a:latin typeface="Arial" pitchFamily="34" charset="0"/>
                <a:ea typeface="Arial" pitchFamily="34" charset="-122"/>
                <a:cs typeface="Arial" pitchFamily="34" charset="-120"/>
              </a:rPr>
              <a:t>Command declaration, task clarity, decision speed and composure — assessor scored against the Module 1 rubric.</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4181C"/>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9AA5AD"/>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9AA5AD"/>
                </a:solidFill>
                <a:latin typeface="Arial" pitchFamily="34" charset="0"/>
                <a:ea typeface="Arial" pitchFamily="34" charset="-122"/>
                <a:cs typeface="Arial" pitchFamily="34" charset="-120"/>
              </a:rPr>
              <a:t>24</a:t>
            </a:r>
            <a:endParaRPr lang="en-US" sz="850" dirty="0"/>
          </a:p>
        </p:txBody>
      </p:sp>
      <p:pic>
        <p:nvPicPr>
          <p:cNvPr id="4" name="Image 0" descr="/home/user/My-Future-Idaes/SANAD-Fire-Team-Leader-Course/assets/img/scba.jpg">    </p:cNvPr>
          <p:cNvPicPr>
            <a:picLocks noChangeAspect="1"/>
          </p:cNvPicPr>
          <p:nvPr/>
        </p:nvPicPr>
        <p:blipFill>
          <a:blip r:embed="rId1"/>
          <a:srcRect l="0" r="0" t="0" b="0"/>
          <a:stretch/>
        </p:blipFill>
        <p:spPr>
          <a:xfrm>
            <a:off x="7040880" y="0"/>
            <a:ext cx="5148072" cy="6858000"/>
          </a:xfrm>
          <a:prstGeom prst="rect">
            <a:avLst/>
          </a:prstGeom>
        </p:spPr>
      </p:pic>
      <p:sp>
        <p:nvSpPr>
          <p:cNvPr id="5" name="Shape 2"/>
          <p:cNvSpPr/>
          <p:nvPr/>
        </p:nvSpPr>
        <p:spPr>
          <a:xfrm>
            <a:off x="7040880" y="0"/>
            <a:ext cx="5148072" cy="6858000"/>
          </a:xfrm>
          <a:prstGeom prst="rect">
            <a:avLst/>
          </a:prstGeom>
          <a:solidFill>
            <a:srgbClr val="14181C">
              <a:alpha val="28000"/>
            </a:srgbClr>
          </a:solidFill>
          <a:ln/>
        </p:spPr>
      </p:sp>
      <p:sp>
        <p:nvSpPr>
          <p:cNvPr id="6" name="Text 3"/>
          <p:cNvSpPr/>
          <p:nvPr/>
        </p:nvSpPr>
        <p:spPr>
          <a:xfrm>
            <a:off x="594360" y="777240"/>
            <a:ext cx="2743200" cy="320040"/>
          </a:xfrm>
          <a:prstGeom prst="rect">
            <a:avLst/>
          </a:prstGeom>
          <a:noFill/>
          <a:ln/>
        </p:spPr>
        <p:txBody>
          <a:bodyPr wrap="square" lIns="0" tIns="0" rIns="0" bIns="0" rtlCol="0" anchor="ctr"/>
          <a:lstStyle/>
          <a:p>
            <a:pPr indent="0" marL="0">
              <a:buNone/>
            </a:pPr>
            <a:r>
              <a:rPr lang="en-US" sz="1300" b="1" spc="400" kern="0" dirty="0">
                <a:solidFill>
                  <a:srgbClr val="9AA5AD"/>
                </a:solidFill>
                <a:latin typeface="Arial" pitchFamily="34" charset="0"/>
                <a:ea typeface="Arial" pitchFamily="34" charset="-122"/>
                <a:cs typeface="Arial" pitchFamily="34" charset="-120"/>
              </a:rPr>
              <a:t>MODULE</a:t>
            </a:r>
            <a:endParaRPr lang="en-US" sz="1300" dirty="0"/>
          </a:p>
        </p:txBody>
      </p:sp>
      <p:sp>
        <p:nvSpPr>
          <p:cNvPr id="7" name="Text 4"/>
          <p:cNvSpPr/>
          <p:nvPr/>
        </p:nvSpPr>
        <p:spPr>
          <a:xfrm>
            <a:off x="548640" y="960120"/>
            <a:ext cx="2194560" cy="1554480"/>
          </a:xfrm>
          <a:prstGeom prst="rect">
            <a:avLst/>
          </a:prstGeom>
          <a:noFill/>
          <a:ln/>
        </p:spPr>
        <p:txBody>
          <a:bodyPr wrap="square" lIns="0" tIns="0" rIns="0" bIns="0" rtlCol="0" anchor="ctr"/>
          <a:lstStyle/>
          <a:p>
            <a:pPr indent="0" marL="0">
              <a:buNone/>
            </a:pPr>
            <a:r>
              <a:rPr lang="en-US" sz="9600" b="1" dirty="0">
                <a:solidFill>
                  <a:srgbClr val="E8491D"/>
                </a:solidFill>
                <a:latin typeface="Arial" pitchFamily="34" charset="0"/>
                <a:ea typeface="Arial" pitchFamily="34" charset="-122"/>
                <a:cs typeface="Arial" pitchFamily="34" charset="-120"/>
              </a:rPr>
              <a:t>02</a:t>
            </a:r>
            <a:endParaRPr lang="en-US" sz="9600" dirty="0"/>
          </a:p>
        </p:txBody>
      </p:sp>
      <p:sp>
        <p:nvSpPr>
          <p:cNvPr id="8" name="Text 5"/>
          <p:cNvSpPr/>
          <p:nvPr/>
        </p:nvSpPr>
        <p:spPr>
          <a:xfrm>
            <a:off x="594360" y="2651760"/>
            <a:ext cx="6309360" cy="1143000"/>
          </a:xfrm>
          <a:prstGeom prst="rect">
            <a:avLst/>
          </a:prstGeom>
          <a:noFill/>
          <a:ln/>
        </p:spPr>
        <p:txBody>
          <a:bodyPr wrap="square" lIns="0" tIns="0" rIns="0" bIns="0" rtlCol="0" anchor="ctr"/>
          <a:lstStyle/>
          <a:p>
            <a:pPr indent="0" marL="0">
              <a:lnSpc>
                <a:spcPts val="3600"/>
              </a:lnSpc>
              <a:buNone/>
            </a:pPr>
            <a:r>
              <a:rPr lang="en-US" sz="3100" b="1" dirty="0">
                <a:solidFill>
                  <a:srgbClr val="FFFFFF"/>
                </a:solidFill>
                <a:latin typeface="Arial" pitchFamily="34" charset="0"/>
                <a:ea typeface="Arial" pitchFamily="34" charset="-122"/>
                <a:cs typeface="Arial" pitchFamily="34" charset="-120"/>
              </a:rPr>
              <a:t>Human Factors &amp;</a:t>
            </a:r>
            <a:endParaRPr lang="en-US" sz="3100" dirty="0"/>
          </a:p>
          <a:p>
            <a:pPr indent="0" marL="0">
              <a:lnSpc>
                <a:spcPts val="3600"/>
              </a:lnSpc>
              <a:buNone/>
            </a:pPr>
            <a:r>
              <a:rPr lang="en-US" sz="3100" b="1" dirty="0">
                <a:solidFill>
                  <a:srgbClr val="FFFFFF"/>
                </a:solidFill>
                <a:latin typeface="Arial" pitchFamily="34" charset="0"/>
                <a:ea typeface="Arial" pitchFamily="34" charset="-122"/>
                <a:cs typeface="Arial" pitchFamily="34" charset="-120"/>
              </a:rPr>
              <a:t>Behavioral Leadership</a:t>
            </a:r>
            <a:endParaRPr lang="en-US" sz="3100" dirty="0"/>
          </a:p>
        </p:txBody>
      </p:sp>
      <p:sp>
        <p:nvSpPr>
          <p:cNvPr id="9" name="Text 6"/>
          <p:cNvSpPr/>
          <p:nvPr/>
        </p:nvSpPr>
        <p:spPr>
          <a:xfrm>
            <a:off x="594360" y="3840480"/>
            <a:ext cx="6126480" cy="685800"/>
          </a:xfrm>
          <a:prstGeom prst="rect">
            <a:avLst/>
          </a:prstGeom>
          <a:noFill/>
          <a:ln/>
        </p:spPr>
        <p:txBody>
          <a:bodyPr wrap="square" lIns="0" tIns="0" rIns="0" bIns="0" rtlCol="0" anchor="ctr"/>
          <a:lstStyle/>
          <a:p>
            <a:pPr indent="0" marL="0">
              <a:buNone/>
            </a:pPr>
            <a:r>
              <a:rPr lang="en-US" sz="1350" b="1" dirty="0">
                <a:solidFill>
                  <a:srgbClr val="F5A623"/>
                </a:solidFill>
                <a:latin typeface="Arial" pitchFamily="34" charset="0"/>
                <a:ea typeface="Arial" pitchFamily="34" charset="-122"/>
                <a:cs typeface="Arial" pitchFamily="34" charset="-120"/>
              </a:rPr>
              <a:t>OBJECTIVE — </a:t>
            </a:r>
            <a:pPr indent="0" marL="0">
              <a:buNone/>
            </a:pPr>
            <a:r>
              <a:rPr lang="en-US" sz="1350" dirty="0">
                <a:solidFill>
                  <a:srgbClr val="D9DEE2"/>
                </a:solidFill>
                <a:latin typeface="Arial" pitchFamily="34" charset="0"/>
                <a:ea typeface="Arial" pitchFamily="34" charset="-122"/>
                <a:cs typeface="Arial" pitchFamily="34" charset="-120"/>
              </a:rPr>
              <a:t>Manage team behavior and performance when fear enters the scene.</a:t>
            </a:r>
            <a:endParaRPr lang="en-US" sz="1350" dirty="0"/>
          </a:p>
        </p:txBody>
      </p:sp>
      <p:sp>
        <p:nvSpPr>
          <p:cNvPr id="10" name="Shape 7"/>
          <p:cNvSpPr/>
          <p:nvPr/>
        </p:nvSpPr>
        <p:spPr>
          <a:xfrm>
            <a:off x="594360" y="4828032"/>
            <a:ext cx="146304" cy="146304"/>
          </a:xfrm>
          <a:prstGeom prst="ellipse">
            <a:avLst/>
          </a:prstGeom>
          <a:solidFill>
            <a:srgbClr val="E8491D"/>
          </a:solidFill>
          <a:ln/>
        </p:spPr>
      </p:sp>
      <p:sp>
        <p:nvSpPr>
          <p:cNvPr id="11" name="Text 8"/>
          <p:cNvSpPr/>
          <p:nvPr/>
        </p:nvSpPr>
        <p:spPr>
          <a:xfrm>
            <a:off x="886968" y="4709160"/>
            <a:ext cx="2743200" cy="5029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Stress impact on performance</a:t>
            </a:r>
            <a:endParaRPr lang="en-US" sz="1150" dirty="0"/>
          </a:p>
        </p:txBody>
      </p:sp>
      <p:sp>
        <p:nvSpPr>
          <p:cNvPr id="12" name="Shape 9"/>
          <p:cNvSpPr/>
          <p:nvPr/>
        </p:nvSpPr>
        <p:spPr>
          <a:xfrm>
            <a:off x="3749040" y="4828032"/>
            <a:ext cx="146304" cy="146304"/>
          </a:xfrm>
          <a:prstGeom prst="ellipse">
            <a:avLst/>
          </a:prstGeom>
          <a:solidFill>
            <a:srgbClr val="E8491D"/>
          </a:solidFill>
          <a:ln/>
        </p:spPr>
      </p:sp>
      <p:sp>
        <p:nvSpPr>
          <p:cNvPr id="13" name="Text 10"/>
          <p:cNvSpPr/>
          <p:nvPr/>
        </p:nvSpPr>
        <p:spPr>
          <a:xfrm>
            <a:off x="4041648" y="4709160"/>
            <a:ext cx="2743200" cy="5029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Managing panic and fear</a:t>
            </a:r>
            <a:endParaRPr lang="en-US" sz="1150" dirty="0"/>
          </a:p>
        </p:txBody>
      </p:sp>
      <p:sp>
        <p:nvSpPr>
          <p:cNvPr id="14" name="Shape 11"/>
          <p:cNvSpPr/>
          <p:nvPr/>
        </p:nvSpPr>
        <p:spPr>
          <a:xfrm>
            <a:off x="594360" y="5486400"/>
            <a:ext cx="146304" cy="146304"/>
          </a:xfrm>
          <a:prstGeom prst="ellipse">
            <a:avLst/>
          </a:prstGeom>
          <a:solidFill>
            <a:srgbClr val="E8491D"/>
          </a:solidFill>
          <a:ln/>
        </p:spPr>
      </p:sp>
      <p:sp>
        <p:nvSpPr>
          <p:cNvPr id="15" name="Text 12"/>
          <p:cNvSpPr/>
          <p:nvPr/>
        </p:nvSpPr>
        <p:spPr>
          <a:xfrm>
            <a:off x="886968" y="5367528"/>
            <a:ext cx="2743200" cy="5029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Behavioral control &amp; discipline</a:t>
            </a:r>
            <a:endParaRPr lang="en-US" sz="1150" dirty="0"/>
          </a:p>
        </p:txBody>
      </p:sp>
      <p:sp>
        <p:nvSpPr>
          <p:cNvPr id="16" name="Shape 13"/>
          <p:cNvSpPr/>
          <p:nvPr/>
        </p:nvSpPr>
        <p:spPr>
          <a:xfrm>
            <a:off x="3749040" y="5486400"/>
            <a:ext cx="146304" cy="146304"/>
          </a:xfrm>
          <a:prstGeom prst="ellipse">
            <a:avLst/>
          </a:prstGeom>
          <a:solidFill>
            <a:srgbClr val="E8491D"/>
          </a:solidFill>
          <a:ln/>
        </p:spPr>
      </p:sp>
      <p:sp>
        <p:nvSpPr>
          <p:cNvPr id="17" name="Text 14"/>
          <p:cNvSpPr/>
          <p:nvPr/>
        </p:nvSpPr>
        <p:spPr>
          <a:xfrm>
            <a:off x="4041648" y="5367528"/>
            <a:ext cx="2743200" cy="5029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Preventing unsafe actions</a:t>
            </a:r>
            <a:endParaRPr lang="en-US" sz="1150" dirty="0"/>
          </a:p>
        </p:txBody>
      </p:sp>
      <p:sp>
        <p:nvSpPr>
          <p:cNvPr id="18" name="Shape 15"/>
          <p:cNvSpPr/>
          <p:nvPr/>
        </p:nvSpPr>
        <p:spPr>
          <a:xfrm>
            <a:off x="6080760" y="777240"/>
            <a:ext cx="640080" cy="640080"/>
          </a:xfrm>
          <a:prstGeom prst="ellipse">
            <a:avLst/>
          </a:prstGeom>
          <a:solidFill>
            <a:srgbClr val="1F262C"/>
          </a:solidFill>
          <a:ln/>
        </p:spPr>
      </p:sp>
      <p:pic>
        <p:nvPicPr>
          <p:cNvPr id="19" name="Image 1" descr="/tmp/claude-0/-home-user-My-Future-Idaes/0806094f-208a-506e-82b2-f78683d50c82/scratchpad/icons/FaBrain_flame.png">    </p:cNvPr>
          <p:cNvPicPr>
            <a:picLocks noChangeAspect="1"/>
          </p:cNvPicPr>
          <p:nvPr/>
        </p:nvPicPr>
        <p:blipFill>
          <a:blip r:embed="rId2"/>
          <a:stretch>
            <a:fillRect/>
          </a:stretch>
        </p:blipFill>
        <p:spPr>
          <a:xfrm>
            <a:off x="6234379" y="930859"/>
            <a:ext cx="332842" cy="332842"/>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25</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2</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What stress does to a firefighter</a:t>
            </a:r>
            <a:endParaRPr lang="en-US" sz="3000" dirty="0"/>
          </a:p>
        </p:txBody>
      </p:sp>
      <p:sp>
        <p:nvSpPr>
          <p:cNvPr id="6" name="Text 4"/>
          <p:cNvSpPr/>
          <p:nvPr/>
        </p:nvSpPr>
        <p:spPr>
          <a:xfrm>
            <a:off x="594360" y="1508760"/>
            <a:ext cx="10881360" cy="548640"/>
          </a:xfrm>
          <a:prstGeom prst="rect">
            <a:avLst/>
          </a:prstGeom>
          <a:noFill/>
          <a:ln/>
        </p:spPr>
        <p:txBody>
          <a:bodyPr wrap="square" lIns="0" tIns="0" rIns="0" bIns="0" rtlCol="0" anchor="ctr"/>
          <a:lstStyle/>
          <a:p>
            <a:pPr indent="0" marL="0">
              <a:buNone/>
            </a:pPr>
            <a:r>
              <a:rPr lang="en-US" sz="1350" i="1" dirty="0">
                <a:solidFill>
                  <a:srgbClr val="5A646C"/>
                </a:solidFill>
                <a:latin typeface="Arial" pitchFamily="34" charset="0"/>
                <a:ea typeface="Arial" pitchFamily="34" charset="-122"/>
                <a:cs typeface="Arial" pitchFamily="34" charset="-120"/>
              </a:rPr>
              <a:t>Under acute stress the body optimizes for running — not for fine skills, hearing or judgment. Leaders must expect and counter these effects:</a:t>
            </a:r>
            <a:endParaRPr lang="en-US" sz="1350" dirty="0"/>
          </a:p>
        </p:txBody>
      </p:sp>
      <p:sp>
        <p:nvSpPr>
          <p:cNvPr id="7" name="Shape 5"/>
          <p:cNvSpPr/>
          <p:nvPr/>
        </p:nvSpPr>
        <p:spPr>
          <a:xfrm>
            <a:off x="594360" y="2212848"/>
            <a:ext cx="3453384" cy="1755648"/>
          </a:xfrm>
          <a:prstGeom prst="roundRect">
            <a:avLst>
              <a:gd name="adj" fmla="val 5208"/>
            </a:avLst>
          </a:prstGeom>
          <a:solidFill>
            <a:srgbClr val="F3F4F5"/>
          </a:solidFill>
          <a:ln/>
        </p:spPr>
      </p:sp>
      <p:sp>
        <p:nvSpPr>
          <p:cNvPr id="8" name="Shape 6"/>
          <p:cNvSpPr/>
          <p:nvPr/>
        </p:nvSpPr>
        <p:spPr>
          <a:xfrm>
            <a:off x="795528" y="2414016"/>
            <a:ext cx="475488" cy="475488"/>
          </a:xfrm>
          <a:prstGeom prst="ellipse">
            <a:avLst/>
          </a:prstGeom>
          <a:solidFill>
            <a:srgbClr val="E8491D"/>
          </a:solidFill>
          <a:ln/>
        </p:spPr>
      </p:sp>
      <p:pic>
        <p:nvPicPr>
          <p:cNvPr id="9" name="Image 0" descr="/tmp/claude-0/-home-user-My-Future-Idaes/0806094f-208a-506e-82b2-f78683d50c82/scratchpad/icons/FaEye_white.png">    </p:cNvPr>
          <p:cNvPicPr>
            <a:picLocks noChangeAspect="1"/>
          </p:cNvPicPr>
          <p:nvPr/>
        </p:nvPicPr>
        <p:blipFill>
          <a:blip r:embed="rId1"/>
          <a:stretch>
            <a:fillRect/>
          </a:stretch>
        </p:blipFill>
        <p:spPr>
          <a:xfrm>
            <a:off x="909645" y="2528133"/>
            <a:ext cx="247254" cy="247254"/>
          </a:xfrm>
          <a:prstGeom prst="rect">
            <a:avLst/>
          </a:prstGeom>
        </p:spPr>
      </p:pic>
      <p:sp>
        <p:nvSpPr>
          <p:cNvPr id="10" name="Text 7"/>
          <p:cNvSpPr/>
          <p:nvPr/>
        </p:nvSpPr>
        <p:spPr>
          <a:xfrm>
            <a:off x="1399032" y="2395728"/>
            <a:ext cx="2493264" cy="502920"/>
          </a:xfrm>
          <a:prstGeom prst="rect">
            <a:avLst/>
          </a:prstGeom>
          <a:noFill/>
          <a:ln/>
        </p:spPr>
        <p:txBody>
          <a:bodyPr wrap="square" lIns="0" tIns="0" rIns="0" bIns="0" rtlCol="0" anchor="ctr"/>
          <a:lstStyle/>
          <a:p>
            <a:pPr indent="0" marL="0">
              <a:buNone/>
            </a:pPr>
            <a:r>
              <a:rPr lang="en-US" sz="1300" b="1" dirty="0">
                <a:solidFill>
                  <a:srgbClr val="1A2027"/>
                </a:solidFill>
                <a:latin typeface="Arial" pitchFamily="34" charset="0"/>
                <a:ea typeface="Arial" pitchFamily="34" charset="-122"/>
                <a:cs typeface="Arial" pitchFamily="34" charset="-120"/>
              </a:rPr>
              <a:t>Tunnel vision</a:t>
            </a:r>
            <a:endParaRPr lang="en-US" sz="1300" dirty="0"/>
          </a:p>
        </p:txBody>
      </p:sp>
      <p:sp>
        <p:nvSpPr>
          <p:cNvPr id="11" name="Text 8"/>
          <p:cNvSpPr/>
          <p:nvPr/>
        </p:nvSpPr>
        <p:spPr>
          <a:xfrm>
            <a:off x="795528" y="2990088"/>
            <a:ext cx="3051048" cy="91440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Peripheral awareness collapses onto the flame. Counter: leader scans; “eyes up” calls.</a:t>
            </a:r>
            <a:endParaRPr lang="en-US" sz="1000" dirty="0"/>
          </a:p>
        </p:txBody>
      </p:sp>
      <p:sp>
        <p:nvSpPr>
          <p:cNvPr id="12" name="Shape 9"/>
          <p:cNvSpPr/>
          <p:nvPr/>
        </p:nvSpPr>
        <p:spPr>
          <a:xfrm>
            <a:off x="4367784" y="2212848"/>
            <a:ext cx="3453384" cy="1755648"/>
          </a:xfrm>
          <a:prstGeom prst="roundRect">
            <a:avLst>
              <a:gd name="adj" fmla="val 5208"/>
            </a:avLst>
          </a:prstGeom>
          <a:solidFill>
            <a:srgbClr val="F3F4F5"/>
          </a:solidFill>
          <a:ln/>
        </p:spPr>
      </p:sp>
      <p:sp>
        <p:nvSpPr>
          <p:cNvPr id="13" name="Shape 10"/>
          <p:cNvSpPr/>
          <p:nvPr/>
        </p:nvSpPr>
        <p:spPr>
          <a:xfrm>
            <a:off x="4568952" y="2414016"/>
            <a:ext cx="475488" cy="475488"/>
          </a:xfrm>
          <a:prstGeom prst="ellipse">
            <a:avLst/>
          </a:prstGeom>
          <a:solidFill>
            <a:srgbClr val="E8491D"/>
          </a:solidFill>
          <a:ln/>
        </p:spPr>
      </p:sp>
      <p:pic>
        <p:nvPicPr>
          <p:cNvPr id="14" name="Image 1" descr="/tmp/claude-0/-home-user-My-Future-Idaes/0806094f-208a-506e-82b2-f78683d50c82/scratchpad/icons/FaBell_white.png">    </p:cNvPr>
          <p:cNvPicPr>
            <a:picLocks noChangeAspect="1"/>
          </p:cNvPicPr>
          <p:nvPr/>
        </p:nvPicPr>
        <p:blipFill>
          <a:blip r:embed="rId2"/>
          <a:stretch>
            <a:fillRect/>
          </a:stretch>
        </p:blipFill>
        <p:spPr>
          <a:xfrm>
            <a:off x="4683069" y="2528133"/>
            <a:ext cx="247254" cy="247254"/>
          </a:xfrm>
          <a:prstGeom prst="rect">
            <a:avLst/>
          </a:prstGeom>
        </p:spPr>
      </p:pic>
      <p:sp>
        <p:nvSpPr>
          <p:cNvPr id="15" name="Text 11"/>
          <p:cNvSpPr/>
          <p:nvPr/>
        </p:nvSpPr>
        <p:spPr>
          <a:xfrm>
            <a:off x="5172456" y="2395728"/>
            <a:ext cx="2493264" cy="502920"/>
          </a:xfrm>
          <a:prstGeom prst="rect">
            <a:avLst/>
          </a:prstGeom>
          <a:noFill/>
          <a:ln/>
        </p:spPr>
        <p:txBody>
          <a:bodyPr wrap="square" lIns="0" tIns="0" rIns="0" bIns="0" rtlCol="0" anchor="ctr"/>
          <a:lstStyle/>
          <a:p>
            <a:pPr indent="0" marL="0">
              <a:buNone/>
            </a:pPr>
            <a:r>
              <a:rPr lang="en-US" sz="1300" b="1" dirty="0">
                <a:solidFill>
                  <a:srgbClr val="1A2027"/>
                </a:solidFill>
                <a:latin typeface="Arial" pitchFamily="34" charset="0"/>
                <a:ea typeface="Arial" pitchFamily="34" charset="-122"/>
                <a:cs typeface="Arial" pitchFamily="34" charset="-120"/>
              </a:rPr>
              <a:t>Auditory exclusion</a:t>
            </a:r>
            <a:endParaRPr lang="en-US" sz="1300" dirty="0"/>
          </a:p>
        </p:txBody>
      </p:sp>
      <p:sp>
        <p:nvSpPr>
          <p:cNvPr id="16" name="Text 12"/>
          <p:cNvSpPr/>
          <p:nvPr/>
        </p:nvSpPr>
        <p:spPr>
          <a:xfrm>
            <a:off x="4568952" y="2990088"/>
            <a:ext cx="3051048" cy="91440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Radio calls and shouts go unheard. Counter: closed-loop comms, physical touch, face checks.</a:t>
            </a:r>
            <a:endParaRPr lang="en-US" sz="1000" dirty="0"/>
          </a:p>
        </p:txBody>
      </p:sp>
      <p:sp>
        <p:nvSpPr>
          <p:cNvPr id="17" name="Shape 13"/>
          <p:cNvSpPr/>
          <p:nvPr/>
        </p:nvSpPr>
        <p:spPr>
          <a:xfrm>
            <a:off x="8141208" y="2212848"/>
            <a:ext cx="3453384" cy="1755648"/>
          </a:xfrm>
          <a:prstGeom prst="roundRect">
            <a:avLst>
              <a:gd name="adj" fmla="val 5208"/>
            </a:avLst>
          </a:prstGeom>
          <a:solidFill>
            <a:srgbClr val="F3F4F5"/>
          </a:solidFill>
          <a:ln/>
        </p:spPr>
      </p:sp>
      <p:sp>
        <p:nvSpPr>
          <p:cNvPr id="18" name="Shape 14"/>
          <p:cNvSpPr/>
          <p:nvPr/>
        </p:nvSpPr>
        <p:spPr>
          <a:xfrm>
            <a:off x="8342376" y="2414016"/>
            <a:ext cx="475488" cy="475488"/>
          </a:xfrm>
          <a:prstGeom prst="ellipse">
            <a:avLst/>
          </a:prstGeom>
          <a:solidFill>
            <a:srgbClr val="E8491D"/>
          </a:solidFill>
          <a:ln/>
        </p:spPr>
      </p:sp>
      <p:pic>
        <p:nvPicPr>
          <p:cNvPr id="19" name="Image 2" descr="/tmp/claude-0/-home-user-My-Future-Idaes/0806094f-208a-506e-82b2-f78683d50c82/scratchpad/icons/FaHandPaper_white.png">    </p:cNvPr>
          <p:cNvPicPr>
            <a:picLocks noChangeAspect="1"/>
          </p:cNvPicPr>
          <p:nvPr/>
        </p:nvPicPr>
        <p:blipFill>
          <a:blip r:embed="rId3"/>
          <a:stretch>
            <a:fillRect/>
          </a:stretch>
        </p:blipFill>
        <p:spPr>
          <a:xfrm>
            <a:off x="8456493" y="2528133"/>
            <a:ext cx="247254" cy="247254"/>
          </a:xfrm>
          <a:prstGeom prst="rect">
            <a:avLst/>
          </a:prstGeom>
        </p:spPr>
      </p:pic>
      <p:sp>
        <p:nvSpPr>
          <p:cNvPr id="20" name="Text 15"/>
          <p:cNvSpPr/>
          <p:nvPr/>
        </p:nvSpPr>
        <p:spPr>
          <a:xfrm>
            <a:off x="8945880" y="2395728"/>
            <a:ext cx="2493264" cy="502920"/>
          </a:xfrm>
          <a:prstGeom prst="rect">
            <a:avLst/>
          </a:prstGeom>
          <a:noFill/>
          <a:ln/>
        </p:spPr>
        <p:txBody>
          <a:bodyPr wrap="square" lIns="0" tIns="0" rIns="0" bIns="0" rtlCol="0" anchor="ctr"/>
          <a:lstStyle/>
          <a:p>
            <a:pPr indent="0" marL="0">
              <a:buNone/>
            </a:pPr>
            <a:r>
              <a:rPr lang="en-US" sz="1300" b="1" dirty="0">
                <a:solidFill>
                  <a:srgbClr val="1A2027"/>
                </a:solidFill>
                <a:latin typeface="Arial" pitchFamily="34" charset="0"/>
                <a:ea typeface="Arial" pitchFamily="34" charset="-122"/>
                <a:cs typeface="Arial" pitchFamily="34" charset="-120"/>
              </a:rPr>
              <a:t>Motor degradation</a:t>
            </a:r>
            <a:endParaRPr lang="en-US" sz="1300" dirty="0"/>
          </a:p>
        </p:txBody>
      </p:sp>
      <p:sp>
        <p:nvSpPr>
          <p:cNvPr id="21" name="Text 16"/>
          <p:cNvSpPr/>
          <p:nvPr/>
        </p:nvSpPr>
        <p:spPr>
          <a:xfrm>
            <a:off x="8342376" y="2990088"/>
            <a:ext cx="3051048" cy="91440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Fine skills (couplings, valves, BA checks) fail first. Counter: over-train basics; buddy checks.</a:t>
            </a:r>
            <a:endParaRPr lang="en-US" sz="1000" dirty="0"/>
          </a:p>
        </p:txBody>
      </p:sp>
      <p:sp>
        <p:nvSpPr>
          <p:cNvPr id="22" name="Shape 17"/>
          <p:cNvSpPr/>
          <p:nvPr/>
        </p:nvSpPr>
        <p:spPr>
          <a:xfrm>
            <a:off x="594360" y="4151376"/>
            <a:ext cx="3453384" cy="1755648"/>
          </a:xfrm>
          <a:prstGeom prst="roundRect">
            <a:avLst>
              <a:gd name="adj" fmla="val 5208"/>
            </a:avLst>
          </a:prstGeom>
          <a:solidFill>
            <a:srgbClr val="F3F4F5"/>
          </a:solidFill>
          <a:ln/>
        </p:spPr>
      </p:sp>
      <p:sp>
        <p:nvSpPr>
          <p:cNvPr id="23" name="Shape 18"/>
          <p:cNvSpPr/>
          <p:nvPr/>
        </p:nvSpPr>
        <p:spPr>
          <a:xfrm>
            <a:off x="795528" y="4352544"/>
            <a:ext cx="475488" cy="475488"/>
          </a:xfrm>
          <a:prstGeom prst="ellipse">
            <a:avLst/>
          </a:prstGeom>
          <a:solidFill>
            <a:srgbClr val="E8491D"/>
          </a:solidFill>
          <a:ln/>
        </p:spPr>
      </p:sp>
      <p:pic>
        <p:nvPicPr>
          <p:cNvPr id="24" name="Image 3" descr="/tmp/claude-0/-home-user-My-Future-Idaes/0806094f-208a-506e-82b2-f78683d50c82/scratchpad/icons/FaHourglassHalf_white.png">    </p:cNvPr>
          <p:cNvPicPr>
            <a:picLocks noChangeAspect="1"/>
          </p:cNvPicPr>
          <p:nvPr/>
        </p:nvPicPr>
        <p:blipFill>
          <a:blip r:embed="rId4"/>
          <a:stretch>
            <a:fillRect/>
          </a:stretch>
        </p:blipFill>
        <p:spPr>
          <a:xfrm>
            <a:off x="909645" y="4466661"/>
            <a:ext cx="247254" cy="247254"/>
          </a:xfrm>
          <a:prstGeom prst="rect">
            <a:avLst/>
          </a:prstGeom>
        </p:spPr>
      </p:pic>
      <p:sp>
        <p:nvSpPr>
          <p:cNvPr id="25" name="Text 19"/>
          <p:cNvSpPr/>
          <p:nvPr/>
        </p:nvSpPr>
        <p:spPr>
          <a:xfrm>
            <a:off x="1399032" y="4334256"/>
            <a:ext cx="2493264" cy="502920"/>
          </a:xfrm>
          <a:prstGeom prst="rect">
            <a:avLst/>
          </a:prstGeom>
          <a:noFill/>
          <a:ln/>
        </p:spPr>
        <p:txBody>
          <a:bodyPr wrap="square" lIns="0" tIns="0" rIns="0" bIns="0" rtlCol="0" anchor="ctr"/>
          <a:lstStyle/>
          <a:p>
            <a:pPr indent="0" marL="0">
              <a:buNone/>
            </a:pPr>
            <a:r>
              <a:rPr lang="en-US" sz="1300" b="1" dirty="0">
                <a:solidFill>
                  <a:srgbClr val="1A2027"/>
                </a:solidFill>
                <a:latin typeface="Arial" pitchFamily="34" charset="0"/>
                <a:ea typeface="Arial" pitchFamily="34" charset="-122"/>
                <a:cs typeface="Arial" pitchFamily="34" charset="-120"/>
              </a:rPr>
              <a:t>Time distortion</a:t>
            </a:r>
            <a:endParaRPr lang="en-US" sz="1300" dirty="0"/>
          </a:p>
        </p:txBody>
      </p:sp>
      <p:sp>
        <p:nvSpPr>
          <p:cNvPr id="26" name="Text 20"/>
          <p:cNvSpPr/>
          <p:nvPr/>
        </p:nvSpPr>
        <p:spPr>
          <a:xfrm>
            <a:off x="795528" y="4928616"/>
            <a:ext cx="3051048" cy="91440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Seconds feel like minutes; estimates go wrong. Counter: leader owns the clock and calls elapsed time.</a:t>
            </a:r>
            <a:endParaRPr lang="en-US" sz="1000" dirty="0"/>
          </a:p>
        </p:txBody>
      </p:sp>
      <p:sp>
        <p:nvSpPr>
          <p:cNvPr id="27" name="Shape 21"/>
          <p:cNvSpPr/>
          <p:nvPr/>
        </p:nvSpPr>
        <p:spPr>
          <a:xfrm>
            <a:off x="4367784" y="4151376"/>
            <a:ext cx="3453384" cy="1755648"/>
          </a:xfrm>
          <a:prstGeom prst="roundRect">
            <a:avLst>
              <a:gd name="adj" fmla="val 5208"/>
            </a:avLst>
          </a:prstGeom>
          <a:solidFill>
            <a:srgbClr val="F3F4F5"/>
          </a:solidFill>
          <a:ln/>
        </p:spPr>
      </p:sp>
      <p:sp>
        <p:nvSpPr>
          <p:cNvPr id="28" name="Shape 22"/>
          <p:cNvSpPr/>
          <p:nvPr/>
        </p:nvSpPr>
        <p:spPr>
          <a:xfrm>
            <a:off x="4568952" y="4352544"/>
            <a:ext cx="475488" cy="475488"/>
          </a:xfrm>
          <a:prstGeom prst="ellipse">
            <a:avLst/>
          </a:prstGeom>
          <a:solidFill>
            <a:srgbClr val="E8491D"/>
          </a:solidFill>
          <a:ln/>
        </p:spPr>
      </p:sp>
      <p:pic>
        <p:nvPicPr>
          <p:cNvPr id="29" name="Image 4" descr="/tmp/claude-0/-home-user-My-Future-Idaes/0806094f-208a-506e-82b2-f78683d50c82/scratchpad/icons/FaBrain_white.png">    </p:cNvPr>
          <p:cNvPicPr>
            <a:picLocks noChangeAspect="1"/>
          </p:cNvPicPr>
          <p:nvPr/>
        </p:nvPicPr>
        <p:blipFill>
          <a:blip r:embed="rId5"/>
          <a:stretch>
            <a:fillRect/>
          </a:stretch>
        </p:blipFill>
        <p:spPr>
          <a:xfrm>
            <a:off x="4683069" y="4466661"/>
            <a:ext cx="247254" cy="247254"/>
          </a:xfrm>
          <a:prstGeom prst="rect">
            <a:avLst/>
          </a:prstGeom>
        </p:spPr>
      </p:pic>
      <p:sp>
        <p:nvSpPr>
          <p:cNvPr id="30" name="Text 23"/>
          <p:cNvSpPr/>
          <p:nvPr/>
        </p:nvSpPr>
        <p:spPr>
          <a:xfrm>
            <a:off x="5172456" y="4334256"/>
            <a:ext cx="2493264" cy="502920"/>
          </a:xfrm>
          <a:prstGeom prst="rect">
            <a:avLst/>
          </a:prstGeom>
          <a:noFill/>
          <a:ln/>
        </p:spPr>
        <p:txBody>
          <a:bodyPr wrap="square" lIns="0" tIns="0" rIns="0" bIns="0" rtlCol="0" anchor="ctr"/>
          <a:lstStyle/>
          <a:p>
            <a:pPr indent="0" marL="0">
              <a:buNone/>
            </a:pPr>
            <a:r>
              <a:rPr lang="en-US" sz="1300" b="1" dirty="0">
                <a:solidFill>
                  <a:srgbClr val="1A2027"/>
                </a:solidFill>
                <a:latin typeface="Arial" pitchFamily="34" charset="0"/>
                <a:ea typeface="Arial" pitchFamily="34" charset="-122"/>
                <a:cs typeface="Arial" pitchFamily="34" charset="-120"/>
              </a:rPr>
              <a:t>Cognitive narrowing</a:t>
            </a:r>
            <a:endParaRPr lang="en-US" sz="1300" dirty="0"/>
          </a:p>
        </p:txBody>
      </p:sp>
      <p:sp>
        <p:nvSpPr>
          <p:cNvPr id="31" name="Text 24"/>
          <p:cNvSpPr/>
          <p:nvPr/>
        </p:nvSpPr>
        <p:spPr>
          <a:xfrm>
            <a:off x="4568952" y="4928616"/>
            <a:ext cx="3051048" cy="91440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Only obvious options are seen. Counter: leader forced to verbalize plan B out loud.</a:t>
            </a:r>
            <a:endParaRPr lang="en-US" sz="1000" dirty="0"/>
          </a:p>
        </p:txBody>
      </p:sp>
      <p:sp>
        <p:nvSpPr>
          <p:cNvPr id="32" name="Shape 25"/>
          <p:cNvSpPr/>
          <p:nvPr/>
        </p:nvSpPr>
        <p:spPr>
          <a:xfrm>
            <a:off x="8141208" y="4151376"/>
            <a:ext cx="3453384" cy="1755648"/>
          </a:xfrm>
          <a:prstGeom prst="roundRect">
            <a:avLst>
              <a:gd name="adj" fmla="val 5208"/>
            </a:avLst>
          </a:prstGeom>
          <a:solidFill>
            <a:srgbClr val="F3F4F5"/>
          </a:solidFill>
          <a:ln/>
        </p:spPr>
      </p:sp>
      <p:sp>
        <p:nvSpPr>
          <p:cNvPr id="33" name="Shape 26"/>
          <p:cNvSpPr/>
          <p:nvPr/>
        </p:nvSpPr>
        <p:spPr>
          <a:xfrm>
            <a:off x="8342376" y="4352544"/>
            <a:ext cx="475488" cy="475488"/>
          </a:xfrm>
          <a:prstGeom prst="ellipse">
            <a:avLst/>
          </a:prstGeom>
          <a:solidFill>
            <a:srgbClr val="E8491D"/>
          </a:solidFill>
          <a:ln/>
        </p:spPr>
      </p:sp>
      <p:pic>
        <p:nvPicPr>
          <p:cNvPr id="34" name="Image 5" descr="/tmp/claude-0/-home-user-My-Future-Idaes/0806094f-208a-506e-82b2-f78683d50c82/scratchpad/icons/FaHeartbeat_white.png">    </p:cNvPr>
          <p:cNvPicPr>
            <a:picLocks noChangeAspect="1"/>
          </p:cNvPicPr>
          <p:nvPr/>
        </p:nvPicPr>
        <p:blipFill>
          <a:blip r:embed="rId6"/>
          <a:stretch>
            <a:fillRect/>
          </a:stretch>
        </p:blipFill>
        <p:spPr>
          <a:xfrm>
            <a:off x="8456493" y="4466661"/>
            <a:ext cx="247254" cy="247254"/>
          </a:xfrm>
          <a:prstGeom prst="rect">
            <a:avLst/>
          </a:prstGeom>
        </p:spPr>
      </p:pic>
      <p:sp>
        <p:nvSpPr>
          <p:cNvPr id="35" name="Text 27"/>
          <p:cNvSpPr/>
          <p:nvPr/>
        </p:nvSpPr>
        <p:spPr>
          <a:xfrm>
            <a:off x="8945880" y="4334256"/>
            <a:ext cx="2493264" cy="502920"/>
          </a:xfrm>
          <a:prstGeom prst="rect">
            <a:avLst/>
          </a:prstGeom>
          <a:noFill/>
          <a:ln/>
        </p:spPr>
        <p:txBody>
          <a:bodyPr wrap="square" lIns="0" tIns="0" rIns="0" bIns="0" rtlCol="0" anchor="ctr"/>
          <a:lstStyle/>
          <a:p>
            <a:pPr indent="0" marL="0">
              <a:buNone/>
            </a:pPr>
            <a:r>
              <a:rPr lang="en-US" sz="1300" b="1" dirty="0">
                <a:solidFill>
                  <a:srgbClr val="1A2027"/>
                </a:solidFill>
                <a:latin typeface="Arial" pitchFamily="34" charset="0"/>
                <a:ea typeface="Arial" pitchFamily="34" charset="-122"/>
                <a:cs typeface="Arial" pitchFamily="34" charset="-120"/>
              </a:rPr>
              <a:t>Physiological load</a:t>
            </a:r>
            <a:endParaRPr lang="en-US" sz="1300" dirty="0"/>
          </a:p>
        </p:txBody>
      </p:sp>
      <p:sp>
        <p:nvSpPr>
          <p:cNvPr id="36" name="Text 28"/>
          <p:cNvSpPr/>
          <p:nvPr/>
        </p:nvSpPr>
        <p:spPr>
          <a:xfrm>
            <a:off x="8342376" y="4928616"/>
            <a:ext cx="3051048" cy="91440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HR &gt;150 bpm degrades everything above. Counter: tactical breathing, rotation, hydration.</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181C"/>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9AA5AD"/>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9AA5AD"/>
                </a:solidFill>
                <a:latin typeface="Arial" pitchFamily="34" charset="0"/>
                <a:ea typeface="Arial" pitchFamily="34" charset="-122"/>
                <a:cs typeface="Arial" pitchFamily="34" charset="-120"/>
              </a:rPr>
              <a:t>26</a:t>
            </a:r>
            <a:endParaRPr lang="en-US" sz="850" dirty="0"/>
          </a:p>
        </p:txBody>
      </p:sp>
      <p:pic>
        <p:nvPicPr>
          <p:cNvPr id="4" name="Image 0" descr="/home/user/My-Future-Idaes/SANAD-Fire-Team-Leader-Course/assets/img/scba.jpg">    </p:cNvPr>
          <p:cNvPicPr>
            <a:picLocks noChangeAspect="1"/>
          </p:cNvPicPr>
          <p:nvPr/>
        </p:nvPicPr>
        <p:blipFill>
          <a:blip r:embed="rId1"/>
          <a:srcRect l="0" r="0" t="0" b="0"/>
          <a:stretch/>
        </p:blipFill>
        <p:spPr>
          <a:xfrm>
            <a:off x="0" y="0"/>
            <a:ext cx="5394960" cy="6858000"/>
          </a:xfrm>
          <a:prstGeom prst="rect">
            <a:avLst/>
          </a:prstGeom>
        </p:spPr>
      </p:pic>
      <p:sp>
        <p:nvSpPr>
          <p:cNvPr id="5" name="Shape 2"/>
          <p:cNvSpPr/>
          <p:nvPr/>
        </p:nvSpPr>
        <p:spPr>
          <a:xfrm>
            <a:off x="0" y="0"/>
            <a:ext cx="5394960" cy="6858000"/>
          </a:xfrm>
          <a:prstGeom prst="rect">
            <a:avLst/>
          </a:prstGeom>
          <a:solidFill>
            <a:srgbClr val="14181C">
              <a:alpha val="38000"/>
            </a:srgbClr>
          </a:solidFill>
          <a:ln/>
        </p:spPr>
      </p:sp>
      <p:sp>
        <p:nvSpPr>
          <p:cNvPr id="6" name="Text 3"/>
          <p:cNvSpPr/>
          <p:nvPr/>
        </p:nvSpPr>
        <p:spPr>
          <a:xfrm>
            <a:off x="5760720" y="457200"/>
            <a:ext cx="5486400"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2</a:t>
            </a:r>
            <a:endParaRPr lang="en-US" sz="1200" dirty="0"/>
          </a:p>
        </p:txBody>
      </p:sp>
      <p:sp>
        <p:nvSpPr>
          <p:cNvPr id="7" name="Text 4"/>
          <p:cNvSpPr/>
          <p:nvPr/>
        </p:nvSpPr>
        <p:spPr>
          <a:xfrm>
            <a:off x="5760720" y="749808"/>
            <a:ext cx="5852160" cy="548640"/>
          </a:xfrm>
          <a:prstGeom prst="rect">
            <a:avLst/>
          </a:prstGeom>
          <a:noFill/>
          <a:ln/>
        </p:spPr>
        <p:txBody>
          <a:bodyPr wrap="square" lIns="0" tIns="0" rIns="0" bIns="0" rtlCol="0" anchor="ctr"/>
          <a:lstStyle/>
          <a:p>
            <a:pPr indent="0" marL="0">
              <a:buNone/>
            </a:pPr>
            <a:r>
              <a:rPr lang="en-US" sz="2700" b="1" dirty="0">
                <a:solidFill>
                  <a:srgbClr val="FFFFFF"/>
                </a:solidFill>
                <a:latin typeface="Arial" pitchFamily="34" charset="0"/>
                <a:ea typeface="Arial" pitchFamily="34" charset="-122"/>
                <a:cs typeface="Arial" pitchFamily="34" charset="-120"/>
              </a:rPr>
              <a:t>Managing panic and fear</a:t>
            </a:r>
            <a:endParaRPr lang="en-US" sz="2700" dirty="0"/>
          </a:p>
        </p:txBody>
      </p:sp>
      <p:sp>
        <p:nvSpPr>
          <p:cNvPr id="8" name="Text 5"/>
          <p:cNvSpPr/>
          <p:nvPr/>
        </p:nvSpPr>
        <p:spPr>
          <a:xfrm>
            <a:off x="5760720" y="1481328"/>
            <a:ext cx="5486400" cy="274320"/>
          </a:xfrm>
          <a:prstGeom prst="rect">
            <a:avLst/>
          </a:prstGeom>
          <a:noFill/>
          <a:ln/>
        </p:spPr>
        <p:txBody>
          <a:bodyPr wrap="square" lIns="0" tIns="0" rIns="0" bIns="0" rtlCol="0" anchor="ctr"/>
          <a:lstStyle/>
          <a:p>
            <a:pPr indent="0" marL="0">
              <a:buNone/>
            </a:pPr>
            <a:r>
              <a:rPr lang="en-US" sz="1150" b="1" spc="200" kern="0" dirty="0">
                <a:solidFill>
                  <a:srgbClr val="F5A623"/>
                </a:solidFill>
                <a:latin typeface="Arial" pitchFamily="34" charset="0"/>
                <a:ea typeface="Arial" pitchFamily="34" charset="-122"/>
                <a:cs typeface="Arial" pitchFamily="34" charset="-120"/>
              </a:rPr>
              <a:t>READ THE SIGNS</a:t>
            </a:r>
            <a:endParaRPr lang="en-US" sz="1150" dirty="0"/>
          </a:p>
        </p:txBody>
      </p:sp>
      <p:sp>
        <p:nvSpPr>
          <p:cNvPr id="9" name="Text 6"/>
          <p:cNvSpPr/>
          <p:nvPr/>
        </p:nvSpPr>
        <p:spPr>
          <a:xfrm>
            <a:off x="5760720" y="1783080"/>
            <a:ext cx="5806440" cy="1645920"/>
          </a:xfrm>
          <a:prstGeom prst="rect">
            <a:avLst/>
          </a:prstGeom>
          <a:noFill/>
          <a:ln/>
        </p:spPr>
        <p:txBody>
          <a:bodyPr wrap="square" rtlCol="0" anchor="ctr"/>
          <a:lstStyle/>
          <a:p>
            <a:pPr marL="177800" indent="-177800">
              <a:spcAft>
                <a:spcPts val="700"/>
              </a:spcAft>
              <a:buSzPct val="100000"/>
              <a:buChar char="•"/>
            </a:pPr>
            <a:r>
              <a:rPr lang="en-US" sz="1200" dirty="0">
                <a:solidFill>
                  <a:srgbClr val="D9DEE2"/>
                </a:solidFill>
                <a:latin typeface="Arial" pitchFamily="34" charset="0"/>
                <a:ea typeface="Arial" pitchFamily="34" charset="-122"/>
                <a:cs typeface="Arial" pitchFamily="34" charset="-120"/>
              </a:rPr>
              <a:t>Freezing or repetitive, useless movement</a:t>
            </a:r>
            <a:endParaRPr lang="en-US" sz="1200" dirty="0"/>
          </a:p>
          <a:p>
            <a:pPr marL="177800" indent="-177800">
              <a:spcAft>
                <a:spcPts val="700"/>
              </a:spcAft>
              <a:buSzPct val="100000"/>
              <a:buChar char="•"/>
            </a:pPr>
            <a:r>
              <a:rPr lang="en-US" sz="1200" dirty="0">
                <a:solidFill>
                  <a:srgbClr val="D9DEE2"/>
                </a:solidFill>
                <a:latin typeface="Arial" pitchFamily="34" charset="0"/>
                <a:ea typeface="Arial" pitchFamily="34" charset="-122"/>
                <a:cs typeface="Arial" pitchFamily="34" charset="-120"/>
              </a:rPr>
              <a:t>Shouting, cross-talk, abandoning assigned tasks</a:t>
            </a:r>
            <a:endParaRPr lang="en-US" sz="1200" dirty="0"/>
          </a:p>
          <a:p>
            <a:pPr marL="177800" indent="-177800">
              <a:spcAft>
                <a:spcPts val="700"/>
              </a:spcAft>
              <a:buSzPct val="100000"/>
              <a:buChar char="•"/>
            </a:pPr>
            <a:r>
              <a:rPr lang="en-US" sz="1200" dirty="0">
                <a:solidFill>
                  <a:srgbClr val="D9DEE2"/>
                </a:solidFill>
                <a:latin typeface="Arial" pitchFamily="34" charset="0"/>
                <a:ea typeface="Arial" pitchFamily="34" charset="-122"/>
                <a:cs typeface="Arial" pitchFamily="34" charset="-120"/>
              </a:rPr>
              <a:t>Fixation on one victim / one task while the scene moves</a:t>
            </a:r>
            <a:endParaRPr lang="en-US" sz="1200" dirty="0"/>
          </a:p>
          <a:p>
            <a:pPr marL="177800" indent="-177800">
              <a:spcAft>
                <a:spcPts val="700"/>
              </a:spcAft>
              <a:buSzPct val="100000"/>
              <a:buChar char="•"/>
            </a:pPr>
            <a:r>
              <a:rPr lang="en-US" sz="1200" dirty="0">
                <a:solidFill>
                  <a:srgbClr val="D9DEE2"/>
                </a:solidFill>
                <a:latin typeface="Arial" pitchFamily="34" charset="0"/>
                <a:ea typeface="Arial" pitchFamily="34" charset="-122"/>
                <a:cs typeface="Arial" pitchFamily="34" charset="-120"/>
              </a:rPr>
              <a:t>Silent withdrawal — the most dangerous sign of all</a:t>
            </a:r>
            <a:endParaRPr lang="en-US" sz="1200" dirty="0"/>
          </a:p>
        </p:txBody>
      </p:sp>
      <p:sp>
        <p:nvSpPr>
          <p:cNvPr id="10" name="Text 7"/>
          <p:cNvSpPr/>
          <p:nvPr/>
        </p:nvSpPr>
        <p:spPr>
          <a:xfrm>
            <a:off x="5760720" y="3611880"/>
            <a:ext cx="5486400" cy="274320"/>
          </a:xfrm>
          <a:prstGeom prst="rect">
            <a:avLst/>
          </a:prstGeom>
          <a:noFill/>
          <a:ln/>
        </p:spPr>
        <p:txBody>
          <a:bodyPr wrap="square" lIns="0" tIns="0" rIns="0" bIns="0" rtlCol="0" anchor="ctr"/>
          <a:lstStyle/>
          <a:p>
            <a:pPr indent="0" marL="0">
              <a:buNone/>
            </a:pPr>
            <a:r>
              <a:rPr lang="en-US" sz="1150" b="1" spc="200" kern="0" dirty="0">
                <a:solidFill>
                  <a:srgbClr val="F5A623"/>
                </a:solidFill>
                <a:latin typeface="Arial" pitchFamily="34" charset="0"/>
                <a:ea typeface="Arial" pitchFamily="34" charset="-122"/>
                <a:cs typeface="Arial" pitchFamily="34" charset="-120"/>
              </a:rPr>
              <a:t>LEAD THE RESPONSE</a:t>
            </a:r>
            <a:endParaRPr lang="en-US" sz="1150" dirty="0"/>
          </a:p>
        </p:txBody>
      </p:sp>
      <p:sp>
        <p:nvSpPr>
          <p:cNvPr id="11" name="Shape 8"/>
          <p:cNvSpPr/>
          <p:nvPr/>
        </p:nvSpPr>
        <p:spPr>
          <a:xfrm>
            <a:off x="5760720" y="3931920"/>
            <a:ext cx="2743200" cy="987552"/>
          </a:xfrm>
          <a:prstGeom prst="roundRect">
            <a:avLst>
              <a:gd name="adj" fmla="val 7407"/>
            </a:avLst>
          </a:prstGeom>
          <a:solidFill>
            <a:srgbClr val="1F262C"/>
          </a:solidFill>
          <a:ln w="9525">
            <a:solidFill>
              <a:srgbClr val="39434B"/>
            </a:solidFill>
            <a:prstDash val="solid"/>
          </a:ln>
        </p:spPr>
      </p:sp>
      <p:sp>
        <p:nvSpPr>
          <p:cNvPr id="12" name="Text 9"/>
          <p:cNvSpPr/>
          <p:nvPr/>
        </p:nvSpPr>
        <p:spPr>
          <a:xfrm>
            <a:off x="5897880" y="4005072"/>
            <a:ext cx="2468880" cy="274320"/>
          </a:xfrm>
          <a:prstGeom prst="rect">
            <a:avLst/>
          </a:prstGeom>
          <a:noFill/>
          <a:ln/>
        </p:spPr>
        <p:txBody>
          <a:bodyPr wrap="square" lIns="0" tIns="0" rIns="0" bIns="0" rtlCol="0" anchor="ctr"/>
          <a:lstStyle/>
          <a:p>
            <a:pPr indent="0" marL="0">
              <a:buNone/>
            </a:pPr>
            <a:r>
              <a:rPr lang="en-US" sz="1150" b="1" dirty="0">
                <a:solidFill>
                  <a:srgbClr val="E8491D"/>
                </a:solidFill>
                <a:latin typeface="Arial" pitchFamily="34" charset="0"/>
                <a:ea typeface="Arial" pitchFamily="34" charset="-122"/>
                <a:cs typeface="Arial" pitchFamily="34" charset="-120"/>
              </a:rPr>
              <a:t>Name &amp; claim</a:t>
            </a:r>
            <a:endParaRPr lang="en-US" sz="1150" dirty="0"/>
          </a:p>
        </p:txBody>
      </p:sp>
      <p:sp>
        <p:nvSpPr>
          <p:cNvPr id="13" name="Text 10"/>
          <p:cNvSpPr/>
          <p:nvPr/>
        </p:nvSpPr>
        <p:spPr>
          <a:xfrm>
            <a:off x="5897880" y="4279392"/>
            <a:ext cx="2468880" cy="594360"/>
          </a:xfrm>
          <a:prstGeom prst="rect">
            <a:avLst/>
          </a:prstGeom>
          <a:noFill/>
          <a:ln/>
        </p:spPr>
        <p:txBody>
          <a:bodyPr wrap="square" lIns="0" tIns="0" rIns="0" bIns="0" rtlCol="0" anchor="ctr"/>
          <a:lstStyle/>
          <a:p>
            <a:pPr indent="0" marL="0">
              <a:buNone/>
            </a:pPr>
            <a:r>
              <a:rPr lang="en-US" sz="950" dirty="0">
                <a:solidFill>
                  <a:srgbClr val="D9DEE2"/>
                </a:solidFill>
                <a:latin typeface="Arial" pitchFamily="34" charset="0"/>
                <a:ea typeface="Arial" pitchFamily="34" charset="-122"/>
                <a:cs typeface="Arial" pitchFamily="34" charset="-120"/>
              </a:rPr>
              <a:t>Use their name. Eye contact. “Ahmed. Look at me. You're with me.”</a:t>
            </a:r>
            <a:endParaRPr lang="en-US" sz="950" dirty="0"/>
          </a:p>
        </p:txBody>
      </p:sp>
      <p:sp>
        <p:nvSpPr>
          <p:cNvPr id="14" name="Shape 11"/>
          <p:cNvSpPr/>
          <p:nvPr/>
        </p:nvSpPr>
        <p:spPr>
          <a:xfrm>
            <a:off x="8732520" y="3931920"/>
            <a:ext cx="2743200" cy="987552"/>
          </a:xfrm>
          <a:prstGeom prst="roundRect">
            <a:avLst>
              <a:gd name="adj" fmla="val 7407"/>
            </a:avLst>
          </a:prstGeom>
          <a:solidFill>
            <a:srgbClr val="1F262C"/>
          </a:solidFill>
          <a:ln w="9525">
            <a:solidFill>
              <a:srgbClr val="39434B"/>
            </a:solidFill>
            <a:prstDash val="solid"/>
          </a:ln>
        </p:spPr>
      </p:sp>
      <p:sp>
        <p:nvSpPr>
          <p:cNvPr id="15" name="Text 12"/>
          <p:cNvSpPr/>
          <p:nvPr/>
        </p:nvSpPr>
        <p:spPr>
          <a:xfrm>
            <a:off x="8869680" y="4005072"/>
            <a:ext cx="2468880" cy="274320"/>
          </a:xfrm>
          <a:prstGeom prst="rect">
            <a:avLst/>
          </a:prstGeom>
          <a:noFill/>
          <a:ln/>
        </p:spPr>
        <p:txBody>
          <a:bodyPr wrap="square" lIns="0" tIns="0" rIns="0" bIns="0" rtlCol="0" anchor="ctr"/>
          <a:lstStyle/>
          <a:p>
            <a:pPr indent="0" marL="0">
              <a:buNone/>
            </a:pPr>
            <a:r>
              <a:rPr lang="en-US" sz="1150" b="1" dirty="0">
                <a:solidFill>
                  <a:srgbClr val="E8491D"/>
                </a:solidFill>
                <a:latin typeface="Arial" pitchFamily="34" charset="0"/>
                <a:ea typeface="Arial" pitchFamily="34" charset="-122"/>
                <a:cs typeface="Arial" pitchFamily="34" charset="-120"/>
              </a:rPr>
              <a:t>Task it</a:t>
            </a:r>
            <a:endParaRPr lang="en-US" sz="1150" dirty="0"/>
          </a:p>
        </p:txBody>
      </p:sp>
      <p:sp>
        <p:nvSpPr>
          <p:cNvPr id="16" name="Text 13"/>
          <p:cNvSpPr/>
          <p:nvPr/>
        </p:nvSpPr>
        <p:spPr>
          <a:xfrm>
            <a:off x="8869680" y="4279392"/>
            <a:ext cx="2468880" cy="594360"/>
          </a:xfrm>
          <a:prstGeom prst="rect">
            <a:avLst/>
          </a:prstGeom>
          <a:noFill/>
          <a:ln/>
        </p:spPr>
        <p:txBody>
          <a:bodyPr wrap="square" lIns="0" tIns="0" rIns="0" bIns="0" rtlCol="0" anchor="ctr"/>
          <a:lstStyle/>
          <a:p>
            <a:pPr indent="0" marL="0">
              <a:buNone/>
            </a:pPr>
            <a:r>
              <a:rPr lang="en-US" sz="950" dirty="0">
                <a:solidFill>
                  <a:srgbClr val="D9DEE2"/>
                </a:solidFill>
                <a:latin typeface="Arial" pitchFamily="34" charset="0"/>
                <a:ea typeface="Arial" pitchFamily="34" charset="-122"/>
                <a:cs typeface="Arial" pitchFamily="34" charset="-120"/>
              </a:rPr>
              <a:t>Panic cannot survive a concrete task. Give one, simple and physical.</a:t>
            </a:r>
            <a:endParaRPr lang="en-US" sz="950" dirty="0"/>
          </a:p>
        </p:txBody>
      </p:sp>
      <p:sp>
        <p:nvSpPr>
          <p:cNvPr id="17" name="Shape 14"/>
          <p:cNvSpPr/>
          <p:nvPr/>
        </p:nvSpPr>
        <p:spPr>
          <a:xfrm>
            <a:off x="5760720" y="5047488"/>
            <a:ext cx="2743200" cy="987552"/>
          </a:xfrm>
          <a:prstGeom prst="roundRect">
            <a:avLst>
              <a:gd name="adj" fmla="val 7407"/>
            </a:avLst>
          </a:prstGeom>
          <a:solidFill>
            <a:srgbClr val="1F262C"/>
          </a:solidFill>
          <a:ln w="9525">
            <a:solidFill>
              <a:srgbClr val="39434B"/>
            </a:solidFill>
            <a:prstDash val="solid"/>
          </a:ln>
        </p:spPr>
      </p:sp>
      <p:sp>
        <p:nvSpPr>
          <p:cNvPr id="18" name="Text 15"/>
          <p:cNvSpPr/>
          <p:nvPr/>
        </p:nvSpPr>
        <p:spPr>
          <a:xfrm>
            <a:off x="5897880" y="5120640"/>
            <a:ext cx="2468880" cy="274320"/>
          </a:xfrm>
          <a:prstGeom prst="rect">
            <a:avLst/>
          </a:prstGeom>
          <a:noFill/>
          <a:ln/>
        </p:spPr>
        <p:txBody>
          <a:bodyPr wrap="square" lIns="0" tIns="0" rIns="0" bIns="0" rtlCol="0" anchor="ctr"/>
          <a:lstStyle/>
          <a:p>
            <a:pPr indent="0" marL="0">
              <a:buNone/>
            </a:pPr>
            <a:r>
              <a:rPr lang="en-US" sz="1150" b="1" dirty="0">
                <a:solidFill>
                  <a:srgbClr val="E8491D"/>
                </a:solidFill>
                <a:latin typeface="Arial" pitchFamily="34" charset="0"/>
                <a:ea typeface="Arial" pitchFamily="34" charset="-122"/>
                <a:cs typeface="Arial" pitchFamily="34" charset="-120"/>
              </a:rPr>
              <a:t>Pair up</a:t>
            </a:r>
            <a:endParaRPr lang="en-US" sz="1150" dirty="0"/>
          </a:p>
        </p:txBody>
      </p:sp>
      <p:sp>
        <p:nvSpPr>
          <p:cNvPr id="19" name="Text 16"/>
          <p:cNvSpPr/>
          <p:nvPr/>
        </p:nvSpPr>
        <p:spPr>
          <a:xfrm>
            <a:off x="5897880" y="5394960"/>
            <a:ext cx="2468880" cy="594360"/>
          </a:xfrm>
          <a:prstGeom prst="rect">
            <a:avLst/>
          </a:prstGeom>
          <a:noFill/>
          <a:ln/>
        </p:spPr>
        <p:txBody>
          <a:bodyPr wrap="square" lIns="0" tIns="0" rIns="0" bIns="0" rtlCol="0" anchor="ctr"/>
          <a:lstStyle/>
          <a:p>
            <a:pPr indent="0" marL="0">
              <a:buNone/>
            </a:pPr>
            <a:r>
              <a:rPr lang="en-US" sz="950" dirty="0">
                <a:solidFill>
                  <a:srgbClr val="D9DEE2"/>
                </a:solidFill>
                <a:latin typeface="Arial" pitchFamily="34" charset="0"/>
                <a:ea typeface="Arial" pitchFamily="34" charset="-122"/>
                <a:cs typeface="Arial" pitchFamily="34" charset="-120"/>
              </a:rPr>
              <a:t>Nobody works alone. Pair the shaken with the steady.</a:t>
            </a:r>
            <a:endParaRPr lang="en-US" sz="950" dirty="0"/>
          </a:p>
        </p:txBody>
      </p:sp>
      <p:sp>
        <p:nvSpPr>
          <p:cNvPr id="20" name="Shape 17"/>
          <p:cNvSpPr/>
          <p:nvPr/>
        </p:nvSpPr>
        <p:spPr>
          <a:xfrm>
            <a:off x="8732520" y="5047488"/>
            <a:ext cx="2743200" cy="987552"/>
          </a:xfrm>
          <a:prstGeom prst="roundRect">
            <a:avLst>
              <a:gd name="adj" fmla="val 7407"/>
            </a:avLst>
          </a:prstGeom>
          <a:solidFill>
            <a:srgbClr val="1F262C"/>
          </a:solidFill>
          <a:ln w="9525">
            <a:solidFill>
              <a:srgbClr val="39434B"/>
            </a:solidFill>
            <a:prstDash val="solid"/>
          </a:ln>
        </p:spPr>
      </p:sp>
      <p:sp>
        <p:nvSpPr>
          <p:cNvPr id="21" name="Text 18"/>
          <p:cNvSpPr/>
          <p:nvPr/>
        </p:nvSpPr>
        <p:spPr>
          <a:xfrm>
            <a:off x="8869680" y="5120640"/>
            <a:ext cx="2468880" cy="274320"/>
          </a:xfrm>
          <a:prstGeom prst="rect">
            <a:avLst/>
          </a:prstGeom>
          <a:noFill/>
          <a:ln/>
        </p:spPr>
        <p:txBody>
          <a:bodyPr wrap="square" lIns="0" tIns="0" rIns="0" bIns="0" rtlCol="0" anchor="ctr"/>
          <a:lstStyle/>
          <a:p>
            <a:pPr indent="0" marL="0">
              <a:buNone/>
            </a:pPr>
            <a:r>
              <a:rPr lang="en-US" sz="1150" b="1" dirty="0">
                <a:solidFill>
                  <a:srgbClr val="E8491D"/>
                </a:solidFill>
                <a:latin typeface="Arial" pitchFamily="34" charset="0"/>
                <a:ea typeface="Arial" pitchFamily="34" charset="-122"/>
                <a:cs typeface="Arial" pitchFamily="34" charset="-120"/>
              </a:rPr>
              <a:t>Breathe &amp; reset</a:t>
            </a:r>
            <a:endParaRPr lang="en-US" sz="1150" dirty="0"/>
          </a:p>
        </p:txBody>
      </p:sp>
      <p:sp>
        <p:nvSpPr>
          <p:cNvPr id="22" name="Text 19"/>
          <p:cNvSpPr/>
          <p:nvPr/>
        </p:nvSpPr>
        <p:spPr>
          <a:xfrm>
            <a:off x="8869680" y="5394960"/>
            <a:ext cx="2468880" cy="594360"/>
          </a:xfrm>
          <a:prstGeom prst="rect">
            <a:avLst/>
          </a:prstGeom>
          <a:noFill/>
          <a:ln/>
        </p:spPr>
        <p:txBody>
          <a:bodyPr wrap="square" lIns="0" tIns="0" rIns="0" bIns="0" rtlCol="0" anchor="ctr"/>
          <a:lstStyle/>
          <a:p>
            <a:pPr indent="0" marL="0">
              <a:buNone/>
            </a:pPr>
            <a:r>
              <a:rPr lang="en-US" sz="950" dirty="0">
                <a:solidFill>
                  <a:srgbClr val="D9DEE2"/>
                </a:solidFill>
                <a:latin typeface="Arial" pitchFamily="34" charset="0"/>
                <a:ea typeface="Arial" pitchFamily="34" charset="-122"/>
                <a:cs typeface="Arial" pitchFamily="34" charset="-120"/>
              </a:rPr>
              <a:t>Tactical breathing: in 4 – hold 4 – out 4. Ten seconds buys back the brain.</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27</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2</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Stress inoculation: train the panic out</a:t>
            </a:r>
            <a:endParaRPr lang="en-US" sz="3000" dirty="0"/>
          </a:p>
        </p:txBody>
      </p:sp>
      <p:sp>
        <p:nvSpPr>
          <p:cNvPr id="6" name="Text 4"/>
          <p:cNvSpPr/>
          <p:nvPr/>
        </p:nvSpPr>
        <p:spPr>
          <a:xfrm>
            <a:off x="594360" y="1481328"/>
            <a:ext cx="10881360" cy="411480"/>
          </a:xfrm>
          <a:prstGeom prst="rect">
            <a:avLst/>
          </a:prstGeom>
          <a:noFill/>
          <a:ln/>
        </p:spPr>
        <p:txBody>
          <a:bodyPr wrap="square" lIns="0" tIns="0" rIns="0" bIns="0" rtlCol="0" anchor="ctr"/>
          <a:lstStyle/>
          <a:p>
            <a:pPr indent="0" marL="0">
              <a:buNone/>
            </a:pPr>
            <a:r>
              <a:rPr lang="en-US" sz="1350" i="1" dirty="0">
                <a:solidFill>
                  <a:srgbClr val="5A646C"/>
                </a:solidFill>
                <a:latin typeface="Arial" pitchFamily="34" charset="0"/>
                <a:ea typeface="Arial" pitchFamily="34" charset="-122"/>
                <a:cs typeface="Arial" pitchFamily="34" charset="-120"/>
              </a:rPr>
              <a:t>Teams don't rise to the occasion — they fall to the level of their training. Build immunity in deliberate doses:</a:t>
            </a:r>
            <a:endParaRPr lang="en-US" sz="1350" dirty="0"/>
          </a:p>
        </p:txBody>
      </p:sp>
      <p:sp>
        <p:nvSpPr>
          <p:cNvPr id="7" name="Shape 5"/>
          <p:cNvSpPr/>
          <p:nvPr/>
        </p:nvSpPr>
        <p:spPr>
          <a:xfrm>
            <a:off x="594360" y="3611880"/>
            <a:ext cx="2544318" cy="2057400"/>
          </a:xfrm>
          <a:prstGeom prst="roundRect">
            <a:avLst>
              <a:gd name="adj" fmla="val 4444"/>
            </a:avLst>
          </a:prstGeom>
          <a:solidFill>
            <a:srgbClr val="F3F4F5"/>
          </a:solidFill>
          <a:ln/>
        </p:spPr>
      </p:sp>
      <p:sp>
        <p:nvSpPr>
          <p:cNvPr id="8" name="Text 6"/>
          <p:cNvSpPr/>
          <p:nvPr/>
        </p:nvSpPr>
        <p:spPr>
          <a:xfrm>
            <a:off x="795528" y="3721608"/>
            <a:ext cx="914400" cy="457200"/>
          </a:xfrm>
          <a:prstGeom prst="rect">
            <a:avLst/>
          </a:prstGeom>
          <a:noFill/>
          <a:ln/>
        </p:spPr>
        <p:txBody>
          <a:bodyPr wrap="square" lIns="0" tIns="0" rIns="0" bIns="0" rtlCol="0" anchor="ctr"/>
          <a:lstStyle/>
          <a:p>
            <a:pPr indent="0" marL="0">
              <a:buNone/>
            </a:pPr>
            <a:r>
              <a:rPr lang="en-US" sz="2200" b="1" dirty="0">
                <a:solidFill>
                  <a:srgbClr val="E8491D"/>
                </a:solidFill>
                <a:latin typeface="Arial" pitchFamily="34" charset="0"/>
                <a:ea typeface="Arial" pitchFamily="34" charset="-122"/>
                <a:cs typeface="Arial" pitchFamily="34" charset="-120"/>
              </a:rPr>
              <a:t>1</a:t>
            </a:r>
            <a:endParaRPr lang="en-US" sz="2200" dirty="0"/>
          </a:p>
        </p:txBody>
      </p:sp>
      <p:sp>
        <p:nvSpPr>
          <p:cNvPr id="9" name="Text 7"/>
          <p:cNvSpPr/>
          <p:nvPr/>
        </p:nvSpPr>
        <p:spPr>
          <a:xfrm>
            <a:off x="795528" y="4178808"/>
            <a:ext cx="2141982" cy="594360"/>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Master the skill cold</a:t>
            </a:r>
            <a:endParaRPr lang="en-US" sz="1250" dirty="0"/>
          </a:p>
        </p:txBody>
      </p:sp>
      <p:sp>
        <p:nvSpPr>
          <p:cNvPr id="10" name="Text 8"/>
          <p:cNvSpPr/>
          <p:nvPr/>
        </p:nvSpPr>
        <p:spPr>
          <a:xfrm>
            <a:off x="795528" y="4782312"/>
            <a:ext cx="2141982" cy="73152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Couplings, BA checks, hose runs — flawless with no pressure, eyes closed, in gloves.</a:t>
            </a:r>
            <a:endParaRPr lang="en-US" sz="1000" dirty="0"/>
          </a:p>
        </p:txBody>
      </p:sp>
      <p:sp>
        <p:nvSpPr>
          <p:cNvPr id="11" name="Shape 9"/>
          <p:cNvSpPr/>
          <p:nvPr/>
        </p:nvSpPr>
        <p:spPr>
          <a:xfrm>
            <a:off x="3412998" y="3108960"/>
            <a:ext cx="2544318" cy="2560320"/>
          </a:xfrm>
          <a:prstGeom prst="roundRect">
            <a:avLst>
              <a:gd name="adj" fmla="val 3594"/>
            </a:avLst>
          </a:prstGeom>
          <a:solidFill>
            <a:srgbClr val="F3F4F5"/>
          </a:solidFill>
          <a:ln/>
        </p:spPr>
      </p:sp>
      <p:sp>
        <p:nvSpPr>
          <p:cNvPr id="12" name="Text 10"/>
          <p:cNvSpPr/>
          <p:nvPr/>
        </p:nvSpPr>
        <p:spPr>
          <a:xfrm>
            <a:off x="3614166" y="3218688"/>
            <a:ext cx="914400" cy="457200"/>
          </a:xfrm>
          <a:prstGeom prst="rect">
            <a:avLst/>
          </a:prstGeom>
          <a:noFill/>
          <a:ln/>
        </p:spPr>
        <p:txBody>
          <a:bodyPr wrap="square" lIns="0" tIns="0" rIns="0" bIns="0" rtlCol="0" anchor="ctr"/>
          <a:lstStyle/>
          <a:p>
            <a:pPr indent="0" marL="0">
              <a:buNone/>
            </a:pPr>
            <a:r>
              <a:rPr lang="en-US" sz="2200" b="1" dirty="0">
                <a:solidFill>
                  <a:srgbClr val="E8491D"/>
                </a:solidFill>
                <a:latin typeface="Arial" pitchFamily="34" charset="0"/>
                <a:ea typeface="Arial" pitchFamily="34" charset="-122"/>
                <a:cs typeface="Arial" pitchFamily="34" charset="-120"/>
              </a:rPr>
              <a:t>2</a:t>
            </a:r>
            <a:endParaRPr lang="en-US" sz="2200" dirty="0"/>
          </a:p>
        </p:txBody>
      </p:sp>
      <p:sp>
        <p:nvSpPr>
          <p:cNvPr id="13" name="Text 11"/>
          <p:cNvSpPr/>
          <p:nvPr/>
        </p:nvSpPr>
        <p:spPr>
          <a:xfrm>
            <a:off x="3614166" y="3675888"/>
            <a:ext cx="2141982" cy="594360"/>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Add load</a:t>
            </a:r>
            <a:endParaRPr lang="en-US" sz="1250" dirty="0"/>
          </a:p>
        </p:txBody>
      </p:sp>
      <p:sp>
        <p:nvSpPr>
          <p:cNvPr id="14" name="Text 12"/>
          <p:cNvSpPr/>
          <p:nvPr/>
        </p:nvSpPr>
        <p:spPr>
          <a:xfrm>
            <a:off x="3614166" y="4279392"/>
            <a:ext cx="2141982" cy="123444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Time limits, darkness, noise, weather. Skills must survive discomfort before they meet fear.</a:t>
            </a:r>
            <a:endParaRPr lang="en-US" sz="1000" dirty="0"/>
          </a:p>
        </p:txBody>
      </p:sp>
      <p:sp>
        <p:nvSpPr>
          <p:cNvPr id="15" name="Shape 13"/>
          <p:cNvSpPr/>
          <p:nvPr/>
        </p:nvSpPr>
        <p:spPr>
          <a:xfrm>
            <a:off x="6231636" y="2606040"/>
            <a:ext cx="2544318" cy="3063240"/>
          </a:xfrm>
          <a:prstGeom prst="roundRect">
            <a:avLst>
              <a:gd name="adj" fmla="val 3594"/>
            </a:avLst>
          </a:prstGeom>
          <a:solidFill>
            <a:srgbClr val="F3F4F5"/>
          </a:solidFill>
          <a:ln/>
        </p:spPr>
      </p:sp>
      <p:sp>
        <p:nvSpPr>
          <p:cNvPr id="16" name="Text 14"/>
          <p:cNvSpPr/>
          <p:nvPr/>
        </p:nvSpPr>
        <p:spPr>
          <a:xfrm>
            <a:off x="6432804" y="2715768"/>
            <a:ext cx="914400" cy="457200"/>
          </a:xfrm>
          <a:prstGeom prst="rect">
            <a:avLst/>
          </a:prstGeom>
          <a:noFill/>
          <a:ln/>
        </p:spPr>
        <p:txBody>
          <a:bodyPr wrap="square" lIns="0" tIns="0" rIns="0" bIns="0" rtlCol="0" anchor="ctr"/>
          <a:lstStyle/>
          <a:p>
            <a:pPr indent="0" marL="0">
              <a:buNone/>
            </a:pPr>
            <a:r>
              <a:rPr lang="en-US" sz="2200" b="1" dirty="0">
                <a:solidFill>
                  <a:srgbClr val="E8491D"/>
                </a:solidFill>
                <a:latin typeface="Arial" pitchFamily="34" charset="0"/>
                <a:ea typeface="Arial" pitchFamily="34" charset="-122"/>
                <a:cs typeface="Arial" pitchFamily="34" charset="-120"/>
              </a:rPr>
              <a:t>3</a:t>
            </a:r>
            <a:endParaRPr lang="en-US" sz="2200" dirty="0"/>
          </a:p>
        </p:txBody>
      </p:sp>
      <p:sp>
        <p:nvSpPr>
          <p:cNvPr id="17" name="Text 15"/>
          <p:cNvSpPr/>
          <p:nvPr/>
        </p:nvSpPr>
        <p:spPr>
          <a:xfrm>
            <a:off x="6432804" y="3172968"/>
            <a:ext cx="2141982" cy="594360"/>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Add consequence</a:t>
            </a:r>
            <a:endParaRPr lang="en-US" sz="1250" dirty="0"/>
          </a:p>
        </p:txBody>
      </p:sp>
      <p:sp>
        <p:nvSpPr>
          <p:cNvPr id="18" name="Text 16"/>
          <p:cNvSpPr/>
          <p:nvPr/>
        </p:nvSpPr>
        <p:spPr>
          <a:xfrm>
            <a:off x="6432804" y="3776472"/>
            <a:ext cx="2141982" cy="173736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Peer observation, scoring, competition. Social pressure is rehearsal for real pressure.</a:t>
            </a:r>
            <a:endParaRPr lang="en-US" sz="1000" dirty="0"/>
          </a:p>
        </p:txBody>
      </p:sp>
      <p:sp>
        <p:nvSpPr>
          <p:cNvPr id="19" name="Shape 17"/>
          <p:cNvSpPr/>
          <p:nvPr/>
        </p:nvSpPr>
        <p:spPr>
          <a:xfrm>
            <a:off x="9050274" y="2103120"/>
            <a:ext cx="2544318" cy="3566160"/>
          </a:xfrm>
          <a:prstGeom prst="roundRect">
            <a:avLst>
              <a:gd name="adj" fmla="val 3594"/>
            </a:avLst>
          </a:prstGeom>
          <a:solidFill>
            <a:srgbClr val="14181C"/>
          </a:solidFill>
          <a:ln/>
        </p:spPr>
      </p:sp>
      <p:sp>
        <p:nvSpPr>
          <p:cNvPr id="20" name="Text 18"/>
          <p:cNvSpPr/>
          <p:nvPr/>
        </p:nvSpPr>
        <p:spPr>
          <a:xfrm>
            <a:off x="9251442" y="2212848"/>
            <a:ext cx="914400" cy="457200"/>
          </a:xfrm>
          <a:prstGeom prst="rect">
            <a:avLst/>
          </a:prstGeom>
          <a:noFill/>
          <a:ln/>
        </p:spPr>
        <p:txBody>
          <a:bodyPr wrap="square" lIns="0" tIns="0" rIns="0" bIns="0" rtlCol="0" anchor="ctr"/>
          <a:lstStyle/>
          <a:p>
            <a:pPr indent="0" marL="0">
              <a:buNone/>
            </a:pPr>
            <a:r>
              <a:rPr lang="en-US" sz="2200" b="1" dirty="0">
                <a:solidFill>
                  <a:srgbClr val="E8491D"/>
                </a:solidFill>
                <a:latin typeface="Arial" pitchFamily="34" charset="0"/>
                <a:ea typeface="Arial" pitchFamily="34" charset="-122"/>
                <a:cs typeface="Arial" pitchFamily="34" charset="-120"/>
              </a:rPr>
              <a:t>4</a:t>
            </a:r>
            <a:endParaRPr lang="en-US" sz="2200" dirty="0"/>
          </a:p>
        </p:txBody>
      </p:sp>
      <p:sp>
        <p:nvSpPr>
          <p:cNvPr id="21" name="Text 19"/>
          <p:cNvSpPr/>
          <p:nvPr/>
        </p:nvSpPr>
        <p:spPr>
          <a:xfrm>
            <a:off x="9251442" y="2670048"/>
            <a:ext cx="2141982" cy="594360"/>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Add chaos</a:t>
            </a:r>
            <a:endParaRPr lang="en-US" sz="1250" dirty="0"/>
          </a:p>
        </p:txBody>
      </p:sp>
      <p:sp>
        <p:nvSpPr>
          <p:cNvPr id="22" name="Text 20"/>
          <p:cNvSpPr/>
          <p:nvPr/>
        </p:nvSpPr>
        <p:spPr>
          <a:xfrm>
            <a:off x="9251442" y="3273552"/>
            <a:ext cx="2141982" cy="2240280"/>
          </a:xfrm>
          <a:prstGeom prst="rect">
            <a:avLst/>
          </a:prstGeom>
          <a:noFill/>
          <a:ln/>
        </p:spPr>
        <p:txBody>
          <a:bodyPr wrap="square" lIns="0" tIns="0" rIns="0" bIns="0" rtlCol="0" anchor="ctr"/>
          <a:lstStyle/>
          <a:p>
            <a:pPr indent="0" marL="0">
              <a:buNone/>
            </a:pPr>
            <a:r>
              <a:rPr lang="en-US" sz="1000" dirty="0">
                <a:solidFill>
                  <a:srgbClr val="9AA5AD"/>
                </a:solidFill>
                <a:latin typeface="Arial" pitchFamily="34" charset="0"/>
                <a:ea typeface="Arial" pitchFamily="34" charset="-122"/>
                <a:cs typeface="Arial" pitchFamily="34" charset="-120"/>
              </a:rPr>
              <a:t>Injects, failures, casualties, conflicting reports — the full simulation environment of Day 3.</a:t>
            </a:r>
            <a:endParaRPr lang="en-US" sz="1000" dirty="0"/>
          </a:p>
        </p:txBody>
      </p:sp>
      <p:sp>
        <p:nvSpPr>
          <p:cNvPr id="23" name="Text 21"/>
          <p:cNvSpPr/>
          <p:nvPr/>
        </p:nvSpPr>
        <p:spPr>
          <a:xfrm>
            <a:off x="594360" y="5852160"/>
            <a:ext cx="11000232" cy="457200"/>
          </a:xfrm>
          <a:prstGeom prst="rect">
            <a:avLst/>
          </a:prstGeom>
          <a:noFill/>
          <a:ln/>
        </p:spPr>
        <p:txBody>
          <a:bodyPr wrap="square" lIns="0" tIns="0" rIns="0" bIns="0" rtlCol="0" anchor="ctr"/>
          <a:lstStyle/>
          <a:p>
            <a:pPr indent="0" marL="0">
              <a:buNone/>
            </a:pPr>
            <a:r>
              <a:rPr lang="en-US" sz="1200" b="1" dirty="0">
                <a:solidFill>
                  <a:srgbClr val="C13415"/>
                </a:solidFill>
                <a:latin typeface="Arial" pitchFamily="34" charset="0"/>
                <a:ea typeface="Arial" pitchFamily="34" charset="-122"/>
                <a:cs typeface="Arial" pitchFamily="34" charset="-120"/>
              </a:rPr>
              <a:t>Your job after this course:  </a:t>
            </a:r>
            <a:pPr indent="0" marL="0">
              <a:buNone/>
            </a:pPr>
            <a:r>
              <a:rPr lang="en-US" sz="1200" dirty="0">
                <a:solidFill>
                  <a:srgbClr val="5A646C"/>
                </a:solidFill>
                <a:latin typeface="Arial" pitchFamily="34" charset="0"/>
                <a:ea typeface="Arial" pitchFamily="34" charset="-122"/>
                <a:cs typeface="Arial" pitchFamily="34" charset="-120"/>
              </a:rPr>
              <a:t>run your rig's drills up this ladder — a team that has only ever drilled step 1 will meet steps 2–4 for the first time in a real fire.</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28</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2</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Discipline: preventing the unsafe act</a:t>
            </a:r>
            <a:endParaRPr lang="en-US" sz="3000" dirty="0"/>
          </a:p>
        </p:txBody>
      </p:sp>
      <p:sp>
        <p:nvSpPr>
          <p:cNvPr id="6" name="Text 4"/>
          <p:cNvSpPr/>
          <p:nvPr/>
        </p:nvSpPr>
        <p:spPr>
          <a:xfrm>
            <a:off x="594360" y="1508760"/>
            <a:ext cx="10881360" cy="548640"/>
          </a:xfrm>
          <a:prstGeom prst="rect">
            <a:avLst/>
          </a:prstGeom>
          <a:noFill/>
          <a:ln/>
        </p:spPr>
        <p:txBody>
          <a:bodyPr wrap="square" lIns="0" tIns="0" rIns="0" bIns="0" rtlCol="0" anchor="ctr"/>
          <a:lstStyle/>
          <a:p>
            <a:pPr indent="0" marL="0">
              <a:buNone/>
            </a:pPr>
            <a:r>
              <a:rPr lang="en-US" sz="1350" i="1" dirty="0">
                <a:solidFill>
                  <a:srgbClr val="5A646C"/>
                </a:solidFill>
                <a:latin typeface="Arial" pitchFamily="34" charset="0"/>
                <a:ea typeface="Arial" pitchFamily="34" charset="-122"/>
                <a:cs typeface="Arial" pitchFamily="34" charset="-120"/>
              </a:rPr>
              <a:t>Most emergency injuries are not caused by the fire — they are caused by what someone did in front of it. Four behaviors, zero tolerance:</a:t>
            </a:r>
            <a:endParaRPr lang="en-US" sz="1350" dirty="0"/>
          </a:p>
        </p:txBody>
      </p:sp>
      <p:sp>
        <p:nvSpPr>
          <p:cNvPr id="7" name="Shape 5"/>
          <p:cNvSpPr/>
          <p:nvPr/>
        </p:nvSpPr>
        <p:spPr>
          <a:xfrm>
            <a:off x="594360" y="2212848"/>
            <a:ext cx="5317236" cy="1691640"/>
          </a:xfrm>
          <a:prstGeom prst="roundRect">
            <a:avLst>
              <a:gd name="adj" fmla="val 5405"/>
            </a:avLst>
          </a:prstGeom>
          <a:solidFill>
            <a:srgbClr val="F3F4F5"/>
          </a:solidFill>
          <a:ln/>
        </p:spPr>
      </p:sp>
      <p:sp>
        <p:nvSpPr>
          <p:cNvPr id="8" name="Shape 6"/>
          <p:cNvSpPr/>
          <p:nvPr/>
        </p:nvSpPr>
        <p:spPr>
          <a:xfrm>
            <a:off x="822960" y="2441448"/>
            <a:ext cx="530352" cy="530352"/>
          </a:xfrm>
          <a:prstGeom prst="ellipse">
            <a:avLst/>
          </a:prstGeom>
          <a:solidFill>
            <a:srgbClr val="E8491D"/>
          </a:solidFill>
          <a:ln/>
        </p:spPr>
      </p:sp>
      <p:pic>
        <p:nvPicPr>
          <p:cNvPr id="9" name="Image 0" descr="/tmp/claude-0/-home-user-My-Future-Idaes/0806094f-208a-506e-82b2-f78683d50c82/scratchpad/icons/FaLock_white.png">    </p:cNvPr>
          <p:cNvPicPr>
            <a:picLocks noChangeAspect="1"/>
          </p:cNvPicPr>
          <p:nvPr/>
        </p:nvPicPr>
        <p:blipFill>
          <a:blip r:embed="rId1"/>
          <a:stretch>
            <a:fillRect/>
          </a:stretch>
        </p:blipFill>
        <p:spPr>
          <a:xfrm>
            <a:off x="950244" y="2568732"/>
            <a:ext cx="275783" cy="275783"/>
          </a:xfrm>
          <a:prstGeom prst="rect">
            <a:avLst/>
          </a:prstGeom>
        </p:spPr>
      </p:pic>
      <p:sp>
        <p:nvSpPr>
          <p:cNvPr id="10" name="Text 7"/>
          <p:cNvSpPr/>
          <p:nvPr/>
        </p:nvSpPr>
        <p:spPr>
          <a:xfrm>
            <a:off x="1527048" y="2414016"/>
            <a:ext cx="4174236" cy="384048"/>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No freelancing</a:t>
            </a:r>
            <a:endParaRPr lang="en-US" sz="1400" dirty="0"/>
          </a:p>
        </p:txBody>
      </p:sp>
      <p:sp>
        <p:nvSpPr>
          <p:cNvPr id="11" name="Text 8"/>
          <p:cNvSpPr/>
          <p:nvPr/>
        </p:nvSpPr>
        <p:spPr>
          <a:xfrm>
            <a:off x="1527048" y="2816352"/>
            <a:ext cx="4128516" cy="1005840"/>
          </a:xfrm>
          <a:prstGeom prst="rect">
            <a:avLst/>
          </a:prstGeom>
          <a:noFill/>
          <a:ln/>
        </p:spPr>
        <p:txBody>
          <a:bodyPr wrap="square" lIns="0" tIns="0" rIns="0" bIns="0" rtlCol="0" anchor="ctr"/>
          <a:lstStyle/>
          <a:p>
            <a:pPr indent="0" marL="0">
              <a:buNone/>
            </a:pPr>
            <a:r>
              <a:rPr lang="en-US" sz="1100" dirty="0">
                <a:solidFill>
                  <a:srgbClr val="5A646C"/>
                </a:solidFill>
                <a:latin typeface="Arial" pitchFamily="34" charset="0"/>
                <a:ea typeface="Arial" pitchFamily="34" charset="-122"/>
                <a:cs typeface="Arial" pitchFamily="34" charset="-120"/>
              </a:rPr>
              <a:t>No self-assigned tasks. Every action flows from the leader's plan — heroics off-plan get people killed.</a:t>
            </a:r>
            <a:endParaRPr lang="en-US" sz="1100" dirty="0"/>
          </a:p>
        </p:txBody>
      </p:sp>
      <p:sp>
        <p:nvSpPr>
          <p:cNvPr id="12" name="Shape 9"/>
          <p:cNvSpPr/>
          <p:nvPr/>
        </p:nvSpPr>
        <p:spPr>
          <a:xfrm>
            <a:off x="6277356" y="2212848"/>
            <a:ext cx="5317236" cy="1691640"/>
          </a:xfrm>
          <a:prstGeom prst="roundRect">
            <a:avLst>
              <a:gd name="adj" fmla="val 5405"/>
            </a:avLst>
          </a:prstGeom>
          <a:solidFill>
            <a:srgbClr val="F3F4F5"/>
          </a:solidFill>
          <a:ln/>
        </p:spPr>
      </p:sp>
      <p:sp>
        <p:nvSpPr>
          <p:cNvPr id="13" name="Shape 10"/>
          <p:cNvSpPr/>
          <p:nvPr/>
        </p:nvSpPr>
        <p:spPr>
          <a:xfrm>
            <a:off x="6505956" y="2441448"/>
            <a:ext cx="530352" cy="530352"/>
          </a:xfrm>
          <a:prstGeom prst="ellipse">
            <a:avLst/>
          </a:prstGeom>
          <a:solidFill>
            <a:srgbClr val="E8491D"/>
          </a:solidFill>
          <a:ln/>
        </p:spPr>
      </p:sp>
      <p:pic>
        <p:nvPicPr>
          <p:cNvPr id="14" name="Image 1" descr="/tmp/claude-0/-home-user-My-Future-Idaes/0806094f-208a-506e-82b2-f78683d50c82/scratchpad/icons/FaUsers_white.png">    </p:cNvPr>
          <p:cNvPicPr>
            <a:picLocks noChangeAspect="1"/>
          </p:cNvPicPr>
          <p:nvPr/>
        </p:nvPicPr>
        <p:blipFill>
          <a:blip r:embed="rId2"/>
          <a:stretch>
            <a:fillRect/>
          </a:stretch>
        </p:blipFill>
        <p:spPr>
          <a:xfrm>
            <a:off x="6633240" y="2568732"/>
            <a:ext cx="275783" cy="275783"/>
          </a:xfrm>
          <a:prstGeom prst="rect">
            <a:avLst/>
          </a:prstGeom>
        </p:spPr>
      </p:pic>
      <p:sp>
        <p:nvSpPr>
          <p:cNvPr id="15" name="Text 11"/>
          <p:cNvSpPr/>
          <p:nvPr/>
        </p:nvSpPr>
        <p:spPr>
          <a:xfrm>
            <a:off x="7210044" y="2414016"/>
            <a:ext cx="4174236" cy="384048"/>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Buddy integrity</a:t>
            </a:r>
            <a:endParaRPr lang="en-US" sz="1400" dirty="0"/>
          </a:p>
        </p:txBody>
      </p:sp>
      <p:sp>
        <p:nvSpPr>
          <p:cNvPr id="16" name="Text 12"/>
          <p:cNvSpPr/>
          <p:nvPr/>
        </p:nvSpPr>
        <p:spPr>
          <a:xfrm>
            <a:off x="7210044" y="2816352"/>
            <a:ext cx="4128516" cy="1005840"/>
          </a:xfrm>
          <a:prstGeom prst="rect">
            <a:avLst/>
          </a:prstGeom>
          <a:noFill/>
          <a:ln/>
        </p:spPr>
        <p:txBody>
          <a:bodyPr wrap="square" lIns="0" tIns="0" rIns="0" bIns="0" rtlCol="0" anchor="ctr"/>
          <a:lstStyle/>
          <a:p>
            <a:pPr indent="0" marL="0">
              <a:buNone/>
            </a:pPr>
            <a:r>
              <a:rPr lang="en-US" sz="1100" dirty="0">
                <a:solidFill>
                  <a:srgbClr val="5A646C"/>
                </a:solidFill>
                <a:latin typeface="Arial" pitchFamily="34" charset="0"/>
                <a:ea typeface="Arial" pitchFamily="34" charset="-122"/>
                <a:cs typeface="Arial" pitchFamily="34" charset="-120"/>
              </a:rPr>
              <a:t>Teams of two, always in contact. Separation is an emergency in itself and is reported instantly.</a:t>
            </a:r>
            <a:endParaRPr lang="en-US" sz="1100" dirty="0"/>
          </a:p>
        </p:txBody>
      </p:sp>
      <p:sp>
        <p:nvSpPr>
          <p:cNvPr id="17" name="Shape 13"/>
          <p:cNvSpPr/>
          <p:nvPr/>
        </p:nvSpPr>
        <p:spPr>
          <a:xfrm>
            <a:off x="594360" y="4087368"/>
            <a:ext cx="5317236" cy="1691640"/>
          </a:xfrm>
          <a:prstGeom prst="roundRect">
            <a:avLst>
              <a:gd name="adj" fmla="val 5405"/>
            </a:avLst>
          </a:prstGeom>
          <a:solidFill>
            <a:srgbClr val="F3F4F5"/>
          </a:solidFill>
          <a:ln/>
        </p:spPr>
      </p:sp>
      <p:sp>
        <p:nvSpPr>
          <p:cNvPr id="18" name="Shape 14"/>
          <p:cNvSpPr/>
          <p:nvPr/>
        </p:nvSpPr>
        <p:spPr>
          <a:xfrm>
            <a:off x="822960" y="4315968"/>
            <a:ext cx="530352" cy="530352"/>
          </a:xfrm>
          <a:prstGeom prst="ellipse">
            <a:avLst/>
          </a:prstGeom>
          <a:solidFill>
            <a:srgbClr val="E8491D"/>
          </a:solidFill>
          <a:ln/>
        </p:spPr>
      </p:sp>
      <p:pic>
        <p:nvPicPr>
          <p:cNvPr id="19" name="Image 2" descr="/tmp/claude-0/-home-user-My-Future-Idaes/0806094f-208a-506e-82b2-f78683d50c82/scratchpad/icons/FaShieldAlt_white.png">    </p:cNvPr>
          <p:cNvPicPr>
            <a:picLocks noChangeAspect="1"/>
          </p:cNvPicPr>
          <p:nvPr/>
        </p:nvPicPr>
        <p:blipFill>
          <a:blip r:embed="rId3"/>
          <a:stretch>
            <a:fillRect/>
          </a:stretch>
        </p:blipFill>
        <p:spPr>
          <a:xfrm>
            <a:off x="950244" y="4443252"/>
            <a:ext cx="275783" cy="275783"/>
          </a:xfrm>
          <a:prstGeom prst="rect">
            <a:avLst/>
          </a:prstGeom>
        </p:spPr>
      </p:pic>
      <p:sp>
        <p:nvSpPr>
          <p:cNvPr id="20" name="Text 15"/>
          <p:cNvSpPr/>
          <p:nvPr/>
        </p:nvSpPr>
        <p:spPr>
          <a:xfrm>
            <a:off x="1527048" y="4288536"/>
            <a:ext cx="4174236" cy="384048"/>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PPE is non-negotiable</a:t>
            </a:r>
            <a:endParaRPr lang="en-US" sz="1400" dirty="0"/>
          </a:p>
        </p:txBody>
      </p:sp>
      <p:sp>
        <p:nvSpPr>
          <p:cNvPr id="21" name="Text 16"/>
          <p:cNvSpPr/>
          <p:nvPr/>
        </p:nvSpPr>
        <p:spPr>
          <a:xfrm>
            <a:off x="1527048" y="4690872"/>
            <a:ext cx="4128516" cy="1005840"/>
          </a:xfrm>
          <a:prstGeom prst="rect">
            <a:avLst/>
          </a:prstGeom>
          <a:noFill/>
          <a:ln/>
        </p:spPr>
        <p:txBody>
          <a:bodyPr wrap="square" lIns="0" tIns="0" rIns="0" bIns="0" rtlCol="0" anchor="ctr"/>
          <a:lstStyle/>
          <a:p>
            <a:pPr indent="0" marL="0">
              <a:buNone/>
            </a:pPr>
            <a:r>
              <a:rPr lang="en-US" sz="1100" dirty="0">
                <a:solidFill>
                  <a:srgbClr val="5A646C"/>
                </a:solidFill>
                <a:latin typeface="Arial" pitchFamily="34" charset="0"/>
                <a:ea typeface="Arial" pitchFamily="34" charset="-122"/>
                <a:cs typeface="Arial" pitchFamily="34" charset="-120"/>
              </a:rPr>
              <a:t>Full protective ensemble and BA discipline enforced by the leader — no exceptions for “just a quick look.”</a:t>
            </a:r>
            <a:endParaRPr lang="en-US" sz="1100" dirty="0"/>
          </a:p>
        </p:txBody>
      </p:sp>
      <p:sp>
        <p:nvSpPr>
          <p:cNvPr id="22" name="Shape 17"/>
          <p:cNvSpPr/>
          <p:nvPr/>
        </p:nvSpPr>
        <p:spPr>
          <a:xfrm>
            <a:off x="6277356" y="4087368"/>
            <a:ext cx="5317236" cy="1691640"/>
          </a:xfrm>
          <a:prstGeom prst="roundRect">
            <a:avLst>
              <a:gd name="adj" fmla="val 5405"/>
            </a:avLst>
          </a:prstGeom>
          <a:solidFill>
            <a:srgbClr val="F3F4F5"/>
          </a:solidFill>
          <a:ln/>
        </p:spPr>
      </p:sp>
      <p:sp>
        <p:nvSpPr>
          <p:cNvPr id="23" name="Shape 18"/>
          <p:cNvSpPr/>
          <p:nvPr/>
        </p:nvSpPr>
        <p:spPr>
          <a:xfrm>
            <a:off x="6505956" y="4315968"/>
            <a:ext cx="530352" cy="530352"/>
          </a:xfrm>
          <a:prstGeom prst="ellipse">
            <a:avLst/>
          </a:prstGeom>
          <a:solidFill>
            <a:srgbClr val="E8491D"/>
          </a:solidFill>
          <a:ln/>
        </p:spPr>
      </p:sp>
      <p:pic>
        <p:nvPicPr>
          <p:cNvPr id="24" name="Image 3" descr="/tmp/claude-0/-home-user-My-Future-Idaes/0806094f-208a-506e-82b2-f78683d50c82/scratchpad/icons/FaHandPaper_white.png">    </p:cNvPr>
          <p:cNvPicPr>
            <a:picLocks noChangeAspect="1"/>
          </p:cNvPicPr>
          <p:nvPr/>
        </p:nvPicPr>
        <p:blipFill>
          <a:blip r:embed="rId4"/>
          <a:stretch>
            <a:fillRect/>
          </a:stretch>
        </p:blipFill>
        <p:spPr>
          <a:xfrm>
            <a:off x="6633240" y="4443252"/>
            <a:ext cx="275783" cy="275783"/>
          </a:xfrm>
          <a:prstGeom prst="rect">
            <a:avLst/>
          </a:prstGeom>
        </p:spPr>
      </p:pic>
      <p:sp>
        <p:nvSpPr>
          <p:cNvPr id="25" name="Text 19"/>
          <p:cNvSpPr/>
          <p:nvPr/>
        </p:nvSpPr>
        <p:spPr>
          <a:xfrm>
            <a:off x="7210044" y="4288536"/>
            <a:ext cx="4174236" cy="384048"/>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Stop authority</a:t>
            </a:r>
            <a:endParaRPr lang="en-US" sz="1400" dirty="0"/>
          </a:p>
        </p:txBody>
      </p:sp>
      <p:sp>
        <p:nvSpPr>
          <p:cNvPr id="26" name="Text 20"/>
          <p:cNvSpPr/>
          <p:nvPr/>
        </p:nvSpPr>
        <p:spPr>
          <a:xfrm>
            <a:off x="7210044" y="4690872"/>
            <a:ext cx="4128516" cy="1005840"/>
          </a:xfrm>
          <a:prstGeom prst="rect">
            <a:avLst/>
          </a:prstGeom>
          <a:noFill/>
          <a:ln/>
        </p:spPr>
        <p:txBody>
          <a:bodyPr wrap="square" lIns="0" tIns="0" rIns="0" bIns="0" rtlCol="0" anchor="ctr"/>
          <a:lstStyle/>
          <a:p>
            <a:pPr indent="0" marL="0">
              <a:buNone/>
            </a:pPr>
            <a:r>
              <a:rPr lang="en-US" sz="1100" dirty="0">
                <a:solidFill>
                  <a:srgbClr val="5A646C"/>
                </a:solidFill>
                <a:latin typeface="Arial" pitchFamily="34" charset="0"/>
                <a:ea typeface="Arial" pitchFamily="34" charset="-122"/>
                <a:cs typeface="Arial" pitchFamily="34" charset="-120"/>
              </a:rPr>
              <a:t>Anyone can call STOP on an unsafe act. The leader backs every legitimate stop, publicly, every time.</a:t>
            </a:r>
            <a:endParaRPr lang="en-US" sz="1100" dirty="0"/>
          </a:p>
        </p:txBody>
      </p:sp>
      <p:sp>
        <p:nvSpPr>
          <p:cNvPr id="27" name="Text 21"/>
          <p:cNvSpPr/>
          <p:nvPr/>
        </p:nvSpPr>
        <p:spPr>
          <a:xfrm>
            <a:off x="594360" y="5943600"/>
            <a:ext cx="11000232" cy="411480"/>
          </a:xfrm>
          <a:prstGeom prst="rect">
            <a:avLst/>
          </a:prstGeom>
          <a:noFill/>
          <a:ln/>
        </p:spPr>
        <p:txBody>
          <a:bodyPr wrap="square" lIns="0" tIns="0" rIns="0" bIns="0" rtlCol="0" anchor="ctr"/>
          <a:lstStyle/>
          <a:p>
            <a:pPr indent="0" marL="0">
              <a:buNone/>
            </a:pPr>
            <a:r>
              <a:rPr lang="en-US" sz="1250" b="1" dirty="0">
                <a:solidFill>
                  <a:srgbClr val="C13415"/>
                </a:solidFill>
                <a:latin typeface="Arial" pitchFamily="34" charset="0"/>
                <a:ea typeface="Arial" pitchFamily="34" charset="-122"/>
                <a:cs typeface="Arial" pitchFamily="34" charset="-120"/>
              </a:rPr>
              <a:t>Leadership truth:  </a:t>
            </a:r>
            <a:pPr indent="0" marL="0">
              <a:buNone/>
            </a:pPr>
            <a:r>
              <a:rPr lang="en-US" sz="1250" dirty="0">
                <a:solidFill>
                  <a:srgbClr val="5A646C"/>
                </a:solidFill>
                <a:latin typeface="Arial" pitchFamily="34" charset="0"/>
                <a:ea typeface="Arial" pitchFamily="34" charset="-122"/>
                <a:cs typeface="Arial" pitchFamily="34" charset="-120"/>
              </a:rPr>
              <a:t>the standard you walk past is the standard you accept. Discipline is maintained in the drills, not discovered in the fire.</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29</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2</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The other 364 days: leading between emergencies</a:t>
            </a:r>
            <a:endParaRPr lang="en-US" sz="3000" dirty="0"/>
          </a:p>
        </p:txBody>
      </p:sp>
      <p:sp>
        <p:nvSpPr>
          <p:cNvPr id="6" name="Text 4"/>
          <p:cNvSpPr/>
          <p:nvPr/>
        </p:nvSpPr>
        <p:spPr>
          <a:xfrm>
            <a:off x="594360" y="1481328"/>
            <a:ext cx="10881360" cy="411480"/>
          </a:xfrm>
          <a:prstGeom prst="rect">
            <a:avLst/>
          </a:prstGeom>
          <a:noFill/>
          <a:ln/>
        </p:spPr>
        <p:txBody>
          <a:bodyPr wrap="square" lIns="0" tIns="0" rIns="0" bIns="0" rtlCol="0" anchor="ctr"/>
          <a:lstStyle/>
          <a:p>
            <a:pPr indent="0" marL="0">
              <a:buNone/>
            </a:pPr>
            <a:r>
              <a:rPr lang="en-US" sz="1350" i="1" dirty="0">
                <a:solidFill>
                  <a:srgbClr val="5A646C"/>
                </a:solidFill>
                <a:latin typeface="Arial" pitchFamily="34" charset="0"/>
                <a:ea typeface="Arial" pitchFamily="34" charset="-122"/>
                <a:cs typeface="Arial" pitchFamily="34" charset="-120"/>
              </a:rPr>
              <a:t>Emergency performance is decided long before the alarm — in how you run drills, briefs and feedback all year:</a:t>
            </a:r>
            <a:endParaRPr lang="en-US" sz="1350" dirty="0"/>
          </a:p>
        </p:txBody>
      </p:sp>
      <p:sp>
        <p:nvSpPr>
          <p:cNvPr id="7" name="Shape 5"/>
          <p:cNvSpPr/>
          <p:nvPr/>
        </p:nvSpPr>
        <p:spPr>
          <a:xfrm>
            <a:off x="594360" y="2103120"/>
            <a:ext cx="5317236" cy="1691640"/>
          </a:xfrm>
          <a:prstGeom prst="roundRect">
            <a:avLst>
              <a:gd name="adj" fmla="val 5405"/>
            </a:avLst>
          </a:prstGeom>
          <a:solidFill>
            <a:srgbClr val="F3F4F5"/>
          </a:solidFill>
          <a:ln/>
        </p:spPr>
      </p:sp>
      <p:sp>
        <p:nvSpPr>
          <p:cNvPr id="8" name="Shape 6"/>
          <p:cNvSpPr/>
          <p:nvPr/>
        </p:nvSpPr>
        <p:spPr>
          <a:xfrm>
            <a:off x="822960" y="2331720"/>
            <a:ext cx="530352" cy="530352"/>
          </a:xfrm>
          <a:prstGeom prst="ellipse">
            <a:avLst/>
          </a:prstGeom>
          <a:solidFill>
            <a:srgbClr val="E8491D"/>
          </a:solidFill>
          <a:ln/>
        </p:spPr>
      </p:sp>
      <p:pic>
        <p:nvPicPr>
          <p:cNvPr id="9" name="Image 0" descr="/tmp/claude-0/-home-user-My-Future-Idaes/0806094f-208a-506e-82b2-f78683d50c82/scratchpad/icons/FaSyncAlt_white.png">    </p:cNvPr>
          <p:cNvPicPr>
            <a:picLocks noChangeAspect="1"/>
          </p:cNvPicPr>
          <p:nvPr/>
        </p:nvPicPr>
        <p:blipFill>
          <a:blip r:embed="rId1"/>
          <a:stretch>
            <a:fillRect/>
          </a:stretch>
        </p:blipFill>
        <p:spPr>
          <a:xfrm>
            <a:off x="950244" y="2459004"/>
            <a:ext cx="275783" cy="275783"/>
          </a:xfrm>
          <a:prstGeom prst="rect">
            <a:avLst/>
          </a:prstGeom>
        </p:spPr>
      </p:pic>
      <p:sp>
        <p:nvSpPr>
          <p:cNvPr id="10" name="Text 7"/>
          <p:cNvSpPr/>
          <p:nvPr/>
        </p:nvSpPr>
        <p:spPr>
          <a:xfrm>
            <a:off x="1527048" y="2322576"/>
            <a:ext cx="4174236" cy="384048"/>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Drill with purpose</a:t>
            </a:r>
            <a:endParaRPr lang="en-US" sz="1400" dirty="0"/>
          </a:p>
        </p:txBody>
      </p:sp>
      <p:sp>
        <p:nvSpPr>
          <p:cNvPr id="11" name="Text 8"/>
          <p:cNvSpPr/>
          <p:nvPr/>
        </p:nvSpPr>
        <p:spPr>
          <a:xfrm>
            <a:off x="1527048" y="2724912"/>
            <a:ext cx="4128516" cy="100584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Short, frequent, debriefed drills beat rare marathon exercises. One skill, done hard, every week.</a:t>
            </a:r>
            <a:endParaRPr lang="en-US" sz="1050" dirty="0"/>
          </a:p>
        </p:txBody>
      </p:sp>
      <p:sp>
        <p:nvSpPr>
          <p:cNvPr id="12" name="Shape 9"/>
          <p:cNvSpPr/>
          <p:nvPr/>
        </p:nvSpPr>
        <p:spPr>
          <a:xfrm>
            <a:off x="6277356" y="2103120"/>
            <a:ext cx="5317236" cy="1691640"/>
          </a:xfrm>
          <a:prstGeom prst="roundRect">
            <a:avLst>
              <a:gd name="adj" fmla="val 5405"/>
            </a:avLst>
          </a:prstGeom>
          <a:solidFill>
            <a:srgbClr val="F3F4F5"/>
          </a:solidFill>
          <a:ln/>
        </p:spPr>
      </p:sp>
      <p:sp>
        <p:nvSpPr>
          <p:cNvPr id="13" name="Shape 10"/>
          <p:cNvSpPr/>
          <p:nvPr/>
        </p:nvSpPr>
        <p:spPr>
          <a:xfrm>
            <a:off x="6505956" y="2331720"/>
            <a:ext cx="530352" cy="530352"/>
          </a:xfrm>
          <a:prstGeom prst="ellipse">
            <a:avLst/>
          </a:prstGeom>
          <a:solidFill>
            <a:srgbClr val="E8491D"/>
          </a:solidFill>
          <a:ln/>
        </p:spPr>
      </p:sp>
      <p:pic>
        <p:nvPicPr>
          <p:cNvPr id="14" name="Image 1" descr="/tmp/claude-0/-home-user-My-Future-Idaes/0806094f-208a-506e-82b2-f78683d50c82/scratchpad/icons/FaComments_white.png">    </p:cNvPr>
          <p:cNvPicPr>
            <a:picLocks noChangeAspect="1"/>
          </p:cNvPicPr>
          <p:nvPr/>
        </p:nvPicPr>
        <p:blipFill>
          <a:blip r:embed="rId2"/>
          <a:stretch>
            <a:fillRect/>
          </a:stretch>
        </p:blipFill>
        <p:spPr>
          <a:xfrm>
            <a:off x="6633240" y="2459004"/>
            <a:ext cx="275783" cy="275783"/>
          </a:xfrm>
          <a:prstGeom prst="rect">
            <a:avLst/>
          </a:prstGeom>
        </p:spPr>
      </p:pic>
      <p:sp>
        <p:nvSpPr>
          <p:cNvPr id="15" name="Text 11"/>
          <p:cNvSpPr/>
          <p:nvPr/>
        </p:nvSpPr>
        <p:spPr>
          <a:xfrm>
            <a:off x="7210044" y="2322576"/>
            <a:ext cx="4174236" cy="384048"/>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Brief like it matters</a:t>
            </a:r>
            <a:endParaRPr lang="en-US" sz="1400" dirty="0"/>
          </a:p>
        </p:txBody>
      </p:sp>
      <p:sp>
        <p:nvSpPr>
          <p:cNvPr id="16" name="Text 12"/>
          <p:cNvSpPr/>
          <p:nvPr/>
        </p:nvSpPr>
        <p:spPr>
          <a:xfrm>
            <a:off x="7210044" y="2724912"/>
            <a:ext cx="4128516" cy="100584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Every shift handover includes the fire risk of the day: hot work, fuel transfers, well operations.</a:t>
            </a:r>
            <a:endParaRPr lang="en-US" sz="1050" dirty="0"/>
          </a:p>
        </p:txBody>
      </p:sp>
      <p:sp>
        <p:nvSpPr>
          <p:cNvPr id="17" name="Shape 13"/>
          <p:cNvSpPr/>
          <p:nvPr/>
        </p:nvSpPr>
        <p:spPr>
          <a:xfrm>
            <a:off x="594360" y="3977640"/>
            <a:ext cx="5317236" cy="1691640"/>
          </a:xfrm>
          <a:prstGeom prst="roundRect">
            <a:avLst>
              <a:gd name="adj" fmla="val 5405"/>
            </a:avLst>
          </a:prstGeom>
          <a:solidFill>
            <a:srgbClr val="F3F4F5"/>
          </a:solidFill>
          <a:ln/>
        </p:spPr>
      </p:sp>
      <p:sp>
        <p:nvSpPr>
          <p:cNvPr id="18" name="Shape 14"/>
          <p:cNvSpPr/>
          <p:nvPr/>
        </p:nvSpPr>
        <p:spPr>
          <a:xfrm>
            <a:off x="822960" y="4206240"/>
            <a:ext cx="530352" cy="530352"/>
          </a:xfrm>
          <a:prstGeom prst="ellipse">
            <a:avLst/>
          </a:prstGeom>
          <a:solidFill>
            <a:srgbClr val="E8491D"/>
          </a:solidFill>
          <a:ln/>
        </p:spPr>
      </p:sp>
      <p:pic>
        <p:nvPicPr>
          <p:cNvPr id="19" name="Image 2" descr="/tmp/claude-0/-home-user-My-Future-Idaes/0806094f-208a-506e-82b2-f78683d50c82/scratchpad/icons/FaChartLine_white.png">    </p:cNvPr>
          <p:cNvPicPr>
            <a:picLocks noChangeAspect="1"/>
          </p:cNvPicPr>
          <p:nvPr/>
        </p:nvPicPr>
        <p:blipFill>
          <a:blip r:embed="rId3"/>
          <a:stretch>
            <a:fillRect/>
          </a:stretch>
        </p:blipFill>
        <p:spPr>
          <a:xfrm>
            <a:off x="950244" y="4333524"/>
            <a:ext cx="275783" cy="275783"/>
          </a:xfrm>
          <a:prstGeom prst="rect">
            <a:avLst/>
          </a:prstGeom>
        </p:spPr>
      </p:pic>
      <p:sp>
        <p:nvSpPr>
          <p:cNvPr id="20" name="Text 15"/>
          <p:cNvSpPr/>
          <p:nvPr/>
        </p:nvSpPr>
        <p:spPr>
          <a:xfrm>
            <a:off x="1527048" y="4197096"/>
            <a:ext cx="4174236" cy="384048"/>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Feedback in both directions</a:t>
            </a:r>
            <a:endParaRPr lang="en-US" sz="1400" dirty="0"/>
          </a:p>
        </p:txBody>
      </p:sp>
      <p:sp>
        <p:nvSpPr>
          <p:cNvPr id="21" name="Text 16"/>
          <p:cNvSpPr/>
          <p:nvPr/>
        </p:nvSpPr>
        <p:spPr>
          <a:xfrm>
            <a:off x="1527048" y="4599432"/>
            <a:ext cx="4128516" cy="100584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Praise specifically, correct privately, and ask your crew what YOU should do differently. They know.</a:t>
            </a:r>
            <a:endParaRPr lang="en-US" sz="1050" dirty="0"/>
          </a:p>
        </p:txBody>
      </p:sp>
      <p:sp>
        <p:nvSpPr>
          <p:cNvPr id="22" name="Shape 17"/>
          <p:cNvSpPr/>
          <p:nvPr/>
        </p:nvSpPr>
        <p:spPr>
          <a:xfrm>
            <a:off x="6277356" y="3977640"/>
            <a:ext cx="5317236" cy="1691640"/>
          </a:xfrm>
          <a:prstGeom prst="roundRect">
            <a:avLst>
              <a:gd name="adj" fmla="val 5405"/>
            </a:avLst>
          </a:prstGeom>
          <a:solidFill>
            <a:srgbClr val="F3F4F5"/>
          </a:solidFill>
          <a:ln/>
        </p:spPr>
      </p:sp>
      <p:sp>
        <p:nvSpPr>
          <p:cNvPr id="23" name="Shape 18"/>
          <p:cNvSpPr/>
          <p:nvPr/>
        </p:nvSpPr>
        <p:spPr>
          <a:xfrm>
            <a:off x="6505956" y="4206240"/>
            <a:ext cx="530352" cy="530352"/>
          </a:xfrm>
          <a:prstGeom prst="ellipse">
            <a:avLst/>
          </a:prstGeom>
          <a:solidFill>
            <a:srgbClr val="E8491D"/>
          </a:solidFill>
          <a:ln/>
        </p:spPr>
      </p:sp>
      <p:pic>
        <p:nvPicPr>
          <p:cNvPr id="24" name="Image 3" descr="/tmp/claude-0/-home-user-My-Future-Idaes/0806094f-208a-506e-82b2-f78683d50c82/scratchpad/icons/FaMedal_white.png">    </p:cNvPr>
          <p:cNvPicPr>
            <a:picLocks noChangeAspect="1"/>
          </p:cNvPicPr>
          <p:nvPr/>
        </p:nvPicPr>
        <p:blipFill>
          <a:blip r:embed="rId4"/>
          <a:stretch>
            <a:fillRect/>
          </a:stretch>
        </p:blipFill>
        <p:spPr>
          <a:xfrm>
            <a:off x="6633240" y="4333524"/>
            <a:ext cx="275783" cy="275783"/>
          </a:xfrm>
          <a:prstGeom prst="rect">
            <a:avLst/>
          </a:prstGeom>
        </p:spPr>
      </p:pic>
      <p:sp>
        <p:nvSpPr>
          <p:cNvPr id="25" name="Text 19"/>
          <p:cNvSpPr/>
          <p:nvPr/>
        </p:nvSpPr>
        <p:spPr>
          <a:xfrm>
            <a:off x="7210044" y="4197096"/>
            <a:ext cx="4174236" cy="384048"/>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Build pride</a:t>
            </a:r>
            <a:endParaRPr lang="en-US" sz="1400" dirty="0"/>
          </a:p>
        </p:txBody>
      </p:sp>
      <p:sp>
        <p:nvSpPr>
          <p:cNvPr id="26" name="Text 20"/>
          <p:cNvSpPr/>
          <p:nvPr/>
        </p:nvSpPr>
        <p:spPr>
          <a:xfrm>
            <a:off x="7210044" y="4599432"/>
            <a:ext cx="4128516" cy="100584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Named roles, tracked times, visible standards. People protect an identity: 'we are the fire team.'</a:t>
            </a:r>
            <a:endParaRPr lang="en-US" sz="1050" dirty="0"/>
          </a:p>
        </p:txBody>
      </p:sp>
      <p:sp>
        <p:nvSpPr>
          <p:cNvPr id="27" name="Shape 21"/>
          <p:cNvSpPr/>
          <p:nvPr/>
        </p:nvSpPr>
        <p:spPr>
          <a:xfrm>
            <a:off x="594360" y="5760720"/>
            <a:ext cx="11000232" cy="548640"/>
          </a:xfrm>
          <a:prstGeom prst="roundRect">
            <a:avLst>
              <a:gd name="adj" fmla="val 13333"/>
            </a:avLst>
          </a:prstGeom>
          <a:solidFill>
            <a:srgbClr val="14181C"/>
          </a:solidFill>
          <a:ln/>
        </p:spPr>
      </p:sp>
      <p:sp>
        <p:nvSpPr>
          <p:cNvPr id="28" name="Text 22"/>
          <p:cNvSpPr/>
          <p:nvPr/>
        </p:nvSpPr>
        <p:spPr>
          <a:xfrm>
            <a:off x="822960" y="5760720"/>
            <a:ext cx="10543032" cy="548640"/>
          </a:xfrm>
          <a:prstGeom prst="rect">
            <a:avLst/>
          </a:prstGeom>
          <a:noFill/>
          <a:ln/>
        </p:spPr>
        <p:txBody>
          <a:bodyPr wrap="square" lIns="0" tIns="0" rIns="0" bIns="0" rtlCol="0" anchor="ctr"/>
          <a:lstStyle/>
          <a:p>
            <a:pPr indent="0" marL="0">
              <a:buNone/>
            </a:pPr>
            <a:r>
              <a:rPr lang="en-US" sz="1150" b="1" dirty="0">
                <a:solidFill>
                  <a:srgbClr val="F5A623"/>
                </a:solidFill>
                <a:latin typeface="Arial" pitchFamily="34" charset="0"/>
                <a:ea typeface="Arial" pitchFamily="34" charset="-122"/>
                <a:cs typeface="Arial" pitchFamily="34" charset="-120"/>
              </a:rPr>
              <a:t>A crew that trusts you on Tuesday  </a:t>
            </a:r>
            <a:pPr indent="0" marL="0">
              <a:buNone/>
            </a:pPr>
            <a:r>
              <a:rPr lang="en-US" sz="1150" dirty="0">
                <a:solidFill>
                  <a:srgbClr val="FFFFFF"/>
                </a:solidFill>
                <a:latin typeface="Arial" pitchFamily="34" charset="0"/>
                <a:ea typeface="Arial" pitchFamily="34" charset="-122"/>
                <a:cs typeface="Arial" pitchFamily="34" charset="-120"/>
              </a:rPr>
              <a:t>will follow you into smoke on Friday. Trust is built in boring moments.</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30</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2 — PRACTICAL</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Behavioral leadership simulations</a:t>
            </a:r>
            <a:endParaRPr lang="en-US" sz="3000" dirty="0"/>
          </a:p>
        </p:txBody>
      </p:sp>
      <p:sp>
        <p:nvSpPr>
          <p:cNvPr id="6" name="Shape 4"/>
          <p:cNvSpPr/>
          <p:nvPr/>
        </p:nvSpPr>
        <p:spPr>
          <a:xfrm>
            <a:off x="9445752" y="438912"/>
            <a:ext cx="2148840" cy="457200"/>
          </a:xfrm>
          <a:prstGeom prst="roundRect">
            <a:avLst>
              <a:gd name="adj" fmla="val 50000"/>
            </a:avLst>
          </a:prstGeom>
          <a:solidFill>
            <a:srgbClr val="E8491D"/>
          </a:solidFill>
          <a:ln/>
        </p:spPr>
      </p:sp>
      <p:sp>
        <p:nvSpPr>
          <p:cNvPr id="7" name="Text 5"/>
          <p:cNvSpPr/>
          <p:nvPr/>
        </p:nvSpPr>
        <p:spPr>
          <a:xfrm>
            <a:off x="9445752" y="438912"/>
            <a:ext cx="2148840" cy="457200"/>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Arial" pitchFamily="34" charset="0"/>
                <a:ea typeface="Arial" pitchFamily="34" charset="-122"/>
                <a:cs typeface="Arial" pitchFamily="34" charset="-120"/>
              </a:rPr>
              <a:t>PRACTICAL BLOCK</a:t>
            </a:r>
            <a:endParaRPr lang="en-US" sz="1100" dirty="0"/>
          </a:p>
        </p:txBody>
      </p:sp>
      <p:sp>
        <p:nvSpPr>
          <p:cNvPr id="8" name="Text 6"/>
          <p:cNvSpPr/>
          <p:nvPr/>
        </p:nvSpPr>
        <p:spPr>
          <a:xfrm>
            <a:off x="594360" y="1536192"/>
            <a:ext cx="11000232" cy="502920"/>
          </a:xfrm>
          <a:prstGeom prst="rect">
            <a:avLst/>
          </a:prstGeom>
          <a:noFill/>
          <a:ln/>
        </p:spPr>
        <p:txBody>
          <a:bodyPr wrap="square" lIns="0" tIns="0" rIns="0" bIns="0" rtlCol="0" anchor="ctr"/>
          <a:lstStyle/>
          <a:p>
            <a:pPr indent="0" marL="0">
              <a:buNone/>
            </a:pPr>
            <a:r>
              <a:rPr lang="en-US" sz="1350" i="1" dirty="0">
                <a:solidFill>
                  <a:srgbClr val="5A646C"/>
                </a:solidFill>
                <a:latin typeface="Arial" pitchFamily="34" charset="0"/>
                <a:ea typeface="Arial" pitchFamily="34" charset="-122"/>
                <a:cs typeface="Arial" pitchFamily="34" charset="-120"/>
              </a:rPr>
              <a:t>Stress is injected deliberately — noise, smoke machines, conflicting orders, a “panicking” role-player — and the leader must manage the humans first.</a:t>
            </a:r>
            <a:endParaRPr lang="en-US" sz="1350" dirty="0"/>
          </a:p>
        </p:txBody>
      </p:sp>
      <p:sp>
        <p:nvSpPr>
          <p:cNvPr id="9" name="Shape 7"/>
          <p:cNvSpPr/>
          <p:nvPr/>
        </p:nvSpPr>
        <p:spPr>
          <a:xfrm>
            <a:off x="594360" y="2194560"/>
            <a:ext cx="3453384" cy="3200400"/>
          </a:xfrm>
          <a:prstGeom prst="roundRect">
            <a:avLst>
              <a:gd name="adj" fmla="val 2857"/>
            </a:avLst>
          </a:prstGeom>
          <a:solidFill>
            <a:srgbClr val="F3F4F5"/>
          </a:solidFill>
          <a:ln/>
        </p:spPr>
      </p:sp>
      <p:sp>
        <p:nvSpPr>
          <p:cNvPr id="10" name="Shape 8"/>
          <p:cNvSpPr/>
          <p:nvPr/>
        </p:nvSpPr>
        <p:spPr>
          <a:xfrm>
            <a:off x="822960" y="2423160"/>
            <a:ext cx="548640" cy="548640"/>
          </a:xfrm>
          <a:prstGeom prst="ellipse">
            <a:avLst/>
          </a:prstGeom>
          <a:solidFill>
            <a:srgbClr val="E8491D"/>
          </a:solidFill>
          <a:ln/>
        </p:spPr>
      </p:sp>
      <p:pic>
        <p:nvPicPr>
          <p:cNvPr id="11" name="Image 0" descr="/tmp/claude-0/-home-user-My-Future-Idaes/0806094f-208a-506e-82b2-f78683d50c82/scratchpad/icons/FaHeartbeat_white.png">    </p:cNvPr>
          <p:cNvPicPr>
            <a:picLocks noChangeAspect="1"/>
          </p:cNvPicPr>
          <p:nvPr/>
        </p:nvPicPr>
        <p:blipFill>
          <a:blip r:embed="rId1"/>
          <a:stretch>
            <a:fillRect/>
          </a:stretch>
        </p:blipFill>
        <p:spPr>
          <a:xfrm>
            <a:off x="954634" y="2554834"/>
            <a:ext cx="285293" cy="285293"/>
          </a:xfrm>
          <a:prstGeom prst="rect">
            <a:avLst/>
          </a:prstGeom>
        </p:spPr>
      </p:pic>
      <p:sp>
        <p:nvSpPr>
          <p:cNvPr id="12" name="Text 9"/>
          <p:cNvSpPr/>
          <p:nvPr/>
        </p:nvSpPr>
        <p:spPr>
          <a:xfrm>
            <a:off x="822960" y="3108960"/>
            <a:ext cx="2996184" cy="621792"/>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Panic management scenario</a:t>
            </a:r>
            <a:endParaRPr lang="en-US" sz="1400" dirty="0"/>
          </a:p>
        </p:txBody>
      </p:sp>
      <p:sp>
        <p:nvSpPr>
          <p:cNvPr id="13" name="Text 10"/>
          <p:cNvSpPr/>
          <p:nvPr/>
        </p:nvSpPr>
        <p:spPr>
          <a:xfrm>
            <a:off x="822960" y="3749040"/>
            <a:ext cx="2996184" cy="150876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One crew member (actor) panics mid-drill. Recognize, isolate, re-task and reintegrate — without losing the fireground.</a:t>
            </a:r>
            <a:endParaRPr lang="en-US" sz="1050" dirty="0"/>
          </a:p>
        </p:txBody>
      </p:sp>
      <p:sp>
        <p:nvSpPr>
          <p:cNvPr id="14" name="Shape 11"/>
          <p:cNvSpPr/>
          <p:nvPr/>
        </p:nvSpPr>
        <p:spPr>
          <a:xfrm>
            <a:off x="4367784" y="2194560"/>
            <a:ext cx="3453384" cy="3200400"/>
          </a:xfrm>
          <a:prstGeom prst="roundRect">
            <a:avLst>
              <a:gd name="adj" fmla="val 2857"/>
            </a:avLst>
          </a:prstGeom>
          <a:solidFill>
            <a:srgbClr val="F3F4F5"/>
          </a:solidFill>
          <a:ln/>
        </p:spPr>
      </p:sp>
      <p:sp>
        <p:nvSpPr>
          <p:cNvPr id="15" name="Shape 12"/>
          <p:cNvSpPr/>
          <p:nvPr/>
        </p:nvSpPr>
        <p:spPr>
          <a:xfrm>
            <a:off x="4596384" y="2423160"/>
            <a:ext cx="548640" cy="548640"/>
          </a:xfrm>
          <a:prstGeom prst="ellipse">
            <a:avLst/>
          </a:prstGeom>
          <a:solidFill>
            <a:srgbClr val="E8491D"/>
          </a:solidFill>
          <a:ln/>
        </p:spPr>
      </p:sp>
      <p:pic>
        <p:nvPicPr>
          <p:cNvPr id="16" name="Image 1" descr="/tmp/claude-0/-home-user-My-Future-Idaes/0806094f-208a-506e-82b2-f78683d50c82/scratchpad/icons/FaUsers_white.png">    </p:cNvPr>
          <p:cNvPicPr>
            <a:picLocks noChangeAspect="1"/>
          </p:cNvPicPr>
          <p:nvPr/>
        </p:nvPicPr>
        <p:blipFill>
          <a:blip r:embed="rId2"/>
          <a:stretch>
            <a:fillRect/>
          </a:stretch>
        </p:blipFill>
        <p:spPr>
          <a:xfrm>
            <a:off x="4728058" y="2554834"/>
            <a:ext cx="285293" cy="285293"/>
          </a:xfrm>
          <a:prstGeom prst="rect">
            <a:avLst/>
          </a:prstGeom>
        </p:spPr>
      </p:pic>
      <p:sp>
        <p:nvSpPr>
          <p:cNvPr id="17" name="Text 13"/>
          <p:cNvSpPr/>
          <p:nvPr/>
        </p:nvSpPr>
        <p:spPr>
          <a:xfrm>
            <a:off x="4596384" y="3108960"/>
            <a:ext cx="2996184" cy="621792"/>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Team performance lab</a:t>
            </a:r>
            <a:endParaRPr lang="en-US" sz="1400" dirty="0"/>
          </a:p>
        </p:txBody>
      </p:sp>
      <p:sp>
        <p:nvSpPr>
          <p:cNvPr id="18" name="Text 14"/>
          <p:cNvSpPr/>
          <p:nvPr/>
        </p:nvSpPr>
        <p:spPr>
          <a:xfrm>
            <a:off x="4596384" y="3749040"/>
            <a:ext cx="2996184" cy="150876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Lead a degraded team: fatigue, miscommunication, a silent withdrawer. Restore output within the exercise window.</a:t>
            </a:r>
            <a:endParaRPr lang="en-US" sz="1050" dirty="0"/>
          </a:p>
        </p:txBody>
      </p:sp>
      <p:sp>
        <p:nvSpPr>
          <p:cNvPr id="19" name="Shape 15"/>
          <p:cNvSpPr/>
          <p:nvPr/>
        </p:nvSpPr>
        <p:spPr>
          <a:xfrm>
            <a:off x="8141208" y="2194560"/>
            <a:ext cx="3453384" cy="3200400"/>
          </a:xfrm>
          <a:prstGeom prst="roundRect">
            <a:avLst>
              <a:gd name="adj" fmla="val 2857"/>
            </a:avLst>
          </a:prstGeom>
          <a:solidFill>
            <a:srgbClr val="F3F4F5"/>
          </a:solidFill>
          <a:ln/>
        </p:spPr>
      </p:sp>
      <p:sp>
        <p:nvSpPr>
          <p:cNvPr id="20" name="Shape 16"/>
          <p:cNvSpPr/>
          <p:nvPr/>
        </p:nvSpPr>
        <p:spPr>
          <a:xfrm>
            <a:off x="8369808" y="2423160"/>
            <a:ext cx="548640" cy="548640"/>
          </a:xfrm>
          <a:prstGeom prst="ellipse">
            <a:avLst/>
          </a:prstGeom>
          <a:solidFill>
            <a:srgbClr val="E8491D"/>
          </a:solidFill>
          <a:ln/>
        </p:spPr>
      </p:sp>
      <p:pic>
        <p:nvPicPr>
          <p:cNvPr id="21" name="Image 2" descr="/tmp/claude-0/-home-user-My-Future-Idaes/0806094f-208a-506e-82b2-f78683d50c82/scratchpad/icons/FaHandPaper_white.png">    </p:cNvPr>
          <p:cNvPicPr>
            <a:picLocks noChangeAspect="1"/>
          </p:cNvPicPr>
          <p:nvPr/>
        </p:nvPicPr>
        <p:blipFill>
          <a:blip r:embed="rId3"/>
          <a:stretch>
            <a:fillRect/>
          </a:stretch>
        </p:blipFill>
        <p:spPr>
          <a:xfrm>
            <a:off x="8501482" y="2554834"/>
            <a:ext cx="285293" cy="285293"/>
          </a:xfrm>
          <a:prstGeom prst="rect">
            <a:avLst/>
          </a:prstGeom>
        </p:spPr>
      </p:pic>
      <p:sp>
        <p:nvSpPr>
          <p:cNvPr id="22" name="Text 17"/>
          <p:cNvSpPr/>
          <p:nvPr/>
        </p:nvSpPr>
        <p:spPr>
          <a:xfrm>
            <a:off x="8369808" y="3108960"/>
            <a:ext cx="2996184" cy="621792"/>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Discipline moments</a:t>
            </a:r>
            <a:endParaRPr lang="en-US" sz="1400" dirty="0"/>
          </a:p>
        </p:txBody>
      </p:sp>
      <p:sp>
        <p:nvSpPr>
          <p:cNvPr id="23" name="Text 18"/>
          <p:cNvSpPr/>
          <p:nvPr/>
        </p:nvSpPr>
        <p:spPr>
          <a:xfrm>
            <a:off x="8369808" y="3749040"/>
            <a:ext cx="2996184" cy="150876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Scripted unsafe acts appear during tasks. Spot them, stop them, correct them — firmly and without humiliation.</a:t>
            </a:r>
            <a:endParaRPr lang="en-US" sz="1050" dirty="0"/>
          </a:p>
        </p:txBody>
      </p:sp>
      <p:sp>
        <p:nvSpPr>
          <p:cNvPr id="24" name="Shape 19"/>
          <p:cNvSpPr/>
          <p:nvPr/>
        </p:nvSpPr>
        <p:spPr>
          <a:xfrm>
            <a:off x="594360" y="5623560"/>
            <a:ext cx="11000232" cy="658368"/>
          </a:xfrm>
          <a:prstGeom prst="roundRect">
            <a:avLst>
              <a:gd name="adj" fmla="val 11111"/>
            </a:avLst>
          </a:prstGeom>
          <a:solidFill>
            <a:srgbClr val="14181C"/>
          </a:solidFill>
          <a:ln/>
        </p:spPr>
      </p:sp>
      <p:sp>
        <p:nvSpPr>
          <p:cNvPr id="25" name="Text 20"/>
          <p:cNvSpPr/>
          <p:nvPr/>
        </p:nvSpPr>
        <p:spPr>
          <a:xfrm>
            <a:off x="822960" y="5623560"/>
            <a:ext cx="10543032" cy="658368"/>
          </a:xfrm>
          <a:prstGeom prst="rect">
            <a:avLst/>
          </a:prstGeom>
          <a:noFill/>
          <a:ln/>
        </p:spPr>
        <p:txBody>
          <a:bodyPr wrap="square" lIns="0" tIns="0" rIns="0" bIns="0" rtlCol="0" anchor="ctr"/>
          <a:lstStyle/>
          <a:p>
            <a:pPr indent="0" marL="0">
              <a:buNone/>
            </a:pPr>
            <a:r>
              <a:rPr lang="en-US" sz="1150" b="1" dirty="0">
                <a:solidFill>
                  <a:srgbClr val="F5A623"/>
                </a:solidFill>
                <a:latin typeface="Arial" pitchFamily="34" charset="0"/>
                <a:ea typeface="Arial" pitchFamily="34" charset="-122"/>
                <a:cs typeface="Arial" pitchFamily="34" charset="-120"/>
              </a:rPr>
              <a:t>ASSESSED:  </a:t>
            </a:r>
            <a:pPr indent="0" marL="0">
              <a:buNone/>
            </a:pPr>
            <a:r>
              <a:rPr lang="en-US" sz="1150" dirty="0">
                <a:solidFill>
                  <a:srgbClr val="FFFFFF"/>
                </a:solidFill>
                <a:latin typeface="Arial" pitchFamily="34" charset="0"/>
                <a:ea typeface="Arial" pitchFamily="34" charset="-122"/>
                <a:cs typeface="Arial" pitchFamily="34" charset="-120"/>
              </a:rPr>
              <a:t>Recognition speed, intervention quality and whether the team's performance recovers — Module 2 rubric.</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4181C"/>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9AA5AD"/>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9AA5AD"/>
                </a:solidFill>
                <a:latin typeface="Arial" pitchFamily="34" charset="0"/>
                <a:ea typeface="Arial" pitchFamily="34" charset="-122"/>
                <a:cs typeface="Arial" pitchFamily="34" charset="-120"/>
              </a:rPr>
              <a:t>31</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END OF DAY 1</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What you take to bed tonight</a:t>
            </a:r>
            <a:endParaRPr lang="en-US" sz="3000" dirty="0"/>
          </a:p>
        </p:txBody>
      </p:sp>
      <p:sp>
        <p:nvSpPr>
          <p:cNvPr id="6" name="Shape 4"/>
          <p:cNvSpPr/>
          <p:nvPr/>
        </p:nvSpPr>
        <p:spPr>
          <a:xfrm>
            <a:off x="594360" y="1783080"/>
            <a:ext cx="3453384" cy="2651760"/>
          </a:xfrm>
          <a:prstGeom prst="roundRect">
            <a:avLst>
              <a:gd name="adj" fmla="val 3448"/>
            </a:avLst>
          </a:prstGeom>
          <a:solidFill>
            <a:srgbClr val="1F262C"/>
          </a:solidFill>
          <a:ln w="9525">
            <a:solidFill>
              <a:srgbClr val="39434B"/>
            </a:solidFill>
            <a:prstDash val="solid"/>
          </a:ln>
        </p:spPr>
      </p:sp>
      <p:sp>
        <p:nvSpPr>
          <p:cNvPr id="7" name="Text 5"/>
          <p:cNvSpPr/>
          <p:nvPr/>
        </p:nvSpPr>
        <p:spPr>
          <a:xfrm>
            <a:off x="822960" y="1938528"/>
            <a:ext cx="1097280" cy="548640"/>
          </a:xfrm>
          <a:prstGeom prst="rect">
            <a:avLst/>
          </a:prstGeom>
          <a:noFill/>
          <a:ln/>
        </p:spPr>
        <p:txBody>
          <a:bodyPr wrap="square" lIns="0" tIns="0" rIns="0" bIns="0" rtlCol="0" anchor="ctr"/>
          <a:lstStyle/>
          <a:p>
            <a:pPr indent="0" marL="0">
              <a:buNone/>
            </a:pPr>
            <a:r>
              <a:rPr lang="en-US" sz="2600" b="1" dirty="0">
                <a:solidFill>
                  <a:srgbClr val="E8491D"/>
                </a:solidFill>
                <a:latin typeface="Arial" pitchFamily="34" charset="0"/>
                <a:ea typeface="Arial" pitchFamily="34" charset="-122"/>
                <a:cs typeface="Arial" pitchFamily="34" charset="-120"/>
              </a:rPr>
              <a:t>01</a:t>
            </a:r>
            <a:endParaRPr lang="en-US" sz="2600" dirty="0"/>
          </a:p>
        </p:txBody>
      </p:sp>
      <p:sp>
        <p:nvSpPr>
          <p:cNvPr id="8" name="Text 6"/>
          <p:cNvSpPr/>
          <p:nvPr/>
        </p:nvSpPr>
        <p:spPr>
          <a:xfrm>
            <a:off x="822960" y="2542032"/>
            <a:ext cx="2996184" cy="6858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Command is declared, not assumed</a:t>
            </a:r>
            <a:endParaRPr lang="en-US" sz="1400" dirty="0"/>
          </a:p>
        </p:txBody>
      </p:sp>
      <p:sp>
        <p:nvSpPr>
          <p:cNvPr id="9" name="Text 7"/>
          <p:cNvSpPr/>
          <p:nvPr/>
        </p:nvSpPr>
        <p:spPr>
          <a:xfrm>
            <a:off x="822960" y="3255264"/>
            <a:ext cx="2996184" cy="1051560"/>
          </a:xfrm>
          <a:prstGeom prst="rect">
            <a:avLst/>
          </a:prstGeom>
          <a:noFill/>
          <a:ln/>
        </p:spPr>
        <p:txBody>
          <a:bodyPr wrap="square" lIns="0" tIns="0" rIns="0" bIns="0" rtlCol="0" anchor="ctr"/>
          <a:lstStyle/>
          <a:p>
            <a:pPr indent="0" marL="0">
              <a:buNone/>
            </a:pPr>
            <a:r>
              <a:rPr lang="en-US" sz="1100" dirty="0">
                <a:solidFill>
                  <a:srgbClr val="9AA5AD"/>
                </a:solidFill>
                <a:latin typeface="Arial" pitchFamily="34" charset="0"/>
                <a:ea typeface="Arial" pitchFamily="34" charset="-122"/>
                <a:cs typeface="Arial" pitchFamily="34" charset="-120"/>
              </a:rPr>
              <a:t>The scene has a leader the moment you say so — and not one second before.</a:t>
            </a:r>
            <a:endParaRPr lang="en-US" sz="1100" dirty="0"/>
          </a:p>
        </p:txBody>
      </p:sp>
      <p:sp>
        <p:nvSpPr>
          <p:cNvPr id="10" name="Shape 8"/>
          <p:cNvSpPr/>
          <p:nvPr/>
        </p:nvSpPr>
        <p:spPr>
          <a:xfrm>
            <a:off x="4367784" y="1783080"/>
            <a:ext cx="3453384" cy="2651760"/>
          </a:xfrm>
          <a:prstGeom prst="roundRect">
            <a:avLst>
              <a:gd name="adj" fmla="val 3448"/>
            </a:avLst>
          </a:prstGeom>
          <a:solidFill>
            <a:srgbClr val="1F262C"/>
          </a:solidFill>
          <a:ln w="9525">
            <a:solidFill>
              <a:srgbClr val="39434B"/>
            </a:solidFill>
            <a:prstDash val="solid"/>
          </a:ln>
        </p:spPr>
      </p:sp>
      <p:sp>
        <p:nvSpPr>
          <p:cNvPr id="11" name="Text 9"/>
          <p:cNvSpPr/>
          <p:nvPr/>
        </p:nvSpPr>
        <p:spPr>
          <a:xfrm>
            <a:off x="4596384" y="1938528"/>
            <a:ext cx="1097280" cy="548640"/>
          </a:xfrm>
          <a:prstGeom prst="rect">
            <a:avLst/>
          </a:prstGeom>
          <a:noFill/>
          <a:ln/>
        </p:spPr>
        <p:txBody>
          <a:bodyPr wrap="square" lIns="0" tIns="0" rIns="0" bIns="0" rtlCol="0" anchor="ctr"/>
          <a:lstStyle/>
          <a:p>
            <a:pPr indent="0" marL="0">
              <a:buNone/>
            </a:pPr>
            <a:r>
              <a:rPr lang="en-US" sz="2600" b="1" dirty="0">
                <a:solidFill>
                  <a:srgbClr val="E8491D"/>
                </a:solidFill>
                <a:latin typeface="Arial" pitchFamily="34" charset="0"/>
                <a:ea typeface="Arial" pitchFamily="34" charset="-122"/>
                <a:cs typeface="Arial" pitchFamily="34" charset="-120"/>
              </a:rPr>
              <a:t>02</a:t>
            </a:r>
            <a:endParaRPr lang="en-US" sz="2600" dirty="0"/>
          </a:p>
        </p:txBody>
      </p:sp>
      <p:sp>
        <p:nvSpPr>
          <p:cNvPr id="12" name="Text 10"/>
          <p:cNvSpPr/>
          <p:nvPr/>
        </p:nvSpPr>
        <p:spPr>
          <a:xfrm>
            <a:off x="4596384" y="2542032"/>
            <a:ext cx="2996184" cy="6858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Directive is the emergency default</a:t>
            </a:r>
            <a:endParaRPr lang="en-US" sz="1400" dirty="0"/>
          </a:p>
        </p:txBody>
      </p:sp>
      <p:sp>
        <p:nvSpPr>
          <p:cNvPr id="13" name="Text 11"/>
          <p:cNvSpPr/>
          <p:nvPr/>
        </p:nvSpPr>
        <p:spPr>
          <a:xfrm>
            <a:off x="4596384" y="3255264"/>
            <a:ext cx="2996184" cy="1051560"/>
          </a:xfrm>
          <a:prstGeom prst="rect">
            <a:avLst/>
          </a:prstGeom>
          <a:noFill/>
          <a:ln/>
        </p:spPr>
        <p:txBody>
          <a:bodyPr wrap="square" lIns="0" tIns="0" rIns="0" bIns="0" rtlCol="0" anchor="ctr"/>
          <a:lstStyle/>
          <a:p>
            <a:pPr indent="0" marL="0">
              <a:buNone/>
            </a:pPr>
            <a:r>
              <a:rPr lang="en-US" sz="1100" dirty="0">
                <a:solidFill>
                  <a:srgbClr val="9AA5AD"/>
                </a:solidFill>
                <a:latin typeface="Arial" pitchFamily="34" charset="0"/>
                <a:ea typeface="Arial" pitchFamily="34" charset="-122"/>
                <a:cs typeface="Arial" pitchFamily="34" charset="-120"/>
              </a:rPr>
              <a:t>Decide at 70%, broadcast the plan, loop the OODA. Hesitation is the only unforgivable error.</a:t>
            </a:r>
            <a:endParaRPr lang="en-US" sz="1100" dirty="0"/>
          </a:p>
        </p:txBody>
      </p:sp>
      <p:sp>
        <p:nvSpPr>
          <p:cNvPr id="14" name="Shape 12"/>
          <p:cNvSpPr/>
          <p:nvPr/>
        </p:nvSpPr>
        <p:spPr>
          <a:xfrm>
            <a:off x="8141208" y="1783080"/>
            <a:ext cx="3453384" cy="2651760"/>
          </a:xfrm>
          <a:prstGeom prst="roundRect">
            <a:avLst>
              <a:gd name="adj" fmla="val 3448"/>
            </a:avLst>
          </a:prstGeom>
          <a:solidFill>
            <a:srgbClr val="1F262C"/>
          </a:solidFill>
          <a:ln w="9525">
            <a:solidFill>
              <a:srgbClr val="39434B"/>
            </a:solidFill>
            <a:prstDash val="solid"/>
          </a:ln>
        </p:spPr>
      </p:sp>
      <p:sp>
        <p:nvSpPr>
          <p:cNvPr id="15" name="Text 13"/>
          <p:cNvSpPr/>
          <p:nvPr/>
        </p:nvSpPr>
        <p:spPr>
          <a:xfrm>
            <a:off x="8369808" y="1938528"/>
            <a:ext cx="1097280" cy="548640"/>
          </a:xfrm>
          <a:prstGeom prst="rect">
            <a:avLst/>
          </a:prstGeom>
          <a:noFill/>
          <a:ln/>
        </p:spPr>
        <p:txBody>
          <a:bodyPr wrap="square" lIns="0" tIns="0" rIns="0" bIns="0" rtlCol="0" anchor="ctr"/>
          <a:lstStyle/>
          <a:p>
            <a:pPr indent="0" marL="0">
              <a:buNone/>
            </a:pPr>
            <a:r>
              <a:rPr lang="en-US" sz="2600" b="1" dirty="0">
                <a:solidFill>
                  <a:srgbClr val="E8491D"/>
                </a:solidFill>
                <a:latin typeface="Arial" pitchFamily="34" charset="0"/>
                <a:ea typeface="Arial" pitchFamily="34" charset="-122"/>
                <a:cs typeface="Arial" pitchFamily="34" charset="-120"/>
              </a:rPr>
              <a:t>03</a:t>
            </a:r>
            <a:endParaRPr lang="en-US" sz="2600" dirty="0"/>
          </a:p>
        </p:txBody>
      </p:sp>
      <p:sp>
        <p:nvSpPr>
          <p:cNvPr id="16" name="Text 14"/>
          <p:cNvSpPr/>
          <p:nvPr/>
        </p:nvSpPr>
        <p:spPr>
          <a:xfrm>
            <a:off x="8369808" y="2542032"/>
            <a:ext cx="2996184" cy="6858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People fail before pumps do</a:t>
            </a:r>
            <a:endParaRPr lang="en-US" sz="1400" dirty="0"/>
          </a:p>
        </p:txBody>
      </p:sp>
      <p:sp>
        <p:nvSpPr>
          <p:cNvPr id="17" name="Text 15"/>
          <p:cNvSpPr/>
          <p:nvPr/>
        </p:nvSpPr>
        <p:spPr>
          <a:xfrm>
            <a:off x="8369808" y="3255264"/>
            <a:ext cx="2996184" cy="1051560"/>
          </a:xfrm>
          <a:prstGeom prst="rect">
            <a:avLst/>
          </a:prstGeom>
          <a:noFill/>
          <a:ln/>
        </p:spPr>
        <p:txBody>
          <a:bodyPr wrap="square" lIns="0" tIns="0" rIns="0" bIns="0" rtlCol="0" anchor="ctr"/>
          <a:lstStyle/>
          <a:p>
            <a:pPr indent="0" marL="0">
              <a:buNone/>
            </a:pPr>
            <a:r>
              <a:rPr lang="en-US" sz="1100" dirty="0">
                <a:solidFill>
                  <a:srgbClr val="9AA5AD"/>
                </a:solidFill>
                <a:latin typeface="Arial" pitchFamily="34" charset="0"/>
                <a:ea typeface="Arial" pitchFamily="34" charset="-122"/>
                <a:cs typeface="Arial" pitchFamily="34" charset="-120"/>
              </a:rPr>
              <a:t>Expect tunnel vision, panic and freelancing — and lead them out of it by name and by task.</a:t>
            </a:r>
            <a:endParaRPr lang="en-US" sz="1100" dirty="0"/>
          </a:p>
        </p:txBody>
      </p:sp>
      <p:sp>
        <p:nvSpPr>
          <p:cNvPr id="18" name="Shape 16"/>
          <p:cNvSpPr/>
          <p:nvPr/>
        </p:nvSpPr>
        <p:spPr>
          <a:xfrm>
            <a:off x="594360" y="4800600"/>
            <a:ext cx="11000232" cy="1234440"/>
          </a:xfrm>
          <a:prstGeom prst="roundRect">
            <a:avLst>
              <a:gd name="adj" fmla="val 7407"/>
            </a:avLst>
          </a:prstGeom>
          <a:solidFill>
            <a:srgbClr val="F5A623"/>
          </a:solidFill>
          <a:ln/>
        </p:spPr>
      </p:sp>
      <p:sp>
        <p:nvSpPr>
          <p:cNvPr id="19" name="Shape 17"/>
          <p:cNvSpPr/>
          <p:nvPr/>
        </p:nvSpPr>
        <p:spPr>
          <a:xfrm>
            <a:off x="868680" y="5120640"/>
            <a:ext cx="594360" cy="594360"/>
          </a:xfrm>
          <a:prstGeom prst="ellipse">
            <a:avLst/>
          </a:prstGeom>
          <a:solidFill>
            <a:srgbClr val="14181C"/>
          </a:solidFill>
          <a:ln/>
        </p:spPr>
      </p:sp>
      <p:pic>
        <p:nvPicPr>
          <p:cNvPr id="20" name="Image 0" descr="/tmp/claude-0/-home-user-My-Future-Idaes/0806094f-208a-506e-82b2-f78683d50c82/scratchpad/icons/FaBookOpen_amber.png">    </p:cNvPr>
          <p:cNvPicPr>
            <a:picLocks noChangeAspect="1"/>
          </p:cNvPicPr>
          <p:nvPr/>
        </p:nvPicPr>
        <p:blipFill>
          <a:blip r:embed="rId1"/>
          <a:stretch>
            <a:fillRect/>
          </a:stretch>
        </p:blipFill>
        <p:spPr>
          <a:xfrm>
            <a:off x="1011326" y="5263286"/>
            <a:ext cx="309067" cy="309067"/>
          </a:xfrm>
          <a:prstGeom prst="rect">
            <a:avLst/>
          </a:prstGeom>
        </p:spPr>
      </p:pic>
      <p:sp>
        <p:nvSpPr>
          <p:cNvPr id="21" name="Text 18"/>
          <p:cNvSpPr/>
          <p:nvPr/>
        </p:nvSpPr>
        <p:spPr>
          <a:xfrm>
            <a:off x="1691640" y="4892040"/>
            <a:ext cx="9537192" cy="1051560"/>
          </a:xfrm>
          <a:prstGeom prst="rect">
            <a:avLst/>
          </a:prstGeom>
          <a:noFill/>
          <a:ln/>
        </p:spPr>
        <p:txBody>
          <a:bodyPr wrap="square" lIns="0" tIns="0" rIns="0" bIns="0" rtlCol="0" anchor="ctr"/>
          <a:lstStyle/>
          <a:p>
            <a:pPr indent="0" marL="0">
              <a:buNone/>
            </a:pPr>
            <a:r>
              <a:rPr lang="en-US" sz="1250" b="1" dirty="0">
                <a:solidFill>
                  <a:srgbClr val="14181C"/>
                </a:solidFill>
                <a:latin typeface="Arial" pitchFamily="34" charset="0"/>
                <a:ea typeface="Arial" pitchFamily="34" charset="-122"/>
                <a:cs typeface="Arial" pitchFamily="34" charset="-120"/>
              </a:rPr>
              <a:t>Evening assignment:  </a:t>
            </a:r>
            <a:pPr indent="0" marL="0">
              <a:buNone/>
            </a:pPr>
            <a:r>
              <a:rPr lang="en-US" sz="1250" dirty="0">
                <a:solidFill>
                  <a:srgbClr val="14181C"/>
                </a:solidFill>
                <a:latin typeface="Arial" pitchFamily="34" charset="0"/>
                <a:ea typeface="Arial" pitchFamily="34" charset="-122"/>
                <a:cs typeface="Arial" pitchFamily="34" charset="-120"/>
              </a:rPr>
              <a:t>sketch the first-60-seconds plan for YOUR rig's worst credible fire. Name the first three orders you would give and to whom. You will brief it to the class at 07:30.</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4181C"/>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9AA5AD"/>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9AA5AD"/>
                </a:solidFill>
                <a:latin typeface="Arial" pitchFamily="34" charset="0"/>
                <a:ea typeface="Arial" pitchFamily="34" charset="-122"/>
                <a:cs typeface="Arial" pitchFamily="34" charset="-120"/>
              </a:rPr>
              <a:t>32</a:t>
            </a:r>
            <a:endParaRPr lang="en-US" sz="850" dirty="0"/>
          </a:p>
        </p:txBody>
      </p:sp>
      <p:pic>
        <p:nvPicPr>
          <p:cNvPr id="4" name="Image 0" descr="/home/user/My-Future-Idaes/SANAD-Fire-Team-Leader-Course/assets/img/day2.jpg">    </p:cNvPr>
          <p:cNvPicPr>
            <a:picLocks noChangeAspect="1"/>
          </p:cNvPicPr>
          <p:nvPr/>
        </p:nvPicPr>
        <p:blipFill>
          <a:blip r:embed="rId1"/>
          <a:srcRect l="0" r="0" t="0" b="0"/>
          <a:stretch/>
        </p:blipFill>
        <p:spPr>
          <a:xfrm>
            <a:off x="0" y="0"/>
            <a:ext cx="12188952" cy="6858000"/>
          </a:xfrm>
          <a:prstGeom prst="rect">
            <a:avLst/>
          </a:prstGeom>
        </p:spPr>
      </p:pic>
      <p:sp>
        <p:nvSpPr>
          <p:cNvPr id="5" name="Shape 2"/>
          <p:cNvSpPr/>
          <p:nvPr/>
        </p:nvSpPr>
        <p:spPr>
          <a:xfrm>
            <a:off x="0" y="0"/>
            <a:ext cx="6309360" cy="6858000"/>
          </a:xfrm>
          <a:prstGeom prst="rect">
            <a:avLst/>
          </a:prstGeom>
          <a:solidFill>
            <a:srgbClr val="14181C">
              <a:alpha val="82000"/>
            </a:srgbClr>
          </a:solidFill>
          <a:ln/>
        </p:spPr>
      </p:sp>
      <p:sp>
        <p:nvSpPr>
          <p:cNvPr id="6" name="Text 3"/>
          <p:cNvSpPr/>
          <p:nvPr/>
        </p:nvSpPr>
        <p:spPr>
          <a:xfrm>
            <a:off x="594360" y="1234440"/>
            <a:ext cx="5120640" cy="365760"/>
          </a:xfrm>
          <a:prstGeom prst="rect">
            <a:avLst/>
          </a:prstGeom>
          <a:noFill/>
          <a:ln/>
        </p:spPr>
        <p:txBody>
          <a:bodyPr wrap="square" lIns="0" tIns="0" rIns="0" bIns="0" rtlCol="0" anchor="ctr"/>
          <a:lstStyle/>
          <a:p>
            <a:pPr indent="0" marL="0">
              <a:buNone/>
            </a:pPr>
            <a:r>
              <a:rPr lang="en-US" sz="1500" b="1" spc="400" kern="0" dirty="0">
                <a:solidFill>
                  <a:srgbClr val="F5A623"/>
                </a:solidFill>
                <a:latin typeface="Arial" pitchFamily="34" charset="0"/>
                <a:ea typeface="Arial" pitchFamily="34" charset="-122"/>
                <a:cs typeface="Arial" pitchFamily="34" charset="-120"/>
              </a:rPr>
              <a:t>DAY 2 OF 3</a:t>
            </a:r>
            <a:endParaRPr lang="en-US" sz="1500" dirty="0"/>
          </a:p>
        </p:txBody>
      </p:sp>
      <p:sp>
        <p:nvSpPr>
          <p:cNvPr id="7" name="Text 4"/>
          <p:cNvSpPr/>
          <p:nvPr/>
        </p:nvSpPr>
        <p:spPr>
          <a:xfrm>
            <a:off x="594360" y="1691640"/>
            <a:ext cx="5394960" cy="1554480"/>
          </a:xfrm>
          <a:prstGeom prst="rect">
            <a:avLst/>
          </a:prstGeom>
          <a:noFill/>
          <a:ln/>
        </p:spPr>
        <p:txBody>
          <a:bodyPr wrap="square" lIns="0" tIns="0" rIns="0" bIns="0" rtlCol="0" anchor="ctr"/>
          <a:lstStyle/>
          <a:p>
            <a:pPr indent="0" marL="0">
              <a:lnSpc>
                <a:spcPts val="4400"/>
              </a:lnSpc>
              <a:buNone/>
            </a:pPr>
            <a:r>
              <a:rPr lang="en-US" sz="4000" b="1" dirty="0">
                <a:solidFill>
                  <a:srgbClr val="FFFFFF"/>
                </a:solidFill>
                <a:latin typeface="Arial" pitchFamily="34" charset="0"/>
                <a:ea typeface="Arial" pitchFamily="34" charset="-122"/>
                <a:cs typeface="Arial" pitchFamily="34" charset="-120"/>
              </a:rPr>
              <a:t>COMMAND.</a:t>
            </a:r>
            <a:endParaRPr lang="en-US" sz="4000" dirty="0"/>
          </a:p>
          <a:p>
            <a:pPr indent="0" marL="0">
              <a:lnSpc>
                <a:spcPts val="4400"/>
              </a:lnSpc>
              <a:buNone/>
            </a:pPr>
            <a:r>
              <a:rPr lang="en-US" sz="4000" b="1" dirty="0">
                <a:solidFill>
                  <a:srgbClr val="FFFFFF"/>
                </a:solidFill>
                <a:latin typeface="Arial" pitchFamily="34" charset="0"/>
                <a:ea typeface="Arial" pitchFamily="34" charset="-122"/>
                <a:cs typeface="Arial" pitchFamily="34" charset="-120"/>
              </a:rPr>
              <a:t>Tactics, Coordination, Control</a:t>
            </a:r>
            <a:endParaRPr lang="en-US" sz="4000" dirty="0"/>
          </a:p>
        </p:txBody>
      </p:sp>
      <p:sp>
        <p:nvSpPr>
          <p:cNvPr id="8" name="Text 5"/>
          <p:cNvSpPr/>
          <p:nvPr/>
        </p:nvSpPr>
        <p:spPr>
          <a:xfrm>
            <a:off x="594360" y="3291840"/>
            <a:ext cx="5212080" cy="777240"/>
          </a:xfrm>
          <a:prstGeom prst="rect">
            <a:avLst/>
          </a:prstGeom>
          <a:noFill/>
          <a:ln/>
        </p:spPr>
        <p:txBody>
          <a:bodyPr wrap="square" lIns="0" tIns="0" rIns="0" bIns="0" rtlCol="0" anchor="ctr"/>
          <a:lstStyle/>
          <a:p>
            <a:pPr indent="0" marL="0">
              <a:buNone/>
            </a:pPr>
            <a:r>
              <a:rPr lang="en-US" sz="1400" dirty="0">
                <a:solidFill>
                  <a:srgbClr val="D9DEE2"/>
                </a:solidFill>
                <a:latin typeface="Arial" pitchFamily="34" charset="0"/>
                <a:ea typeface="Arial" pitchFamily="34" charset="-122"/>
                <a:cs typeface="Arial" pitchFamily="34" charset="-120"/>
              </a:rPr>
              <a:t>From leading a crew to commanding an incident: attack strategy, communications discipline and structured emergency control.</a:t>
            </a:r>
            <a:endParaRPr lang="en-US" sz="1400" dirty="0"/>
          </a:p>
        </p:txBody>
      </p:sp>
      <p:sp>
        <p:nvSpPr>
          <p:cNvPr id="9" name="Shape 6"/>
          <p:cNvSpPr/>
          <p:nvPr/>
        </p:nvSpPr>
        <p:spPr>
          <a:xfrm>
            <a:off x="594360" y="4379976"/>
            <a:ext cx="274320" cy="274320"/>
          </a:xfrm>
          <a:prstGeom prst="ellipse">
            <a:avLst/>
          </a:prstGeom>
          <a:solidFill>
            <a:srgbClr val="E8491D"/>
          </a:solidFill>
          <a:ln/>
        </p:spPr>
      </p:sp>
      <p:sp>
        <p:nvSpPr>
          <p:cNvPr id="10" name="Text 7"/>
          <p:cNvSpPr/>
          <p:nvPr/>
        </p:nvSpPr>
        <p:spPr>
          <a:xfrm>
            <a:off x="1051560" y="4297680"/>
            <a:ext cx="484632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Module 3 — Tactical Fire Response &amp; Scene Management</a:t>
            </a:r>
            <a:endParaRPr lang="en-US" sz="1300" dirty="0"/>
          </a:p>
        </p:txBody>
      </p:sp>
      <p:sp>
        <p:nvSpPr>
          <p:cNvPr id="11" name="Shape 8"/>
          <p:cNvSpPr/>
          <p:nvPr/>
        </p:nvSpPr>
        <p:spPr>
          <a:xfrm>
            <a:off x="594360" y="4946904"/>
            <a:ext cx="274320" cy="274320"/>
          </a:xfrm>
          <a:prstGeom prst="ellipse">
            <a:avLst/>
          </a:prstGeom>
          <a:solidFill>
            <a:srgbClr val="E8491D"/>
          </a:solidFill>
          <a:ln/>
        </p:spPr>
      </p:sp>
      <p:sp>
        <p:nvSpPr>
          <p:cNvPr id="12" name="Text 9"/>
          <p:cNvSpPr/>
          <p:nvPr/>
        </p:nvSpPr>
        <p:spPr>
          <a:xfrm>
            <a:off x="1051560" y="4864608"/>
            <a:ext cx="484632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Module 4 — Communication &amp; Command</a:t>
            </a:r>
            <a:endParaRPr lang="en-US" sz="1300" dirty="0"/>
          </a:p>
        </p:txBody>
      </p:sp>
      <p:sp>
        <p:nvSpPr>
          <p:cNvPr id="13" name="Shape 10"/>
          <p:cNvSpPr/>
          <p:nvPr/>
        </p:nvSpPr>
        <p:spPr>
          <a:xfrm>
            <a:off x="594360" y="5513832"/>
            <a:ext cx="274320" cy="274320"/>
          </a:xfrm>
          <a:prstGeom prst="ellipse">
            <a:avLst/>
          </a:prstGeom>
          <a:solidFill>
            <a:srgbClr val="E8491D"/>
          </a:solidFill>
          <a:ln/>
        </p:spPr>
      </p:sp>
      <p:sp>
        <p:nvSpPr>
          <p:cNvPr id="14" name="Text 11"/>
          <p:cNvSpPr/>
          <p:nvPr/>
        </p:nvSpPr>
        <p:spPr>
          <a:xfrm>
            <a:off x="1051560" y="5431536"/>
            <a:ext cx="484632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Module 5 — Incident Command &amp; Emergency Control</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33</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DAY 2 — COMMAND</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Schedule of the day</a:t>
            </a:r>
            <a:endParaRPr lang="en-US" sz="3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94360" y="1645920"/>
          <a:ext cx="11000232" cy="914400"/>
        </p:xfrm>
        <a:graphic>
          <a:graphicData uri="http://schemas.openxmlformats.org/drawingml/2006/table">
            <a:tbl>
              <a:tblPr/>
              <a:tblGrid>
                <a:gridCol w="1554480"/>
                <a:gridCol w="7616952"/>
                <a:gridCol w="1828800"/>
              </a:tblGrid>
              <a:tr h="310896">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TIME</a:t>
                      </a:r>
                      <a:endParaRPr lang="en-US" sz="110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14181C"/>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SESSION</a:t>
                      </a:r>
                      <a:endParaRPr lang="en-US" sz="110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14181C"/>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MODE</a:t>
                      </a:r>
                      <a:endParaRPr lang="en-US" sz="110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14181C"/>
                    </a:solidFill>
                  </a:tcPr>
                </a:tc>
              </a:tr>
              <a:tr h="310896">
                <a:tc>
                  <a:txBody>
                    <a:bodyPr/>
                    <a:lstStyle/>
                    <a:p>
                      <a:pPr indent="0" marL="0">
                        <a:buNone/>
                      </a:pPr>
                      <a:r>
                        <a:rPr lang="en-US" sz="1050" b="1" dirty="0">
                          <a:solidFill>
                            <a:srgbClr val="1A2027"/>
                          </a:solidFill>
                          <a:latin typeface="Arial" pitchFamily="34" charset="0"/>
                          <a:ea typeface="Arial" pitchFamily="34" charset="-122"/>
                          <a:cs typeface="Arial" pitchFamily="34" charset="-120"/>
                        </a:rPr>
                        <a:t>07:30</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050" dirty="0">
                          <a:solidFill>
                            <a:srgbClr val="1A2027"/>
                          </a:solidFill>
                          <a:latin typeface="Arial" pitchFamily="34" charset="0"/>
                          <a:ea typeface="Arial" pitchFamily="34" charset="-122"/>
                          <a:cs typeface="Arial" pitchFamily="34" charset="-120"/>
                        </a:rPr>
                        <a:t>Recap: participants brief their first-60-seconds plans</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050" b="1" dirty="0">
                          <a:solidFill>
                            <a:srgbClr val="E8491D"/>
                          </a:solidFill>
                          <a:latin typeface="Arial" pitchFamily="34" charset="0"/>
                          <a:ea typeface="Arial" pitchFamily="34" charset="-122"/>
                          <a:cs typeface="Arial" pitchFamily="34" charset="-120"/>
                        </a:rPr>
                        <a:t>Practical</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r>
              <a:tr h="310896">
                <a:tc>
                  <a:txBody>
                    <a:bodyPr/>
                    <a:lstStyle/>
                    <a:p>
                      <a:pPr indent="0" marL="0">
                        <a:buNone/>
                      </a:pPr>
                      <a:r>
                        <a:rPr lang="en-US" sz="1050" b="1" dirty="0">
                          <a:solidFill>
                            <a:srgbClr val="1A2027"/>
                          </a:solidFill>
                          <a:latin typeface="Arial" pitchFamily="34" charset="0"/>
                          <a:ea typeface="Arial" pitchFamily="34" charset="-122"/>
                          <a:cs typeface="Arial" pitchFamily="34" charset="-120"/>
                        </a:rPr>
                        <a:t>08:00</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indent="0" marL="0">
                        <a:buNone/>
                      </a:pPr>
                      <a:r>
                        <a:rPr lang="en-US" sz="1050" dirty="0">
                          <a:solidFill>
                            <a:srgbClr val="1A2027"/>
                          </a:solidFill>
                          <a:latin typeface="Arial" pitchFamily="34" charset="0"/>
                          <a:ea typeface="Arial" pitchFamily="34" charset="-122"/>
                          <a:cs typeface="Arial" pitchFamily="34" charset="-120"/>
                        </a:rPr>
                        <a:t>Module 3 — Fire hazards of the drilling rig; fire behavior essentials</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indent="0" marL="0">
                        <a:buNone/>
                      </a:pPr>
                      <a:r>
                        <a:rPr lang="en-US" sz="1050" dirty="0">
                          <a:solidFill>
                            <a:srgbClr val="5A646C"/>
                          </a:solidFill>
                          <a:latin typeface="Arial" pitchFamily="34" charset="0"/>
                          <a:ea typeface="Arial" pitchFamily="34" charset="-122"/>
                          <a:cs typeface="Arial" pitchFamily="34" charset="-120"/>
                        </a:rPr>
                        <a:t>Classroom</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r>
              <a:tr h="310896">
                <a:tc>
                  <a:txBody>
                    <a:bodyPr/>
                    <a:lstStyle/>
                    <a:p>
                      <a:pPr indent="0" marL="0">
                        <a:buNone/>
                      </a:pPr>
                      <a:r>
                        <a:rPr lang="en-US" sz="1050" b="1" dirty="0">
                          <a:solidFill>
                            <a:srgbClr val="1A2027"/>
                          </a:solidFill>
                          <a:latin typeface="Arial" pitchFamily="34" charset="0"/>
                          <a:ea typeface="Arial" pitchFamily="34" charset="-122"/>
                          <a:cs typeface="Arial" pitchFamily="34" charset="-120"/>
                        </a:rPr>
                        <a:t>09:00</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050" dirty="0">
                          <a:solidFill>
                            <a:srgbClr val="1A2027"/>
                          </a:solidFill>
                          <a:latin typeface="Arial" pitchFamily="34" charset="0"/>
                          <a:ea typeface="Arial" pitchFamily="34" charset="-122"/>
                          <a:cs typeface="Arial" pitchFamily="34" charset="-120"/>
                        </a:rPr>
                        <a:t>Module 3 — Scene size-up and dynamic risk assessment</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050" dirty="0">
                          <a:solidFill>
                            <a:srgbClr val="5A646C"/>
                          </a:solidFill>
                          <a:latin typeface="Arial" pitchFamily="34" charset="0"/>
                          <a:ea typeface="Arial" pitchFamily="34" charset="-122"/>
                          <a:cs typeface="Arial" pitchFamily="34" charset="-120"/>
                        </a:rPr>
                        <a:t>Classroom</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r>
              <a:tr h="310896">
                <a:tc>
                  <a:txBody>
                    <a:bodyPr/>
                    <a:lstStyle/>
                    <a:p>
                      <a:pPr indent="0" marL="0">
                        <a:buNone/>
                      </a:pPr>
                      <a:r>
                        <a:rPr lang="en-US" sz="1050" b="1" dirty="0">
                          <a:solidFill>
                            <a:srgbClr val="1A2027"/>
                          </a:solidFill>
                          <a:latin typeface="Arial" pitchFamily="34" charset="0"/>
                          <a:ea typeface="Arial" pitchFamily="34" charset="-122"/>
                          <a:cs typeface="Arial" pitchFamily="34" charset="-120"/>
                        </a:rPr>
                        <a:t>10:00</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indent="0" marL="0">
                        <a:buNone/>
                      </a:pPr>
                      <a:r>
                        <a:rPr lang="en-US" sz="1050" dirty="0">
                          <a:solidFill>
                            <a:srgbClr val="1A2027"/>
                          </a:solidFill>
                          <a:latin typeface="Arial" pitchFamily="34" charset="0"/>
                          <a:ea typeface="Arial" pitchFamily="34" charset="-122"/>
                          <a:cs typeface="Arial" pitchFamily="34" charset="-120"/>
                        </a:rPr>
                        <a:t>Break</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indent="0" marL="0">
                        <a:buNone/>
                      </a:pPr>
                      <a:r>
                        <a:rPr lang="en-US" sz="1050" dirty="0">
                          <a:solidFill>
                            <a:srgbClr val="5A646C"/>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r>
              <a:tr h="310896">
                <a:tc>
                  <a:txBody>
                    <a:bodyPr/>
                    <a:lstStyle/>
                    <a:p>
                      <a:pPr indent="0" marL="0">
                        <a:buNone/>
                      </a:pPr>
                      <a:r>
                        <a:rPr lang="en-US" sz="1050" b="1" dirty="0">
                          <a:solidFill>
                            <a:srgbClr val="1A2027"/>
                          </a:solidFill>
                          <a:latin typeface="Arial" pitchFamily="34" charset="0"/>
                          <a:ea typeface="Arial" pitchFamily="34" charset="-122"/>
                          <a:cs typeface="Arial" pitchFamily="34" charset="-120"/>
                        </a:rPr>
                        <a:t>10:15</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050" dirty="0">
                          <a:solidFill>
                            <a:srgbClr val="1A2027"/>
                          </a:solidFill>
                          <a:latin typeface="Arial" pitchFamily="34" charset="0"/>
                          <a:ea typeface="Arial" pitchFamily="34" charset="-122"/>
                          <a:cs typeface="Arial" pitchFamily="34" charset="-120"/>
                        </a:rPr>
                        <a:t>Tactical drills: attack lines, scenario planning, team deployment</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050" b="1" dirty="0">
                          <a:solidFill>
                            <a:srgbClr val="E8491D"/>
                          </a:solidFill>
                          <a:latin typeface="Arial" pitchFamily="34" charset="0"/>
                          <a:ea typeface="Arial" pitchFamily="34" charset="-122"/>
                          <a:cs typeface="Arial" pitchFamily="34" charset="-120"/>
                        </a:rPr>
                        <a:t>Practical</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r>
              <a:tr h="310896">
                <a:tc>
                  <a:txBody>
                    <a:bodyPr/>
                    <a:lstStyle/>
                    <a:p>
                      <a:pPr indent="0" marL="0">
                        <a:buNone/>
                      </a:pPr>
                      <a:r>
                        <a:rPr lang="en-US" sz="1050" b="1" dirty="0">
                          <a:solidFill>
                            <a:srgbClr val="1A2027"/>
                          </a:solidFill>
                          <a:latin typeface="Arial" pitchFamily="34" charset="0"/>
                          <a:ea typeface="Arial" pitchFamily="34" charset="-122"/>
                          <a:cs typeface="Arial" pitchFamily="34" charset="-120"/>
                        </a:rPr>
                        <a:t>12:00</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indent="0" marL="0">
                        <a:buNone/>
                      </a:pPr>
                      <a:r>
                        <a:rPr lang="en-US" sz="1050" dirty="0">
                          <a:solidFill>
                            <a:srgbClr val="1A2027"/>
                          </a:solidFill>
                          <a:latin typeface="Arial" pitchFamily="34" charset="0"/>
                          <a:ea typeface="Arial" pitchFamily="34" charset="-122"/>
                          <a:cs typeface="Arial" pitchFamily="34" charset="-120"/>
                        </a:rPr>
                        <a:t>Lunch &amp; prayer</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indent="0" marL="0">
                        <a:buNone/>
                      </a:pPr>
                      <a:r>
                        <a:rPr lang="en-US" sz="1050" dirty="0">
                          <a:solidFill>
                            <a:srgbClr val="5A646C"/>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r>
              <a:tr h="310896">
                <a:tc>
                  <a:txBody>
                    <a:bodyPr/>
                    <a:lstStyle/>
                    <a:p>
                      <a:pPr indent="0" marL="0">
                        <a:buNone/>
                      </a:pPr>
                      <a:r>
                        <a:rPr lang="en-US" sz="1050" b="1" dirty="0">
                          <a:solidFill>
                            <a:srgbClr val="1A2027"/>
                          </a:solidFill>
                          <a:latin typeface="Arial" pitchFamily="34" charset="0"/>
                          <a:ea typeface="Arial" pitchFamily="34" charset="-122"/>
                          <a:cs typeface="Arial" pitchFamily="34" charset="-120"/>
                        </a:rPr>
                        <a:t>13:00</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050" dirty="0">
                          <a:solidFill>
                            <a:srgbClr val="1A2027"/>
                          </a:solidFill>
                          <a:latin typeface="Arial" pitchFamily="34" charset="0"/>
                          <a:ea typeface="Arial" pitchFamily="34" charset="-122"/>
                          <a:cs typeface="Arial" pitchFamily="34" charset="-120"/>
                        </a:rPr>
                        <a:t>Module 4 — Communication protocols &amp; multi-team coordination</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050" dirty="0">
                          <a:solidFill>
                            <a:srgbClr val="5A646C"/>
                          </a:solidFill>
                          <a:latin typeface="Arial" pitchFamily="34" charset="0"/>
                          <a:ea typeface="Arial" pitchFamily="34" charset="-122"/>
                          <a:cs typeface="Arial" pitchFamily="34" charset="-120"/>
                        </a:rPr>
                        <a:t>Classroom</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r>
              <a:tr h="310896">
                <a:tc>
                  <a:txBody>
                    <a:bodyPr/>
                    <a:lstStyle/>
                    <a:p>
                      <a:pPr indent="0" marL="0">
                        <a:buNone/>
                      </a:pPr>
                      <a:r>
                        <a:rPr lang="en-US" sz="1050" b="1" dirty="0">
                          <a:solidFill>
                            <a:srgbClr val="1A2027"/>
                          </a:solidFill>
                          <a:latin typeface="Arial" pitchFamily="34" charset="0"/>
                          <a:ea typeface="Arial" pitchFamily="34" charset="-122"/>
                          <a:cs typeface="Arial" pitchFamily="34" charset="-120"/>
                        </a:rPr>
                        <a:t>14:00</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indent="0" marL="0">
                        <a:buNone/>
                      </a:pPr>
                      <a:r>
                        <a:rPr lang="en-US" sz="1050" dirty="0">
                          <a:solidFill>
                            <a:srgbClr val="1A2027"/>
                          </a:solidFill>
                          <a:latin typeface="Arial" pitchFamily="34" charset="0"/>
                          <a:ea typeface="Arial" pitchFamily="34" charset="-122"/>
                          <a:cs typeface="Arial" pitchFamily="34" charset="-120"/>
                        </a:rPr>
                        <a:t>Communication drills under pressure</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indent="0" marL="0">
                        <a:buNone/>
                      </a:pPr>
                      <a:r>
                        <a:rPr lang="en-US" sz="1050" b="1" dirty="0">
                          <a:solidFill>
                            <a:srgbClr val="E8491D"/>
                          </a:solidFill>
                          <a:latin typeface="Arial" pitchFamily="34" charset="0"/>
                          <a:ea typeface="Arial" pitchFamily="34" charset="-122"/>
                          <a:cs typeface="Arial" pitchFamily="34" charset="-120"/>
                        </a:rPr>
                        <a:t>Practical</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r>
              <a:tr h="310896">
                <a:tc>
                  <a:txBody>
                    <a:bodyPr/>
                    <a:lstStyle/>
                    <a:p>
                      <a:pPr indent="0" marL="0">
                        <a:buNone/>
                      </a:pPr>
                      <a:r>
                        <a:rPr lang="en-US" sz="1050" b="1" dirty="0">
                          <a:solidFill>
                            <a:srgbClr val="1A2027"/>
                          </a:solidFill>
                          <a:latin typeface="Arial" pitchFamily="34" charset="0"/>
                          <a:ea typeface="Arial" pitchFamily="34" charset="-122"/>
                          <a:cs typeface="Arial" pitchFamily="34" charset="-120"/>
                        </a:rPr>
                        <a:t>14:45</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050" dirty="0">
                          <a:solidFill>
                            <a:srgbClr val="1A2027"/>
                          </a:solidFill>
                          <a:latin typeface="Arial" pitchFamily="34" charset="0"/>
                          <a:ea typeface="Arial" pitchFamily="34" charset="-122"/>
                          <a:cs typeface="Arial" pitchFamily="34" charset="-120"/>
                        </a:rPr>
                        <a:t>Module 5 — Incident command, control zones, escalation, accountability</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050" dirty="0">
                          <a:solidFill>
                            <a:srgbClr val="5A646C"/>
                          </a:solidFill>
                          <a:latin typeface="Arial" pitchFamily="34" charset="0"/>
                          <a:ea typeface="Arial" pitchFamily="34" charset="-122"/>
                          <a:cs typeface="Arial" pitchFamily="34" charset="-120"/>
                        </a:rPr>
                        <a:t>Classroom</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r>
              <a:tr h="310896">
                <a:tc>
                  <a:txBody>
                    <a:bodyPr/>
                    <a:lstStyle/>
                    <a:p>
                      <a:pPr indent="0" marL="0">
                        <a:buNone/>
                      </a:pPr>
                      <a:r>
                        <a:rPr lang="en-US" sz="1050" b="1" dirty="0">
                          <a:solidFill>
                            <a:srgbClr val="1A2027"/>
                          </a:solidFill>
                          <a:latin typeface="Arial" pitchFamily="34" charset="0"/>
                          <a:ea typeface="Arial" pitchFamily="34" charset="-122"/>
                          <a:cs typeface="Arial" pitchFamily="34" charset="-120"/>
                        </a:rPr>
                        <a:t>15:45</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indent="0" marL="0">
                        <a:buNone/>
                      </a:pPr>
                      <a:r>
                        <a:rPr lang="en-US" sz="1050" dirty="0">
                          <a:solidFill>
                            <a:srgbClr val="1A2027"/>
                          </a:solidFill>
                          <a:latin typeface="Arial" pitchFamily="34" charset="0"/>
                          <a:ea typeface="Arial" pitchFamily="34" charset="-122"/>
                          <a:cs typeface="Arial" pitchFamily="34" charset="-120"/>
                        </a:rPr>
                        <a:t>Incident command simulation &amp; multi-hazard tabletop</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indent="0" marL="0">
                        <a:buNone/>
                      </a:pPr>
                      <a:r>
                        <a:rPr lang="en-US" sz="1050" b="1" dirty="0">
                          <a:solidFill>
                            <a:srgbClr val="E8491D"/>
                          </a:solidFill>
                          <a:latin typeface="Arial" pitchFamily="34" charset="0"/>
                          <a:ea typeface="Arial" pitchFamily="34" charset="-122"/>
                          <a:cs typeface="Arial" pitchFamily="34" charset="-120"/>
                        </a:rPr>
                        <a:t>Practical</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r>
              <a:tr h="310896">
                <a:tc>
                  <a:txBody>
                    <a:bodyPr/>
                    <a:lstStyle/>
                    <a:p>
                      <a:pPr indent="0" marL="0">
                        <a:buNone/>
                      </a:pPr>
                      <a:r>
                        <a:rPr lang="en-US" sz="1050" b="1" dirty="0">
                          <a:solidFill>
                            <a:srgbClr val="1A2027"/>
                          </a:solidFill>
                          <a:latin typeface="Arial" pitchFamily="34" charset="0"/>
                          <a:ea typeface="Arial" pitchFamily="34" charset="-122"/>
                          <a:cs typeface="Arial" pitchFamily="34" charset="-120"/>
                        </a:rPr>
                        <a:t>16:30</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050" dirty="0">
                          <a:solidFill>
                            <a:srgbClr val="1A2027"/>
                          </a:solidFill>
                          <a:latin typeface="Arial" pitchFamily="34" charset="0"/>
                          <a:ea typeface="Arial" pitchFamily="34" charset="-122"/>
                          <a:cs typeface="Arial" pitchFamily="34" charset="-120"/>
                        </a:rPr>
                        <a:t>Day 2 debrief &amp; takeaways</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050" dirty="0">
                          <a:solidFill>
                            <a:srgbClr val="5A646C"/>
                          </a:solidFill>
                          <a:latin typeface="Arial" pitchFamily="34" charset="0"/>
                          <a:ea typeface="Arial" pitchFamily="34" charset="-122"/>
                          <a:cs typeface="Arial" pitchFamily="34" charset="-120"/>
                        </a:rPr>
                        <a:t>Classroom</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4181C"/>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9AA5AD"/>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9AA5AD"/>
                </a:solidFill>
                <a:latin typeface="Arial" pitchFamily="34" charset="0"/>
                <a:ea typeface="Arial" pitchFamily="34" charset="-122"/>
                <a:cs typeface="Arial" pitchFamily="34" charset="-120"/>
              </a:rPr>
              <a:t>34</a:t>
            </a:r>
            <a:endParaRPr lang="en-US" sz="850" dirty="0"/>
          </a:p>
        </p:txBody>
      </p:sp>
      <p:pic>
        <p:nvPicPr>
          <p:cNvPr id="4" name="Image 0" descr="/home/user/My-Future-Idaes/SANAD-Fire-Team-Leader-Course/assets/img/day2.jpg">    </p:cNvPr>
          <p:cNvPicPr>
            <a:picLocks noChangeAspect="1"/>
          </p:cNvPicPr>
          <p:nvPr/>
        </p:nvPicPr>
        <p:blipFill>
          <a:blip r:embed="rId1"/>
          <a:srcRect l="0" r="0" t="0" b="0"/>
          <a:stretch/>
        </p:blipFill>
        <p:spPr>
          <a:xfrm>
            <a:off x="7040880" y="0"/>
            <a:ext cx="5148072" cy="6858000"/>
          </a:xfrm>
          <a:prstGeom prst="rect">
            <a:avLst/>
          </a:prstGeom>
        </p:spPr>
      </p:pic>
      <p:sp>
        <p:nvSpPr>
          <p:cNvPr id="5" name="Shape 2"/>
          <p:cNvSpPr/>
          <p:nvPr/>
        </p:nvSpPr>
        <p:spPr>
          <a:xfrm>
            <a:off x="7040880" y="0"/>
            <a:ext cx="5148072" cy="6858000"/>
          </a:xfrm>
          <a:prstGeom prst="rect">
            <a:avLst/>
          </a:prstGeom>
          <a:solidFill>
            <a:srgbClr val="14181C">
              <a:alpha val="28000"/>
            </a:srgbClr>
          </a:solidFill>
          <a:ln/>
        </p:spPr>
      </p:sp>
      <p:sp>
        <p:nvSpPr>
          <p:cNvPr id="6" name="Text 3"/>
          <p:cNvSpPr/>
          <p:nvPr/>
        </p:nvSpPr>
        <p:spPr>
          <a:xfrm>
            <a:off x="594360" y="777240"/>
            <a:ext cx="2743200" cy="320040"/>
          </a:xfrm>
          <a:prstGeom prst="rect">
            <a:avLst/>
          </a:prstGeom>
          <a:noFill/>
          <a:ln/>
        </p:spPr>
        <p:txBody>
          <a:bodyPr wrap="square" lIns="0" tIns="0" rIns="0" bIns="0" rtlCol="0" anchor="ctr"/>
          <a:lstStyle/>
          <a:p>
            <a:pPr indent="0" marL="0">
              <a:buNone/>
            </a:pPr>
            <a:r>
              <a:rPr lang="en-US" sz="1300" b="1" spc="400" kern="0" dirty="0">
                <a:solidFill>
                  <a:srgbClr val="9AA5AD"/>
                </a:solidFill>
                <a:latin typeface="Arial" pitchFamily="34" charset="0"/>
                <a:ea typeface="Arial" pitchFamily="34" charset="-122"/>
                <a:cs typeface="Arial" pitchFamily="34" charset="-120"/>
              </a:rPr>
              <a:t>MODULE</a:t>
            </a:r>
            <a:endParaRPr lang="en-US" sz="1300" dirty="0"/>
          </a:p>
        </p:txBody>
      </p:sp>
      <p:sp>
        <p:nvSpPr>
          <p:cNvPr id="7" name="Text 4"/>
          <p:cNvSpPr/>
          <p:nvPr/>
        </p:nvSpPr>
        <p:spPr>
          <a:xfrm>
            <a:off x="548640" y="960120"/>
            <a:ext cx="2194560" cy="1554480"/>
          </a:xfrm>
          <a:prstGeom prst="rect">
            <a:avLst/>
          </a:prstGeom>
          <a:noFill/>
          <a:ln/>
        </p:spPr>
        <p:txBody>
          <a:bodyPr wrap="square" lIns="0" tIns="0" rIns="0" bIns="0" rtlCol="0" anchor="ctr"/>
          <a:lstStyle/>
          <a:p>
            <a:pPr indent="0" marL="0">
              <a:buNone/>
            </a:pPr>
            <a:r>
              <a:rPr lang="en-US" sz="9600" b="1" dirty="0">
                <a:solidFill>
                  <a:srgbClr val="E8491D"/>
                </a:solidFill>
                <a:latin typeface="Arial" pitchFamily="34" charset="0"/>
                <a:ea typeface="Arial" pitchFamily="34" charset="-122"/>
                <a:cs typeface="Arial" pitchFamily="34" charset="-120"/>
              </a:rPr>
              <a:t>03</a:t>
            </a:r>
            <a:endParaRPr lang="en-US" sz="9600" dirty="0"/>
          </a:p>
        </p:txBody>
      </p:sp>
      <p:sp>
        <p:nvSpPr>
          <p:cNvPr id="8" name="Text 5"/>
          <p:cNvSpPr/>
          <p:nvPr/>
        </p:nvSpPr>
        <p:spPr>
          <a:xfrm>
            <a:off x="594360" y="2651760"/>
            <a:ext cx="6309360" cy="1143000"/>
          </a:xfrm>
          <a:prstGeom prst="rect">
            <a:avLst/>
          </a:prstGeom>
          <a:noFill/>
          <a:ln/>
        </p:spPr>
        <p:txBody>
          <a:bodyPr wrap="square" lIns="0" tIns="0" rIns="0" bIns="0" rtlCol="0" anchor="ctr"/>
          <a:lstStyle/>
          <a:p>
            <a:pPr indent="0" marL="0">
              <a:lnSpc>
                <a:spcPts val="3600"/>
              </a:lnSpc>
              <a:buNone/>
            </a:pPr>
            <a:r>
              <a:rPr lang="en-US" sz="3100" b="1" dirty="0">
                <a:solidFill>
                  <a:srgbClr val="FFFFFF"/>
                </a:solidFill>
                <a:latin typeface="Arial" pitchFamily="34" charset="0"/>
                <a:ea typeface="Arial" pitchFamily="34" charset="-122"/>
                <a:cs typeface="Arial" pitchFamily="34" charset="-120"/>
              </a:rPr>
              <a:t>Tactical Fire Response</a:t>
            </a:r>
            <a:endParaRPr lang="en-US" sz="3100" dirty="0"/>
          </a:p>
          <a:p>
            <a:pPr indent="0" marL="0">
              <a:lnSpc>
                <a:spcPts val="3600"/>
              </a:lnSpc>
              <a:buNone/>
            </a:pPr>
            <a:r>
              <a:rPr lang="en-US" sz="3100" b="1" dirty="0">
                <a:solidFill>
                  <a:srgbClr val="FFFFFF"/>
                </a:solidFill>
                <a:latin typeface="Arial" pitchFamily="34" charset="0"/>
                <a:ea typeface="Arial" pitchFamily="34" charset="-122"/>
                <a:cs typeface="Arial" pitchFamily="34" charset="-120"/>
              </a:rPr>
              <a:t>&amp; Scene Management</a:t>
            </a:r>
            <a:endParaRPr lang="en-US" sz="3100" dirty="0"/>
          </a:p>
        </p:txBody>
      </p:sp>
      <p:sp>
        <p:nvSpPr>
          <p:cNvPr id="9" name="Text 6"/>
          <p:cNvSpPr/>
          <p:nvPr/>
        </p:nvSpPr>
        <p:spPr>
          <a:xfrm>
            <a:off x="594360" y="3840480"/>
            <a:ext cx="6126480" cy="685800"/>
          </a:xfrm>
          <a:prstGeom prst="rect">
            <a:avLst/>
          </a:prstGeom>
          <a:noFill/>
          <a:ln/>
        </p:spPr>
        <p:txBody>
          <a:bodyPr wrap="square" lIns="0" tIns="0" rIns="0" bIns="0" rtlCol="0" anchor="ctr"/>
          <a:lstStyle/>
          <a:p>
            <a:pPr indent="0" marL="0">
              <a:buNone/>
            </a:pPr>
            <a:r>
              <a:rPr lang="en-US" sz="1350" b="1" dirty="0">
                <a:solidFill>
                  <a:srgbClr val="F5A623"/>
                </a:solidFill>
                <a:latin typeface="Arial" pitchFamily="34" charset="0"/>
                <a:ea typeface="Arial" pitchFamily="34" charset="-122"/>
                <a:cs typeface="Arial" pitchFamily="34" charset="-120"/>
              </a:rPr>
              <a:t>OBJECTIVE — </a:t>
            </a:r>
            <a:pPr indent="0" marL="0">
              <a:buNone/>
            </a:pPr>
            <a:r>
              <a:rPr lang="en-US" sz="1350" dirty="0">
                <a:solidFill>
                  <a:srgbClr val="D9DEE2"/>
                </a:solidFill>
                <a:latin typeface="Arial" pitchFamily="34" charset="0"/>
                <a:ea typeface="Arial" pitchFamily="34" charset="-122"/>
                <a:cs typeface="Arial" pitchFamily="34" charset="-120"/>
              </a:rPr>
              <a:t>Develop operational control of a live fire scene.</a:t>
            </a:r>
            <a:endParaRPr lang="en-US" sz="1350" dirty="0"/>
          </a:p>
        </p:txBody>
      </p:sp>
      <p:sp>
        <p:nvSpPr>
          <p:cNvPr id="10" name="Shape 7"/>
          <p:cNvSpPr/>
          <p:nvPr/>
        </p:nvSpPr>
        <p:spPr>
          <a:xfrm>
            <a:off x="594360" y="4828032"/>
            <a:ext cx="146304" cy="146304"/>
          </a:xfrm>
          <a:prstGeom prst="ellipse">
            <a:avLst/>
          </a:prstGeom>
          <a:solidFill>
            <a:srgbClr val="E8491D"/>
          </a:solidFill>
          <a:ln/>
        </p:spPr>
      </p:sp>
      <p:sp>
        <p:nvSpPr>
          <p:cNvPr id="11" name="Text 8"/>
          <p:cNvSpPr/>
          <p:nvPr/>
        </p:nvSpPr>
        <p:spPr>
          <a:xfrm>
            <a:off x="886968" y="4709160"/>
            <a:ext cx="2743200" cy="5029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Fire attack strategies</a:t>
            </a:r>
            <a:endParaRPr lang="en-US" sz="1150" dirty="0"/>
          </a:p>
        </p:txBody>
      </p:sp>
      <p:sp>
        <p:nvSpPr>
          <p:cNvPr id="12" name="Shape 9"/>
          <p:cNvSpPr/>
          <p:nvPr/>
        </p:nvSpPr>
        <p:spPr>
          <a:xfrm>
            <a:off x="3749040" y="4828032"/>
            <a:ext cx="146304" cy="146304"/>
          </a:xfrm>
          <a:prstGeom prst="ellipse">
            <a:avLst/>
          </a:prstGeom>
          <a:solidFill>
            <a:srgbClr val="E8491D"/>
          </a:solidFill>
          <a:ln/>
        </p:spPr>
      </p:sp>
      <p:sp>
        <p:nvSpPr>
          <p:cNvPr id="13" name="Text 10"/>
          <p:cNvSpPr/>
          <p:nvPr/>
        </p:nvSpPr>
        <p:spPr>
          <a:xfrm>
            <a:off x="4041648" y="4709160"/>
            <a:ext cx="2743200" cy="5029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Scene size-up &amp; hazard assessment</a:t>
            </a:r>
            <a:endParaRPr lang="en-US" sz="1150" dirty="0"/>
          </a:p>
        </p:txBody>
      </p:sp>
      <p:sp>
        <p:nvSpPr>
          <p:cNvPr id="14" name="Shape 11"/>
          <p:cNvSpPr/>
          <p:nvPr/>
        </p:nvSpPr>
        <p:spPr>
          <a:xfrm>
            <a:off x="594360" y="5486400"/>
            <a:ext cx="146304" cy="146304"/>
          </a:xfrm>
          <a:prstGeom prst="ellipse">
            <a:avLst/>
          </a:prstGeom>
          <a:solidFill>
            <a:srgbClr val="E8491D"/>
          </a:solidFill>
          <a:ln/>
        </p:spPr>
      </p:sp>
      <p:sp>
        <p:nvSpPr>
          <p:cNvPr id="15" name="Text 12"/>
          <p:cNvSpPr/>
          <p:nvPr/>
        </p:nvSpPr>
        <p:spPr>
          <a:xfrm>
            <a:off x="886968" y="5367528"/>
            <a:ext cx="2743200" cy="5029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Risk-based decision-making</a:t>
            </a:r>
            <a:endParaRPr lang="en-US" sz="1150" dirty="0"/>
          </a:p>
        </p:txBody>
      </p:sp>
      <p:sp>
        <p:nvSpPr>
          <p:cNvPr id="16" name="Shape 13"/>
          <p:cNvSpPr/>
          <p:nvPr/>
        </p:nvSpPr>
        <p:spPr>
          <a:xfrm>
            <a:off x="3749040" y="5486400"/>
            <a:ext cx="146304" cy="146304"/>
          </a:xfrm>
          <a:prstGeom prst="ellipse">
            <a:avLst/>
          </a:prstGeom>
          <a:solidFill>
            <a:srgbClr val="E8491D"/>
          </a:solidFill>
          <a:ln/>
        </p:spPr>
      </p:sp>
      <p:sp>
        <p:nvSpPr>
          <p:cNvPr id="17" name="Text 14"/>
          <p:cNvSpPr/>
          <p:nvPr/>
        </p:nvSpPr>
        <p:spPr>
          <a:xfrm>
            <a:off x="4041648" y="5367528"/>
            <a:ext cx="2743200" cy="5029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Resource allocation &amp; deployment</a:t>
            </a:r>
            <a:endParaRPr lang="en-US" sz="1150" dirty="0"/>
          </a:p>
        </p:txBody>
      </p:sp>
      <p:sp>
        <p:nvSpPr>
          <p:cNvPr id="18" name="Shape 15"/>
          <p:cNvSpPr/>
          <p:nvPr/>
        </p:nvSpPr>
        <p:spPr>
          <a:xfrm>
            <a:off x="6080760" y="777240"/>
            <a:ext cx="640080" cy="640080"/>
          </a:xfrm>
          <a:prstGeom prst="ellipse">
            <a:avLst/>
          </a:prstGeom>
          <a:solidFill>
            <a:srgbClr val="1F262C"/>
          </a:solidFill>
          <a:ln/>
        </p:spPr>
      </p:sp>
      <p:pic>
        <p:nvPicPr>
          <p:cNvPr id="19" name="Image 1" descr="/tmp/claude-0/-home-user-My-Future-Idaes/0806094f-208a-506e-82b2-f78683d50c82/scratchpad/icons/FaCrosshairs_flame.png">    </p:cNvPr>
          <p:cNvPicPr>
            <a:picLocks noChangeAspect="1"/>
          </p:cNvPicPr>
          <p:nvPr/>
        </p:nvPicPr>
        <p:blipFill>
          <a:blip r:embed="rId2"/>
          <a:stretch>
            <a:fillRect/>
          </a:stretch>
        </p:blipFill>
        <p:spPr>
          <a:xfrm>
            <a:off x="6234379" y="930859"/>
            <a:ext cx="332842" cy="332842"/>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35</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3</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Know your enemy: fire on a drilling rig</a:t>
            </a:r>
            <a:endParaRPr lang="en-US" sz="3000" dirty="0"/>
          </a:p>
        </p:txBody>
      </p:sp>
      <p:sp>
        <p:nvSpPr>
          <p:cNvPr id="6" name="Shape 4"/>
          <p:cNvSpPr/>
          <p:nvPr/>
        </p:nvSpPr>
        <p:spPr>
          <a:xfrm>
            <a:off x="594360" y="1737360"/>
            <a:ext cx="3453384" cy="1965960"/>
          </a:xfrm>
          <a:prstGeom prst="roundRect">
            <a:avLst>
              <a:gd name="adj" fmla="val 4651"/>
            </a:avLst>
          </a:prstGeom>
          <a:solidFill>
            <a:srgbClr val="F3F4F5"/>
          </a:solidFill>
          <a:ln/>
        </p:spPr>
      </p:sp>
      <p:sp>
        <p:nvSpPr>
          <p:cNvPr id="7" name="Shape 5"/>
          <p:cNvSpPr/>
          <p:nvPr/>
        </p:nvSpPr>
        <p:spPr>
          <a:xfrm>
            <a:off x="795528" y="1938528"/>
            <a:ext cx="493776" cy="493776"/>
          </a:xfrm>
          <a:prstGeom prst="ellipse">
            <a:avLst/>
          </a:prstGeom>
          <a:solidFill>
            <a:srgbClr val="E8491D"/>
          </a:solidFill>
          <a:ln/>
        </p:spPr>
      </p:sp>
      <p:pic>
        <p:nvPicPr>
          <p:cNvPr id="8" name="Image 0" descr="/tmp/claude-0/-home-user-My-Future-Idaes/0806094f-208a-506e-82b2-f78683d50c82/scratchpad/icons/FaOilCan_white.png">    </p:cNvPr>
          <p:cNvPicPr>
            <a:picLocks noChangeAspect="1"/>
          </p:cNvPicPr>
          <p:nvPr/>
        </p:nvPicPr>
        <p:blipFill>
          <a:blip r:embed="rId1"/>
          <a:stretch>
            <a:fillRect/>
          </a:stretch>
        </p:blipFill>
        <p:spPr>
          <a:xfrm>
            <a:off x="914034" y="2057034"/>
            <a:ext cx="256764" cy="256764"/>
          </a:xfrm>
          <a:prstGeom prst="rect">
            <a:avLst/>
          </a:prstGeom>
        </p:spPr>
      </p:pic>
      <p:sp>
        <p:nvSpPr>
          <p:cNvPr id="9" name="Text 6"/>
          <p:cNvSpPr/>
          <p:nvPr/>
        </p:nvSpPr>
        <p:spPr>
          <a:xfrm>
            <a:off x="1417320" y="1920240"/>
            <a:ext cx="2447544" cy="530352"/>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Wellhead &amp; well control</a:t>
            </a:r>
            <a:endParaRPr lang="en-US" sz="1250" dirty="0"/>
          </a:p>
        </p:txBody>
      </p:sp>
      <p:sp>
        <p:nvSpPr>
          <p:cNvPr id="10" name="Text 7"/>
          <p:cNvSpPr/>
          <p:nvPr/>
        </p:nvSpPr>
        <p:spPr>
          <a:xfrm>
            <a:off x="795528" y="2542032"/>
            <a:ext cx="3051048" cy="109728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Kicks and blowouts feeding ignition — the catastrophic case. Fire response and well control must speak with one voice.</a:t>
            </a:r>
            <a:endParaRPr lang="en-US" sz="1000" dirty="0"/>
          </a:p>
        </p:txBody>
      </p:sp>
      <p:sp>
        <p:nvSpPr>
          <p:cNvPr id="11" name="Shape 8"/>
          <p:cNvSpPr/>
          <p:nvPr/>
        </p:nvSpPr>
        <p:spPr>
          <a:xfrm>
            <a:off x="4367784" y="1737360"/>
            <a:ext cx="3453384" cy="1965960"/>
          </a:xfrm>
          <a:prstGeom prst="roundRect">
            <a:avLst>
              <a:gd name="adj" fmla="val 4651"/>
            </a:avLst>
          </a:prstGeom>
          <a:solidFill>
            <a:srgbClr val="F3F4F5"/>
          </a:solidFill>
          <a:ln/>
        </p:spPr>
      </p:sp>
      <p:sp>
        <p:nvSpPr>
          <p:cNvPr id="12" name="Shape 9"/>
          <p:cNvSpPr/>
          <p:nvPr/>
        </p:nvSpPr>
        <p:spPr>
          <a:xfrm>
            <a:off x="4568952" y="1938528"/>
            <a:ext cx="493776" cy="493776"/>
          </a:xfrm>
          <a:prstGeom prst="ellipse">
            <a:avLst/>
          </a:prstGeom>
          <a:solidFill>
            <a:srgbClr val="E8491D"/>
          </a:solidFill>
          <a:ln/>
        </p:spPr>
      </p:sp>
      <p:pic>
        <p:nvPicPr>
          <p:cNvPr id="13" name="Image 1" descr="/tmp/claude-0/-home-user-My-Future-Idaes/0806094f-208a-506e-82b2-f78683d50c82/scratchpad/icons/FaGasPump_white.png">    </p:cNvPr>
          <p:cNvPicPr>
            <a:picLocks noChangeAspect="1"/>
          </p:cNvPicPr>
          <p:nvPr/>
        </p:nvPicPr>
        <p:blipFill>
          <a:blip r:embed="rId2"/>
          <a:stretch>
            <a:fillRect/>
          </a:stretch>
        </p:blipFill>
        <p:spPr>
          <a:xfrm>
            <a:off x="4687458" y="2057034"/>
            <a:ext cx="256764" cy="256764"/>
          </a:xfrm>
          <a:prstGeom prst="rect">
            <a:avLst/>
          </a:prstGeom>
        </p:spPr>
      </p:pic>
      <p:sp>
        <p:nvSpPr>
          <p:cNvPr id="14" name="Text 10"/>
          <p:cNvSpPr/>
          <p:nvPr/>
        </p:nvSpPr>
        <p:spPr>
          <a:xfrm>
            <a:off x="5190744" y="1920240"/>
            <a:ext cx="2447544" cy="530352"/>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Diesel &amp; fuel storage</a:t>
            </a:r>
            <a:endParaRPr lang="en-US" sz="1250" dirty="0"/>
          </a:p>
        </p:txBody>
      </p:sp>
      <p:sp>
        <p:nvSpPr>
          <p:cNvPr id="15" name="Text 11"/>
          <p:cNvSpPr/>
          <p:nvPr/>
        </p:nvSpPr>
        <p:spPr>
          <a:xfrm>
            <a:off x="4568952" y="2542032"/>
            <a:ext cx="3051048" cy="109728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Generators, day tanks, refueling ops. Class B pool and spray fires with fast spread across containments.</a:t>
            </a:r>
            <a:endParaRPr lang="en-US" sz="1000" dirty="0"/>
          </a:p>
        </p:txBody>
      </p:sp>
      <p:sp>
        <p:nvSpPr>
          <p:cNvPr id="16" name="Shape 12"/>
          <p:cNvSpPr/>
          <p:nvPr/>
        </p:nvSpPr>
        <p:spPr>
          <a:xfrm>
            <a:off x="8141208" y="1737360"/>
            <a:ext cx="3453384" cy="1965960"/>
          </a:xfrm>
          <a:prstGeom prst="roundRect">
            <a:avLst>
              <a:gd name="adj" fmla="val 4651"/>
            </a:avLst>
          </a:prstGeom>
          <a:solidFill>
            <a:srgbClr val="F3F4F5"/>
          </a:solidFill>
          <a:ln/>
        </p:spPr>
      </p:sp>
      <p:sp>
        <p:nvSpPr>
          <p:cNvPr id="17" name="Shape 13"/>
          <p:cNvSpPr/>
          <p:nvPr/>
        </p:nvSpPr>
        <p:spPr>
          <a:xfrm>
            <a:off x="8342376" y="1938528"/>
            <a:ext cx="493776" cy="493776"/>
          </a:xfrm>
          <a:prstGeom prst="ellipse">
            <a:avLst/>
          </a:prstGeom>
          <a:solidFill>
            <a:srgbClr val="E8491D"/>
          </a:solidFill>
          <a:ln/>
        </p:spPr>
      </p:sp>
      <p:pic>
        <p:nvPicPr>
          <p:cNvPr id="18" name="Image 2" descr="/tmp/claude-0/-home-user-My-Future-Idaes/0806094f-208a-506e-82b2-f78683d50c82/scratchpad/icons/FaWind_white.png">    </p:cNvPr>
          <p:cNvPicPr>
            <a:picLocks noChangeAspect="1"/>
          </p:cNvPicPr>
          <p:nvPr/>
        </p:nvPicPr>
        <p:blipFill>
          <a:blip r:embed="rId3"/>
          <a:stretch>
            <a:fillRect/>
          </a:stretch>
        </p:blipFill>
        <p:spPr>
          <a:xfrm>
            <a:off x="8460882" y="2057034"/>
            <a:ext cx="256764" cy="256764"/>
          </a:xfrm>
          <a:prstGeom prst="rect">
            <a:avLst/>
          </a:prstGeom>
        </p:spPr>
      </p:pic>
      <p:sp>
        <p:nvSpPr>
          <p:cNvPr id="19" name="Text 14"/>
          <p:cNvSpPr/>
          <p:nvPr/>
        </p:nvSpPr>
        <p:spPr>
          <a:xfrm>
            <a:off x="8964168" y="1920240"/>
            <a:ext cx="2447544" cy="530352"/>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Mud gas &amp; shakers</a:t>
            </a:r>
            <a:endParaRPr lang="en-US" sz="1250" dirty="0"/>
          </a:p>
        </p:txBody>
      </p:sp>
      <p:sp>
        <p:nvSpPr>
          <p:cNvPr id="20" name="Text 15"/>
          <p:cNvSpPr/>
          <p:nvPr/>
        </p:nvSpPr>
        <p:spPr>
          <a:xfrm>
            <a:off x="8342376" y="2542032"/>
            <a:ext cx="3051048" cy="109728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Gas breaking out of returns at shakers and pits — flammable atmospheres where nobody sees a “fuel.”</a:t>
            </a:r>
            <a:endParaRPr lang="en-US" sz="1000" dirty="0"/>
          </a:p>
        </p:txBody>
      </p:sp>
      <p:sp>
        <p:nvSpPr>
          <p:cNvPr id="21" name="Shape 16"/>
          <p:cNvSpPr/>
          <p:nvPr/>
        </p:nvSpPr>
        <p:spPr>
          <a:xfrm>
            <a:off x="594360" y="3886200"/>
            <a:ext cx="3453384" cy="1965960"/>
          </a:xfrm>
          <a:prstGeom prst="roundRect">
            <a:avLst>
              <a:gd name="adj" fmla="val 4651"/>
            </a:avLst>
          </a:prstGeom>
          <a:solidFill>
            <a:srgbClr val="F3F4F5"/>
          </a:solidFill>
          <a:ln/>
        </p:spPr>
      </p:sp>
      <p:sp>
        <p:nvSpPr>
          <p:cNvPr id="22" name="Shape 17"/>
          <p:cNvSpPr/>
          <p:nvPr/>
        </p:nvSpPr>
        <p:spPr>
          <a:xfrm>
            <a:off x="795528" y="4087368"/>
            <a:ext cx="493776" cy="493776"/>
          </a:xfrm>
          <a:prstGeom prst="ellipse">
            <a:avLst/>
          </a:prstGeom>
          <a:solidFill>
            <a:srgbClr val="E8491D"/>
          </a:solidFill>
          <a:ln/>
        </p:spPr>
      </p:sp>
      <p:pic>
        <p:nvPicPr>
          <p:cNvPr id="23" name="Image 3" descr="/tmp/claude-0/-home-user-My-Future-Idaes/0806094f-208a-506e-82b2-f78683d50c82/scratchpad/icons/FaBolt_white.png">    </p:cNvPr>
          <p:cNvPicPr>
            <a:picLocks noChangeAspect="1"/>
          </p:cNvPicPr>
          <p:nvPr/>
        </p:nvPicPr>
        <p:blipFill>
          <a:blip r:embed="rId4"/>
          <a:stretch>
            <a:fillRect/>
          </a:stretch>
        </p:blipFill>
        <p:spPr>
          <a:xfrm>
            <a:off x="914034" y="4205874"/>
            <a:ext cx="256764" cy="256764"/>
          </a:xfrm>
          <a:prstGeom prst="rect">
            <a:avLst/>
          </a:prstGeom>
        </p:spPr>
      </p:pic>
      <p:sp>
        <p:nvSpPr>
          <p:cNvPr id="24" name="Text 18"/>
          <p:cNvSpPr/>
          <p:nvPr/>
        </p:nvSpPr>
        <p:spPr>
          <a:xfrm>
            <a:off x="1417320" y="4069080"/>
            <a:ext cx="2447544" cy="530352"/>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Electrical &amp; SCR house</a:t>
            </a:r>
            <a:endParaRPr lang="en-US" sz="1250" dirty="0"/>
          </a:p>
        </p:txBody>
      </p:sp>
      <p:sp>
        <p:nvSpPr>
          <p:cNvPr id="25" name="Text 19"/>
          <p:cNvSpPr/>
          <p:nvPr/>
        </p:nvSpPr>
        <p:spPr>
          <a:xfrm>
            <a:off x="795528" y="4690872"/>
            <a:ext cx="3051048" cy="109728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Energized switchgear and VFD/SCR rooms. De-energize first; wrong media turns rescuer into casualty.</a:t>
            </a:r>
            <a:endParaRPr lang="en-US" sz="1000" dirty="0"/>
          </a:p>
        </p:txBody>
      </p:sp>
      <p:sp>
        <p:nvSpPr>
          <p:cNvPr id="26" name="Shape 20"/>
          <p:cNvSpPr/>
          <p:nvPr/>
        </p:nvSpPr>
        <p:spPr>
          <a:xfrm>
            <a:off x="4367784" y="3886200"/>
            <a:ext cx="3453384" cy="1965960"/>
          </a:xfrm>
          <a:prstGeom prst="roundRect">
            <a:avLst>
              <a:gd name="adj" fmla="val 4651"/>
            </a:avLst>
          </a:prstGeom>
          <a:solidFill>
            <a:srgbClr val="F3F4F5"/>
          </a:solidFill>
          <a:ln/>
        </p:spPr>
      </p:sp>
      <p:sp>
        <p:nvSpPr>
          <p:cNvPr id="27" name="Shape 21"/>
          <p:cNvSpPr/>
          <p:nvPr/>
        </p:nvSpPr>
        <p:spPr>
          <a:xfrm>
            <a:off x="4568952" y="4087368"/>
            <a:ext cx="493776" cy="493776"/>
          </a:xfrm>
          <a:prstGeom prst="ellipse">
            <a:avLst/>
          </a:prstGeom>
          <a:solidFill>
            <a:srgbClr val="E8491D"/>
          </a:solidFill>
          <a:ln/>
        </p:spPr>
      </p:sp>
      <p:pic>
        <p:nvPicPr>
          <p:cNvPr id="28" name="Image 4" descr="/tmp/claude-0/-home-user-My-Future-Idaes/0806094f-208a-506e-82b2-f78683d50c82/scratchpad/icons/FaUsers_white.png">    </p:cNvPr>
          <p:cNvPicPr>
            <a:picLocks noChangeAspect="1"/>
          </p:cNvPicPr>
          <p:nvPr/>
        </p:nvPicPr>
        <p:blipFill>
          <a:blip r:embed="rId5"/>
          <a:stretch>
            <a:fillRect/>
          </a:stretch>
        </p:blipFill>
        <p:spPr>
          <a:xfrm>
            <a:off x="4687458" y="4205874"/>
            <a:ext cx="256764" cy="256764"/>
          </a:xfrm>
          <a:prstGeom prst="rect">
            <a:avLst/>
          </a:prstGeom>
        </p:spPr>
      </p:pic>
      <p:sp>
        <p:nvSpPr>
          <p:cNvPr id="29" name="Text 22"/>
          <p:cNvSpPr/>
          <p:nvPr/>
        </p:nvSpPr>
        <p:spPr>
          <a:xfrm>
            <a:off x="5190744" y="4069080"/>
            <a:ext cx="2447544" cy="530352"/>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Camp &amp; accommodation</a:t>
            </a:r>
            <a:endParaRPr lang="en-US" sz="1250" dirty="0"/>
          </a:p>
        </p:txBody>
      </p:sp>
      <p:sp>
        <p:nvSpPr>
          <p:cNvPr id="30" name="Text 23"/>
          <p:cNvSpPr/>
          <p:nvPr/>
        </p:nvSpPr>
        <p:spPr>
          <a:xfrm>
            <a:off x="4568952" y="4690872"/>
            <a:ext cx="3051048" cy="109728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Sleeping quarters, kitchens, laundry — the highest life risk on site, especially at night.</a:t>
            </a:r>
            <a:endParaRPr lang="en-US" sz="1000" dirty="0"/>
          </a:p>
        </p:txBody>
      </p:sp>
      <p:sp>
        <p:nvSpPr>
          <p:cNvPr id="31" name="Shape 24"/>
          <p:cNvSpPr/>
          <p:nvPr/>
        </p:nvSpPr>
        <p:spPr>
          <a:xfrm>
            <a:off x="8141208" y="3886200"/>
            <a:ext cx="3453384" cy="1965960"/>
          </a:xfrm>
          <a:prstGeom prst="roundRect">
            <a:avLst>
              <a:gd name="adj" fmla="val 4651"/>
            </a:avLst>
          </a:prstGeom>
          <a:solidFill>
            <a:srgbClr val="F3F4F5"/>
          </a:solidFill>
          <a:ln/>
        </p:spPr>
      </p:sp>
      <p:sp>
        <p:nvSpPr>
          <p:cNvPr id="32" name="Shape 25"/>
          <p:cNvSpPr/>
          <p:nvPr/>
        </p:nvSpPr>
        <p:spPr>
          <a:xfrm>
            <a:off x="8342376" y="4087368"/>
            <a:ext cx="493776" cy="493776"/>
          </a:xfrm>
          <a:prstGeom prst="ellipse">
            <a:avLst/>
          </a:prstGeom>
          <a:solidFill>
            <a:srgbClr val="E8491D"/>
          </a:solidFill>
          <a:ln/>
        </p:spPr>
      </p:sp>
      <p:pic>
        <p:nvPicPr>
          <p:cNvPr id="33" name="Image 5" descr="/tmp/claude-0/-home-user-My-Future-Idaes/0806094f-208a-506e-82b2-f78683d50c82/scratchpad/icons/FaExclamationTriangle_white.png">    </p:cNvPr>
          <p:cNvPicPr>
            <a:picLocks noChangeAspect="1"/>
          </p:cNvPicPr>
          <p:nvPr/>
        </p:nvPicPr>
        <p:blipFill>
          <a:blip r:embed="rId6"/>
          <a:stretch>
            <a:fillRect/>
          </a:stretch>
        </p:blipFill>
        <p:spPr>
          <a:xfrm>
            <a:off x="8460882" y="4205874"/>
            <a:ext cx="256764" cy="256764"/>
          </a:xfrm>
          <a:prstGeom prst="rect">
            <a:avLst/>
          </a:prstGeom>
        </p:spPr>
      </p:pic>
      <p:sp>
        <p:nvSpPr>
          <p:cNvPr id="34" name="Text 26"/>
          <p:cNvSpPr/>
          <p:nvPr/>
        </p:nvSpPr>
        <p:spPr>
          <a:xfrm>
            <a:off x="8964168" y="4069080"/>
            <a:ext cx="2447544" cy="530352"/>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H2S conversion</a:t>
            </a:r>
            <a:endParaRPr lang="en-US" sz="1250" dirty="0"/>
          </a:p>
        </p:txBody>
      </p:sp>
      <p:sp>
        <p:nvSpPr>
          <p:cNvPr id="35" name="Text 27"/>
          <p:cNvSpPr/>
          <p:nvPr/>
        </p:nvSpPr>
        <p:spPr>
          <a:xfrm>
            <a:off x="8342376" y="4690872"/>
            <a:ext cx="3051048" cy="109728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Any fire in a sour environment is a HAZMAT event too: gas monitoring, wind, and muster discipline rule the scene.</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4181C"/>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9AA5AD"/>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9AA5AD"/>
                </a:solidFill>
                <a:latin typeface="Arial" pitchFamily="34" charset="0"/>
                <a:ea typeface="Arial" pitchFamily="34" charset="-122"/>
                <a:cs typeface="Arial" pitchFamily="34" charset="-120"/>
              </a:rPr>
              <a:t>36</a:t>
            </a:r>
            <a:endParaRPr lang="en-US" sz="850" dirty="0"/>
          </a:p>
        </p:txBody>
      </p:sp>
      <p:pic>
        <p:nvPicPr>
          <p:cNvPr id="4" name="Image 0" descr="/home/user/My-Future-Idaes/SANAD-Fire-Team-Leader-Course/assets/img/gasmon.jpg">    </p:cNvPr>
          <p:cNvPicPr>
            <a:picLocks noChangeAspect="1"/>
          </p:cNvPicPr>
          <p:nvPr/>
        </p:nvPicPr>
        <p:blipFill>
          <a:blip r:embed="rId1"/>
          <a:srcRect l="0" r="0" t="0" b="0"/>
          <a:stretch/>
        </p:blipFill>
        <p:spPr>
          <a:xfrm>
            <a:off x="6309360" y="0"/>
            <a:ext cx="5879592" cy="6858000"/>
          </a:xfrm>
          <a:prstGeom prst="rect">
            <a:avLst/>
          </a:prstGeom>
        </p:spPr>
      </p:pic>
      <p:sp>
        <p:nvSpPr>
          <p:cNvPr id="5" name="Shape 2"/>
          <p:cNvSpPr/>
          <p:nvPr/>
        </p:nvSpPr>
        <p:spPr>
          <a:xfrm>
            <a:off x="6309360" y="0"/>
            <a:ext cx="5879592" cy="6858000"/>
          </a:xfrm>
          <a:prstGeom prst="rect">
            <a:avLst/>
          </a:prstGeom>
          <a:solidFill>
            <a:srgbClr val="14181C">
              <a:alpha val="32000"/>
            </a:srgbClr>
          </a:solidFill>
          <a:ln/>
        </p:spPr>
      </p:sp>
      <p:sp>
        <p:nvSpPr>
          <p:cNvPr id="6" name="Text 3"/>
          <p:cNvSpPr/>
          <p:nvPr/>
        </p:nvSpPr>
        <p:spPr>
          <a:xfrm>
            <a:off x="594360" y="502920"/>
            <a:ext cx="4572000"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3</a:t>
            </a:r>
            <a:endParaRPr lang="en-US" sz="1200" dirty="0"/>
          </a:p>
        </p:txBody>
      </p:sp>
      <p:sp>
        <p:nvSpPr>
          <p:cNvPr id="7" name="Text 4"/>
          <p:cNvSpPr/>
          <p:nvPr/>
        </p:nvSpPr>
        <p:spPr>
          <a:xfrm>
            <a:off x="594360" y="841248"/>
            <a:ext cx="5669280" cy="1188720"/>
          </a:xfrm>
          <a:prstGeom prst="rect">
            <a:avLst/>
          </a:prstGeom>
          <a:noFill/>
          <a:ln/>
        </p:spPr>
        <p:txBody>
          <a:bodyPr wrap="square" lIns="0" tIns="0" rIns="0" bIns="0" rtlCol="0" anchor="ctr"/>
          <a:lstStyle/>
          <a:p>
            <a:pPr indent="0" marL="0">
              <a:lnSpc>
                <a:spcPts val="3000"/>
              </a:lnSpc>
              <a:buNone/>
            </a:pPr>
            <a:r>
              <a:rPr lang="en-US" sz="2600" b="1" dirty="0">
                <a:solidFill>
                  <a:srgbClr val="FFFFFF"/>
                </a:solidFill>
                <a:latin typeface="Arial" pitchFamily="34" charset="0"/>
                <a:ea typeface="Arial" pitchFamily="34" charset="-122"/>
                <a:cs typeface="Arial" pitchFamily="34" charset="-120"/>
              </a:rPr>
              <a:t>H2S: the enemy you</a:t>
            </a:r>
            <a:endParaRPr lang="en-US" sz="2600" dirty="0"/>
          </a:p>
          <a:p>
            <a:pPr indent="0" marL="0">
              <a:lnSpc>
                <a:spcPts val="3000"/>
              </a:lnSpc>
              <a:buNone/>
            </a:pPr>
            <a:r>
              <a:rPr lang="en-US" sz="2600" b="1" dirty="0">
                <a:solidFill>
                  <a:srgbClr val="FFFFFF"/>
                </a:solidFill>
                <a:latin typeface="Arial" pitchFamily="34" charset="0"/>
                <a:ea typeface="Arial" pitchFamily="34" charset="-122"/>
                <a:cs typeface="Arial" pitchFamily="34" charset="-120"/>
              </a:rPr>
              <a:t>cannot fight with water</a:t>
            </a:r>
            <a:endParaRPr lang="en-US" sz="2600" dirty="0"/>
          </a:p>
        </p:txBody>
      </p:sp>
      <p:sp>
        <p:nvSpPr>
          <p:cNvPr id="8" name="Text 5"/>
          <p:cNvSpPr/>
          <p:nvPr/>
        </p:nvSpPr>
        <p:spPr>
          <a:xfrm>
            <a:off x="594360" y="2286000"/>
            <a:ext cx="5486400" cy="2651760"/>
          </a:xfrm>
          <a:prstGeom prst="rect">
            <a:avLst/>
          </a:prstGeom>
          <a:noFill/>
          <a:ln/>
        </p:spPr>
        <p:txBody>
          <a:bodyPr wrap="square" rtlCol="0" anchor="ctr"/>
          <a:lstStyle/>
          <a:p>
            <a:pPr marL="177800" indent="-177800">
              <a:spcAft>
                <a:spcPts val="1000"/>
              </a:spcAft>
              <a:buSzPct val="100000"/>
              <a:buChar char="•"/>
            </a:pPr>
            <a:r>
              <a:rPr lang="en-US" sz="1250" dirty="0">
                <a:solidFill>
                  <a:srgbClr val="D9DEE2"/>
                </a:solidFill>
                <a:latin typeface="Arial" pitchFamily="34" charset="0"/>
                <a:ea typeface="Arial" pitchFamily="34" charset="-122"/>
                <a:cs typeface="Arial" pitchFamily="34" charset="-120"/>
              </a:rPr>
              <a:t>Heavier than air — it pools in cellars, pits and low ground where crews work</a:t>
            </a:r>
            <a:endParaRPr lang="en-US" sz="1250" dirty="0"/>
          </a:p>
          <a:p>
            <a:pPr marL="177800" indent="-177800">
              <a:spcAft>
                <a:spcPts val="1000"/>
              </a:spcAft>
              <a:buSzPct val="100000"/>
              <a:buChar char="•"/>
            </a:pPr>
            <a:r>
              <a:rPr lang="en-US" sz="1250" dirty="0">
                <a:solidFill>
                  <a:srgbClr val="D9DEE2"/>
                </a:solidFill>
                <a:latin typeface="Arial" pitchFamily="34" charset="0"/>
                <a:ea typeface="Arial" pitchFamily="34" charset="-122"/>
                <a:cs typeface="Arial" pitchFamily="34" charset="-120"/>
              </a:rPr>
              <a:t>Kills the sense of smell first: 'the smell went away' means it got WORSE</a:t>
            </a:r>
            <a:endParaRPr lang="en-US" sz="1250" dirty="0"/>
          </a:p>
          <a:p>
            <a:pPr marL="177800" indent="-177800">
              <a:spcAft>
                <a:spcPts val="1000"/>
              </a:spcAft>
              <a:buSzPct val="100000"/>
              <a:buChar char="•"/>
            </a:pPr>
            <a:r>
              <a:rPr lang="en-US" sz="1250" dirty="0">
                <a:solidFill>
                  <a:srgbClr val="D9DEE2"/>
                </a:solidFill>
                <a:latin typeface="Arial" pitchFamily="34" charset="0"/>
                <a:ea typeface="Arial" pitchFamily="34" charset="-122"/>
                <a:cs typeface="Arial" pitchFamily="34" charset="-120"/>
              </a:rPr>
              <a:t>Any fire response in a sour area is a gas response first — monitor before you move</a:t>
            </a:r>
            <a:endParaRPr lang="en-US" sz="1250" dirty="0"/>
          </a:p>
          <a:p>
            <a:pPr marL="177800" indent="-177800">
              <a:spcAft>
                <a:spcPts val="1000"/>
              </a:spcAft>
              <a:buSzPct val="100000"/>
              <a:buChar char="•"/>
            </a:pPr>
            <a:r>
              <a:rPr lang="en-US" sz="1250" dirty="0">
                <a:solidFill>
                  <a:srgbClr val="D9DEE2"/>
                </a:solidFill>
                <a:latin typeface="Arial" pitchFamily="34" charset="0"/>
                <a:ea typeface="Arial" pitchFamily="34" charset="-122"/>
                <a:cs typeface="Arial" pitchFamily="34" charset="-120"/>
              </a:rPr>
              <a:t>Wind direction dictates everything: approach, muster, ICP, escape routes</a:t>
            </a:r>
            <a:endParaRPr lang="en-US" sz="1250" dirty="0"/>
          </a:p>
          <a:p>
            <a:pPr marL="177800" indent="-177800">
              <a:spcAft>
                <a:spcPts val="1000"/>
              </a:spcAft>
              <a:buSzPct val="100000"/>
              <a:buChar char="•"/>
            </a:pPr>
            <a:r>
              <a:rPr lang="en-US" sz="1250" dirty="0">
                <a:solidFill>
                  <a:srgbClr val="D9DEE2"/>
                </a:solidFill>
                <a:latin typeface="Arial" pitchFamily="34" charset="0"/>
                <a:ea typeface="Arial" pitchFamily="34" charset="-122"/>
                <a:cs typeface="Arial" pitchFamily="34" charset="-120"/>
              </a:rPr>
              <a:t>SCBA is the only acceptable protection in a suspected release — no exceptions</a:t>
            </a:r>
            <a:endParaRPr lang="en-US" sz="1250" dirty="0"/>
          </a:p>
        </p:txBody>
      </p:sp>
      <p:sp>
        <p:nvSpPr>
          <p:cNvPr id="9" name="Shape 6"/>
          <p:cNvSpPr/>
          <p:nvPr/>
        </p:nvSpPr>
        <p:spPr>
          <a:xfrm>
            <a:off x="594360" y="5074920"/>
            <a:ext cx="5577840" cy="1097280"/>
          </a:xfrm>
          <a:prstGeom prst="roundRect">
            <a:avLst>
              <a:gd name="adj" fmla="val 8333"/>
            </a:avLst>
          </a:prstGeom>
          <a:solidFill>
            <a:srgbClr val="1F262C"/>
          </a:solidFill>
          <a:ln w="9525">
            <a:solidFill>
              <a:srgbClr val="39434B"/>
            </a:solidFill>
            <a:prstDash val="solid"/>
          </a:ln>
        </p:spPr>
      </p:sp>
      <p:sp>
        <p:nvSpPr>
          <p:cNvPr id="10" name="Text 7"/>
          <p:cNvSpPr/>
          <p:nvPr/>
        </p:nvSpPr>
        <p:spPr>
          <a:xfrm>
            <a:off x="822960" y="5074920"/>
            <a:ext cx="5120640" cy="1097280"/>
          </a:xfrm>
          <a:prstGeom prst="rect">
            <a:avLst/>
          </a:prstGeom>
          <a:noFill/>
          <a:ln/>
        </p:spPr>
        <p:txBody>
          <a:bodyPr wrap="square" lIns="0" tIns="0" rIns="0" bIns="0" rtlCol="0" anchor="ctr"/>
          <a:lstStyle/>
          <a:p>
            <a:pPr indent="0" marL="0">
              <a:buNone/>
            </a:pPr>
            <a:r>
              <a:rPr lang="en-US" sz="1200" b="1" dirty="0">
                <a:solidFill>
                  <a:srgbClr val="F5A623"/>
                </a:solidFill>
                <a:latin typeface="Arial" pitchFamily="34" charset="0"/>
                <a:ea typeface="Arial" pitchFamily="34" charset="-122"/>
                <a:cs typeface="Arial" pitchFamily="34" charset="-120"/>
              </a:rPr>
              <a:t>Leader's H2S reflex:  </a:t>
            </a:r>
            <a:pPr indent="0" marL="0">
              <a:buNone/>
            </a:pPr>
            <a:r>
              <a:rPr lang="en-US" sz="1200" dirty="0">
                <a:solidFill>
                  <a:srgbClr val="FFFFFF"/>
                </a:solidFill>
                <a:latin typeface="Arial" pitchFamily="34" charset="0"/>
                <a:ea typeface="Arial" pitchFamily="34" charset="-122"/>
                <a:cs typeface="Arial" pitchFamily="34" charset="-120"/>
              </a:rPr>
              <a:t>gas reading → wind check → upwind muster → SCBA for entrants → account for everyone. In that order, every time.</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4181C"/>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9AA5AD"/>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9AA5AD"/>
                </a:solidFill>
                <a:latin typeface="Arial" pitchFamily="34" charset="0"/>
                <a:ea typeface="Arial" pitchFamily="34" charset="-122"/>
                <a:cs typeface="Arial" pitchFamily="34" charset="-120"/>
              </a:rPr>
              <a:t>37</a:t>
            </a:r>
            <a:endParaRPr lang="en-US" sz="850" dirty="0"/>
          </a:p>
        </p:txBody>
      </p:sp>
      <p:pic>
        <p:nvPicPr>
          <p:cNvPr id="4" name="Image 0" descr="/home/user/My-Future-Idaes/SANAD-Fire-Team-Leader-Course/assets/img/flames.jpg">    </p:cNvPr>
          <p:cNvPicPr>
            <a:picLocks noChangeAspect="1"/>
          </p:cNvPicPr>
          <p:nvPr/>
        </p:nvPicPr>
        <p:blipFill>
          <a:blip r:embed="rId1"/>
          <a:srcRect l="0" r="0" t="0" b="0"/>
          <a:stretch/>
        </p:blipFill>
        <p:spPr>
          <a:xfrm>
            <a:off x="0" y="0"/>
            <a:ext cx="4754880" cy="6858000"/>
          </a:xfrm>
          <a:prstGeom prst="rect">
            <a:avLst/>
          </a:prstGeom>
        </p:spPr>
      </p:pic>
      <p:sp>
        <p:nvSpPr>
          <p:cNvPr id="5" name="Shape 2"/>
          <p:cNvSpPr/>
          <p:nvPr/>
        </p:nvSpPr>
        <p:spPr>
          <a:xfrm>
            <a:off x="0" y="0"/>
            <a:ext cx="4754880" cy="6858000"/>
          </a:xfrm>
          <a:prstGeom prst="rect">
            <a:avLst/>
          </a:prstGeom>
          <a:solidFill>
            <a:srgbClr val="14181C">
              <a:alpha val="30000"/>
            </a:srgbClr>
          </a:solidFill>
          <a:ln/>
        </p:spPr>
      </p:sp>
      <p:sp>
        <p:nvSpPr>
          <p:cNvPr id="6" name="Text 3"/>
          <p:cNvSpPr/>
          <p:nvPr/>
        </p:nvSpPr>
        <p:spPr>
          <a:xfrm>
            <a:off x="5120640" y="457200"/>
            <a:ext cx="5486400"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3</a:t>
            </a:r>
            <a:endParaRPr lang="en-US" sz="1200" dirty="0"/>
          </a:p>
        </p:txBody>
      </p:sp>
      <p:sp>
        <p:nvSpPr>
          <p:cNvPr id="7" name="Text 4"/>
          <p:cNvSpPr/>
          <p:nvPr/>
        </p:nvSpPr>
        <p:spPr>
          <a:xfrm>
            <a:off x="5120640" y="749808"/>
            <a:ext cx="6400800" cy="54864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Fire behavior, leader's cut</a:t>
            </a:r>
            <a:endParaRPr lang="en-US" sz="2600" dirty="0"/>
          </a:p>
        </p:txBody>
      </p:sp>
      <p:sp>
        <p:nvSpPr>
          <p:cNvPr id="8" name="Text 5"/>
          <p:cNvSpPr/>
          <p:nvPr/>
        </p:nvSpPr>
        <p:spPr>
          <a:xfrm>
            <a:off x="5120640" y="1371600"/>
            <a:ext cx="6446520" cy="777240"/>
          </a:xfrm>
          <a:prstGeom prst="rect">
            <a:avLst/>
          </a:prstGeom>
          <a:noFill/>
          <a:ln/>
        </p:spPr>
        <p:txBody>
          <a:bodyPr wrap="square" lIns="0" tIns="0" rIns="0" bIns="0" rtlCol="0" anchor="ctr"/>
          <a:lstStyle/>
          <a:p>
            <a:pPr indent="0" marL="0">
              <a:buNone/>
            </a:pPr>
            <a:r>
              <a:rPr lang="en-US" sz="1250" dirty="0">
                <a:solidFill>
                  <a:srgbClr val="D9DEE2"/>
                </a:solidFill>
                <a:latin typeface="Arial" pitchFamily="34" charset="0"/>
                <a:ea typeface="Arial" pitchFamily="34" charset="-122"/>
                <a:cs typeface="Arial" pitchFamily="34" charset="-120"/>
              </a:rPr>
              <a:t>You know the tetrahedron — heat, fuel, oxygen, chain reaction. The leader's job is choosing which leg to break, with what, and accepting what that choice costs.</a:t>
            </a:r>
            <a:endParaRPr lang="en-US" sz="12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120640" y="2331720"/>
          <a:ext cx="6473952" cy="914400"/>
        </p:xfrm>
        <a:graphic>
          <a:graphicData uri="http://schemas.openxmlformats.org/drawingml/2006/table">
            <a:tbl>
              <a:tblPr/>
              <a:tblGrid>
                <a:gridCol w="685800"/>
                <a:gridCol w="2377440"/>
                <a:gridCol w="1737360"/>
                <a:gridCol w="1673352"/>
              </a:tblGrid>
              <a:tr h="530352">
                <a:tc>
                  <a:txBody>
                    <a:bodyPr/>
                    <a:lstStyle/>
                    <a:p>
                      <a:pPr indent="0" marL="0">
                        <a:buNone/>
                      </a:pPr>
                      <a:r>
                        <a:rPr lang="en-US" sz="1050" b="1" dirty="0">
                          <a:solidFill>
                            <a:srgbClr val="FFFFFF"/>
                          </a:solidFill>
                          <a:latin typeface="Arial" pitchFamily="34" charset="0"/>
                          <a:ea typeface="Arial" pitchFamily="34" charset="-122"/>
                          <a:cs typeface="Arial" pitchFamily="34" charset="-120"/>
                        </a:rPr>
                        <a:t>CLASS</a:t>
                      </a:r>
                      <a:endParaRPr lang="en-US" sz="1050" dirty="0">
                        <a:latin typeface="Arial" charset="0"/>
                        <a:ea typeface="Arial" charset="0"/>
                        <a:cs typeface="Arial" charset="0"/>
                      </a:endParaRPr>
                    </a:p>
                  </a:txBody>
                  <a:tcPr marL="54864" marR="54864" marT="54864" marB="54864" anchor="ctr">
                    <a:lnL w="6350" cap="flat" cmpd="sng" algn="ctr">
                      <a:solidFill>
                        <a:srgbClr val="39434B"/>
                      </a:solidFill>
                      <a:prstDash val="solid"/>
                      <a:round/>
                      <a:headEnd type="none" w="med" len="med"/>
                      <a:tailEnd type="none" w="med" len="med"/>
                    </a:lnL>
                    <a:lnR w="6350" cap="flat" cmpd="sng" algn="ctr">
                      <a:solidFill>
                        <a:srgbClr val="39434B"/>
                      </a:solidFill>
                      <a:prstDash val="solid"/>
                      <a:round/>
                      <a:headEnd type="none" w="med" len="med"/>
                      <a:tailEnd type="none" w="med" len="med"/>
                    </a:lnR>
                    <a:lnT w="6350" cap="flat" cmpd="sng" algn="ctr">
                      <a:solidFill>
                        <a:srgbClr val="39434B"/>
                      </a:solidFill>
                      <a:prstDash val="solid"/>
                      <a:round/>
                      <a:headEnd type="none" w="med" len="med"/>
                      <a:tailEnd type="none" w="med" len="med"/>
                    </a:lnT>
                    <a:lnB w="6350" cap="flat" cmpd="sng" algn="ctr">
                      <a:solidFill>
                        <a:srgbClr val="39434B"/>
                      </a:solidFill>
                      <a:prstDash val="solid"/>
                      <a:round/>
                      <a:headEnd type="none" w="med" len="med"/>
                      <a:tailEnd type="none" w="med" len="med"/>
                    </a:lnB>
                    <a:solidFill>
                      <a:srgbClr val="1F262C"/>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TYPICAL RIG SOURCE</a:t>
                      </a:r>
                      <a:endParaRPr lang="en-US" sz="1050" dirty="0">
                        <a:latin typeface="Arial" charset="0"/>
                        <a:ea typeface="Arial" charset="0"/>
                        <a:cs typeface="Arial" charset="0"/>
                      </a:endParaRPr>
                    </a:p>
                  </a:txBody>
                  <a:tcPr marL="54864" marR="54864" marT="54864" marB="54864" anchor="ctr">
                    <a:lnL w="6350" cap="flat" cmpd="sng" algn="ctr">
                      <a:solidFill>
                        <a:srgbClr val="39434B"/>
                      </a:solidFill>
                      <a:prstDash val="solid"/>
                      <a:round/>
                      <a:headEnd type="none" w="med" len="med"/>
                      <a:tailEnd type="none" w="med" len="med"/>
                    </a:lnL>
                    <a:lnR w="6350" cap="flat" cmpd="sng" algn="ctr">
                      <a:solidFill>
                        <a:srgbClr val="39434B"/>
                      </a:solidFill>
                      <a:prstDash val="solid"/>
                      <a:round/>
                      <a:headEnd type="none" w="med" len="med"/>
                      <a:tailEnd type="none" w="med" len="med"/>
                    </a:lnR>
                    <a:lnT w="6350" cap="flat" cmpd="sng" algn="ctr">
                      <a:solidFill>
                        <a:srgbClr val="39434B"/>
                      </a:solidFill>
                      <a:prstDash val="solid"/>
                      <a:round/>
                      <a:headEnd type="none" w="med" len="med"/>
                      <a:tailEnd type="none" w="med" len="med"/>
                    </a:lnT>
                    <a:lnB w="6350" cap="flat" cmpd="sng" algn="ctr">
                      <a:solidFill>
                        <a:srgbClr val="39434B"/>
                      </a:solidFill>
                      <a:prstDash val="solid"/>
                      <a:round/>
                      <a:headEnd type="none" w="med" len="med"/>
                      <a:tailEnd type="none" w="med" len="med"/>
                    </a:lnB>
                    <a:solidFill>
                      <a:srgbClr val="1F262C"/>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MEDIA</a:t>
                      </a:r>
                      <a:endParaRPr lang="en-US" sz="1050" dirty="0">
                        <a:latin typeface="Arial" charset="0"/>
                        <a:ea typeface="Arial" charset="0"/>
                        <a:cs typeface="Arial" charset="0"/>
                      </a:endParaRPr>
                    </a:p>
                  </a:txBody>
                  <a:tcPr marL="54864" marR="54864" marT="54864" marB="54864" anchor="ctr">
                    <a:lnL w="6350" cap="flat" cmpd="sng" algn="ctr">
                      <a:solidFill>
                        <a:srgbClr val="39434B"/>
                      </a:solidFill>
                      <a:prstDash val="solid"/>
                      <a:round/>
                      <a:headEnd type="none" w="med" len="med"/>
                      <a:tailEnd type="none" w="med" len="med"/>
                    </a:lnL>
                    <a:lnR w="6350" cap="flat" cmpd="sng" algn="ctr">
                      <a:solidFill>
                        <a:srgbClr val="39434B"/>
                      </a:solidFill>
                      <a:prstDash val="solid"/>
                      <a:round/>
                      <a:headEnd type="none" w="med" len="med"/>
                      <a:tailEnd type="none" w="med" len="med"/>
                    </a:lnR>
                    <a:lnT w="6350" cap="flat" cmpd="sng" algn="ctr">
                      <a:solidFill>
                        <a:srgbClr val="39434B"/>
                      </a:solidFill>
                      <a:prstDash val="solid"/>
                      <a:round/>
                      <a:headEnd type="none" w="med" len="med"/>
                      <a:tailEnd type="none" w="med" len="med"/>
                    </a:lnT>
                    <a:lnB w="6350" cap="flat" cmpd="sng" algn="ctr">
                      <a:solidFill>
                        <a:srgbClr val="39434B"/>
                      </a:solidFill>
                      <a:prstDash val="solid"/>
                      <a:round/>
                      <a:headEnd type="none" w="med" len="med"/>
                      <a:tailEnd type="none" w="med" len="med"/>
                    </a:lnB>
                    <a:solidFill>
                      <a:srgbClr val="1F262C"/>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LEADER'S WATCH-OUT</a:t>
                      </a:r>
                      <a:endParaRPr lang="en-US" sz="1050" dirty="0">
                        <a:latin typeface="Arial" charset="0"/>
                        <a:ea typeface="Arial" charset="0"/>
                        <a:cs typeface="Arial" charset="0"/>
                      </a:endParaRPr>
                    </a:p>
                  </a:txBody>
                  <a:tcPr marL="54864" marR="54864" marT="54864" marB="54864" anchor="ctr">
                    <a:lnL w="6350" cap="flat" cmpd="sng" algn="ctr">
                      <a:solidFill>
                        <a:srgbClr val="39434B"/>
                      </a:solidFill>
                      <a:prstDash val="solid"/>
                      <a:round/>
                      <a:headEnd type="none" w="med" len="med"/>
                      <a:tailEnd type="none" w="med" len="med"/>
                    </a:lnL>
                    <a:lnR w="6350" cap="flat" cmpd="sng" algn="ctr">
                      <a:solidFill>
                        <a:srgbClr val="39434B"/>
                      </a:solidFill>
                      <a:prstDash val="solid"/>
                      <a:round/>
                      <a:headEnd type="none" w="med" len="med"/>
                      <a:tailEnd type="none" w="med" len="med"/>
                    </a:lnR>
                    <a:lnT w="6350" cap="flat" cmpd="sng" algn="ctr">
                      <a:solidFill>
                        <a:srgbClr val="39434B"/>
                      </a:solidFill>
                      <a:prstDash val="solid"/>
                      <a:round/>
                      <a:headEnd type="none" w="med" len="med"/>
                      <a:tailEnd type="none" w="med" len="med"/>
                    </a:lnT>
                    <a:lnB w="6350" cap="flat" cmpd="sng" algn="ctr">
                      <a:solidFill>
                        <a:srgbClr val="39434B"/>
                      </a:solidFill>
                      <a:prstDash val="solid"/>
                      <a:round/>
                      <a:headEnd type="none" w="med" len="med"/>
                      <a:tailEnd type="none" w="med" len="med"/>
                    </a:lnB>
                    <a:solidFill>
                      <a:srgbClr val="1F262C"/>
                    </a:solidFill>
                  </a:tcPr>
                </a:tc>
              </a:tr>
              <a:tr h="530352">
                <a:tc>
                  <a:txBody>
                    <a:bodyPr/>
                    <a:lstStyle/>
                    <a:p>
                      <a:pPr indent="0" marL="0">
                        <a:buNone/>
                      </a:pPr>
                      <a:r>
                        <a:rPr lang="en-US" sz="1100" b="1" dirty="0">
                          <a:solidFill>
                            <a:srgbClr val="F5A623"/>
                          </a:solidFill>
                          <a:latin typeface="Arial" pitchFamily="34" charset="0"/>
                          <a:ea typeface="Arial" pitchFamily="34" charset="-122"/>
                          <a:cs typeface="Arial" pitchFamily="34" charset="-120"/>
                        </a:rPr>
                        <a:t>A</a:t>
                      </a:r>
                      <a:endParaRPr lang="en-US" sz="1100" dirty="0">
                        <a:latin typeface="Arial" charset="0"/>
                        <a:ea typeface="Arial" charset="0"/>
                        <a:cs typeface="Arial" charset="0"/>
                      </a:endParaRPr>
                    </a:p>
                  </a:txBody>
                  <a:tcPr marL="54864" marR="54864" marT="54864" marB="54864" anchor="ctr">
                    <a:lnL w="6350" cap="flat" cmpd="sng" algn="ctr">
                      <a:solidFill>
                        <a:srgbClr val="39434B"/>
                      </a:solidFill>
                      <a:prstDash val="solid"/>
                      <a:round/>
                      <a:headEnd type="none" w="med" len="med"/>
                      <a:tailEnd type="none" w="med" len="med"/>
                    </a:lnL>
                    <a:lnR w="6350" cap="flat" cmpd="sng" algn="ctr">
                      <a:solidFill>
                        <a:srgbClr val="39434B"/>
                      </a:solidFill>
                      <a:prstDash val="solid"/>
                      <a:round/>
                      <a:headEnd type="none" w="med" len="med"/>
                      <a:tailEnd type="none" w="med" len="med"/>
                    </a:lnR>
                    <a:lnT w="6350" cap="flat" cmpd="sng" algn="ctr">
                      <a:solidFill>
                        <a:srgbClr val="39434B"/>
                      </a:solidFill>
                      <a:prstDash val="solid"/>
                      <a:round/>
                      <a:headEnd type="none" w="med" len="med"/>
                      <a:tailEnd type="none" w="med" len="med"/>
                    </a:lnT>
                    <a:lnB w="6350" cap="flat" cmpd="sng" algn="ctr">
                      <a:solidFill>
                        <a:srgbClr val="39434B"/>
                      </a:solidFill>
                      <a:prstDash val="solid"/>
                      <a:round/>
                      <a:headEnd type="none" w="med" len="med"/>
                      <a:tailEnd type="none" w="med" len="med"/>
                    </a:lnB>
                    <a:solidFill>
                      <a:srgbClr val="14181C"/>
                    </a:solidFill>
                  </a:tcPr>
                </a:tc>
                <a:tc>
                  <a:txBody>
                    <a:bodyPr/>
                    <a:lstStyle/>
                    <a:p>
                      <a:pPr indent="0" marL="0">
                        <a:buNone/>
                      </a:pPr>
                      <a:r>
                        <a:rPr lang="en-US" sz="1000" dirty="0">
                          <a:solidFill>
                            <a:srgbClr val="E5E9EC"/>
                          </a:solidFill>
                          <a:latin typeface="Arial" pitchFamily="34" charset="0"/>
                          <a:ea typeface="Arial" pitchFamily="34" charset="-122"/>
                          <a:cs typeface="Arial" pitchFamily="34" charset="-120"/>
                        </a:rPr>
                        <a:t>Ordinary solids (camp, stores)</a:t>
                      </a:r>
                      <a:endParaRPr lang="en-US" sz="1000" dirty="0">
                        <a:latin typeface="Arial" charset="0"/>
                        <a:ea typeface="Arial" charset="0"/>
                        <a:cs typeface="Arial" charset="0"/>
                      </a:endParaRPr>
                    </a:p>
                  </a:txBody>
                  <a:tcPr marL="54864" marR="54864" marT="54864" marB="54864" anchor="ctr">
                    <a:lnL w="6350" cap="flat" cmpd="sng" algn="ctr">
                      <a:solidFill>
                        <a:srgbClr val="39434B"/>
                      </a:solidFill>
                      <a:prstDash val="solid"/>
                      <a:round/>
                      <a:headEnd type="none" w="med" len="med"/>
                      <a:tailEnd type="none" w="med" len="med"/>
                    </a:lnL>
                    <a:lnR w="6350" cap="flat" cmpd="sng" algn="ctr">
                      <a:solidFill>
                        <a:srgbClr val="39434B"/>
                      </a:solidFill>
                      <a:prstDash val="solid"/>
                      <a:round/>
                      <a:headEnd type="none" w="med" len="med"/>
                      <a:tailEnd type="none" w="med" len="med"/>
                    </a:lnR>
                    <a:lnT w="6350" cap="flat" cmpd="sng" algn="ctr">
                      <a:solidFill>
                        <a:srgbClr val="39434B"/>
                      </a:solidFill>
                      <a:prstDash val="solid"/>
                      <a:round/>
                      <a:headEnd type="none" w="med" len="med"/>
                      <a:tailEnd type="none" w="med" len="med"/>
                    </a:lnT>
                    <a:lnB w="6350" cap="flat" cmpd="sng" algn="ctr">
                      <a:solidFill>
                        <a:srgbClr val="39434B"/>
                      </a:solidFill>
                      <a:prstDash val="solid"/>
                      <a:round/>
                      <a:headEnd type="none" w="med" len="med"/>
                      <a:tailEnd type="none" w="med" len="med"/>
                    </a:lnB>
                    <a:solidFill>
                      <a:srgbClr val="14181C"/>
                    </a:solidFill>
                  </a:tcPr>
                </a:tc>
                <a:tc>
                  <a:txBody>
                    <a:bodyPr/>
                    <a:lstStyle/>
                    <a:p>
                      <a:pPr indent="0" marL="0">
                        <a:buNone/>
                      </a:pPr>
                      <a:r>
                        <a:rPr lang="en-US" sz="1000" dirty="0">
                          <a:solidFill>
                            <a:srgbClr val="E5E9EC"/>
                          </a:solidFill>
                          <a:latin typeface="Arial" pitchFamily="34" charset="0"/>
                          <a:ea typeface="Arial" pitchFamily="34" charset="-122"/>
                          <a:cs typeface="Arial" pitchFamily="34" charset="-120"/>
                        </a:rPr>
                        <a:t>Water / foam</a:t>
                      </a:r>
                      <a:endParaRPr lang="en-US" sz="1000" dirty="0">
                        <a:latin typeface="Arial" charset="0"/>
                        <a:ea typeface="Arial" charset="0"/>
                        <a:cs typeface="Arial" charset="0"/>
                      </a:endParaRPr>
                    </a:p>
                  </a:txBody>
                  <a:tcPr marL="54864" marR="54864" marT="54864" marB="54864" anchor="ctr">
                    <a:lnL w="6350" cap="flat" cmpd="sng" algn="ctr">
                      <a:solidFill>
                        <a:srgbClr val="39434B"/>
                      </a:solidFill>
                      <a:prstDash val="solid"/>
                      <a:round/>
                      <a:headEnd type="none" w="med" len="med"/>
                      <a:tailEnd type="none" w="med" len="med"/>
                    </a:lnL>
                    <a:lnR w="6350" cap="flat" cmpd="sng" algn="ctr">
                      <a:solidFill>
                        <a:srgbClr val="39434B"/>
                      </a:solidFill>
                      <a:prstDash val="solid"/>
                      <a:round/>
                      <a:headEnd type="none" w="med" len="med"/>
                      <a:tailEnd type="none" w="med" len="med"/>
                    </a:lnR>
                    <a:lnT w="6350" cap="flat" cmpd="sng" algn="ctr">
                      <a:solidFill>
                        <a:srgbClr val="39434B"/>
                      </a:solidFill>
                      <a:prstDash val="solid"/>
                      <a:round/>
                      <a:headEnd type="none" w="med" len="med"/>
                      <a:tailEnd type="none" w="med" len="med"/>
                    </a:lnT>
                    <a:lnB w="6350" cap="flat" cmpd="sng" algn="ctr">
                      <a:solidFill>
                        <a:srgbClr val="39434B"/>
                      </a:solidFill>
                      <a:prstDash val="solid"/>
                      <a:round/>
                      <a:headEnd type="none" w="med" len="med"/>
                      <a:tailEnd type="none" w="med" len="med"/>
                    </a:lnB>
                    <a:solidFill>
                      <a:srgbClr val="14181C"/>
                    </a:solidFill>
                  </a:tcPr>
                </a:tc>
                <a:tc>
                  <a:txBody>
                    <a:bodyPr/>
                    <a:lstStyle/>
                    <a:p>
                      <a:pPr indent="0" marL="0">
                        <a:buNone/>
                      </a:pPr>
                      <a:r>
                        <a:rPr lang="en-US" sz="1000" dirty="0">
                          <a:solidFill>
                            <a:srgbClr val="9AA5AD"/>
                          </a:solidFill>
                          <a:latin typeface="Arial" pitchFamily="34" charset="0"/>
                          <a:ea typeface="Arial" pitchFamily="34" charset="-122"/>
                          <a:cs typeface="Arial" pitchFamily="34" charset="-120"/>
                        </a:rPr>
                        <a:t>Watch re-ignition &amp; overhaul</a:t>
                      </a:r>
                      <a:endParaRPr lang="en-US" sz="1000" dirty="0">
                        <a:latin typeface="Arial" charset="0"/>
                        <a:ea typeface="Arial" charset="0"/>
                        <a:cs typeface="Arial" charset="0"/>
                      </a:endParaRPr>
                    </a:p>
                  </a:txBody>
                  <a:tcPr marL="54864" marR="54864" marT="54864" marB="54864" anchor="ctr">
                    <a:lnL w="6350" cap="flat" cmpd="sng" algn="ctr">
                      <a:solidFill>
                        <a:srgbClr val="39434B"/>
                      </a:solidFill>
                      <a:prstDash val="solid"/>
                      <a:round/>
                      <a:headEnd type="none" w="med" len="med"/>
                      <a:tailEnd type="none" w="med" len="med"/>
                    </a:lnL>
                    <a:lnR w="6350" cap="flat" cmpd="sng" algn="ctr">
                      <a:solidFill>
                        <a:srgbClr val="39434B"/>
                      </a:solidFill>
                      <a:prstDash val="solid"/>
                      <a:round/>
                      <a:headEnd type="none" w="med" len="med"/>
                      <a:tailEnd type="none" w="med" len="med"/>
                    </a:lnR>
                    <a:lnT w="6350" cap="flat" cmpd="sng" algn="ctr">
                      <a:solidFill>
                        <a:srgbClr val="39434B"/>
                      </a:solidFill>
                      <a:prstDash val="solid"/>
                      <a:round/>
                      <a:headEnd type="none" w="med" len="med"/>
                      <a:tailEnd type="none" w="med" len="med"/>
                    </a:lnT>
                    <a:lnB w="6350" cap="flat" cmpd="sng" algn="ctr">
                      <a:solidFill>
                        <a:srgbClr val="39434B"/>
                      </a:solidFill>
                      <a:prstDash val="solid"/>
                      <a:round/>
                      <a:headEnd type="none" w="med" len="med"/>
                      <a:tailEnd type="none" w="med" len="med"/>
                    </a:lnB>
                    <a:solidFill>
                      <a:srgbClr val="14181C"/>
                    </a:solidFill>
                  </a:tcPr>
                </a:tc>
              </a:tr>
              <a:tr h="530352">
                <a:tc>
                  <a:txBody>
                    <a:bodyPr/>
                    <a:lstStyle/>
                    <a:p>
                      <a:pPr indent="0" marL="0">
                        <a:buNone/>
                      </a:pPr>
                      <a:r>
                        <a:rPr lang="en-US" sz="1100" b="1" dirty="0">
                          <a:solidFill>
                            <a:srgbClr val="F5A623"/>
                          </a:solidFill>
                          <a:latin typeface="Arial" pitchFamily="34" charset="0"/>
                          <a:ea typeface="Arial" pitchFamily="34" charset="-122"/>
                          <a:cs typeface="Arial" pitchFamily="34" charset="-120"/>
                        </a:rPr>
                        <a:t>B</a:t>
                      </a:r>
                      <a:endParaRPr lang="en-US" sz="1100" dirty="0">
                        <a:latin typeface="Arial" charset="0"/>
                        <a:ea typeface="Arial" charset="0"/>
                        <a:cs typeface="Arial" charset="0"/>
                      </a:endParaRPr>
                    </a:p>
                  </a:txBody>
                  <a:tcPr marL="54864" marR="54864" marT="54864" marB="54864" anchor="ctr">
                    <a:lnL w="6350" cap="flat" cmpd="sng" algn="ctr">
                      <a:solidFill>
                        <a:srgbClr val="39434B"/>
                      </a:solidFill>
                      <a:prstDash val="solid"/>
                      <a:round/>
                      <a:headEnd type="none" w="med" len="med"/>
                      <a:tailEnd type="none" w="med" len="med"/>
                    </a:lnL>
                    <a:lnR w="6350" cap="flat" cmpd="sng" algn="ctr">
                      <a:solidFill>
                        <a:srgbClr val="39434B"/>
                      </a:solidFill>
                      <a:prstDash val="solid"/>
                      <a:round/>
                      <a:headEnd type="none" w="med" len="med"/>
                      <a:tailEnd type="none" w="med" len="med"/>
                    </a:lnR>
                    <a:lnT w="6350" cap="flat" cmpd="sng" algn="ctr">
                      <a:solidFill>
                        <a:srgbClr val="39434B"/>
                      </a:solidFill>
                      <a:prstDash val="solid"/>
                      <a:round/>
                      <a:headEnd type="none" w="med" len="med"/>
                      <a:tailEnd type="none" w="med" len="med"/>
                    </a:lnT>
                    <a:lnB w="6350" cap="flat" cmpd="sng" algn="ctr">
                      <a:solidFill>
                        <a:srgbClr val="39434B"/>
                      </a:solidFill>
                      <a:prstDash val="solid"/>
                      <a:round/>
                      <a:headEnd type="none" w="med" len="med"/>
                      <a:tailEnd type="none" w="med" len="med"/>
                    </a:lnB>
                    <a:solidFill>
                      <a:srgbClr val="14181C"/>
                    </a:solidFill>
                  </a:tcPr>
                </a:tc>
                <a:tc>
                  <a:txBody>
                    <a:bodyPr/>
                    <a:lstStyle/>
                    <a:p>
                      <a:pPr indent="0" marL="0">
                        <a:buNone/>
                      </a:pPr>
                      <a:r>
                        <a:rPr lang="en-US" sz="1000" dirty="0">
                          <a:solidFill>
                            <a:srgbClr val="E5E9EC"/>
                          </a:solidFill>
                          <a:latin typeface="Arial" pitchFamily="34" charset="0"/>
                          <a:ea typeface="Arial" pitchFamily="34" charset="-122"/>
                          <a:cs typeface="Arial" pitchFamily="34" charset="-120"/>
                        </a:rPr>
                        <a:t>Flammable liquids &amp; gas (diesel, mud, well fluids)</a:t>
                      </a:r>
                      <a:endParaRPr lang="en-US" sz="1000" dirty="0">
                        <a:latin typeface="Arial" charset="0"/>
                        <a:ea typeface="Arial" charset="0"/>
                        <a:cs typeface="Arial" charset="0"/>
                      </a:endParaRPr>
                    </a:p>
                  </a:txBody>
                  <a:tcPr marL="54864" marR="54864" marT="54864" marB="54864" anchor="ctr">
                    <a:lnL w="6350" cap="flat" cmpd="sng" algn="ctr">
                      <a:solidFill>
                        <a:srgbClr val="39434B"/>
                      </a:solidFill>
                      <a:prstDash val="solid"/>
                      <a:round/>
                      <a:headEnd type="none" w="med" len="med"/>
                      <a:tailEnd type="none" w="med" len="med"/>
                    </a:lnL>
                    <a:lnR w="6350" cap="flat" cmpd="sng" algn="ctr">
                      <a:solidFill>
                        <a:srgbClr val="39434B"/>
                      </a:solidFill>
                      <a:prstDash val="solid"/>
                      <a:round/>
                      <a:headEnd type="none" w="med" len="med"/>
                      <a:tailEnd type="none" w="med" len="med"/>
                    </a:lnR>
                    <a:lnT w="6350" cap="flat" cmpd="sng" algn="ctr">
                      <a:solidFill>
                        <a:srgbClr val="39434B"/>
                      </a:solidFill>
                      <a:prstDash val="solid"/>
                      <a:round/>
                      <a:headEnd type="none" w="med" len="med"/>
                      <a:tailEnd type="none" w="med" len="med"/>
                    </a:lnT>
                    <a:lnB w="6350" cap="flat" cmpd="sng" algn="ctr">
                      <a:solidFill>
                        <a:srgbClr val="39434B"/>
                      </a:solidFill>
                      <a:prstDash val="solid"/>
                      <a:round/>
                      <a:headEnd type="none" w="med" len="med"/>
                      <a:tailEnd type="none" w="med" len="med"/>
                    </a:lnB>
                    <a:solidFill>
                      <a:srgbClr val="14181C"/>
                    </a:solidFill>
                  </a:tcPr>
                </a:tc>
                <a:tc>
                  <a:txBody>
                    <a:bodyPr/>
                    <a:lstStyle/>
                    <a:p>
                      <a:pPr indent="0" marL="0">
                        <a:buNone/>
                      </a:pPr>
                      <a:r>
                        <a:rPr lang="en-US" sz="1000" dirty="0">
                          <a:solidFill>
                            <a:srgbClr val="E5E9EC"/>
                          </a:solidFill>
                          <a:latin typeface="Arial" pitchFamily="34" charset="0"/>
                          <a:ea typeface="Arial" pitchFamily="34" charset="-122"/>
                          <a:cs typeface="Arial" pitchFamily="34" charset="-120"/>
                        </a:rPr>
                        <a:t>Foam / DCP; isolate fuel first</a:t>
                      </a:r>
                      <a:endParaRPr lang="en-US" sz="1000" dirty="0">
                        <a:latin typeface="Arial" charset="0"/>
                        <a:ea typeface="Arial" charset="0"/>
                        <a:cs typeface="Arial" charset="0"/>
                      </a:endParaRPr>
                    </a:p>
                  </a:txBody>
                  <a:tcPr marL="54864" marR="54864" marT="54864" marB="54864" anchor="ctr">
                    <a:lnL w="6350" cap="flat" cmpd="sng" algn="ctr">
                      <a:solidFill>
                        <a:srgbClr val="39434B"/>
                      </a:solidFill>
                      <a:prstDash val="solid"/>
                      <a:round/>
                      <a:headEnd type="none" w="med" len="med"/>
                      <a:tailEnd type="none" w="med" len="med"/>
                    </a:lnL>
                    <a:lnR w="6350" cap="flat" cmpd="sng" algn="ctr">
                      <a:solidFill>
                        <a:srgbClr val="39434B"/>
                      </a:solidFill>
                      <a:prstDash val="solid"/>
                      <a:round/>
                      <a:headEnd type="none" w="med" len="med"/>
                      <a:tailEnd type="none" w="med" len="med"/>
                    </a:lnR>
                    <a:lnT w="6350" cap="flat" cmpd="sng" algn="ctr">
                      <a:solidFill>
                        <a:srgbClr val="39434B"/>
                      </a:solidFill>
                      <a:prstDash val="solid"/>
                      <a:round/>
                      <a:headEnd type="none" w="med" len="med"/>
                      <a:tailEnd type="none" w="med" len="med"/>
                    </a:lnT>
                    <a:lnB w="6350" cap="flat" cmpd="sng" algn="ctr">
                      <a:solidFill>
                        <a:srgbClr val="39434B"/>
                      </a:solidFill>
                      <a:prstDash val="solid"/>
                      <a:round/>
                      <a:headEnd type="none" w="med" len="med"/>
                      <a:tailEnd type="none" w="med" len="med"/>
                    </a:lnB>
                    <a:solidFill>
                      <a:srgbClr val="14181C"/>
                    </a:solidFill>
                  </a:tcPr>
                </a:tc>
                <a:tc>
                  <a:txBody>
                    <a:bodyPr/>
                    <a:lstStyle/>
                    <a:p>
                      <a:pPr indent="0" marL="0">
                        <a:buNone/>
                      </a:pPr>
                      <a:r>
                        <a:rPr lang="en-US" sz="1000" dirty="0">
                          <a:solidFill>
                            <a:srgbClr val="9AA5AD"/>
                          </a:solidFill>
                          <a:latin typeface="Arial" pitchFamily="34" charset="0"/>
                          <a:ea typeface="Arial" pitchFamily="34" charset="-122"/>
                          <a:cs typeface="Arial" pitchFamily="34" charset="-120"/>
                        </a:rPr>
                        <a:t>Never extinguish gas without isolation</a:t>
                      </a:r>
                      <a:endParaRPr lang="en-US" sz="1000" dirty="0">
                        <a:latin typeface="Arial" charset="0"/>
                        <a:ea typeface="Arial" charset="0"/>
                        <a:cs typeface="Arial" charset="0"/>
                      </a:endParaRPr>
                    </a:p>
                  </a:txBody>
                  <a:tcPr marL="54864" marR="54864" marT="54864" marB="54864" anchor="ctr">
                    <a:lnL w="6350" cap="flat" cmpd="sng" algn="ctr">
                      <a:solidFill>
                        <a:srgbClr val="39434B"/>
                      </a:solidFill>
                      <a:prstDash val="solid"/>
                      <a:round/>
                      <a:headEnd type="none" w="med" len="med"/>
                      <a:tailEnd type="none" w="med" len="med"/>
                    </a:lnL>
                    <a:lnR w="6350" cap="flat" cmpd="sng" algn="ctr">
                      <a:solidFill>
                        <a:srgbClr val="39434B"/>
                      </a:solidFill>
                      <a:prstDash val="solid"/>
                      <a:round/>
                      <a:headEnd type="none" w="med" len="med"/>
                      <a:tailEnd type="none" w="med" len="med"/>
                    </a:lnR>
                    <a:lnT w="6350" cap="flat" cmpd="sng" algn="ctr">
                      <a:solidFill>
                        <a:srgbClr val="39434B"/>
                      </a:solidFill>
                      <a:prstDash val="solid"/>
                      <a:round/>
                      <a:headEnd type="none" w="med" len="med"/>
                      <a:tailEnd type="none" w="med" len="med"/>
                    </a:lnT>
                    <a:lnB w="6350" cap="flat" cmpd="sng" algn="ctr">
                      <a:solidFill>
                        <a:srgbClr val="39434B"/>
                      </a:solidFill>
                      <a:prstDash val="solid"/>
                      <a:round/>
                      <a:headEnd type="none" w="med" len="med"/>
                      <a:tailEnd type="none" w="med" len="med"/>
                    </a:lnB>
                    <a:solidFill>
                      <a:srgbClr val="14181C"/>
                    </a:solidFill>
                  </a:tcPr>
                </a:tc>
              </a:tr>
              <a:tr h="530352">
                <a:tc>
                  <a:txBody>
                    <a:bodyPr/>
                    <a:lstStyle/>
                    <a:p>
                      <a:pPr indent="0" marL="0">
                        <a:buNone/>
                      </a:pPr>
                      <a:r>
                        <a:rPr lang="en-US" sz="1100" b="1" dirty="0">
                          <a:solidFill>
                            <a:srgbClr val="F5A623"/>
                          </a:solidFill>
                          <a:latin typeface="Arial" pitchFamily="34" charset="0"/>
                          <a:ea typeface="Arial" pitchFamily="34" charset="-122"/>
                          <a:cs typeface="Arial" pitchFamily="34" charset="-120"/>
                        </a:rPr>
                        <a:t>C</a:t>
                      </a:r>
                      <a:endParaRPr lang="en-US" sz="1100" dirty="0">
                        <a:latin typeface="Arial" charset="0"/>
                        <a:ea typeface="Arial" charset="0"/>
                        <a:cs typeface="Arial" charset="0"/>
                      </a:endParaRPr>
                    </a:p>
                  </a:txBody>
                  <a:tcPr marL="54864" marR="54864" marT="54864" marB="54864" anchor="ctr">
                    <a:lnL w="6350" cap="flat" cmpd="sng" algn="ctr">
                      <a:solidFill>
                        <a:srgbClr val="39434B"/>
                      </a:solidFill>
                      <a:prstDash val="solid"/>
                      <a:round/>
                      <a:headEnd type="none" w="med" len="med"/>
                      <a:tailEnd type="none" w="med" len="med"/>
                    </a:lnL>
                    <a:lnR w="6350" cap="flat" cmpd="sng" algn="ctr">
                      <a:solidFill>
                        <a:srgbClr val="39434B"/>
                      </a:solidFill>
                      <a:prstDash val="solid"/>
                      <a:round/>
                      <a:headEnd type="none" w="med" len="med"/>
                      <a:tailEnd type="none" w="med" len="med"/>
                    </a:lnR>
                    <a:lnT w="6350" cap="flat" cmpd="sng" algn="ctr">
                      <a:solidFill>
                        <a:srgbClr val="39434B"/>
                      </a:solidFill>
                      <a:prstDash val="solid"/>
                      <a:round/>
                      <a:headEnd type="none" w="med" len="med"/>
                      <a:tailEnd type="none" w="med" len="med"/>
                    </a:lnT>
                    <a:lnB w="6350" cap="flat" cmpd="sng" algn="ctr">
                      <a:solidFill>
                        <a:srgbClr val="39434B"/>
                      </a:solidFill>
                      <a:prstDash val="solid"/>
                      <a:round/>
                      <a:headEnd type="none" w="med" len="med"/>
                      <a:tailEnd type="none" w="med" len="med"/>
                    </a:lnB>
                    <a:solidFill>
                      <a:srgbClr val="14181C"/>
                    </a:solidFill>
                  </a:tcPr>
                </a:tc>
                <a:tc>
                  <a:txBody>
                    <a:bodyPr/>
                    <a:lstStyle/>
                    <a:p>
                      <a:pPr indent="0" marL="0">
                        <a:buNone/>
                      </a:pPr>
                      <a:r>
                        <a:rPr lang="en-US" sz="1000" dirty="0">
                          <a:solidFill>
                            <a:srgbClr val="E5E9EC"/>
                          </a:solidFill>
                          <a:latin typeface="Arial" pitchFamily="34" charset="0"/>
                          <a:ea typeface="Arial" pitchFamily="34" charset="-122"/>
                          <a:cs typeface="Arial" pitchFamily="34" charset="-120"/>
                        </a:rPr>
                        <a:t>Energized electrical (SCR, switchgear)</a:t>
                      </a:r>
                      <a:endParaRPr lang="en-US" sz="1000" dirty="0">
                        <a:latin typeface="Arial" charset="0"/>
                        <a:ea typeface="Arial" charset="0"/>
                        <a:cs typeface="Arial" charset="0"/>
                      </a:endParaRPr>
                    </a:p>
                  </a:txBody>
                  <a:tcPr marL="54864" marR="54864" marT="54864" marB="54864" anchor="ctr">
                    <a:lnL w="6350" cap="flat" cmpd="sng" algn="ctr">
                      <a:solidFill>
                        <a:srgbClr val="39434B"/>
                      </a:solidFill>
                      <a:prstDash val="solid"/>
                      <a:round/>
                      <a:headEnd type="none" w="med" len="med"/>
                      <a:tailEnd type="none" w="med" len="med"/>
                    </a:lnL>
                    <a:lnR w="6350" cap="flat" cmpd="sng" algn="ctr">
                      <a:solidFill>
                        <a:srgbClr val="39434B"/>
                      </a:solidFill>
                      <a:prstDash val="solid"/>
                      <a:round/>
                      <a:headEnd type="none" w="med" len="med"/>
                      <a:tailEnd type="none" w="med" len="med"/>
                    </a:lnR>
                    <a:lnT w="6350" cap="flat" cmpd="sng" algn="ctr">
                      <a:solidFill>
                        <a:srgbClr val="39434B"/>
                      </a:solidFill>
                      <a:prstDash val="solid"/>
                      <a:round/>
                      <a:headEnd type="none" w="med" len="med"/>
                      <a:tailEnd type="none" w="med" len="med"/>
                    </a:lnT>
                    <a:lnB w="6350" cap="flat" cmpd="sng" algn="ctr">
                      <a:solidFill>
                        <a:srgbClr val="39434B"/>
                      </a:solidFill>
                      <a:prstDash val="solid"/>
                      <a:round/>
                      <a:headEnd type="none" w="med" len="med"/>
                      <a:tailEnd type="none" w="med" len="med"/>
                    </a:lnB>
                    <a:solidFill>
                      <a:srgbClr val="14181C"/>
                    </a:solidFill>
                  </a:tcPr>
                </a:tc>
                <a:tc>
                  <a:txBody>
                    <a:bodyPr/>
                    <a:lstStyle/>
                    <a:p>
                      <a:pPr indent="0" marL="0">
                        <a:buNone/>
                      </a:pPr>
                      <a:r>
                        <a:rPr lang="en-US" sz="1000" dirty="0">
                          <a:solidFill>
                            <a:srgbClr val="E5E9EC"/>
                          </a:solidFill>
                          <a:latin typeface="Arial" pitchFamily="34" charset="0"/>
                          <a:ea typeface="Arial" pitchFamily="34" charset="-122"/>
                          <a:cs typeface="Arial" pitchFamily="34" charset="-120"/>
                        </a:rPr>
                        <a:t>CO2 / DCP after de-energizing</a:t>
                      </a:r>
                      <a:endParaRPr lang="en-US" sz="1000" dirty="0">
                        <a:latin typeface="Arial" charset="0"/>
                        <a:ea typeface="Arial" charset="0"/>
                        <a:cs typeface="Arial" charset="0"/>
                      </a:endParaRPr>
                    </a:p>
                  </a:txBody>
                  <a:tcPr marL="54864" marR="54864" marT="54864" marB="54864" anchor="ctr">
                    <a:lnL w="6350" cap="flat" cmpd="sng" algn="ctr">
                      <a:solidFill>
                        <a:srgbClr val="39434B"/>
                      </a:solidFill>
                      <a:prstDash val="solid"/>
                      <a:round/>
                      <a:headEnd type="none" w="med" len="med"/>
                      <a:tailEnd type="none" w="med" len="med"/>
                    </a:lnL>
                    <a:lnR w="6350" cap="flat" cmpd="sng" algn="ctr">
                      <a:solidFill>
                        <a:srgbClr val="39434B"/>
                      </a:solidFill>
                      <a:prstDash val="solid"/>
                      <a:round/>
                      <a:headEnd type="none" w="med" len="med"/>
                      <a:tailEnd type="none" w="med" len="med"/>
                    </a:lnR>
                    <a:lnT w="6350" cap="flat" cmpd="sng" algn="ctr">
                      <a:solidFill>
                        <a:srgbClr val="39434B"/>
                      </a:solidFill>
                      <a:prstDash val="solid"/>
                      <a:round/>
                      <a:headEnd type="none" w="med" len="med"/>
                      <a:tailEnd type="none" w="med" len="med"/>
                    </a:lnT>
                    <a:lnB w="6350" cap="flat" cmpd="sng" algn="ctr">
                      <a:solidFill>
                        <a:srgbClr val="39434B"/>
                      </a:solidFill>
                      <a:prstDash val="solid"/>
                      <a:round/>
                      <a:headEnd type="none" w="med" len="med"/>
                      <a:tailEnd type="none" w="med" len="med"/>
                    </a:lnB>
                    <a:solidFill>
                      <a:srgbClr val="14181C"/>
                    </a:solidFill>
                  </a:tcPr>
                </a:tc>
                <a:tc>
                  <a:txBody>
                    <a:bodyPr/>
                    <a:lstStyle/>
                    <a:p>
                      <a:pPr indent="0" marL="0">
                        <a:buNone/>
                      </a:pPr>
                      <a:r>
                        <a:rPr lang="en-US" sz="1000" dirty="0">
                          <a:solidFill>
                            <a:srgbClr val="9AA5AD"/>
                          </a:solidFill>
                          <a:latin typeface="Arial" pitchFamily="34" charset="0"/>
                          <a:ea typeface="Arial" pitchFamily="34" charset="-122"/>
                          <a:cs typeface="Arial" pitchFamily="34" charset="-120"/>
                        </a:rPr>
                        <a:t>Confirm isolation — then it's class A/B</a:t>
                      </a:r>
                      <a:endParaRPr lang="en-US" sz="1000" dirty="0">
                        <a:latin typeface="Arial" charset="0"/>
                        <a:ea typeface="Arial" charset="0"/>
                        <a:cs typeface="Arial" charset="0"/>
                      </a:endParaRPr>
                    </a:p>
                  </a:txBody>
                  <a:tcPr marL="54864" marR="54864" marT="54864" marB="54864" anchor="ctr">
                    <a:lnL w="6350" cap="flat" cmpd="sng" algn="ctr">
                      <a:solidFill>
                        <a:srgbClr val="39434B"/>
                      </a:solidFill>
                      <a:prstDash val="solid"/>
                      <a:round/>
                      <a:headEnd type="none" w="med" len="med"/>
                      <a:tailEnd type="none" w="med" len="med"/>
                    </a:lnL>
                    <a:lnR w="6350" cap="flat" cmpd="sng" algn="ctr">
                      <a:solidFill>
                        <a:srgbClr val="39434B"/>
                      </a:solidFill>
                      <a:prstDash val="solid"/>
                      <a:round/>
                      <a:headEnd type="none" w="med" len="med"/>
                      <a:tailEnd type="none" w="med" len="med"/>
                    </a:lnR>
                    <a:lnT w="6350" cap="flat" cmpd="sng" algn="ctr">
                      <a:solidFill>
                        <a:srgbClr val="39434B"/>
                      </a:solidFill>
                      <a:prstDash val="solid"/>
                      <a:round/>
                      <a:headEnd type="none" w="med" len="med"/>
                      <a:tailEnd type="none" w="med" len="med"/>
                    </a:lnT>
                    <a:lnB w="6350" cap="flat" cmpd="sng" algn="ctr">
                      <a:solidFill>
                        <a:srgbClr val="39434B"/>
                      </a:solidFill>
                      <a:prstDash val="solid"/>
                      <a:round/>
                      <a:headEnd type="none" w="med" len="med"/>
                      <a:tailEnd type="none" w="med" len="med"/>
                    </a:lnB>
                    <a:solidFill>
                      <a:srgbClr val="14181C"/>
                    </a:solidFill>
                  </a:tcPr>
                </a:tc>
              </a:tr>
              <a:tr h="530352">
                <a:tc>
                  <a:txBody>
                    <a:bodyPr/>
                    <a:lstStyle/>
                    <a:p>
                      <a:pPr indent="0" marL="0">
                        <a:buNone/>
                      </a:pPr>
                      <a:r>
                        <a:rPr lang="en-US" sz="1100" b="1" dirty="0">
                          <a:solidFill>
                            <a:srgbClr val="F5A623"/>
                          </a:solidFill>
                          <a:latin typeface="Arial" pitchFamily="34" charset="0"/>
                          <a:ea typeface="Arial" pitchFamily="34" charset="-122"/>
                          <a:cs typeface="Arial" pitchFamily="34" charset="-120"/>
                        </a:rPr>
                        <a:t>D/K</a:t>
                      </a:r>
                      <a:endParaRPr lang="en-US" sz="1100" dirty="0">
                        <a:latin typeface="Arial" charset="0"/>
                        <a:ea typeface="Arial" charset="0"/>
                        <a:cs typeface="Arial" charset="0"/>
                      </a:endParaRPr>
                    </a:p>
                  </a:txBody>
                  <a:tcPr marL="54864" marR="54864" marT="54864" marB="54864" anchor="ctr">
                    <a:lnL w="6350" cap="flat" cmpd="sng" algn="ctr">
                      <a:solidFill>
                        <a:srgbClr val="39434B"/>
                      </a:solidFill>
                      <a:prstDash val="solid"/>
                      <a:round/>
                      <a:headEnd type="none" w="med" len="med"/>
                      <a:tailEnd type="none" w="med" len="med"/>
                    </a:lnL>
                    <a:lnR w="6350" cap="flat" cmpd="sng" algn="ctr">
                      <a:solidFill>
                        <a:srgbClr val="39434B"/>
                      </a:solidFill>
                      <a:prstDash val="solid"/>
                      <a:round/>
                      <a:headEnd type="none" w="med" len="med"/>
                      <a:tailEnd type="none" w="med" len="med"/>
                    </a:lnR>
                    <a:lnT w="6350" cap="flat" cmpd="sng" algn="ctr">
                      <a:solidFill>
                        <a:srgbClr val="39434B"/>
                      </a:solidFill>
                      <a:prstDash val="solid"/>
                      <a:round/>
                      <a:headEnd type="none" w="med" len="med"/>
                      <a:tailEnd type="none" w="med" len="med"/>
                    </a:lnT>
                    <a:lnB w="6350" cap="flat" cmpd="sng" algn="ctr">
                      <a:solidFill>
                        <a:srgbClr val="39434B"/>
                      </a:solidFill>
                      <a:prstDash val="solid"/>
                      <a:round/>
                      <a:headEnd type="none" w="med" len="med"/>
                      <a:tailEnd type="none" w="med" len="med"/>
                    </a:lnB>
                    <a:solidFill>
                      <a:srgbClr val="14181C"/>
                    </a:solidFill>
                  </a:tcPr>
                </a:tc>
                <a:tc>
                  <a:txBody>
                    <a:bodyPr/>
                    <a:lstStyle/>
                    <a:p>
                      <a:pPr indent="0" marL="0">
                        <a:buNone/>
                      </a:pPr>
                      <a:r>
                        <a:rPr lang="en-US" sz="1000" dirty="0">
                          <a:solidFill>
                            <a:srgbClr val="E5E9EC"/>
                          </a:solidFill>
                          <a:latin typeface="Arial" pitchFamily="34" charset="0"/>
                          <a:ea typeface="Arial" pitchFamily="34" charset="-122"/>
                          <a:cs typeface="Arial" pitchFamily="34" charset="-120"/>
                        </a:rPr>
                        <a:t>Metals / kitchen media</a:t>
                      </a:r>
                      <a:endParaRPr lang="en-US" sz="1000" dirty="0">
                        <a:latin typeface="Arial" charset="0"/>
                        <a:ea typeface="Arial" charset="0"/>
                        <a:cs typeface="Arial" charset="0"/>
                      </a:endParaRPr>
                    </a:p>
                  </a:txBody>
                  <a:tcPr marL="54864" marR="54864" marT="54864" marB="54864" anchor="ctr">
                    <a:lnL w="6350" cap="flat" cmpd="sng" algn="ctr">
                      <a:solidFill>
                        <a:srgbClr val="39434B"/>
                      </a:solidFill>
                      <a:prstDash val="solid"/>
                      <a:round/>
                      <a:headEnd type="none" w="med" len="med"/>
                      <a:tailEnd type="none" w="med" len="med"/>
                    </a:lnL>
                    <a:lnR w="6350" cap="flat" cmpd="sng" algn="ctr">
                      <a:solidFill>
                        <a:srgbClr val="39434B"/>
                      </a:solidFill>
                      <a:prstDash val="solid"/>
                      <a:round/>
                      <a:headEnd type="none" w="med" len="med"/>
                      <a:tailEnd type="none" w="med" len="med"/>
                    </a:lnR>
                    <a:lnT w="6350" cap="flat" cmpd="sng" algn="ctr">
                      <a:solidFill>
                        <a:srgbClr val="39434B"/>
                      </a:solidFill>
                      <a:prstDash val="solid"/>
                      <a:round/>
                      <a:headEnd type="none" w="med" len="med"/>
                      <a:tailEnd type="none" w="med" len="med"/>
                    </a:lnT>
                    <a:lnB w="6350" cap="flat" cmpd="sng" algn="ctr">
                      <a:solidFill>
                        <a:srgbClr val="39434B"/>
                      </a:solidFill>
                      <a:prstDash val="solid"/>
                      <a:round/>
                      <a:headEnd type="none" w="med" len="med"/>
                      <a:tailEnd type="none" w="med" len="med"/>
                    </a:lnB>
                    <a:solidFill>
                      <a:srgbClr val="14181C"/>
                    </a:solidFill>
                  </a:tcPr>
                </a:tc>
                <a:tc>
                  <a:txBody>
                    <a:bodyPr/>
                    <a:lstStyle/>
                    <a:p>
                      <a:pPr indent="0" marL="0">
                        <a:buNone/>
                      </a:pPr>
                      <a:r>
                        <a:rPr lang="en-US" sz="1000" dirty="0">
                          <a:solidFill>
                            <a:srgbClr val="E5E9EC"/>
                          </a:solidFill>
                          <a:latin typeface="Arial" pitchFamily="34" charset="0"/>
                          <a:ea typeface="Arial" pitchFamily="34" charset="-122"/>
                          <a:cs typeface="Arial" pitchFamily="34" charset="-120"/>
                        </a:rPr>
                        <a:t>Specialist agents only</a:t>
                      </a:r>
                      <a:endParaRPr lang="en-US" sz="1000" dirty="0">
                        <a:latin typeface="Arial" charset="0"/>
                        <a:ea typeface="Arial" charset="0"/>
                        <a:cs typeface="Arial" charset="0"/>
                      </a:endParaRPr>
                    </a:p>
                  </a:txBody>
                  <a:tcPr marL="54864" marR="54864" marT="54864" marB="54864" anchor="ctr">
                    <a:lnL w="6350" cap="flat" cmpd="sng" algn="ctr">
                      <a:solidFill>
                        <a:srgbClr val="39434B"/>
                      </a:solidFill>
                      <a:prstDash val="solid"/>
                      <a:round/>
                      <a:headEnd type="none" w="med" len="med"/>
                      <a:tailEnd type="none" w="med" len="med"/>
                    </a:lnL>
                    <a:lnR w="6350" cap="flat" cmpd="sng" algn="ctr">
                      <a:solidFill>
                        <a:srgbClr val="39434B"/>
                      </a:solidFill>
                      <a:prstDash val="solid"/>
                      <a:round/>
                      <a:headEnd type="none" w="med" len="med"/>
                      <a:tailEnd type="none" w="med" len="med"/>
                    </a:lnR>
                    <a:lnT w="6350" cap="flat" cmpd="sng" algn="ctr">
                      <a:solidFill>
                        <a:srgbClr val="39434B"/>
                      </a:solidFill>
                      <a:prstDash val="solid"/>
                      <a:round/>
                      <a:headEnd type="none" w="med" len="med"/>
                      <a:tailEnd type="none" w="med" len="med"/>
                    </a:lnT>
                    <a:lnB w="6350" cap="flat" cmpd="sng" algn="ctr">
                      <a:solidFill>
                        <a:srgbClr val="39434B"/>
                      </a:solidFill>
                      <a:prstDash val="solid"/>
                      <a:round/>
                      <a:headEnd type="none" w="med" len="med"/>
                      <a:tailEnd type="none" w="med" len="med"/>
                    </a:lnB>
                    <a:solidFill>
                      <a:srgbClr val="14181C"/>
                    </a:solidFill>
                  </a:tcPr>
                </a:tc>
                <a:tc>
                  <a:txBody>
                    <a:bodyPr/>
                    <a:lstStyle/>
                    <a:p>
                      <a:pPr indent="0" marL="0">
                        <a:buNone/>
                      </a:pPr>
                      <a:r>
                        <a:rPr lang="en-US" sz="1000" dirty="0">
                          <a:solidFill>
                            <a:srgbClr val="9AA5AD"/>
                          </a:solidFill>
                          <a:latin typeface="Arial" pitchFamily="34" charset="0"/>
                          <a:ea typeface="Arial" pitchFamily="34" charset="-122"/>
                          <a:cs typeface="Arial" pitchFamily="34" charset="-120"/>
                        </a:rPr>
                        <a:t>Wrong media makes it worse</a:t>
                      </a:r>
                      <a:endParaRPr lang="en-US" sz="1000" dirty="0">
                        <a:latin typeface="Arial" charset="0"/>
                        <a:ea typeface="Arial" charset="0"/>
                        <a:cs typeface="Arial" charset="0"/>
                      </a:endParaRPr>
                    </a:p>
                  </a:txBody>
                  <a:tcPr marL="54864" marR="54864" marT="54864" marB="54864" anchor="ctr">
                    <a:lnL w="6350" cap="flat" cmpd="sng" algn="ctr">
                      <a:solidFill>
                        <a:srgbClr val="39434B"/>
                      </a:solidFill>
                      <a:prstDash val="solid"/>
                      <a:round/>
                      <a:headEnd type="none" w="med" len="med"/>
                      <a:tailEnd type="none" w="med" len="med"/>
                    </a:lnL>
                    <a:lnR w="6350" cap="flat" cmpd="sng" algn="ctr">
                      <a:solidFill>
                        <a:srgbClr val="39434B"/>
                      </a:solidFill>
                      <a:prstDash val="solid"/>
                      <a:round/>
                      <a:headEnd type="none" w="med" len="med"/>
                      <a:tailEnd type="none" w="med" len="med"/>
                    </a:lnR>
                    <a:lnT w="6350" cap="flat" cmpd="sng" algn="ctr">
                      <a:solidFill>
                        <a:srgbClr val="39434B"/>
                      </a:solidFill>
                      <a:prstDash val="solid"/>
                      <a:round/>
                      <a:headEnd type="none" w="med" len="med"/>
                      <a:tailEnd type="none" w="med" len="med"/>
                    </a:lnT>
                    <a:lnB w="6350" cap="flat" cmpd="sng" algn="ctr">
                      <a:solidFill>
                        <a:srgbClr val="39434B"/>
                      </a:solidFill>
                      <a:prstDash val="solid"/>
                      <a:round/>
                      <a:headEnd type="none" w="med" len="med"/>
                      <a:tailEnd type="none" w="med" len="med"/>
                    </a:lnB>
                    <a:solidFill>
                      <a:srgbClr val="14181C"/>
                    </a:solidFill>
                  </a:tcPr>
                </a:tc>
              </a:tr>
            </a:tbl>
          </a:graphicData>
        </a:graphic>
      </p:graphicFrame>
      <p:sp>
        <p:nvSpPr>
          <p:cNvPr id="10" name="Text 6"/>
          <p:cNvSpPr/>
          <p:nvPr/>
        </p:nvSpPr>
        <p:spPr>
          <a:xfrm>
            <a:off x="5120640" y="5577840"/>
            <a:ext cx="6446520" cy="685800"/>
          </a:xfrm>
          <a:prstGeom prst="rect">
            <a:avLst/>
          </a:prstGeom>
          <a:noFill/>
          <a:ln/>
        </p:spPr>
        <p:txBody>
          <a:bodyPr wrap="square" lIns="0" tIns="0" rIns="0" bIns="0" rtlCol="0" anchor="ctr"/>
          <a:lstStyle/>
          <a:p>
            <a:pPr indent="0" marL="0">
              <a:buNone/>
            </a:pPr>
            <a:r>
              <a:rPr lang="en-US" sz="1150" b="1" dirty="0">
                <a:solidFill>
                  <a:srgbClr val="F5A623"/>
                </a:solidFill>
                <a:latin typeface="Arial" pitchFamily="34" charset="0"/>
                <a:ea typeface="Arial" pitchFamily="34" charset="-122"/>
                <a:cs typeface="Arial" pitchFamily="34" charset="-120"/>
              </a:rPr>
              <a:t>BLEVE / boilover / flashover:  </a:t>
            </a:r>
            <a:pPr indent="0" marL="0">
              <a:buNone/>
            </a:pPr>
            <a:r>
              <a:rPr lang="en-US" sz="1150" dirty="0">
                <a:solidFill>
                  <a:srgbClr val="D9DEE2"/>
                </a:solidFill>
                <a:latin typeface="Arial" pitchFamily="34" charset="0"/>
                <a:ea typeface="Arial" pitchFamily="34" charset="-122"/>
                <a:cs typeface="Arial" pitchFamily="34" charset="-120"/>
              </a:rPr>
              <a:t>the three escalation monsters. If you cannot cool it, isolate it — and if you cannot isolate it, clear people and go defensive.</a:t>
            </a:r>
            <a:endParaRPr lang="en-US" sz="11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38</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3</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Pre-incident planning: win before it starts</a:t>
            </a:r>
            <a:endParaRPr lang="en-US" sz="3000" dirty="0"/>
          </a:p>
        </p:txBody>
      </p:sp>
      <p:pic>
        <p:nvPicPr>
          <p:cNvPr id="6" name="Image 0" descr="/home/user/My-Future-Idaes/SANAD-Fire-Team-Leader-Course/assets/img/preplan.jpg">    </p:cNvPr>
          <p:cNvPicPr>
            <a:picLocks noChangeAspect="1"/>
          </p:cNvPicPr>
          <p:nvPr/>
        </p:nvPicPr>
        <p:blipFill>
          <a:blip r:embed="rId1"/>
          <a:srcRect l="0" r="0" t="0" b="0"/>
          <a:stretch/>
        </p:blipFill>
        <p:spPr>
          <a:xfrm>
            <a:off x="7040880" y="1600200"/>
            <a:ext cx="4572000" cy="3017520"/>
          </a:xfrm>
          <a:prstGeom prst="rect">
            <a:avLst/>
          </a:prstGeom>
        </p:spPr>
      </p:pic>
      <p:sp>
        <p:nvSpPr>
          <p:cNvPr id="7" name="Shape 4"/>
          <p:cNvSpPr/>
          <p:nvPr/>
        </p:nvSpPr>
        <p:spPr>
          <a:xfrm>
            <a:off x="594360" y="1737360"/>
            <a:ext cx="502920" cy="502920"/>
          </a:xfrm>
          <a:prstGeom prst="ellipse">
            <a:avLst/>
          </a:prstGeom>
          <a:solidFill>
            <a:srgbClr val="E8491D"/>
          </a:solidFill>
          <a:ln/>
        </p:spPr>
      </p:sp>
      <p:pic>
        <p:nvPicPr>
          <p:cNvPr id="8" name="Image 1" descr="/tmp/claude-0/-home-user-My-Future-Idaes/0806094f-208a-506e-82b2-f78683d50c82/scratchpad/icons/FaMapMarkedAlt_white.png">    </p:cNvPr>
          <p:cNvPicPr>
            <a:picLocks noChangeAspect="1"/>
          </p:cNvPicPr>
          <p:nvPr/>
        </p:nvPicPr>
        <p:blipFill>
          <a:blip r:embed="rId2"/>
          <a:stretch>
            <a:fillRect/>
          </a:stretch>
        </p:blipFill>
        <p:spPr>
          <a:xfrm>
            <a:off x="715061" y="1858061"/>
            <a:ext cx="261518" cy="261518"/>
          </a:xfrm>
          <a:prstGeom prst="rect">
            <a:avLst/>
          </a:prstGeom>
        </p:spPr>
      </p:pic>
      <p:sp>
        <p:nvSpPr>
          <p:cNvPr id="9" name="Text 5"/>
          <p:cNvSpPr/>
          <p:nvPr/>
        </p:nvSpPr>
        <p:spPr>
          <a:xfrm>
            <a:off x="1307592" y="1691640"/>
            <a:ext cx="5577840" cy="1078992"/>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Pre-fire plans per hazard area
</a:t>
            </a:r>
            <a:pPr indent="0" marL="0">
              <a:buNone/>
            </a:pPr>
            <a:r>
              <a:rPr lang="en-US" sz="1050" dirty="0">
                <a:solidFill>
                  <a:srgbClr val="5A646C"/>
                </a:solidFill>
                <a:latin typeface="Arial" pitchFamily="34" charset="0"/>
                <a:ea typeface="Arial" pitchFamily="34" charset="-122"/>
                <a:cs typeface="Arial" pitchFamily="34" charset="-120"/>
              </a:rPr>
              <a:t>One page each for wellhead, fuel, SCR, camp: attack routes, water points, isolation valves, muster.</a:t>
            </a:r>
            <a:endParaRPr lang="en-US" sz="1250" dirty="0"/>
          </a:p>
        </p:txBody>
      </p:sp>
      <p:sp>
        <p:nvSpPr>
          <p:cNvPr id="10" name="Shape 6"/>
          <p:cNvSpPr/>
          <p:nvPr/>
        </p:nvSpPr>
        <p:spPr>
          <a:xfrm>
            <a:off x="594360" y="2852928"/>
            <a:ext cx="502920" cy="502920"/>
          </a:xfrm>
          <a:prstGeom prst="ellipse">
            <a:avLst/>
          </a:prstGeom>
          <a:solidFill>
            <a:srgbClr val="E8491D"/>
          </a:solidFill>
          <a:ln/>
        </p:spPr>
      </p:sp>
      <p:pic>
        <p:nvPicPr>
          <p:cNvPr id="11" name="Image 2" descr="/tmp/claude-0/-home-user-My-Future-Idaes/0806094f-208a-506e-82b2-f78683d50c82/scratchpad/icons/FaWater_white.png">    </p:cNvPr>
          <p:cNvPicPr>
            <a:picLocks noChangeAspect="1"/>
          </p:cNvPicPr>
          <p:nvPr/>
        </p:nvPicPr>
        <p:blipFill>
          <a:blip r:embed="rId3"/>
          <a:stretch>
            <a:fillRect/>
          </a:stretch>
        </p:blipFill>
        <p:spPr>
          <a:xfrm>
            <a:off x="715061" y="2973629"/>
            <a:ext cx="261518" cy="261518"/>
          </a:xfrm>
          <a:prstGeom prst="rect">
            <a:avLst/>
          </a:prstGeom>
        </p:spPr>
      </p:pic>
      <p:sp>
        <p:nvSpPr>
          <p:cNvPr id="12" name="Text 7"/>
          <p:cNvSpPr/>
          <p:nvPr/>
        </p:nvSpPr>
        <p:spPr>
          <a:xfrm>
            <a:off x="1307592" y="2807208"/>
            <a:ext cx="5577840" cy="1078992"/>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Know your water cold
</a:t>
            </a:r>
            <a:pPr indent="0" marL="0">
              <a:buNone/>
            </a:pPr>
            <a:r>
              <a:rPr lang="en-US" sz="1050" dirty="0">
                <a:solidFill>
                  <a:srgbClr val="5A646C"/>
                </a:solidFill>
                <a:latin typeface="Arial" pitchFamily="34" charset="0"/>
                <a:ea typeface="Arial" pitchFamily="34" charset="-122"/>
                <a:cs typeface="Arial" pitchFamily="34" charset="-120"/>
              </a:rPr>
              <a:t>Tank volumes, pump capacities, hydrant/monitor coverage, refill logistics — memorized, not looked up.</a:t>
            </a:r>
            <a:endParaRPr lang="en-US" sz="1250" dirty="0"/>
          </a:p>
        </p:txBody>
      </p:sp>
      <p:sp>
        <p:nvSpPr>
          <p:cNvPr id="13" name="Shape 8"/>
          <p:cNvSpPr/>
          <p:nvPr/>
        </p:nvSpPr>
        <p:spPr>
          <a:xfrm>
            <a:off x="594360" y="3968496"/>
            <a:ext cx="502920" cy="502920"/>
          </a:xfrm>
          <a:prstGeom prst="ellipse">
            <a:avLst/>
          </a:prstGeom>
          <a:solidFill>
            <a:srgbClr val="E8491D"/>
          </a:solidFill>
          <a:ln/>
        </p:spPr>
      </p:sp>
      <p:pic>
        <p:nvPicPr>
          <p:cNvPr id="14" name="Image 3" descr="/tmp/claude-0/-home-user-My-Future-Idaes/0806094f-208a-506e-82b2-f78683d50c82/scratchpad/icons/FaLock_white.png">    </p:cNvPr>
          <p:cNvPicPr>
            <a:picLocks noChangeAspect="1"/>
          </p:cNvPicPr>
          <p:nvPr/>
        </p:nvPicPr>
        <p:blipFill>
          <a:blip r:embed="rId4"/>
          <a:stretch>
            <a:fillRect/>
          </a:stretch>
        </p:blipFill>
        <p:spPr>
          <a:xfrm>
            <a:off x="715061" y="4089197"/>
            <a:ext cx="261518" cy="261518"/>
          </a:xfrm>
          <a:prstGeom prst="rect">
            <a:avLst/>
          </a:prstGeom>
        </p:spPr>
      </p:pic>
      <p:sp>
        <p:nvSpPr>
          <p:cNvPr id="15" name="Text 9"/>
          <p:cNvSpPr/>
          <p:nvPr/>
        </p:nvSpPr>
        <p:spPr>
          <a:xfrm>
            <a:off x="1307592" y="3922776"/>
            <a:ext cx="5577840" cy="1078992"/>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Isolation mapping
</a:t>
            </a:r>
            <a:pPr indent="0" marL="0">
              <a:buNone/>
            </a:pPr>
            <a:r>
              <a:rPr lang="en-US" sz="1050" dirty="0">
                <a:solidFill>
                  <a:srgbClr val="5A646C"/>
                </a:solidFill>
                <a:latin typeface="Arial" pitchFamily="34" charset="0"/>
                <a:ea typeface="Arial" pitchFamily="34" charset="-122"/>
                <a:cs typeface="Arial" pitchFamily="34" charset="-120"/>
              </a:rPr>
              <a:t>Fuel shut-offs, electrical isolation, ESD points — who operates each, and the backup person for nights.</a:t>
            </a:r>
            <a:endParaRPr lang="en-US" sz="1250" dirty="0"/>
          </a:p>
        </p:txBody>
      </p:sp>
      <p:sp>
        <p:nvSpPr>
          <p:cNvPr id="16" name="Shape 10"/>
          <p:cNvSpPr/>
          <p:nvPr/>
        </p:nvSpPr>
        <p:spPr>
          <a:xfrm>
            <a:off x="594360" y="5084064"/>
            <a:ext cx="502920" cy="502920"/>
          </a:xfrm>
          <a:prstGeom prst="ellipse">
            <a:avLst/>
          </a:prstGeom>
          <a:solidFill>
            <a:srgbClr val="E8491D"/>
          </a:solidFill>
          <a:ln/>
        </p:spPr>
      </p:sp>
      <p:pic>
        <p:nvPicPr>
          <p:cNvPr id="17" name="Image 4" descr="/tmp/claude-0/-home-user-My-Future-Idaes/0806094f-208a-506e-82b2-f78683d50c82/scratchpad/icons/FaSyncAlt_white.png">    </p:cNvPr>
          <p:cNvPicPr>
            <a:picLocks noChangeAspect="1"/>
          </p:cNvPicPr>
          <p:nvPr/>
        </p:nvPicPr>
        <p:blipFill>
          <a:blip r:embed="rId5"/>
          <a:stretch>
            <a:fillRect/>
          </a:stretch>
        </p:blipFill>
        <p:spPr>
          <a:xfrm>
            <a:off x="715061" y="5204765"/>
            <a:ext cx="261518" cy="261518"/>
          </a:xfrm>
          <a:prstGeom prst="rect">
            <a:avLst/>
          </a:prstGeom>
        </p:spPr>
      </p:pic>
      <p:sp>
        <p:nvSpPr>
          <p:cNvPr id="18" name="Text 11"/>
          <p:cNvSpPr/>
          <p:nvPr/>
        </p:nvSpPr>
        <p:spPr>
          <a:xfrm>
            <a:off x="1307592" y="5038344"/>
            <a:ext cx="5577840" cy="1078992"/>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Walk it quarterly
</a:t>
            </a:r>
            <a:pPr indent="0" marL="0">
              <a:buNone/>
            </a:pPr>
            <a:r>
              <a:rPr lang="en-US" sz="1050" dirty="0">
                <a:solidFill>
                  <a:srgbClr val="5A646C"/>
                </a:solidFill>
                <a:latin typeface="Arial" pitchFamily="34" charset="0"/>
                <a:ea typeface="Arial" pitchFamily="34" charset="-122"/>
                <a:cs typeface="Arial" pitchFamily="34" charset="-120"/>
              </a:rPr>
              <a:t>Plans rot: equipment moves, people rotate. A pre-plan nobody has walked is fiction with a title block.</a:t>
            </a:r>
            <a:endParaRPr lang="en-US" sz="1250" dirty="0"/>
          </a:p>
        </p:txBody>
      </p:sp>
      <p:sp>
        <p:nvSpPr>
          <p:cNvPr id="19" name="Shape 12"/>
          <p:cNvSpPr/>
          <p:nvPr/>
        </p:nvSpPr>
        <p:spPr>
          <a:xfrm>
            <a:off x="7040880" y="4846320"/>
            <a:ext cx="4572000" cy="1234440"/>
          </a:xfrm>
          <a:prstGeom prst="roundRect">
            <a:avLst>
              <a:gd name="adj" fmla="val 7407"/>
            </a:avLst>
          </a:prstGeom>
          <a:solidFill>
            <a:srgbClr val="14181C"/>
          </a:solidFill>
          <a:ln/>
        </p:spPr>
      </p:sp>
      <p:sp>
        <p:nvSpPr>
          <p:cNvPr id="20" name="Text 13"/>
          <p:cNvSpPr/>
          <p:nvPr/>
        </p:nvSpPr>
        <p:spPr>
          <a:xfrm>
            <a:off x="7269480" y="4956048"/>
            <a:ext cx="4114800" cy="1024128"/>
          </a:xfrm>
          <a:prstGeom prst="rect">
            <a:avLst/>
          </a:prstGeom>
          <a:noFill/>
          <a:ln/>
        </p:spPr>
        <p:txBody>
          <a:bodyPr wrap="square" lIns="0" tIns="0" rIns="0" bIns="0" rtlCol="0" anchor="ctr"/>
          <a:lstStyle/>
          <a:p>
            <a:pPr indent="0" marL="0">
              <a:buNone/>
            </a:pPr>
            <a:r>
              <a:rPr lang="en-US" sz="1300" b="1" dirty="0">
                <a:solidFill>
                  <a:srgbClr val="F5A623"/>
                </a:solidFill>
                <a:latin typeface="Arial" pitchFamily="34" charset="0"/>
                <a:ea typeface="Arial" pitchFamily="34" charset="-122"/>
                <a:cs typeface="Arial" pitchFamily="34" charset="-120"/>
              </a:rPr>
              <a:t>The 3 AM test:
</a:t>
            </a:r>
            <a:pPr indent="0" marL="0">
              <a:buNone/>
            </a:pPr>
            <a:r>
              <a:rPr lang="en-US" sz="1050" dirty="0">
                <a:solidFill>
                  <a:srgbClr val="D9DEE2"/>
                </a:solidFill>
                <a:latin typeface="Arial" pitchFamily="34" charset="0"/>
                <a:ea typeface="Arial" pitchFamily="34" charset="-122"/>
                <a:cs typeface="Arial" pitchFamily="34" charset="-120"/>
              </a:rPr>
              <a:t>if the alarm sounds tonight, does your relief shift know the plan as well as you do? If not, the plan is you — and you sleep.</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39</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3</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Scene size-up: the 30-second read</a:t>
            </a:r>
            <a:endParaRPr lang="en-US" sz="3000" dirty="0"/>
          </a:p>
        </p:txBody>
      </p:sp>
      <p:pic>
        <p:nvPicPr>
          <p:cNvPr id="6" name="Image 0" descr="/home/user/My-Future-Idaes/SANAD-Fire-Team-Leader-Course/assets/img/sizeup.jpg">    </p:cNvPr>
          <p:cNvPicPr>
            <a:picLocks noChangeAspect="1"/>
          </p:cNvPicPr>
          <p:nvPr/>
        </p:nvPicPr>
        <p:blipFill>
          <a:blip r:embed="rId1"/>
          <a:srcRect l="0" r="0" t="0" b="0"/>
          <a:stretch/>
        </p:blipFill>
        <p:spPr>
          <a:xfrm>
            <a:off x="7040880" y="1600200"/>
            <a:ext cx="4572000" cy="3017520"/>
          </a:xfrm>
          <a:prstGeom prst="rect">
            <a:avLst/>
          </a:prstGeom>
        </p:spPr>
      </p:pic>
      <p:sp>
        <p:nvSpPr>
          <p:cNvPr id="7" name="Text 4"/>
          <p:cNvSpPr/>
          <p:nvPr/>
        </p:nvSpPr>
        <p:spPr>
          <a:xfrm>
            <a:off x="594360" y="1554480"/>
            <a:ext cx="6035040" cy="384048"/>
          </a:xfrm>
          <a:prstGeom prst="rect">
            <a:avLst/>
          </a:prstGeom>
          <a:noFill/>
          <a:ln/>
        </p:spPr>
        <p:txBody>
          <a:bodyPr wrap="square" lIns="0" tIns="0" rIns="0" bIns="0" rtlCol="0" anchor="ctr"/>
          <a:lstStyle/>
          <a:p>
            <a:pPr indent="0" marL="0">
              <a:buNone/>
            </a:pPr>
            <a:r>
              <a:rPr lang="en-US" sz="1350" i="1" dirty="0">
                <a:solidFill>
                  <a:srgbClr val="5A646C"/>
                </a:solidFill>
                <a:latin typeface="Arial" pitchFamily="34" charset="0"/>
                <a:ea typeface="Arial" pitchFamily="34" charset="-122"/>
                <a:cs typeface="Arial" pitchFamily="34" charset="-120"/>
              </a:rPr>
              <a:t>Five questions, answered out loud, before the first order:</a:t>
            </a:r>
            <a:endParaRPr lang="en-US" sz="1350" dirty="0"/>
          </a:p>
        </p:txBody>
      </p:sp>
      <p:sp>
        <p:nvSpPr>
          <p:cNvPr id="8" name="Shape 5"/>
          <p:cNvSpPr/>
          <p:nvPr/>
        </p:nvSpPr>
        <p:spPr>
          <a:xfrm>
            <a:off x="594360" y="2084832"/>
            <a:ext cx="457200" cy="457200"/>
          </a:xfrm>
          <a:prstGeom prst="ellipse">
            <a:avLst/>
          </a:prstGeom>
          <a:solidFill>
            <a:srgbClr val="E8491D"/>
          </a:solidFill>
          <a:ln/>
        </p:spPr>
      </p:sp>
      <p:sp>
        <p:nvSpPr>
          <p:cNvPr id="9" name="Text 6"/>
          <p:cNvSpPr/>
          <p:nvPr/>
        </p:nvSpPr>
        <p:spPr>
          <a:xfrm>
            <a:off x="594360" y="208483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0" name="Text 7"/>
          <p:cNvSpPr/>
          <p:nvPr/>
        </p:nvSpPr>
        <p:spPr>
          <a:xfrm>
            <a:off x="1252728" y="2011680"/>
            <a:ext cx="5486400" cy="777240"/>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WHAT is burning — and what feeds it?
</a:t>
            </a:r>
            <a:pPr indent="0" marL="0">
              <a:buNone/>
            </a:pPr>
            <a:r>
              <a:rPr lang="en-US" sz="1050" dirty="0">
                <a:solidFill>
                  <a:srgbClr val="5A646C"/>
                </a:solidFill>
                <a:latin typeface="Arial" pitchFamily="34" charset="0"/>
                <a:ea typeface="Arial" pitchFamily="34" charset="-122"/>
                <a:cs typeface="Arial" pitchFamily="34" charset="-120"/>
              </a:rPr>
              <a:t>Fuel, quantity, class, energy sources still live</a:t>
            </a:r>
            <a:endParaRPr lang="en-US" sz="1250" dirty="0"/>
          </a:p>
        </p:txBody>
      </p:sp>
      <p:sp>
        <p:nvSpPr>
          <p:cNvPr id="11" name="Shape 8"/>
          <p:cNvSpPr/>
          <p:nvPr/>
        </p:nvSpPr>
        <p:spPr>
          <a:xfrm>
            <a:off x="594360" y="2871216"/>
            <a:ext cx="457200" cy="457200"/>
          </a:xfrm>
          <a:prstGeom prst="ellipse">
            <a:avLst/>
          </a:prstGeom>
          <a:solidFill>
            <a:srgbClr val="E8491D"/>
          </a:solidFill>
          <a:ln/>
        </p:spPr>
      </p:sp>
      <p:sp>
        <p:nvSpPr>
          <p:cNvPr id="12" name="Text 9"/>
          <p:cNvSpPr/>
          <p:nvPr/>
        </p:nvSpPr>
        <p:spPr>
          <a:xfrm>
            <a:off x="594360" y="287121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3" name="Text 10"/>
          <p:cNvSpPr/>
          <p:nvPr/>
        </p:nvSpPr>
        <p:spPr>
          <a:xfrm>
            <a:off x="1252728" y="2798064"/>
            <a:ext cx="5486400" cy="777240"/>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WHERE will it go next?
</a:t>
            </a:r>
            <a:pPr indent="0" marL="0">
              <a:buNone/>
            </a:pPr>
            <a:r>
              <a:rPr lang="en-US" sz="1050" dirty="0">
                <a:solidFill>
                  <a:srgbClr val="5A646C"/>
                </a:solidFill>
                <a:latin typeface="Arial" pitchFamily="34" charset="0"/>
                <a:ea typeface="Arial" pitchFamily="34" charset="-122"/>
                <a:cs typeface="Arial" pitchFamily="34" charset="-120"/>
              </a:rPr>
              <a:t>Wind, exposures, drainage, escalation paths</a:t>
            </a:r>
            <a:endParaRPr lang="en-US" sz="1250" dirty="0"/>
          </a:p>
        </p:txBody>
      </p:sp>
      <p:sp>
        <p:nvSpPr>
          <p:cNvPr id="14" name="Shape 11"/>
          <p:cNvSpPr/>
          <p:nvPr/>
        </p:nvSpPr>
        <p:spPr>
          <a:xfrm>
            <a:off x="594360" y="3657600"/>
            <a:ext cx="457200" cy="457200"/>
          </a:xfrm>
          <a:prstGeom prst="ellipse">
            <a:avLst/>
          </a:prstGeom>
          <a:solidFill>
            <a:srgbClr val="E8491D"/>
          </a:solidFill>
          <a:ln/>
        </p:spPr>
      </p:sp>
      <p:sp>
        <p:nvSpPr>
          <p:cNvPr id="15" name="Text 12"/>
          <p:cNvSpPr/>
          <p:nvPr/>
        </p:nvSpPr>
        <p:spPr>
          <a:xfrm>
            <a:off x="594360" y="36576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6" name="Text 13"/>
          <p:cNvSpPr/>
          <p:nvPr/>
        </p:nvSpPr>
        <p:spPr>
          <a:xfrm>
            <a:off x="1252728" y="3584448"/>
            <a:ext cx="5486400" cy="777240"/>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WHO is at risk?
</a:t>
            </a:r>
            <a:pPr indent="0" marL="0">
              <a:buNone/>
            </a:pPr>
            <a:r>
              <a:rPr lang="en-US" sz="1050" dirty="0">
                <a:solidFill>
                  <a:srgbClr val="5A646C"/>
                </a:solidFill>
                <a:latin typeface="Arial" pitchFamily="34" charset="0"/>
                <a:ea typeface="Arial" pitchFamily="34" charset="-122"/>
                <a:cs typeface="Arial" pitchFamily="34" charset="-120"/>
              </a:rPr>
              <a:t>Missing persons, muster status, trapped or injured</a:t>
            </a:r>
            <a:endParaRPr lang="en-US" sz="1250" dirty="0"/>
          </a:p>
        </p:txBody>
      </p:sp>
      <p:sp>
        <p:nvSpPr>
          <p:cNvPr id="17" name="Shape 14"/>
          <p:cNvSpPr/>
          <p:nvPr/>
        </p:nvSpPr>
        <p:spPr>
          <a:xfrm>
            <a:off x="594360" y="4443984"/>
            <a:ext cx="457200" cy="457200"/>
          </a:xfrm>
          <a:prstGeom prst="ellipse">
            <a:avLst/>
          </a:prstGeom>
          <a:solidFill>
            <a:srgbClr val="E8491D"/>
          </a:solidFill>
          <a:ln/>
        </p:spPr>
      </p:sp>
      <p:sp>
        <p:nvSpPr>
          <p:cNvPr id="18" name="Text 15"/>
          <p:cNvSpPr/>
          <p:nvPr/>
        </p:nvSpPr>
        <p:spPr>
          <a:xfrm>
            <a:off x="594360" y="444398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19" name="Text 16"/>
          <p:cNvSpPr/>
          <p:nvPr/>
        </p:nvSpPr>
        <p:spPr>
          <a:xfrm>
            <a:off x="1252728" y="4370832"/>
            <a:ext cx="5486400" cy="777240"/>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WHAT do I have?
</a:t>
            </a:r>
            <a:pPr indent="0" marL="0">
              <a:buNone/>
            </a:pPr>
            <a:r>
              <a:rPr lang="en-US" sz="1050" dirty="0">
                <a:solidFill>
                  <a:srgbClr val="5A646C"/>
                </a:solidFill>
                <a:latin typeface="Arial" pitchFamily="34" charset="0"/>
                <a:ea typeface="Arial" pitchFamily="34" charset="-122"/>
                <a:cs typeface="Arial" pitchFamily="34" charset="-120"/>
              </a:rPr>
              <a:t>People, water, foam, apparatus — now and in 10 minutes</a:t>
            </a:r>
            <a:endParaRPr lang="en-US" sz="1250" dirty="0"/>
          </a:p>
        </p:txBody>
      </p:sp>
      <p:sp>
        <p:nvSpPr>
          <p:cNvPr id="20" name="Shape 17"/>
          <p:cNvSpPr/>
          <p:nvPr/>
        </p:nvSpPr>
        <p:spPr>
          <a:xfrm>
            <a:off x="594360" y="5230368"/>
            <a:ext cx="457200" cy="457200"/>
          </a:xfrm>
          <a:prstGeom prst="ellipse">
            <a:avLst/>
          </a:prstGeom>
          <a:solidFill>
            <a:srgbClr val="E8491D"/>
          </a:solidFill>
          <a:ln/>
        </p:spPr>
      </p:sp>
      <p:sp>
        <p:nvSpPr>
          <p:cNvPr id="21" name="Text 18"/>
          <p:cNvSpPr/>
          <p:nvPr/>
        </p:nvSpPr>
        <p:spPr>
          <a:xfrm>
            <a:off x="594360" y="52303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2" name="Text 19"/>
          <p:cNvSpPr/>
          <p:nvPr/>
        </p:nvSpPr>
        <p:spPr>
          <a:xfrm>
            <a:off x="1252728" y="5157216"/>
            <a:ext cx="5486400" cy="777240"/>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WHAT can go catastrophically wrong?
</a:t>
            </a:r>
            <a:pPr indent="0" marL="0">
              <a:buNone/>
            </a:pPr>
            <a:r>
              <a:rPr lang="en-US" sz="1050" dirty="0">
                <a:solidFill>
                  <a:srgbClr val="5A646C"/>
                </a:solidFill>
                <a:latin typeface="Arial" pitchFamily="34" charset="0"/>
                <a:ea typeface="Arial" pitchFamily="34" charset="-122"/>
                <a:cs typeface="Arial" pitchFamily="34" charset="-120"/>
              </a:rPr>
              <a:t>BLEVE, well control loss, H2S, structural collapse</a:t>
            </a:r>
            <a:endParaRPr lang="en-US" sz="1250" dirty="0"/>
          </a:p>
        </p:txBody>
      </p:sp>
      <p:sp>
        <p:nvSpPr>
          <p:cNvPr id="23" name="Shape 20"/>
          <p:cNvSpPr/>
          <p:nvPr/>
        </p:nvSpPr>
        <p:spPr>
          <a:xfrm>
            <a:off x="7040880" y="4846320"/>
            <a:ext cx="4572000" cy="1234440"/>
          </a:xfrm>
          <a:prstGeom prst="roundRect">
            <a:avLst>
              <a:gd name="adj" fmla="val 7407"/>
            </a:avLst>
          </a:prstGeom>
          <a:solidFill>
            <a:srgbClr val="14181C"/>
          </a:solidFill>
          <a:ln/>
        </p:spPr>
      </p:sp>
      <p:sp>
        <p:nvSpPr>
          <p:cNvPr id="24" name="Text 21"/>
          <p:cNvSpPr/>
          <p:nvPr/>
        </p:nvSpPr>
        <p:spPr>
          <a:xfrm>
            <a:off x="7269480" y="4956048"/>
            <a:ext cx="4114800" cy="1024128"/>
          </a:xfrm>
          <a:prstGeom prst="rect">
            <a:avLst/>
          </a:prstGeom>
          <a:noFill/>
          <a:ln/>
        </p:spPr>
        <p:txBody>
          <a:bodyPr wrap="square" lIns="0" tIns="0" rIns="0" bIns="0" rtlCol="0" anchor="ctr"/>
          <a:lstStyle/>
          <a:p>
            <a:pPr indent="0" marL="0">
              <a:buNone/>
            </a:pPr>
            <a:r>
              <a:rPr lang="en-US" sz="1300" b="1" dirty="0">
                <a:solidFill>
                  <a:srgbClr val="F5A623"/>
                </a:solidFill>
                <a:latin typeface="Arial" pitchFamily="34" charset="0"/>
                <a:ea typeface="Arial" pitchFamily="34" charset="-122"/>
                <a:cs typeface="Arial" pitchFamily="34" charset="-120"/>
              </a:rPr>
              <a:t>Size-up never ends.
</a:t>
            </a:r>
            <a:pPr indent="0" marL="0">
              <a:buNone/>
            </a:pPr>
            <a:r>
              <a:rPr lang="en-US" sz="1050" dirty="0">
                <a:solidFill>
                  <a:srgbClr val="D9DEE2"/>
                </a:solidFill>
                <a:latin typeface="Arial" pitchFamily="34" charset="0"/>
                <a:ea typeface="Arial" pitchFamily="34" charset="-122"/>
                <a:cs typeface="Arial" pitchFamily="34" charset="-120"/>
              </a:rPr>
              <a:t>It restarts every time the wind shifts, a report lands, or a crew moves. The leader who stops reading the scene is now managing a memory.</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40</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3</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Dynamic risk assessment on the move</a:t>
            </a:r>
            <a:endParaRPr lang="en-US" sz="3000" dirty="0"/>
          </a:p>
        </p:txBody>
      </p:sp>
      <p:sp>
        <p:nvSpPr>
          <p:cNvPr id="6" name="Shape 4"/>
          <p:cNvSpPr/>
          <p:nvPr/>
        </p:nvSpPr>
        <p:spPr>
          <a:xfrm>
            <a:off x="594360" y="1783080"/>
            <a:ext cx="2487168" cy="1965960"/>
          </a:xfrm>
          <a:prstGeom prst="roundRect">
            <a:avLst>
              <a:gd name="adj" fmla="val 4651"/>
            </a:avLst>
          </a:prstGeom>
          <a:solidFill>
            <a:srgbClr val="F3F4F5"/>
          </a:solidFill>
          <a:ln/>
        </p:spPr>
      </p:sp>
      <p:sp>
        <p:nvSpPr>
          <p:cNvPr id="7" name="Shape 5"/>
          <p:cNvSpPr/>
          <p:nvPr/>
        </p:nvSpPr>
        <p:spPr>
          <a:xfrm>
            <a:off x="822960" y="1965960"/>
            <a:ext cx="512064" cy="512064"/>
          </a:xfrm>
          <a:prstGeom prst="ellipse">
            <a:avLst/>
          </a:prstGeom>
          <a:solidFill>
            <a:srgbClr val="E8491D"/>
          </a:solidFill>
          <a:ln/>
        </p:spPr>
      </p:sp>
      <p:pic>
        <p:nvPicPr>
          <p:cNvPr id="8" name="Image 0" descr="/tmp/claude-0/-home-user-My-Future-Idaes/0806094f-208a-506e-82b2-f78683d50c82/scratchpad/icons/FaEye_white.png">    </p:cNvPr>
          <p:cNvPicPr>
            <a:picLocks noChangeAspect="1"/>
          </p:cNvPicPr>
          <p:nvPr/>
        </p:nvPicPr>
        <p:blipFill>
          <a:blip r:embed="rId1"/>
          <a:stretch>
            <a:fillRect/>
          </a:stretch>
        </p:blipFill>
        <p:spPr>
          <a:xfrm>
            <a:off x="945855" y="2088855"/>
            <a:ext cx="266273" cy="266273"/>
          </a:xfrm>
          <a:prstGeom prst="rect">
            <a:avLst/>
          </a:prstGeom>
        </p:spPr>
      </p:pic>
      <p:sp>
        <p:nvSpPr>
          <p:cNvPr id="9" name="Text 6"/>
          <p:cNvSpPr/>
          <p:nvPr/>
        </p:nvSpPr>
        <p:spPr>
          <a:xfrm>
            <a:off x="1463040" y="2011680"/>
            <a:ext cx="1481328" cy="457200"/>
          </a:xfrm>
          <a:prstGeom prst="rect">
            <a:avLst/>
          </a:prstGeom>
          <a:noFill/>
          <a:ln/>
        </p:spPr>
        <p:txBody>
          <a:bodyPr wrap="square" lIns="0" tIns="0" rIns="0" bIns="0" rtlCol="0" anchor="ctr"/>
          <a:lstStyle/>
          <a:p>
            <a:pPr indent="0" marL="0">
              <a:buNone/>
            </a:pPr>
            <a:r>
              <a:rPr lang="en-US" sz="1350" b="1" dirty="0">
                <a:solidFill>
                  <a:srgbClr val="1A2027"/>
                </a:solidFill>
                <a:latin typeface="Arial" pitchFamily="34" charset="0"/>
                <a:ea typeface="Arial" pitchFamily="34" charset="-122"/>
                <a:cs typeface="Arial" pitchFamily="34" charset="-120"/>
              </a:rPr>
              <a:t>IDENTIFY</a:t>
            </a:r>
            <a:endParaRPr lang="en-US" sz="1350" dirty="0"/>
          </a:p>
        </p:txBody>
      </p:sp>
      <p:sp>
        <p:nvSpPr>
          <p:cNvPr id="10" name="Text 7"/>
          <p:cNvSpPr/>
          <p:nvPr/>
        </p:nvSpPr>
        <p:spPr>
          <a:xfrm>
            <a:off x="822960" y="2606040"/>
            <a:ext cx="2029968" cy="100584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Hazards as they emerge — not as the pre-plan imagined them</a:t>
            </a:r>
            <a:endParaRPr lang="en-US" sz="1050" dirty="0"/>
          </a:p>
        </p:txBody>
      </p:sp>
      <p:sp>
        <p:nvSpPr>
          <p:cNvPr id="11" name="Shape 8"/>
          <p:cNvSpPr/>
          <p:nvPr/>
        </p:nvSpPr>
        <p:spPr>
          <a:xfrm>
            <a:off x="3432048" y="1783080"/>
            <a:ext cx="2487168" cy="1965960"/>
          </a:xfrm>
          <a:prstGeom prst="roundRect">
            <a:avLst>
              <a:gd name="adj" fmla="val 4651"/>
            </a:avLst>
          </a:prstGeom>
          <a:solidFill>
            <a:srgbClr val="F3F4F5"/>
          </a:solidFill>
          <a:ln/>
        </p:spPr>
      </p:sp>
      <p:sp>
        <p:nvSpPr>
          <p:cNvPr id="12" name="Shape 9"/>
          <p:cNvSpPr/>
          <p:nvPr/>
        </p:nvSpPr>
        <p:spPr>
          <a:xfrm>
            <a:off x="3660648" y="1965960"/>
            <a:ext cx="512064" cy="512064"/>
          </a:xfrm>
          <a:prstGeom prst="ellipse">
            <a:avLst/>
          </a:prstGeom>
          <a:solidFill>
            <a:srgbClr val="E8491D"/>
          </a:solidFill>
          <a:ln/>
        </p:spPr>
      </p:sp>
      <p:pic>
        <p:nvPicPr>
          <p:cNvPr id="13" name="Image 1" descr="/tmp/claude-0/-home-user-My-Future-Idaes/0806094f-208a-506e-82b2-f78683d50c82/scratchpad/icons/FaBalanceScale_white.png">    </p:cNvPr>
          <p:cNvPicPr>
            <a:picLocks noChangeAspect="1"/>
          </p:cNvPicPr>
          <p:nvPr/>
        </p:nvPicPr>
        <p:blipFill>
          <a:blip r:embed="rId2"/>
          <a:stretch>
            <a:fillRect/>
          </a:stretch>
        </p:blipFill>
        <p:spPr>
          <a:xfrm>
            <a:off x="3783543" y="2088855"/>
            <a:ext cx="266273" cy="266273"/>
          </a:xfrm>
          <a:prstGeom prst="rect">
            <a:avLst/>
          </a:prstGeom>
        </p:spPr>
      </p:pic>
      <p:sp>
        <p:nvSpPr>
          <p:cNvPr id="14" name="Text 10"/>
          <p:cNvSpPr/>
          <p:nvPr/>
        </p:nvSpPr>
        <p:spPr>
          <a:xfrm>
            <a:off x="4300728" y="2011680"/>
            <a:ext cx="1481328" cy="457200"/>
          </a:xfrm>
          <a:prstGeom prst="rect">
            <a:avLst/>
          </a:prstGeom>
          <a:noFill/>
          <a:ln/>
        </p:spPr>
        <p:txBody>
          <a:bodyPr wrap="square" lIns="0" tIns="0" rIns="0" bIns="0" rtlCol="0" anchor="ctr"/>
          <a:lstStyle/>
          <a:p>
            <a:pPr indent="0" marL="0">
              <a:buNone/>
            </a:pPr>
            <a:r>
              <a:rPr lang="en-US" sz="1350" b="1" dirty="0">
                <a:solidFill>
                  <a:srgbClr val="1A2027"/>
                </a:solidFill>
                <a:latin typeface="Arial" pitchFamily="34" charset="0"/>
                <a:ea typeface="Arial" pitchFamily="34" charset="-122"/>
                <a:cs typeface="Arial" pitchFamily="34" charset="-120"/>
              </a:rPr>
              <a:t>ASSESS</a:t>
            </a:r>
            <a:endParaRPr lang="en-US" sz="1350" dirty="0"/>
          </a:p>
        </p:txBody>
      </p:sp>
      <p:sp>
        <p:nvSpPr>
          <p:cNvPr id="15" name="Text 11"/>
          <p:cNvSpPr/>
          <p:nvPr/>
        </p:nvSpPr>
        <p:spPr>
          <a:xfrm>
            <a:off x="3660648" y="2606040"/>
            <a:ext cx="2029968" cy="100584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Who is exposed, how severely, how likely, how fast</a:t>
            </a:r>
            <a:endParaRPr lang="en-US" sz="1050" dirty="0"/>
          </a:p>
        </p:txBody>
      </p:sp>
      <p:sp>
        <p:nvSpPr>
          <p:cNvPr id="16" name="Shape 12"/>
          <p:cNvSpPr/>
          <p:nvPr/>
        </p:nvSpPr>
        <p:spPr>
          <a:xfrm>
            <a:off x="6269736" y="1783080"/>
            <a:ext cx="2487168" cy="1965960"/>
          </a:xfrm>
          <a:prstGeom prst="roundRect">
            <a:avLst>
              <a:gd name="adj" fmla="val 4651"/>
            </a:avLst>
          </a:prstGeom>
          <a:solidFill>
            <a:srgbClr val="F3F4F5"/>
          </a:solidFill>
          <a:ln/>
        </p:spPr>
      </p:sp>
      <p:sp>
        <p:nvSpPr>
          <p:cNvPr id="17" name="Shape 13"/>
          <p:cNvSpPr/>
          <p:nvPr/>
        </p:nvSpPr>
        <p:spPr>
          <a:xfrm>
            <a:off x="6498336" y="1965960"/>
            <a:ext cx="512064" cy="512064"/>
          </a:xfrm>
          <a:prstGeom prst="ellipse">
            <a:avLst/>
          </a:prstGeom>
          <a:solidFill>
            <a:srgbClr val="E8491D"/>
          </a:solidFill>
          <a:ln/>
        </p:spPr>
      </p:sp>
      <p:pic>
        <p:nvPicPr>
          <p:cNvPr id="18" name="Image 2" descr="/tmp/claude-0/-home-user-My-Future-Idaes/0806094f-208a-506e-82b2-f78683d50c82/scratchpad/icons/FaShieldAlt_white.png">    </p:cNvPr>
          <p:cNvPicPr>
            <a:picLocks noChangeAspect="1"/>
          </p:cNvPicPr>
          <p:nvPr/>
        </p:nvPicPr>
        <p:blipFill>
          <a:blip r:embed="rId3"/>
          <a:stretch>
            <a:fillRect/>
          </a:stretch>
        </p:blipFill>
        <p:spPr>
          <a:xfrm>
            <a:off x="6621231" y="2088855"/>
            <a:ext cx="266273" cy="266273"/>
          </a:xfrm>
          <a:prstGeom prst="rect">
            <a:avLst/>
          </a:prstGeom>
        </p:spPr>
      </p:pic>
      <p:sp>
        <p:nvSpPr>
          <p:cNvPr id="19" name="Text 14"/>
          <p:cNvSpPr/>
          <p:nvPr/>
        </p:nvSpPr>
        <p:spPr>
          <a:xfrm>
            <a:off x="7138416" y="2011680"/>
            <a:ext cx="1481328" cy="457200"/>
          </a:xfrm>
          <a:prstGeom prst="rect">
            <a:avLst/>
          </a:prstGeom>
          <a:noFill/>
          <a:ln/>
        </p:spPr>
        <p:txBody>
          <a:bodyPr wrap="square" lIns="0" tIns="0" rIns="0" bIns="0" rtlCol="0" anchor="ctr"/>
          <a:lstStyle/>
          <a:p>
            <a:pPr indent="0" marL="0">
              <a:buNone/>
            </a:pPr>
            <a:r>
              <a:rPr lang="en-US" sz="1350" b="1" dirty="0">
                <a:solidFill>
                  <a:srgbClr val="1A2027"/>
                </a:solidFill>
                <a:latin typeface="Arial" pitchFamily="34" charset="0"/>
                <a:ea typeface="Arial" pitchFamily="34" charset="-122"/>
                <a:cs typeface="Arial" pitchFamily="34" charset="-120"/>
              </a:rPr>
              <a:t>CONTROL</a:t>
            </a:r>
            <a:endParaRPr lang="en-US" sz="1350" dirty="0"/>
          </a:p>
        </p:txBody>
      </p:sp>
      <p:sp>
        <p:nvSpPr>
          <p:cNvPr id="20" name="Text 15"/>
          <p:cNvSpPr/>
          <p:nvPr/>
        </p:nvSpPr>
        <p:spPr>
          <a:xfrm>
            <a:off x="6498336" y="2606040"/>
            <a:ext cx="2029968" cy="100584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Eliminate, isolate, protect — or withdraw</a:t>
            </a:r>
            <a:endParaRPr lang="en-US" sz="1050" dirty="0"/>
          </a:p>
        </p:txBody>
      </p:sp>
      <p:sp>
        <p:nvSpPr>
          <p:cNvPr id="21" name="Shape 16"/>
          <p:cNvSpPr/>
          <p:nvPr/>
        </p:nvSpPr>
        <p:spPr>
          <a:xfrm>
            <a:off x="9107424" y="1783080"/>
            <a:ext cx="2487168" cy="1965960"/>
          </a:xfrm>
          <a:prstGeom prst="roundRect">
            <a:avLst>
              <a:gd name="adj" fmla="val 4651"/>
            </a:avLst>
          </a:prstGeom>
          <a:solidFill>
            <a:srgbClr val="F3F4F5"/>
          </a:solidFill>
          <a:ln/>
        </p:spPr>
      </p:sp>
      <p:sp>
        <p:nvSpPr>
          <p:cNvPr id="22" name="Shape 17"/>
          <p:cNvSpPr/>
          <p:nvPr/>
        </p:nvSpPr>
        <p:spPr>
          <a:xfrm>
            <a:off x="9336024" y="1965960"/>
            <a:ext cx="512064" cy="512064"/>
          </a:xfrm>
          <a:prstGeom prst="ellipse">
            <a:avLst/>
          </a:prstGeom>
          <a:solidFill>
            <a:srgbClr val="E8491D"/>
          </a:solidFill>
          <a:ln/>
        </p:spPr>
      </p:sp>
      <p:pic>
        <p:nvPicPr>
          <p:cNvPr id="23" name="Image 3" descr="/tmp/claude-0/-home-user-My-Future-Idaes/0806094f-208a-506e-82b2-f78683d50c82/scratchpad/icons/FaSyncAlt_white.png">    </p:cNvPr>
          <p:cNvPicPr>
            <a:picLocks noChangeAspect="1"/>
          </p:cNvPicPr>
          <p:nvPr/>
        </p:nvPicPr>
        <p:blipFill>
          <a:blip r:embed="rId4"/>
          <a:stretch>
            <a:fillRect/>
          </a:stretch>
        </p:blipFill>
        <p:spPr>
          <a:xfrm>
            <a:off x="9458919" y="2088855"/>
            <a:ext cx="266273" cy="266273"/>
          </a:xfrm>
          <a:prstGeom prst="rect">
            <a:avLst/>
          </a:prstGeom>
        </p:spPr>
      </p:pic>
      <p:sp>
        <p:nvSpPr>
          <p:cNvPr id="24" name="Text 18"/>
          <p:cNvSpPr/>
          <p:nvPr/>
        </p:nvSpPr>
        <p:spPr>
          <a:xfrm>
            <a:off x="9976104" y="2011680"/>
            <a:ext cx="1481328" cy="457200"/>
          </a:xfrm>
          <a:prstGeom prst="rect">
            <a:avLst/>
          </a:prstGeom>
          <a:noFill/>
          <a:ln/>
        </p:spPr>
        <p:txBody>
          <a:bodyPr wrap="square" lIns="0" tIns="0" rIns="0" bIns="0" rtlCol="0" anchor="ctr"/>
          <a:lstStyle/>
          <a:p>
            <a:pPr indent="0" marL="0">
              <a:buNone/>
            </a:pPr>
            <a:r>
              <a:rPr lang="en-US" sz="1350" b="1" dirty="0">
                <a:solidFill>
                  <a:srgbClr val="1A2027"/>
                </a:solidFill>
                <a:latin typeface="Arial" pitchFamily="34" charset="0"/>
                <a:ea typeface="Arial" pitchFamily="34" charset="-122"/>
                <a:cs typeface="Arial" pitchFamily="34" charset="-120"/>
              </a:rPr>
              <a:t>MONITOR</a:t>
            </a:r>
            <a:endParaRPr lang="en-US" sz="1350" dirty="0"/>
          </a:p>
        </p:txBody>
      </p:sp>
      <p:sp>
        <p:nvSpPr>
          <p:cNvPr id="25" name="Text 19"/>
          <p:cNvSpPr/>
          <p:nvPr/>
        </p:nvSpPr>
        <p:spPr>
          <a:xfrm>
            <a:off x="9336024" y="2606040"/>
            <a:ext cx="2029968" cy="100584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Re-read the scene; every change restarts the loop</a:t>
            </a:r>
            <a:endParaRPr lang="en-US" sz="1050" dirty="0"/>
          </a:p>
        </p:txBody>
      </p:sp>
      <p:sp>
        <p:nvSpPr>
          <p:cNvPr id="26" name="Shape 20"/>
          <p:cNvSpPr/>
          <p:nvPr/>
        </p:nvSpPr>
        <p:spPr>
          <a:xfrm>
            <a:off x="594360" y="4114800"/>
            <a:ext cx="11000232" cy="1920240"/>
          </a:xfrm>
          <a:prstGeom prst="roundRect">
            <a:avLst>
              <a:gd name="adj" fmla="val 4762"/>
            </a:avLst>
          </a:prstGeom>
          <a:solidFill>
            <a:srgbClr val="14181C"/>
          </a:solidFill>
          <a:ln/>
        </p:spPr>
      </p:sp>
      <p:sp>
        <p:nvSpPr>
          <p:cNvPr id="27" name="Text 21"/>
          <p:cNvSpPr/>
          <p:nvPr/>
        </p:nvSpPr>
        <p:spPr>
          <a:xfrm>
            <a:off x="914400" y="4315968"/>
            <a:ext cx="10058400" cy="292608"/>
          </a:xfrm>
          <a:prstGeom prst="rect">
            <a:avLst/>
          </a:prstGeom>
          <a:noFill/>
          <a:ln/>
        </p:spPr>
        <p:txBody>
          <a:bodyPr wrap="square" lIns="0" tIns="0" rIns="0" bIns="0" rtlCol="0" anchor="ctr"/>
          <a:lstStyle/>
          <a:p>
            <a:pPr indent="0" marL="0">
              <a:buNone/>
            </a:pPr>
            <a:r>
              <a:rPr lang="en-US" sz="1150" b="1" spc="200" kern="0" dirty="0">
                <a:solidFill>
                  <a:srgbClr val="F5A623"/>
                </a:solidFill>
                <a:latin typeface="Arial" pitchFamily="34" charset="0"/>
                <a:ea typeface="Arial" pitchFamily="34" charset="-122"/>
                <a:cs typeface="Arial" pitchFamily="34" charset="-120"/>
              </a:rPr>
              <a:t>THE RISK PHILOSOPHY EVERY ORDER MUST PASS</a:t>
            </a:r>
            <a:endParaRPr lang="en-US" sz="1150" dirty="0"/>
          </a:p>
        </p:txBody>
      </p:sp>
      <p:sp>
        <p:nvSpPr>
          <p:cNvPr id="28" name="Text 22"/>
          <p:cNvSpPr/>
          <p:nvPr/>
        </p:nvSpPr>
        <p:spPr>
          <a:xfrm>
            <a:off x="914400" y="4663440"/>
            <a:ext cx="10515600" cy="1234440"/>
          </a:xfrm>
          <a:prstGeom prst="rect">
            <a:avLst/>
          </a:prstGeom>
          <a:noFill/>
          <a:ln/>
        </p:spPr>
        <p:txBody>
          <a:bodyPr wrap="square" lIns="0" tIns="0" rIns="0" bIns="0" rtlCol="0" anchor="ctr"/>
          <a:lstStyle/>
          <a:p>
            <a:pPr indent="0" marL="0">
              <a:lnSpc>
                <a:spcPts val="2400"/>
              </a:lnSpc>
              <a:buNone/>
            </a:pPr>
            <a:r>
              <a:rPr lang="en-US" sz="1600" b="1" dirty="0">
                <a:solidFill>
                  <a:srgbClr val="FFFFFF"/>
                </a:solidFill>
                <a:latin typeface="Arial" pitchFamily="34" charset="0"/>
                <a:ea typeface="Arial" pitchFamily="34" charset="-122"/>
                <a:cs typeface="Arial" pitchFamily="34" charset="-120"/>
              </a:rPr>
              <a:t>We risk a lot, within a plan, to save a life.
</a:t>
            </a:r>
            <a:pPr indent="0" marL="0">
              <a:lnSpc>
                <a:spcPts val="2400"/>
              </a:lnSpc>
              <a:buNone/>
            </a:pPr>
            <a:r>
              <a:rPr lang="en-US" sz="1600" b="1" dirty="0">
                <a:solidFill>
                  <a:srgbClr val="D9DEE2"/>
                </a:solidFill>
                <a:latin typeface="Arial" pitchFamily="34" charset="0"/>
                <a:ea typeface="Arial" pitchFamily="34" charset="-122"/>
                <a:cs typeface="Arial" pitchFamily="34" charset="-120"/>
              </a:rPr>
              <a:t>We risk a little, with control, to save property.
</a:t>
            </a:r>
            <a:pPr indent="0" marL="0">
              <a:lnSpc>
                <a:spcPts val="2400"/>
              </a:lnSpc>
              <a:buNone/>
            </a:pPr>
            <a:r>
              <a:rPr lang="en-US" sz="1600" b="1" dirty="0">
                <a:solidFill>
                  <a:srgbClr val="9AA5AD"/>
                </a:solidFill>
                <a:latin typeface="Arial" pitchFamily="34" charset="0"/>
                <a:ea typeface="Arial" pitchFamily="34" charset="-122"/>
                <a:cs typeface="Arial" pitchFamily="34" charset="-120"/>
              </a:rPr>
              <a:t>We risk nothing for what is already lost.</a:t>
            </a:r>
            <a:endParaRPr lang="en-US" sz="16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41</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3</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Choosing the attack: offensive, defensive, transitional</a:t>
            </a:r>
            <a:endParaRPr lang="en-US" sz="3000" dirty="0"/>
          </a:p>
        </p:txBody>
      </p:sp>
      <p:sp>
        <p:nvSpPr>
          <p:cNvPr id="6" name="Shape 4"/>
          <p:cNvSpPr/>
          <p:nvPr/>
        </p:nvSpPr>
        <p:spPr>
          <a:xfrm>
            <a:off x="594360" y="1737360"/>
            <a:ext cx="3453384" cy="4251960"/>
          </a:xfrm>
          <a:prstGeom prst="roundRect">
            <a:avLst>
              <a:gd name="adj" fmla="val 2648"/>
            </a:avLst>
          </a:prstGeom>
          <a:solidFill>
            <a:srgbClr val="F3F4F5"/>
          </a:solidFill>
          <a:ln/>
        </p:spPr>
      </p:sp>
      <p:sp>
        <p:nvSpPr>
          <p:cNvPr id="7" name="Shape 5"/>
          <p:cNvSpPr/>
          <p:nvPr/>
        </p:nvSpPr>
        <p:spPr>
          <a:xfrm>
            <a:off x="822960" y="1938528"/>
            <a:ext cx="2996184" cy="502920"/>
          </a:xfrm>
          <a:prstGeom prst="roundRect">
            <a:avLst>
              <a:gd name="adj" fmla="val 49091"/>
            </a:avLst>
          </a:prstGeom>
          <a:solidFill>
            <a:srgbClr val="E8491D"/>
          </a:solidFill>
          <a:ln/>
        </p:spPr>
      </p:sp>
      <p:sp>
        <p:nvSpPr>
          <p:cNvPr id="8" name="Text 6"/>
          <p:cNvSpPr/>
          <p:nvPr/>
        </p:nvSpPr>
        <p:spPr>
          <a:xfrm>
            <a:off x="822960" y="1938528"/>
            <a:ext cx="2996184" cy="502920"/>
          </a:xfrm>
          <a:prstGeom prst="rect">
            <a:avLst/>
          </a:prstGeom>
          <a:noFill/>
          <a:ln/>
        </p:spPr>
        <p:txBody>
          <a:bodyPr wrap="square" lIns="0" tIns="0" rIns="0" bIns="0" rtlCol="0" anchor="ctr"/>
          <a:lstStyle/>
          <a:p>
            <a:pPr algn="ctr" indent="0" marL="0">
              <a:buNone/>
            </a:pPr>
            <a:r>
              <a:rPr lang="en-US" sz="1350" b="1" spc="150" kern="0" dirty="0">
                <a:solidFill>
                  <a:srgbClr val="FFFFFF"/>
                </a:solidFill>
                <a:latin typeface="Arial" pitchFamily="34" charset="0"/>
                <a:ea typeface="Arial" pitchFamily="34" charset="-122"/>
                <a:cs typeface="Arial" pitchFamily="34" charset="-120"/>
              </a:rPr>
              <a:t>OFFENSIVE</a:t>
            </a:r>
            <a:endParaRPr lang="en-US" sz="1350" dirty="0"/>
          </a:p>
        </p:txBody>
      </p:sp>
      <p:sp>
        <p:nvSpPr>
          <p:cNvPr id="9" name="Text 7"/>
          <p:cNvSpPr/>
          <p:nvPr/>
        </p:nvSpPr>
        <p:spPr>
          <a:xfrm>
            <a:off x="822960" y="2606040"/>
            <a:ext cx="2996184" cy="685800"/>
          </a:xfrm>
          <a:prstGeom prst="rect">
            <a:avLst/>
          </a:prstGeom>
          <a:noFill/>
          <a:ln/>
        </p:spPr>
        <p:txBody>
          <a:bodyPr wrap="square" lIns="0" tIns="0" rIns="0" bIns="0" rtlCol="0" anchor="ctr"/>
          <a:lstStyle/>
          <a:p>
            <a:pPr indent="0" marL="0">
              <a:buNone/>
            </a:pPr>
            <a:r>
              <a:rPr lang="en-US" sz="1150" b="1" dirty="0">
                <a:solidFill>
                  <a:srgbClr val="1A2027"/>
                </a:solidFill>
                <a:latin typeface="Arial" pitchFamily="34" charset="0"/>
                <a:ea typeface="Arial" pitchFamily="34" charset="-122"/>
                <a:cs typeface="Arial" pitchFamily="34" charset="-120"/>
              </a:rPr>
              <a:t>Crews advance to extinguish at the seat.</a:t>
            </a:r>
            <a:endParaRPr lang="en-US" sz="1150" dirty="0"/>
          </a:p>
        </p:txBody>
      </p:sp>
      <p:sp>
        <p:nvSpPr>
          <p:cNvPr id="10" name="Text 8"/>
          <p:cNvSpPr/>
          <p:nvPr/>
        </p:nvSpPr>
        <p:spPr>
          <a:xfrm>
            <a:off x="822960" y="3337560"/>
            <a:ext cx="2996184" cy="2468880"/>
          </a:xfrm>
          <a:prstGeom prst="rect">
            <a:avLst/>
          </a:prstGeom>
          <a:noFill/>
          <a:ln/>
        </p:spPr>
        <p:txBody>
          <a:bodyPr wrap="square" rtlCol="0" anchor="ctr"/>
          <a:lstStyle/>
          <a:p>
            <a:pPr marL="177800" indent="-177800">
              <a:spcAft>
                <a:spcPts val="800"/>
              </a:spcAft>
              <a:buSzPct val="100000"/>
              <a:buChar char="•"/>
            </a:pPr>
            <a:r>
              <a:rPr lang="en-US" sz="1050" dirty="0">
                <a:solidFill>
                  <a:srgbClr val="5A646C"/>
                </a:solidFill>
                <a:latin typeface="Arial" pitchFamily="34" charset="0"/>
                <a:ea typeface="Arial" pitchFamily="34" charset="-122"/>
                <a:cs typeface="Arial" pitchFamily="34" charset="-120"/>
              </a:rPr>
              <a:t>Life risk demands it, or fire is small and resourced</a:t>
            </a:r>
            <a:endParaRPr lang="en-US" sz="1050" dirty="0"/>
          </a:p>
          <a:p>
            <a:pPr marL="177800" indent="-177800">
              <a:spcAft>
                <a:spcPts val="800"/>
              </a:spcAft>
              <a:buSzPct val="100000"/>
              <a:buChar char="•"/>
            </a:pPr>
            <a:r>
              <a:rPr lang="en-US" sz="1050" dirty="0">
                <a:solidFill>
                  <a:srgbClr val="5A646C"/>
                </a:solidFill>
                <a:latin typeface="Arial" pitchFamily="34" charset="0"/>
                <a:ea typeface="Arial" pitchFamily="34" charset="-122"/>
                <a:cs typeface="Arial" pitchFamily="34" charset="-120"/>
              </a:rPr>
              <a:t>Requires: trained crews, water/foam secured, escape routes</a:t>
            </a:r>
            <a:endParaRPr lang="en-US" sz="1050" dirty="0"/>
          </a:p>
          <a:p>
            <a:pPr marL="177800" indent="-177800">
              <a:spcAft>
                <a:spcPts val="800"/>
              </a:spcAft>
              <a:buSzPct val="100000"/>
              <a:buChar char="•"/>
            </a:pPr>
            <a:r>
              <a:rPr lang="en-US" sz="1050" dirty="0">
                <a:solidFill>
                  <a:srgbClr val="5A646C"/>
                </a:solidFill>
                <a:latin typeface="Arial" pitchFamily="34" charset="0"/>
                <a:ea typeface="Arial" pitchFamily="34" charset="-122"/>
                <a:cs typeface="Arial" pitchFamily="34" charset="-120"/>
              </a:rPr>
              <a:t>Leader stays out of the hose stream — commanding, not nozzling</a:t>
            </a:r>
            <a:endParaRPr lang="en-US" sz="1050" dirty="0"/>
          </a:p>
        </p:txBody>
      </p:sp>
      <p:sp>
        <p:nvSpPr>
          <p:cNvPr id="11" name="Shape 9"/>
          <p:cNvSpPr/>
          <p:nvPr/>
        </p:nvSpPr>
        <p:spPr>
          <a:xfrm>
            <a:off x="4367784" y="1737360"/>
            <a:ext cx="3453384" cy="4251960"/>
          </a:xfrm>
          <a:prstGeom prst="roundRect">
            <a:avLst>
              <a:gd name="adj" fmla="val 2648"/>
            </a:avLst>
          </a:prstGeom>
          <a:solidFill>
            <a:srgbClr val="F3F4F5"/>
          </a:solidFill>
          <a:ln/>
        </p:spPr>
      </p:sp>
      <p:sp>
        <p:nvSpPr>
          <p:cNvPr id="12" name="Shape 10"/>
          <p:cNvSpPr/>
          <p:nvPr/>
        </p:nvSpPr>
        <p:spPr>
          <a:xfrm>
            <a:off x="4596384" y="1938528"/>
            <a:ext cx="2996184" cy="502920"/>
          </a:xfrm>
          <a:prstGeom prst="roundRect">
            <a:avLst>
              <a:gd name="adj" fmla="val 49091"/>
            </a:avLst>
          </a:prstGeom>
          <a:solidFill>
            <a:srgbClr val="14181C"/>
          </a:solidFill>
          <a:ln/>
        </p:spPr>
      </p:sp>
      <p:sp>
        <p:nvSpPr>
          <p:cNvPr id="13" name="Text 11"/>
          <p:cNvSpPr/>
          <p:nvPr/>
        </p:nvSpPr>
        <p:spPr>
          <a:xfrm>
            <a:off x="4596384" y="1938528"/>
            <a:ext cx="2996184" cy="502920"/>
          </a:xfrm>
          <a:prstGeom prst="rect">
            <a:avLst/>
          </a:prstGeom>
          <a:noFill/>
          <a:ln/>
        </p:spPr>
        <p:txBody>
          <a:bodyPr wrap="square" lIns="0" tIns="0" rIns="0" bIns="0" rtlCol="0" anchor="ctr"/>
          <a:lstStyle/>
          <a:p>
            <a:pPr algn="ctr" indent="0" marL="0">
              <a:buNone/>
            </a:pPr>
            <a:r>
              <a:rPr lang="en-US" sz="1350" b="1" spc="150" kern="0" dirty="0">
                <a:solidFill>
                  <a:srgbClr val="FFFFFF"/>
                </a:solidFill>
                <a:latin typeface="Arial" pitchFamily="34" charset="0"/>
                <a:ea typeface="Arial" pitchFamily="34" charset="-122"/>
                <a:cs typeface="Arial" pitchFamily="34" charset="-120"/>
              </a:rPr>
              <a:t>DEFENSIVE</a:t>
            </a:r>
            <a:endParaRPr lang="en-US" sz="1350" dirty="0"/>
          </a:p>
        </p:txBody>
      </p:sp>
      <p:sp>
        <p:nvSpPr>
          <p:cNvPr id="14" name="Text 12"/>
          <p:cNvSpPr/>
          <p:nvPr/>
        </p:nvSpPr>
        <p:spPr>
          <a:xfrm>
            <a:off x="4596384" y="2606040"/>
            <a:ext cx="2996184" cy="685800"/>
          </a:xfrm>
          <a:prstGeom prst="rect">
            <a:avLst/>
          </a:prstGeom>
          <a:noFill/>
          <a:ln/>
        </p:spPr>
        <p:txBody>
          <a:bodyPr wrap="square" lIns="0" tIns="0" rIns="0" bIns="0" rtlCol="0" anchor="ctr"/>
          <a:lstStyle/>
          <a:p>
            <a:pPr indent="0" marL="0">
              <a:buNone/>
            </a:pPr>
            <a:r>
              <a:rPr lang="en-US" sz="1150" b="1" dirty="0">
                <a:solidFill>
                  <a:srgbClr val="1A2027"/>
                </a:solidFill>
                <a:latin typeface="Arial" pitchFamily="34" charset="0"/>
                <a:ea typeface="Arial" pitchFamily="34" charset="-122"/>
                <a:cs typeface="Arial" pitchFamily="34" charset="-120"/>
              </a:rPr>
              <a:t>Protect exposures; let the fire consume what's lost.</a:t>
            </a:r>
            <a:endParaRPr lang="en-US" sz="1150" dirty="0"/>
          </a:p>
        </p:txBody>
      </p:sp>
      <p:sp>
        <p:nvSpPr>
          <p:cNvPr id="15" name="Text 13"/>
          <p:cNvSpPr/>
          <p:nvPr/>
        </p:nvSpPr>
        <p:spPr>
          <a:xfrm>
            <a:off x="4596384" y="3337560"/>
            <a:ext cx="2996184" cy="2468880"/>
          </a:xfrm>
          <a:prstGeom prst="rect">
            <a:avLst/>
          </a:prstGeom>
          <a:noFill/>
          <a:ln/>
        </p:spPr>
        <p:txBody>
          <a:bodyPr wrap="square" rtlCol="0" anchor="ctr"/>
          <a:lstStyle/>
          <a:p>
            <a:pPr marL="177800" indent="-177800">
              <a:spcAft>
                <a:spcPts val="800"/>
              </a:spcAft>
              <a:buSzPct val="100000"/>
              <a:buChar char="•"/>
            </a:pPr>
            <a:r>
              <a:rPr lang="en-US" sz="1050" dirty="0">
                <a:solidFill>
                  <a:srgbClr val="5A646C"/>
                </a:solidFill>
                <a:latin typeface="Arial" pitchFamily="34" charset="0"/>
                <a:ea typeface="Arial" pitchFamily="34" charset="-122"/>
                <a:cs typeface="Arial" pitchFamily="34" charset="-120"/>
              </a:rPr>
              <a:t>Structural risk, BLEVE potential, or resources insufficient</a:t>
            </a:r>
            <a:endParaRPr lang="en-US" sz="1050" dirty="0"/>
          </a:p>
          <a:p>
            <a:pPr marL="177800" indent="-177800">
              <a:spcAft>
                <a:spcPts val="800"/>
              </a:spcAft>
              <a:buSzPct val="100000"/>
              <a:buChar char="•"/>
            </a:pPr>
            <a:r>
              <a:rPr lang="en-US" sz="1050" dirty="0">
                <a:solidFill>
                  <a:srgbClr val="5A646C"/>
                </a:solidFill>
                <a:latin typeface="Arial" pitchFamily="34" charset="0"/>
                <a:ea typeface="Arial" pitchFamily="34" charset="-122"/>
                <a:cs typeface="Arial" pitchFamily="34" charset="-120"/>
              </a:rPr>
              <a:t>Cool exposures, isolate fuel, hold the perimeter</a:t>
            </a:r>
            <a:endParaRPr lang="en-US" sz="1050" dirty="0"/>
          </a:p>
          <a:p>
            <a:pPr marL="177800" indent="-177800">
              <a:spcAft>
                <a:spcPts val="800"/>
              </a:spcAft>
              <a:buSzPct val="100000"/>
              <a:buChar char="•"/>
            </a:pPr>
            <a:r>
              <a:rPr lang="en-US" sz="1050" dirty="0">
                <a:solidFill>
                  <a:srgbClr val="5A646C"/>
                </a:solidFill>
                <a:latin typeface="Arial" pitchFamily="34" charset="0"/>
                <a:ea typeface="Arial" pitchFamily="34" charset="-122"/>
                <a:cs typeface="Arial" pitchFamily="34" charset="-120"/>
              </a:rPr>
              <a:t>Declaring defensive is command courage — not defeat</a:t>
            </a:r>
            <a:endParaRPr lang="en-US" sz="1050" dirty="0"/>
          </a:p>
        </p:txBody>
      </p:sp>
      <p:sp>
        <p:nvSpPr>
          <p:cNvPr id="16" name="Shape 14"/>
          <p:cNvSpPr/>
          <p:nvPr/>
        </p:nvSpPr>
        <p:spPr>
          <a:xfrm>
            <a:off x="8141208" y="1737360"/>
            <a:ext cx="3453384" cy="4251960"/>
          </a:xfrm>
          <a:prstGeom prst="roundRect">
            <a:avLst>
              <a:gd name="adj" fmla="val 2648"/>
            </a:avLst>
          </a:prstGeom>
          <a:solidFill>
            <a:srgbClr val="F3F4F5"/>
          </a:solidFill>
          <a:ln/>
        </p:spPr>
      </p:sp>
      <p:sp>
        <p:nvSpPr>
          <p:cNvPr id="17" name="Shape 15"/>
          <p:cNvSpPr/>
          <p:nvPr/>
        </p:nvSpPr>
        <p:spPr>
          <a:xfrm>
            <a:off x="8369808" y="1938528"/>
            <a:ext cx="2996184" cy="502920"/>
          </a:xfrm>
          <a:prstGeom prst="roundRect">
            <a:avLst>
              <a:gd name="adj" fmla="val 49091"/>
            </a:avLst>
          </a:prstGeom>
          <a:solidFill>
            <a:srgbClr val="C13415"/>
          </a:solidFill>
          <a:ln/>
        </p:spPr>
      </p:sp>
      <p:sp>
        <p:nvSpPr>
          <p:cNvPr id="18" name="Text 16"/>
          <p:cNvSpPr/>
          <p:nvPr/>
        </p:nvSpPr>
        <p:spPr>
          <a:xfrm>
            <a:off x="8369808" y="1938528"/>
            <a:ext cx="2996184" cy="502920"/>
          </a:xfrm>
          <a:prstGeom prst="rect">
            <a:avLst/>
          </a:prstGeom>
          <a:noFill/>
          <a:ln/>
        </p:spPr>
        <p:txBody>
          <a:bodyPr wrap="square" lIns="0" tIns="0" rIns="0" bIns="0" rtlCol="0" anchor="ctr"/>
          <a:lstStyle/>
          <a:p>
            <a:pPr algn="ctr" indent="0" marL="0">
              <a:buNone/>
            </a:pPr>
            <a:r>
              <a:rPr lang="en-US" sz="1350" b="1" spc="150" kern="0" dirty="0">
                <a:solidFill>
                  <a:srgbClr val="FFFFFF"/>
                </a:solidFill>
                <a:latin typeface="Arial" pitchFamily="34" charset="0"/>
                <a:ea typeface="Arial" pitchFamily="34" charset="-122"/>
                <a:cs typeface="Arial" pitchFamily="34" charset="-120"/>
              </a:rPr>
              <a:t>TRANSITIONAL</a:t>
            </a:r>
            <a:endParaRPr lang="en-US" sz="1350" dirty="0"/>
          </a:p>
        </p:txBody>
      </p:sp>
      <p:sp>
        <p:nvSpPr>
          <p:cNvPr id="19" name="Text 17"/>
          <p:cNvSpPr/>
          <p:nvPr/>
        </p:nvSpPr>
        <p:spPr>
          <a:xfrm>
            <a:off x="8369808" y="2606040"/>
            <a:ext cx="2996184" cy="685800"/>
          </a:xfrm>
          <a:prstGeom prst="rect">
            <a:avLst/>
          </a:prstGeom>
          <a:noFill/>
          <a:ln/>
        </p:spPr>
        <p:txBody>
          <a:bodyPr wrap="square" lIns="0" tIns="0" rIns="0" bIns="0" rtlCol="0" anchor="ctr"/>
          <a:lstStyle/>
          <a:p>
            <a:pPr indent="0" marL="0">
              <a:buNone/>
            </a:pPr>
            <a:r>
              <a:rPr lang="en-US" sz="1150" b="1" dirty="0">
                <a:solidFill>
                  <a:srgbClr val="1A2027"/>
                </a:solidFill>
                <a:latin typeface="Arial" pitchFamily="34" charset="0"/>
                <a:ea typeface="Arial" pitchFamily="34" charset="-122"/>
                <a:cs typeface="Arial" pitchFamily="34" charset="-120"/>
              </a:rPr>
              <a:t>Fast exterior knockdown, then re-decide.</a:t>
            </a:r>
            <a:endParaRPr lang="en-US" sz="1150" dirty="0"/>
          </a:p>
        </p:txBody>
      </p:sp>
      <p:sp>
        <p:nvSpPr>
          <p:cNvPr id="20" name="Text 18"/>
          <p:cNvSpPr/>
          <p:nvPr/>
        </p:nvSpPr>
        <p:spPr>
          <a:xfrm>
            <a:off x="8369808" y="3337560"/>
            <a:ext cx="2996184" cy="2468880"/>
          </a:xfrm>
          <a:prstGeom prst="rect">
            <a:avLst/>
          </a:prstGeom>
          <a:noFill/>
          <a:ln/>
        </p:spPr>
        <p:txBody>
          <a:bodyPr wrap="square" rtlCol="0" anchor="ctr"/>
          <a:lstStyle/>
          <a:p>
            <a:pPr marL="177800" indent="-177800">
              <a:spcAft>
                <a:spcPts val="800"/>
              </a:spcAft>
              <a:buSzPct val="100000"/>
              <a:buChar char="•"/>
            </a:pPr>
            <a:r>
              <a:rPr lang="en-US" sz="1050" dirty="0">
                <a:solidFill>
                  <a:srgbClr val="5A646C"/>
                </a:solidFill>
                <a:latin typeface="Arial" pitchFamily="34" charset="0"/>
                <a:ea typeface="Arial" pitchFamily="34" charset="-122"/>
                <a:cs typeface="Arial" pitchFamily="34" charset="-120"/>
              </a:rPr>
              <a:t>Buys time while size-up completes or resources arrive</a:t>
            </a:r>
            <a:endParaRPr lang="en-US" sz="1050" dirty="0"/>
          </a:p>
          <a:p>
            <a:pPr marL="177800" indent="-177800">
              <a:spcAft>
                <a:spcPts val="800"/>
              </a:spcAft>
              <a:buSzPct val="100000"/>
              <a:buChar char="•"/>
            </a:pPr>
            <a:r>
              <a:rPr lang="en-US" sz="1050" dirty="0">
                <a:solidFill>
                  <a:srgbClr val="5A646C"/>
                </a:solidFill>
                <a:latin typeface="Arial" pitchFamily="34" charset="0"/>
                <a:ea typeface="Arial" pitchFamily="34" charset="-122"/>
                <a:cs typeface="Arial" pitchFamily="34" charset="-120"/>
              </a:rPr>
              <a:t>Never let “transitional” become “undecided”</a:t>
            </a:r>
            <a:endParaRPr lang="en-US" sz="1050" dirty="0"/>
          </a:p>
          <a:p>
            <a:pPr marL="177800" indent="-177800">
              <a:spcAft>
                <a:spcPts val="800"/>
              </a:spcAft>
              <a:buSzPct val="100000"/>
              <a:buChar char="•"/>
            </a:pPr>
            <a:r>
              <a:rPr lang="en-US" sz="1050" dirty="0">
                <a:solidFill>
                  <a:srgbClr val="5A646C"/>
                </a:solidFill>
                <a:latin typeface="Arial" pitchFamily="34" charset="0"/>
                <a:ea typeface="Arial" pitchFamily="34" charset="-122"/>
                <a:cs typeface="Arial" pitchFamily="34" charset="-120"/>
              </a:rPr>
              <a:t>Announce the mode — every crew must know which fight this is</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4181C"/>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9AA5AD"/>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9AA5AD"/>
                </a:solidFill>
                <a:latin typeface="Arial" pitchFamily="34" charset="0"/>
                <a:ea typeface="Arial" pitchFamily="34" charset="-122"/>
                <a:cs typeface="Arial" pitchFamily="34" charset="-120"/>
              </a:rPr>
              <a:t>42</a:t>
            </a:r>
            <a:endParaRPr lang="en-US" sz="850" dirty="0"/>
          </a:p>
        </p:txBody>
      </p:sp>
      <p:pic>
        <p:nvPicPr>
          <p:cNvPr id="4" name="Image 0" descr="/home/user/My-Future-Idaes/SANAD-Fire-Team-Leader-Course/assets/img/foam.jpg">    </p:cNvPr>
          <p:cNvPicPr>
            <a:picLocks noChangeAspect="1"/>
          </p:cNvPicPr>
          <p:nvPr/>
        </p:nvPicPr>
        <p:blipFill>
          <a:blip r:embed="rId1"/>
          <a:srcRect l="0" r="0" t="0" b="0"/>
          <a:stretch/>
        </p:blipFill>
        <p:spPr>
          <a:xfrm>
            <a:off x="0" y="0"/>
            <a:ext cx="5394960" cy="6858000"/>
          </a:xfrm>
          <a:prstGeom prst="rect">
            <a:avLst/>
          </a:prstGeom>
        </p:spPr>
      </p:pic>
      <p:sp>
        <p:nvSpPr>
          <p:cNvPr id="5" name="Shape 2"/>
          <p:cNvSpPr/>
          <p:nvPr/>
        </p:nvSpPr>
        <p:spPr>
          <a:xfrm>
            <a:off x="0" y="0"/>
            <a:ext cx="5394960" cy="6858000"/>
          </a:xfrm>
          <a:prstGeom prst="rect">
            <a:avLst/>
          </a:prstGeom>
          <a:solidFill>
            <a:srgbClr val="14181C">
              <a:alpha val="38000"/>
            </a:srgbClr>
          </a:solidFill>
          <a:ln/>
        </p:spPr>
      </p:sp>
      <p:sp>
        <p:nvSpPr>
          <p:cNvPr id="6" name="Text 3"/>
          <p:cNvSpPr/>
          <p:nvPr/>
        </p:nvSpPr>
        <p:spPr>
          <a:xfrm>
            <a:off x="5760720" y="457200"/>
            <a:ext cx="5486400"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3</a:t>
            </a:r>
            <a:endParaRPr lang="en-US" sz="1200" dirty="0"/>
          </a:p>
        </p:txBody>
      </p:sp>
      <p:sp>
        <p:nvSpPr>
          <p:cNvPr id="7" name="Text 4"/>
          <p:cNvSpPr/>
          <p:nvPr/>
        </p:nvSpPr>
        <p:spPr>
          <a:xfrm>
            <a:off x="5760720" y="749808"/>
            <a:ext cx="5943600" cy="54864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Water &amp; foam: the leader's arithmetic</a:t>
            </a:r>
            <a:endParaRPr lang="en-US" sz="2400" dirty="0"/>
          </a:p>
        </p:txBody>
      </p:sp>
      <p:sp>
        <p:nvSpPr>
          <p:cNvPr id="8" name="Shape 5"/>
          <p:cNvSpPr/>
          <p:nvPr/>
        </p:nvSpPr>
        <p:spPr>
          <a:xfrm>
            <a:off x="5760720" y="1554480"/>
            <a:ext cx="5806440" cy="1024128"/>
          </a:xfrm>
          <a:prstGeom prst="roundRect">
            <a:avLst>
              <a:gd name="adj" fmla="val 7143"/>
            </a:avLst>
          </a:prstGeom>
          <a:solidFill>
            <a:srgbClr val="1F262C"/>
          </a:solidFill>
          <a:ln w="9525">
            <a:solidFill>
              <a:srgbClr val="39434B"/>
            </a:solidFill>
            <a:prstDash val="solid"/>
          </a:ln>
        </p:spPr>
      </p:sp>
      <p:sp>
        <p:nvSpPr>
          <p:cNvPr id="9" name="Text 6"/>
          <p:cNvSpPr/>
          <p:nvPr/>
        </p:nvSpPr>
        <p:spPr>
          <a:xfrm>
            <a:off x="5989320" y="1627632"/>
            <a:ext cx="5394960" cy="896112"/>
          </a:xfrm>
          <a:prstGeom prst="rect">
            <a:avLst/>
          </a:prstGeom>
          <a:noFill/>
          <a:ln/>
        </p:spPr>
        <p:txBody>
          <a:bodyPr wrap="square" lIns="0" tIns="0" rIns="0" bIns="0" rtlCol="0" anchor="ctr"/>
          <a:lstStyle/>
          <a:p>
            <a:pPr indent="0" marL="0">
              <a:buNone/>
            </a:pPr>
            <a:r>
              <a:rPr lang="en-US" sz="1200" b="1" dirty="0">
                <a:solidFill>
                  <a:srgbClr val="F5A623"/>
                </a:solidFill>
                <a:latin typeface="Arial" pitchFamily="34" charset="0"/>
                <a:ea typeface="Arial" pitchFamily="34" charset="-122"/>
                <a:cs typeface="Arial" pitchFamily="34" charset="-120"/>
              </a:rPr>
              <a:t>Supply before attack  —  </a:t>
            </a:r>
            <a:pPr indent="0" marL="0">
              <a:buNone/>
            </a:pPr>
            <a:r>
              <a:rPr lang="en-US" sz="1050" dirty="0">
                <a:solidFill>
                  <a:srgbClr val="D9DEE2"/>
                </a:solidFill>
                <a:latin typeface="Arial" pitchFamily="34" charset="0"/>
                <a:ea typeface="Arial" pitchFamily="34" charset="-122"/>
                <a:cs typeface="Arial" pitchFamily="34" charset="-120"/>
              </a:rPr>
              <a:t>Confirm total water on site and refill time BEFORE committing lines. An attack that outruns its water ends inside the hazard.</a:t>
            </a:r>
            <a:endParaRPr lang="en-US" sz="1200" dirty="0"/>
          </a:p>
        </p:txBody>
      </p:sp>
      <p:sp>
        <p:nvSpPr>
          <p:cNvPr id="10" name="Shape 7"/>
          <p:cNvSpPr/>
          <p:nvPr/>
        </p:nvSpPr>
        <p:spPr>
          <a:xfrm>
            <a:off x="5760720" y="2724912"/>
            <a:ext cx="5806440" cy="1024128"/>
          </a:xfrm>
          <a:prstGeom prst="roundRect">
            <a:avLst>
              <a:gd name="adj" fmla="val 7143"/>
            </a:avLst>
          </a:prstGeom>
          <a:solidFill>
            <a:srgbClr val="1F262C"/>
          </a:solidFill>
          <a:ln w="9525">
            <a:solidFill>
              <a:srgbClr val="39434B"/>
            </a:solidFill>
            <a:prstDash val="solid"/>
          </a:ln>
        </p:spPr>
      </p:sp>
      <p:sp>
        <p:nvSpPr>
          <p:cNvPr id="11" name="Text 8"/>
          <p:cNvSpPr/>
          <p:nvPr/>
        </p:nvSpPr>
        <p:spPr>
          <a:xfrm>
            <a:off x="5989320" y="2798064"/>
            <a:ext cx="5394960" cy="896112"/>
          </a:xfrm>
          <a:prstGeom prst="rect">
            <a:avLst/>
          </a:prstGeom>
          <a:noFill/>
          <a:ln/>
        </p:spPr>
        <p:txBody>
          <a:bodyPr wrap="square" lIns="0" tIns="0" rIns="0" bIns="0" rtlCol="0" anchor="ctr"/>
          <a:lstStyle/>
          <a:p>
            <a:pPr indent="0" marL="0">
              <a:buNone/>
            </a:pPr>
            <a:r>
              <a:rPr lang="en-US" sz="1200" b="1" dirty="0">
                <a:solidFill>
                  <a:srgbClr val="F5A623"/>
                </a:solidFill>
                <a:latin typeface="Arial" pitchFamily="34" charset="0"/>
                <a:ea typeface="Arial" pitchFamily="34" charset="-122"/>
                <a:cs typeface="Arial" pitchFamily="34" charset="-120"/>
              </a:rPr>
              <a:t>Foam is a one-shot weapon  —  </a:t>
            </a:r>
            <a:pPr indent="0" marL="0">
              <a:buNone/>
            </a:pPr>
            <a:r>
              <a:rPr lang="en-US" sz="1050" dirty="0">
                <a:solidFill>
                  <a:srgbClr val="D9DEE2"/>
                </a:solidFill>
                <a:latin typeface="Arial" pitchFamily="34" charset="0"/>
                <a:ea typeface="Arial" pitchFamily="34" charset="-122"/>
                <a:cs typeface="Arial" pitchFamily="34" charset="-120"/>
              </a:rPr>
              <a:t>Check concentrate stock against the burning surface area first. A foam blanket you cannot finish is foam wasted — and fuel re-exposed.</a:t>
            </a:r>
            <a:endParaRPr lang="en-US" sz="1200" dirty="0"/>
          </a:p>
        </p:txBody>
      </p:sp>
      <p:sp>
        <p:nvSpPr>
          <p:cNvPr id="12" name="Shape 9"/>
          <p:cNvSpPr/>
          <p:nvPr/>
        </p:nvSpPr>
        <p:spPr>
          <a:xfrm>
            <a:off x="5760720" y="3895344"/>
            <a:ext cx="5806440" cy="1024128"/>
          </a:xfrm>
          <a:prstGeom prst="roundRect">
            <a:avLst>
              <a:gd name="adj" fmla="val 7143"/>
            </a:avLst>
          </a:prstGeom>
          <a:solidFill>
            <a:srgbClr val="1F262C"/>
          </a:solidFill>
          <a:ln w="9525">
            <a:solidFill>
              <a:srgbClr val="39434B"/>
            </a:solidFill>
            <a:prstDash val="solid"/>
          </a:ln>
        </p:spPr>
      </p:sp>
      <p:sp>
        <p:nvSpPr>
          <p:cNvPr id="13" name="Text 10"/>
          <p:cNvSpPr/>
          <p:nvPr/>
        </p:nvSpPr>
        <p:spPr>
          <a:xfrm>
            <a:off x="5989320" y="3968496"/>
            <a:ext cx="5394960" cy="896112"/>
          </a:xfrm>
          <a:prstGeom prst="rect">
            <a:avLst/>
          </a:prstGeom>
          <a:noFill/>
          <a:ln/>
        </p:spPr>
        <p:txBody>
          <a:bodyPr wrap="square" lIns="0" tIns="0" rIns="0" bIns="0" rtlCol="0" anchor="ctr"/>
          <a:lstStyle/>
          <a:p>
            <a:pPr indent="0" marL="0">
              <a:buNone/>
            </a:pPr>
            <a:r>
              <a:rPr lang="en-US" sz="1200" b="1" dirty="0">
                <a:solidFill>
                  <a:srgbClr val="F5A623"/>
                </a:solidFill>
                <a:latin typeface="Arial" pitchFamily="34" charset="0"/>
                <a:ea typeface="Arial" pitchFamily="34" charset="-122"/>
                <a:cs typeface="Arial" pitchFamily="34" charset="-120"/>
              </a:rPr>
              <a:t>Never break the blanket  —  </a:t>
            </a:r>
            <a:pPr indent="0" marL="0">
              <a:buNone/>
            </a:pPr>
            <a:r>
              <a:rPr lang="en-US" sz="1050" dirty="0">
                <a:solidFill>
                  <a:srgbClr val="D9DEE2"/>
                </a:solidFill>
                <a:latin typeface="Arial" pitchFamily="34" charset="0"/>
                <a:ea typeface="Arial" pitchFamily="34" charset="-122"/>
                <a:cs typeface="Arial" pitchFamily="34" charset="-120"/>
              </a:rPr>
              <a:t>Once foam is down, no straight streams, no walking through it. The blanket is the extinguishment.</a:t>
            </a:r>
            <a:endParaRPr lang="en-US" sz="1200" dirty="0"/>
          </a:p>
        </p:txBody>
      </p:sp>
      <p:sp>
        <p:nvSpPr>
          <p:cNvPr id="14" name="Shape 11"/>
          <p:cNvSpPr/>
          <p:nvPr/>
        </p:nvSpPr>
        <p:spPr>
          <a:xfrm>
            <a:off x="5760720" y="5065776"/>
            <a:ext cx="5806440" cy="1024128"/>
          </a:xfrm>
          <a:prstGeom prst="roundRect">
            <a:avLst>
              <a:gd name="adj" fmla="val 7143"/>
            </a:avLst>
          </a:prstGeom>
          <a:solidFill>
            <a:srgbClr val="1F262C"/>
          </a:solidFill>
          <a:ln w="9525">
            <a:solidFill>
              <a:srgbClr val="39434B"/>
            </a:solidFill>
            <a:prstDash val="solid"/>
          </a:ln>
        </p:spPr>
      </p:sp>
      <p:sp>
        <p:nvSpPr>
          <p:cNvPr id="15" name="Text 12"/>
          <p:cNvSpPr/>
          <p:nvPr/>
        </p:nvSpPr>
        <p:spPr>
          <a:xfrm>
            <a:off x="5989320" y="5138928"/>
            <a:ext cx="5394960" cy="896112"/>
          </a:xfrm>
          <a:prstGeom prst="rect">
            <a:avLst/>
          </a:prstGeom>
          <a:noFill/>
          <a:ln/>
        </p:spPr>
        <p:txBody>
          <a:bodyPr wrap="square" lIns="0" tIns="0" rIns="0" bIns="0" rtlCol="0" anchor="ctr"/>
          <a:lstStyle/>
          <a:p>
            <a:pPr indent="0" marL="0">
              <a:buNone/>
            </a:pPr>
            <a:r>
              <a:rPr lang="en-US" sz="1200" b="1" dirty="0">
                <a:solidFill>
                  <a:srgbClr val="F5A623"/>
                </a:solidFill>
                <a:latin typeface="Arial" pitchFamily="34" charset="0"/>
                <a:ea typeface="Arial" pitchFamily="34" charset="-122"/>
                <a:cs typeface="Arial" pitchFamily="34" charset="-120"/>
              </a:rPr>
              <a:t>Keep a tactical reserve  —  </a:t>
            </a:r>
            <a:pPr indent="0" marL="0">
              <a:buNone/>
            </a:pPr>
            <a:r>
              <a:rPr lang="en-US" sz="1050" dirty="0">
                <a:solidFill>
                  <a:srgbClr val="D9DEE2"/>
                </a:solidFill>
                <a:latin typeface="Arial" pitchFamily="34" charset="0"/>
                <a:ea typeface="Arial" pitchFamily="34" charset="-122"/>
                <a:cs typeface="Arial" pitchFamily="34" charset="-120"/>
              </a:rPr>
              <a:t>One charged line and one crew held back, always — for the rescue, the flare-up, the surprise. Spending your reserve is a mode change.</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43</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3</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Resource allocation: never run out mid-fight</a:t>
            </a:r>
            <a:endParaRPr lang="en-US" sz="3000" dirty="0"/>
          </a:p>
        </p:txBody>
      </p:sp>
      <p:sp>
        <p:nvSpPr>
          <p:cNvPr id="6" name="Shape 4"/>
          <p:cNvSpPr/>
          <p:nvPr/>
        </p:nvSpPr>
        <p:spPr>
          <a:xfrm>
            <a:off x="594360" y="1783080"/>
            <a:ext cx="5317236" cy="1737360"/>
          </a:xfrm>
          <a:prstGeom prst="roundRect">
            <a:avLst>
              <a:gd name="adj" fmla="val 5263"/>
            </a:avLst>
          </a:prstGeom>
          <a:solidFill>
            <a:srgbClr val="F3F4F5"/>
          </a:solidFill>
          <a:ln/>
        </p:spPr>
      </p:sp>
      <p:sp>
        <p:nvSpPr>
          <p:cNvPr id="7" name="Shape 5"/>
          <p:cNvSpPr/>
          <p:nvPr/>
        </p:nvSpPr>
        <p:spPr>
          <a:xfrm>
            <a:off x="822960" y="2011680"/>
            <a:ext cx="530352" cy="530352"/>
          </a:xfrm>
          <a:prstGeom prst="ellipse">
            <a:avLst/>
          </a:prstGeom>
          <a:solidFill>
            <a:srgbClr val="E8491D"/>
          </a:solidFill>
          <a:ln/>
        </p:spPr>
      </p:sp>
      <p:pic>
        <p:nvPicPr>
          <p:cNvPr id="8" name="Image 0" descr="/tmp/claude-0/-home-user-My-Future-Idaes/0806094f-208a-506e-82b2-f78683d50c82/scratchpad/icons/FaUsers_white.png">    </p:cNvPr>
          <p:cNvPicPr>
            <a:picLocks noChangeAspect="1"/>
          </p:cNvPicPr>
          <p:nvPr/>
        </p:nvPicPr>
        <p:blipFill>
          <a:blip r:embed="rId1"/>
          <a:stretch>
            <a:fillRect/>
          </a:stretch>
        </p:blipFill>
        <p:spPr>
          <a:xfrm>
            <a:off x="950244" y="2138964"/>
            <a:ext cx="275783" cy="275783"/>
          </a:xfrm>
          <a:prstGeom prst="rect">
            <a:avLst/>
          </a:prstGeom>
        </p:spPr>
      </p:pic>
      <p:sp>
        <p:nvSpPr>
          <p:cNvPr id="9" name="Text 6"/>
          <p:cNvSpPr/>
          <p:nvPr/>
        </p:nvSpPr>
        <p:spPr>
          <a:xfrm>
            <a:off x="1527048" y="2002536"/>
            <a:ext cx="4174236" cy="365760"/>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People</a:t>
            </a:r>
            <a:endParaRPr lang="en-US" sz="1400" dirty="0"/>
          </a:p>
        </p:txBody>
      </p:sp>
      <p:sp>
        <p:nvSpPr>
          <p:cNvPr id="10" name="Text 7"/>
          <p:cNvSpPr/>
          <p:nvPr/>
        </p:nvSpPr>
        <p:spPr>
          <a:xfrm>
            <a:off x="1527048" y="2404872"/>
            <a:ext cx="4128516" cy="100584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Crew rotation before exhaustion; reserve team held back; BA wearers tracked by cylinder time, not by feel.</a:t>
            </a:r>
            <a:endParaRPr lang="en-US" sz="1050" dirty="0"/>
          </a:p>
        </p:txBody>
      </p:sp>
      <p:sp>
        <p:nvSpPr>
          <p:cNvPr id="11" name="Shape 8"/>
          <p:cNvSpPr/>
          <p:nvPr/>
        </p:nvSpPr>
        <p:spPr>
          <a:xfrm>
            <a:off x="6277356" y="1783080"/>
            <a:ext cx="5317236" cy="1737360"/>
          </a:xfrm>
          <a:prstGeom prst="roundRect">
            <a:avLst>
              <a:gd name="adj" fmla="val 5263"/>
            </a:avLst>
          </a:prstGeom>
          <a:solidFill>
            <a:srgbClr val="F3F4F5"/>
          </a:solidFill>
          <a:ln/>
        </p:spPr>
      </p:sp>
      <p:sp>
        <p:nvSpPr>
          <p:cNvPr id="12" name="Shape 9"/>
          <p:cNvSpPr/>
          <p:nvPr/>
        </p:nvSpPr>
        <p:spPr>
          <a:xfrm>
            <a:off x="6505956" y="2011680"/>
            <a:ext cx="530352" cy="530352"/>
          </a:xfrm>
          <a:prstGeom prst="ellipse">
            <a:avLst/>
          </a:prstGeom>
          <a:solidFill>
            <a:srgbClr val="E8491D"/>
          </a:solidFill>
          <a:ln/>
        </p:spPr>
      </p:sp>
      <p:pic>
        <p:nvPicPr>
          <p:cNvPr id="13" name="Image 1" descr="/tmp/claude-0/-home-user-My-Future-Idaes/0806094f-208a-506e-82b2-f78683d50c82/scratchpad/icons/FaWater_white.png">    </p:cNvPr>
          <p:cNvPicPr>
            <a:picLocks noChangeAspect="1"/>
          </p:cNvPicPr>
          <p:nvPr/>
        </p:nvPicPr>
        <p:blipFill>
          <a:blip r:embed="rId2"/>
          <a:stretch>
            <a:fillRect/>
          </a:stretch>
        </p:blipFill>
        <p:spPr>
          <a:xfrm>
            <a:off x="6633240" y="2138964"/>
            <a:ext cx="275783" cy="275783"/>
          </a:xfrm>
          <a:prstGeom prst="rect">
            <a:avLst/>
          </a:prstGeom>
        </p:spPr>
      </p:pic>
      <p:sp>
        <p:nvSpPr>
          <p:cNvPr id="14" name="Text 10"/>
          <p:cNvSpPr/>
          <p:nvPr/>
        </p:nvSpPr>
        <p:spPr>
          <a:xfrm>
            <a:off x="7210044" y="2002536"/>
            <a:ext cx="4174236" cy="365760"/>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Water &amp; foam</a:t>
            </a:r>
            <a:endParaRPr lang="en-US" sz="1400" dirty="0"/>
          </a:p>
        </p:txBody>
      </p:sp>
      <p:sp>
        <p:nvSpPr>
          <p:cNvPr id="15" name="Text 11"/>
          <p:cNvSpPr/>
          <p:nvPr/>
        </p:nvSpPr>
        <p:spPr>
          <a:xfrm>
            <a:off x="7210044" y="2404872"/>
            <a:ext cx="4128516" cy="100584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Confirm supply before committing lines. Foam is finite — calculate application rate vs. stock before the attack, not during.</a:t>
            </a:r>
            <a:endParaRPr lang="en-US" sz="1050" dirty="0"/>
          </a:p>
        </p:txBody>
      </p:sp>
      <p:sp>
        <p:nvSpPr>
          <p:cNvPr id="16" name="Shape 12"/>
          <p:cNvSpPr/>
          <p:nvPr/>
        </p:nvSpPr>
        <p:spPr>
          <a:xfrm>
            <a:off x="594360" y="3703320"/>
            <a:ext cx="5317236" cy="1737360"/>
          </a:xfrm>
          <a:prstGeom prst="roundRect">
            <a:avLst>
              <a:gd name="adj" fmla="val 5263"/>
            </a:avLst>
          </a:prstGeom>
          <a:solidFill>
            <a:srgbClr val="F3F4F5"/>
          </a:solidFill>
          <a:ln/>
        </p:spPr>
      </p:sp>
      <p:sp>
        <p:nvSpPr>
          <p:cNvPr id="17" name="Shape 13"/>
          <p:cNvSpPr/>
          <p:nvPr/>
        </p:nvSpPr>
        <p:spPr>
          <a:xfrm>
            <a:off x="822960" y="3931920"/>
            <a:ext cx="530352" cy="530352"/>
          </a:xfrm>
          <a:prstGeom prst="ellipse">
            <a:avLst/>
          </a:prstGeom>
          <a:solidFill>
            <a:srgbClr val="E8491D"/>
          </a:solidFill>
          <a:ln/>
        </p:spPr>
      </p:sp>
      <p:pic>
        <p:nvPicPr>
          <p:cNvPr id="18" name="Image 2" descr="/tmp/claude-0/-home-user-My-Future-Idaes/0806094f-208a-506e-82b2-f78683d50c82/scratchpad/icons/FaFire_white.png">    </p:cNvPr>
          <p:cNvPicPr>
            <a:picLocks noChangeAspect="1"/>
          </p:cNvPicPr>
          <p:nvPr/>
        </p:nvPicPr>
        <p:blipFill>
          <a:blip r:embed="rId3"/>
          <a:stretch>
            <a:fillRect/>
          </a:stretch>
        </p:blipFill>
        <p:spPr>
          <a:xfrm>
            <a:off x="950244" y="4059204"/>
            <a:ext cx="275783" cy="275783"/>
          </a:xfrm>
          <a:prstGeom prst="rect">
            <a:avLst/>
          </a:prstGeom>
        </p:spPr>
      </p:pic>
      <p:sp>
        <p:nvSpPr>
          <p:cNvPr id="19" name="Text 14"/>
          <p:cNvSpPr/>
          <p:nvPr/>
        </p:nvSpPr>
        <p:spPr>
          <a:xfrm>
            <a:off x="1527048" y="3922776"/>
            <a:ext cx="4174236" cy="365760"/>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Apparatus &amp; equipment</a:t>
            </a:r>
            <a:endParaRPr lang="en-US" sz="1400" dirty="0"/>
          </a:p>
        </p:txBody>
      </p:sp>
      <p:sp>
        <p:nvSpPr>
          <p:cNvPr id="20" name="Text 15"/>
          <p:cNvSpPr/>
          <p:nvPr/>
        </p:nvSpPr>
        <p:spPr>
          <a:xfrm>
            <a:off x="1527048" y="4325112"/>
            <a:ext cx="4128516" cy="100584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Pumps, monitors, extinguishers staged and crewed. One line held in reserve is worth two in the fight.</a:t>
            </a:r>
            <a:endParaRPr lang="en-US" sz="1050" dirty="0"/>
          </a:p>
        </p:txBody>
      </p:sp>
      <p:sp>
        <p:nvSpPr>
          <p:cNvPr id="21" name="Shape 16"/>
          <p:cNvSpPr/>
          <p:nvPr/>
        </p:nvSpPr>
        <p:spPr>
          <a:xfrm>
            <a:off x="6277356" y="3703320"/>
            <a:ext cx="5317236" cy="1737360"/>
          </a:xfrm>
          <a:prstGeom prst="roundRect">
            <a:avLst>
              <a:gd name="adj" fmla="val 5263"/>
            </a:avLst>
          </a:prstGeom>
          <a:solidFill>
            <a:srgbClr val="F3F4F5"/>
          </a:solidFill>
          <a:ln/>
        </p:spPr>
      </p:sp>
      <p:sp>
        <p:nvSpPr>
          <p:cNvPr id="22" name="Shape 17"/>
          <p:cNvSpPr/>
          <p:nvPr/>
        </p:nvSpPr>
        <p:spPr>
          <a:xfrm>
            <a:off x="6505956" y="3931920"/>
            <a:ext cx="530352" cy="530352"/>
          </a:xfrm>
          <a:prstGeom prst="ellipse">
            <a:avLst/>
          </a:prstGeom>
          <a:solidFill>
            <a:srgbClr val="E8491D"/>
          </a:solidFill>
          <a:ln/>
        </p:spPr>
      </p:sp>
      <p:pic>
        <p:nvPicPr>
          <p:cNvPr id="23" name="Image 3" descr="/tmp/claude-0/-home-user-My-Future-Idaes/0806094f-208a-506e-82b2-f78683d50c82/scratchpad/icons/FaFirstAid_white.png">    </p:cNvPr>
          <p:cNvPicPr>
            <a:picLocks noChangeAspect="1"/>
          </p:cNvPicPr>
          <p:nvPr/>
        </p:nvPicPr>
        <p:blipFill>
          <a:blip r:embed="rId4"/>
          <a:stretch>
            <a:fillRect/>
          </a:stretch>
        </p:blipFill>
        <p:spPr>
          <a:xfrm>
            <a:off x="6633240" y="4059204"/>
            <a:ext cx="275783" cy="275783"/>
          </a:xfrm>
          <a:prstGeom prst="rect">
            <a:avLst/>
          </a:prstGeom>
        </p:spPr>
      </p:pic>
      <p:sp>
        <p:nvSpPr>
          <p:cNvPr id="24" name="Text 18"/>
          <p:cNvSpPr/>
          <p:nvPr/>
        </p:nvSpPr>
        <p:spPr>
          <a:xfrm>
            <a:off x="7210044" y="3922776"/>
            <a:ext cx="4174236" cy="365760"/>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Medical &amp; logistics</a:t>
            </a:r>
            <a:endParaRPr lang="en-US" sz="1400" dirty="0"/>
          </a:p>
        </p:txBody>
      </p:sp>
      <p:sp>
        <p:nvSpPr>
          <p:cNvPr id="25" name="Text 19"/>
          <p:cNvSpPr/>
          <p:nvPr/>
        </p:nvSpPr>
        <p:spPr>
          <a:xfrm>
            <a:off x="7210044" y="4325112"/>
            <a:ext cx="4128516" cy="100584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Rehab point, hydration, first aid at the warm zone edge. A casualty among responders doubles your incident.</a:t>
            </a:r>
            <a:endParaRPr lang="en-US" sz="1050" dirty="0"/>
          </a:p>
        </p:txBody>
      </p:sp>
      <p:sp>
        <p:nvSpPr>
          <p:cNvPr id="26" name="Shape 20"/>
          <p:cNvSpPr/>
          <p:nvPr/>
        </p:nvSpPr>
        <p:spPr>
          <a:xfrm>
            <a:off x="594360" y="5623560"/>
            <a:ext cx="11000232" cy="658368"/>
          </a:xfrm>
          <a:prstGeom prst="roundRect">
            <a:avLst>
              <a:gd name="adj" fmla="val 11111"/>
            </a:avLst>
          </a:prstGeom>
          <a:solidFill>
            <a:srgbClr val="14181C"/>
          </a:solidFill>
          <a:ln/>
        </p:spPr>
      </p:sp>
      <p:sp>
        <p:nvSpPr>
          <p:cNvPr id="27" name="Text 21"/>
          <p:cNvSpPr/>
          <p:nvPr/>
        </p:nvSpPr>
        <p:spPr>
          <a:xfrm>
            <a:off x="822960" y="5623560"/>
            <a:ext cx="10543032" cy="658368"/>
          </a:xfrm>
          <a:prstGeom prst="rect">
            <a:avLst/>
          </a:prstGeom>
          <a:noFill/>
          <a:ln/>
        </p:spPr>
        <p:txBody>
          <a:bodyPr wrap="square" lIns="0" tIns="0" rIns="0" bIns="0" rtlCol="0" anchor="ctr"/>
          <a:lstStyle/>
          <a:p>
            <a:pPr indent="0" marL="0">
              <a:buNone/>
            </a:pPr>
            <a:r>
              <a:rPr lang="en-US" sz="1150" b="1" dirty="0">
                <a:solidFill>
                  <a:srgbClr val="F5A623"/>
                </a:solidFill>
                <a:latin typeface="Arial" pitchFamily="34" charset="0"/>
                <a:ea typeface="Arial" pitchFamily="34" charset="-122"/>
                <a:cs typeface="Arial" pitchFamily="34" charset="-120"/>
              </a:rPr>
              <a:t>Deployment principle:  </a:t>
            </a:r>
            <a:pPr indent="0" marL="0">
              <a:buNone/>
            </a:pPr>
            <a:r>
              <a:rPr lang="en-US" sz="1150" dirty="0">
                <a:solidFill>
                  <a:srgbClr val="FFFFFF"/>
                </a:solidFill>
                <a:latin typeface="Arial" pitchFamily="34" charset="0"/>
                <a:ea typeface="Arial" pitchFamily="34" charset="-122"/>
                <a:cs typeface="Arial" pitchFamily="34" charset="-120"/>
              </a:rPr>
              <a:t>task + location + objective + comms check — every team, every move. “Go help over there” is not an order.</a:t>
            </a:r>
            <a:endParaRPr lang="en-US" sz="11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44</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3 — PRACTICAL</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Tactical drills: command the fireground</a:t>
            </a:r>
            <a:endParaRPr lang="en-US" sz="3000" dirty="0"/>
          </a:p>
        </p:txBody>
      </p:sp>
      <p:sp>
        <p:nvSpPr>
          <p:cNvPr id="6" name="Shape 4"/>
          <p:cNvSpPr/>
          <p:nvPr/>
        </p:nvSpPr>
        <p:spPr>
          <a:xfrm>
            <a:off x="9445752" y="438912"/>
            <a:ext cx="2148840" cy="457200"/>
          </a:xfrm>
          <a:prstGeom prst="roundRect">
            <a:avLst>
              <a:gd name="adj" fmla="val 50000"/>
            </a:avLst>
          </a:prstGeom>
          <a:solidFill>
            <a:srgbClr val="E8491D"/>
          </a:solidFill>
          <a:ln/>
        </p:spPr>
      </p:sp>
      <p:sp>
        <p:nvSpPr>
          <p:cNvPr id="7" name="Text 5"/>
          <p:cNvSpPr/>
          <p:nvPr/>
        </p:nvSpPr>
        <p:spPr>
          <a:xfrm>
            <a:off x="9445752" y="438912"/>
            <a:ext cx="2148840" cy="457200"/>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Arial" pitchFamily="34" charset="0"/>
                <a:ea typeface="Arial" pitchFamily="34" charset="-122"/>
                <a:cs typeface="Arial" pitchFamily="34" charset="-120"/>
              </a:rPr>
              <a:t>PRACTICAL BLOCK</a:t>
            </a:r>
            <a:endParaRPr lang="en-US" sz="1100" dirty="0"/>
          </a:p>
        </p:txBody>
      </p:sp>
      <p:sp>
        <p:nvSpPr>
          <p:cNvPr id="8" name="Text 6"/>
          <p:cNvSpPr/>
          <p:nvPr/>
        </p:nvSpPr>
        <p:spPr>
          <a:xfrm>
            <a:off x="594360" y="1536192"/>
            <a:ext cx="11000232" cy="502920"/>
          </a:xfrm>
          <a:prstGeom prst="rect">
            <a:avLst/>
          </a:prstGeom>
          <a:noFill/>
          <a:ln/>
        </p:spPr>
        <p:txBody>
          <a:bodyPr wrap="square" lIns="0" tIns="0" rIns="0" bIns="0" rtlCol="0" anchor="ctr"/>
          <a:lstStyle/>
          <a:p>
            <a:pPr indent="0" marL="0">
              <a:buNone/>
            </a:pPr>
            <a:r>
              <a:rPr lang="en-US" sz="1350" i="1" dirty="0">
                <a:solidFill>
                  <a:srgbClr val="5A646C"/>
                </a:solidFill>
                <a:latin typeface="Arial" pitchFamily="34" charset="0"/>
                <a:ea typeface="Arial" pitchFamily="34" charset="-122"/>
                <a:cs typeface="Arial" pitchFamily="34" charset="-120"/>
              </a:rPr>
              <a:t>Field exercises on the training ground. Leaders rotate through command of each evolution.</a:t>
            </a:r>
            <a:endParaRPr lang="en-US" sz="1350" dirty="0"/>
          </a:p>
        </p:txBody>
      </p:sp>
      <p:sp>
        <p:nvSpPr>
          <p:cNvPr id="9" name="Shape 7"/>
          <p:cNvSpPr/>
          <p:nvPr/>
        </p:nvSpPr>
        <p:spPr>
          <a:xfrm>
            <a:off x="594360" y="2194560"/>
            <a:ext cx="3453384" cy="3200400"/>
          </a:xfrm>
          <a:prstGeom prst="roundRect">
            <a:avLst>
              <a:gd name="adj" fmla="val 2857"/>
            </a:avLst>
          </a:prstGeom>
          <a:solidFill>
            <a:srgbClr val="F3F4F5"/>
          </a:solidFill>
          <a:ln/>
        </p:spPr>
      </p:sp>
      <p:sp>
        <p:nvSpPr>
          <p:cNvPr id="10" name="Shape 8"/>
          <p:cNvSpPr/>
          <p:nvPr/>
        </p:nvSpPr>
        <p:spPr>
          <a:xfrm>
            <a:off x="822960" y="2423160"/>
            <a:ext cx="548640" cy="548640"/>
          </a:xfrm>
          <a:prstGeom prst="ellipse">
            <a:avLst/>
          </a:prstGeom>
          <a:solidFill>
            <a:srgbClr val="E8491D"/>
          </a:solidFill>
          <a:ln/>
        </p:spPr>
      </p:sp>
      <p:pic>
        <p:nvPicPr>
          <p:cNvPr id="11" name="Image 0" descr="/tmp/claude-0/-home-user-My-Future-Idaes/0806094f-208a-506e-82b2-f78683d50c82/scratchpad/icons/FaCrosshairs_white.png">    </p:cNvPr>
          <p:cNvPicPr>
            <a:picLocks noChangeAspect="1"/>
          </p:cNvPicPr>
          <p:nvPr/>
        </p:nvPicPr>
        <p:blipFill>
          <a:blip r:embed="rId1"/>
          <a:stretch>
            <a:fillRect/>
          </a:stretch>
        </p:blipFill>
        <p:spPr>
          <a:xfrm>
            <a:off x="954634" y="2554834"/>
            <a:ext cx="285293" cy="285293"/>
          </a:xfrm>
          <a:prstGeom prst="rect">
            <a:avLst/>
          </a:prstGeom>
        </p:spPr>
      </p:pic>
      <p:sp>
        <p:nvSpPr>
          <p:cNvPr id="12" name="Text 9"/>
          <p:cNvSpPr/>
          <p:nvPr/>
        </p:nvSpPr>
        <p:spPr>
          <a:xfrm>
            <a:off x="822960" y="3108960"/>
            <a:ext cx="2996184" cy="621792"/>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Attack line evolutions</a:t>
            </a:r>
            <a:endParaRPr lang="en-US" sz="1400" dirty="0"/>
          </a:p>
        </p:txBody>
      </p:sp>
      <p:sp>
        <p:nvSpPr>
          <p:cNvPr id="13" name="Text 10"/>
          <p:cNvSpPr/>
          <p:nvPr/>
        </p:nvSpPr>
        <p:spPr>
          <a:xfrm>
            <a:off x="822960" y="3749040"/>
            <a:ext cx="2996184" cy="150876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Deploy, advance and rotate hose teams against a live training fire — leader controls mode, tempo and safety.</a:t>
            </a:r>
            <a:endParaRPr lang="en-US" sz="1050" dirty="0"/>
          </a:p>
        </p:txBody>
      </p:sp>
      <p:sp>
        <p:nvSpPr>
          <p:cNvPr id="14" name="Shape 11"/>
          <p:cNvSpPr/>
          <p:nvPr/>
        </p:nvSpPr>
        <p:spPr>
          <a:xfrm>
            <a:off x="4367784" y="2194560"/>
            <a:ext cx="3453384" cy="3200400"/>
          </a:xfrm>
          <a:prstGeom prst="roundRect">
            <a:avLst>
              <a:gd name="adj" fmla="val 2857"/>
            </a:avLst>
          </a:prstGeom>
          <a:solidFill>
            <a:srgbClr val="F3F4F5"/>
          </a:solidFill>
          <a:ln/>
        </p:spPr>
      </p:sp>
      <p:sp>
        <p:nvSpPr>
          <p:cNvPr id="15" name="Shape 12"/>
          <p:cNvSpPr/>
          <p:nvPr/>
        </p:nvSpPr>
        <p:spPr>
          <a:xfrm>
            <a:off x="4596384" y="2423160"/>
            <a:ext cx="548640" cy="548640"/>
          </a:xfrm>
          <a:prstGeom prst="ellipse">
            <a:avLst/>
          </a:prstGeom>
          <a:solidFill>
            <a:srgbClr val="E8491D"/>
          </a:solidFill>
          <a:ln/>
        </p:spPr>
      </p:sp>
      <p:pic>
        <p:nvPicPr>
          <p:cNvPr id="16" name="Image 1" descr="/tmp/claude-0/-home-user-My-Future-Idaes/0806094f-208a-506e-82b2-f78683d50c82/scratchpad/icons/FaMapMarkedAlt_white.png">    </p:cNvPr>
          <p:cNvPicPr>
            <a:picLocks noChangeAspect="1"/>
          </p:cNvPicPr>
          <p:nvPr/>
        </p:nvPicPr>
        <p:blipFill>
          <a:blip r:embed="rId2"/>
          <a:stretch>
            <a:fillRect/>
          </a:stretch>
        </p:blipFill>
        <p:spPr>
          <a:xfrm>
            <a:off x="4728058" y="2554834"/>
            <a:ext cx="285293" cy="285293"/>
          </a:xfrm>
          <a:prstGeom prst="rect">
            <a:avLst/>
          </a:prstGeom>
        </p:spPr>
      </p:pic>
      <p:sp>
        <p:nvSpPr>
          <p:cNvPr id="17" name="Text 13"/>
          <p:cNvSpPr/>
          <p:nvPr/>
        </p:nvSpPr>
        <p:spPr>
          <a:xfrm>
            <a:off x="4596384" y="3108960"/>
            <a:ext cx="2996184" cy="621792"/>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Scenario response planning</a:t>
            </a:r>
            <a:endParaRPr lang="en-US" sz="1400" dirty="0"/>
          </a:p>
        </p:txBody>
      </p:sp>
      <p:sp>
        <p:nvSpPr>
          <p:cNvPr id="18" name="Text 14"/>
          <p:cNvSpPr/>
          <p:nvPr/>
        </p:nvSpPr>
        <p:spPr>
          <a:xfrm>
            <a:off x="4596384" y="3749040"/>
            <a:ext cx="2996184" cy="150876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Given a rig plot plan and a scenario card, build and brief a complete attack plan in 10 minutes.</a:t>
            </a:r>
            <a:endParaRPr lang="en-US" sz="1050" dirty="0"/>
          </a:p>
        </p:txBody>
      </p:sp>
      <p:sp>
        <p:nvSpPr>
          <p:cNvPr id="19" name="Shape 15"/>
          <p:cNvSpPr/>
          <p:nvPr/>
        </p:nvSpPr>
        <p:spPr>
          <a:xfrm>
            <a:off x="8141208" y="2194560"/>
            <a:ext cx="3453384" cy="3200400"/>
          </a:xfrm>
          <a:prstGeom prst="roundRect">
            <a:avLst>
              <a:gd name="adj" fmla="val 2857"/>
            </a:avLst>
          </a:prstGeom>
          <a:solidFill>
            <a:srgbClr val="F3F4F5"/>
          </a:solidFill>
          <a:ln/>
        </p:spPr>
      </p:sp>
      <p:sp>
        <p:nvSpPr>
          <p:cNvPr id="20" name="Shape 16"/>
          <p:cNvSpPr/>
          <p:nvPr/>
        </p:nvSpPr>
        <p:spPr>
          <a:xfrm>
            <a:off x="8369808" y="2423160"/>
            <a:ext cx="548640" cy="548640"/>
          </a:xfrm>
          <a:prstGeom prst="ellipse">
            <a:avLst/>
          </a:prstGeom>
          <a:solidFill>
            <a:srgbClr val="E8491D"/>
          </a:solidFill>
          <a:ln/>
        </p:spPr>
      </p:sp>
      <p:pic>
        <p:nvPicPr>
          <p:cNvPr id="21" name="Image 2" descr="/tmp/claude-0/-home-user-My-Future-Idaes/0806094f-208a-506e-82b2-f78683d50c82/scratchpad/icons/FaUsers_white.png">    </p:cNvPr>
          <p:cNvPicPr>
            <a:picLocks noChangeAspect="1"/>
          </p:cNvPicPr>
          <p:nvPr/>
        </p:nvPicPr>
        <p:blipFill>
          <a:blip r:embed="rId3"/>
          <a:stretch>
            <a:fillRect/>
          </a:stretch>
        </p:blipFill>
        <p:spPr>
          <a:xfrm>
            <a:off x="8501482" y="2554834"/>
            <a:ext cx="285293" cy="285293"/>
          </a:xfrm>
          <a:prstGeom prst="rect">
            <a:avLst/>
          </a:prstGeom>
        </p:spPr>
      </p:pic>
      <p:sp>
        <p:nvSpPr>
          <p:cNvPr id="22" name="Text 17"/>
          <p:cNvSpPr/>
          <p:nvPr/>
        </p:nvSpPr>
        <p:spPr>
          <a:xfrm>
            <a:off x="8369808" y="3108960"/>
            <a:ext cx="2996184" cy="621792"/>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Team deployment exercise</a:t>
            </a:r>
            <a:endParaRPr lang="en-US" sz="1400" dirty="0"/>
          </a:p>
        </p:txBody>
      </p:sp>
      <p:sp>
        <p:nvSpPr>
          <p:cNvPr id="23" name="Text 18"/>
          <p:cNvSpPr/>
          <p:nvPr/>
        </p:nvSpPr>
        <p:spPr>
          <a:xfrm>
            <a:off x="8369808" y="3749040"/>
            <a:ext cx="2996184" cy="150876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Multiple simultaneous taskings with limited crews — allocate, sequence, hold a reserve, adjust as injects land.</a:t>
            </a:r>
            <a:endParaRPr lang="en-US" sz="1050" dirty="0"/>
          </a:p>
        </p:txBody>
      </p:sp>
      <p:sp>
        <p:nvSpPr>
          <p:cNvPr id="24" name="Shape 19"/>
          <p:cNvSpPr/>
          <p:nvPr/>
        </p:nvSpPr>
        <p:spPr>
          <a:xfrm>
            <a:off x="594360" y="5623560"/>
            <a:ext cx="11000232" cy="658368"/>
          </a:xfrm>
          <a:prstGeom prst="roundRect">
            <a:avLst>
              <a:gd name="adj" fmla="val 11111"/>
            </a:avLst>
          </a:prstGeom>
          <a:solidFill>
            <a:srgbClr val="14181C"/>
          </a:solidFill>
          <a:ln/>
        </p:spPr>
      </p:sp>
      <p:sp>
        <p:nvSpPr>
          <p:cNvPr id="25" name="Text 20"/>
          <p:cNvSpPr/>
          <p:nvPr/>
        </p:nvSpPr>
        <p:spPr>
          <a:xfrm>
            <a:off x="822960" y="5623560"/>
            <a:ext cx="10543032" cy="658368"/>
          </a:xfrm>
          <a:prstGeom prst="rect">
            <a:avLst/>
          </a:prstGeom>
          <a:noFill/>
          <a:ln/>
        </p:spPr>
        <p:txBody>
          <a:bodyPr wrap="square" lIns="0" tIns="0" rIns="0" bIns="0" rtlCol="0" anchor="ctr"/>
          <a:lstStyle/>
          <a:p>
            <a:pPr indent="0" marL="0">
              <a:buNone/>
            </a:pPr>
            <a:r>
              <a:rPr lang="en-US" sz="1150" b="1" dirty="0">
                <a:solidFill>
                  <a:srgbClr val="F5A623"/>
                </a:solidFill>
                <a:latin typeface="Arial" pitchFamily="34" charset="0"/>
                <a:ea typeface="Arial" pitchFamily="34" charset="-122"/>
                <a:cs typeface="Arial" pitchFamily="34" charset="-120"/>
              </a:rPr>
              <a:t>ASSESSED:  </a:t>
            </a:r>
            <a:pPr indent="0" marL="0">
              <a:buNone/>
            </a:pPr>
            <a:r>
              <a:rPr lang="en-US" sz="1150" dirty="0">
                <a:solidFill>
                  <a:srgbClr val="FFFFFF"/>
                </a:solidFill>
                <a:latin typeface="Arial" pitchFamily="34" charset="0"/>
                <a:ea typeface="Arial" pitchFamily="34" charset="-122"/>
                <a:cs typeface="Arial" pitchFamily="34" charset="-120"/>
              </a:rPr>
              <a:t>Mode selection and announcement, resource logic, and whether the plan survives first contact — Module 3 rubric.</a:t>
            </a:r>
            <a:endParaRPr lang="en-US" sz="11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14181C"/>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9AA5AD"/>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9AA5AD"/>
                </a:solidFill>
                <a:latin typeface="Arial" pitchFamily="34" charset="0"/>
                <a:ea typeface="Arial" pitchFamily="34" charset="-122"/>
                <a:cs typeface="Arial" pitchFamily="34" charset="-120"/>
              </a:rPr>
              <a:t>45</a:t>
            </a:r>
            <a:endParaRPr lang="en-US" sz="850" dirty="0"/>
          </a:p>
        </p:txBody>
      </p:sp>
      <p:pic>
        <p:nvPicPr>
          <p:cNvPr id="4" name="Image 0" descr="/home/user/My-Future-Idaes/SANAD-Fire-Team-Leader-Course/assets/img/radio.jpg">    </p:cNvPr>
          <p:cNvPicPr>
            <a:picLocks noChangeAspect="1"/>
          </p:cNvPicPr>
          <p:nvPr/>
        </p:nvPicPr>
        <p:blipFill>
          <a:blip r:embed="rId1"/>
          <a:srcRect l="0" r="0" t="0" b="0"/>
          <a:stretch/>
        </p:blipFill>
        <p:spPr>
          <a:xfrm>
            <a:off x="7040880" y="0"/>
            <a:ext cx="5148072" cy="6858000"/>
          </a:xfrm>
          <a:prstGeom prst="rect">
            <a:avLst/>
          </a:prstGeom>
        </p:spPr>
      </p:pic>
      <p:sp>
        <p:nvSpPr>
          <p:cNvPr id="5" name="Shape 2"/>
          <p:cNvSpPr/>
          <p:nvPr/>
        </p:nvSpPr>
        <p:spPr>
          <a:xfrm>
            <a:off x="7040880" y="0"/>
            <a:ext cx="5148072" cy="6858000"/>
          </a:xfrm>
          <a:prstGeom prst="rect">
            <a:avLst/>
          </a:prstGeom>
          <a:solidFill>
            <a:srgbClr val="14181C">
              <a:alpha val="28000"/>
            </a:srgbClr>
          </a:solidFill>
          <a:ln/>
        </p:spPr>
      </p:sp>
      <p:sp>
        <p:nvSpPr>
          <p:cNvPr id="6" name="Text 3"/>
          <p:cNvSpPr/>
          <p:nvPr/>
        </p:nvSpPr>
        <p:spPr>
          <a:xfrm>
            <a:off x="594360" y="777240"/>
            <a:ext cx="2743200" cy="320040"/>
          </a:xfrm>
          <a:prstGeom prst="rect">
            <a:avLst/>
          </a:prstGeom>
          <a:noFill/>
          <a:ln/>
        </p:spPr>
        <p:txBody>
          <a:bodyPr wrap="square" lIns="0" tIns="0" rIns="0" bIns="0" rtlCol="0" anchor="ctr"/>
          <a:lstStyle/>
          <a:p>
            <a:pPr indent="0" marL="0">
              <a:buNone/>
            </a:pPr>
            <a:r>
              <a:rPr lang="en-US" sz="1300" b="1" spc="400" kern="0" dirty="0">
                <a:solidFill>
                  <a:srgbClr val="9AA5AD"/>
                </a:solidFill>
                <a:latin typeface="Arial" pitchFamily="34" charset="0"/>
                <a:ea typeface="Arial" pitchFamily="34" charset="-122"/>
                <a:cs typeface="Arial" pitchFamily="34" charset="-120"/>
              </a:rPr>
              <a:t>MODULE</a:t>
            </a:r>
            <a:endParaRPr lang="en-US" sz="1300" dirty="0"/>
          </a:p>
        </p:txBody>
      </p:sp>
      <p:sp>
        <p:nvSpPr>
          <p:cNvPr id="7" name="Text 4"/>
          <p:cNvSpPr/>
          <p:nvPr/>
        </p:nvSpPr>
        <p:spPr>
          <a:xfrm>
            <a:off x="548640" y="960120"/>
            <a:ext cx="2194560" cy="1554480"/>
          </a:xfrm>
          <a:prstGeom prst="rect">
            <a:avLst/>
          </a:prstGeom>
          <a:noFill/>
          <a:ln/>
        </p:spPr>
        <p:txBody>
          <a:bodyPr wrap="square" lIns="0" tIns="0" rIns="0" bIns="0" rtlCol="0" anchor="ctr"/>
          <a:lstStyle/>
          <a:p>
            <a:pPr indent="0" marL="0">
              <a:buNone/>
            </a:pPr>
            <a:r>
              <a:rPr lang="en-US" sz="9600" b="1" dirty="0">
                <a:solidFill>
                  <a:srgbClr val="E8491D"/>
                </a:solidFill>
                <a:latin typeface="Arial" pitchFamily="34" charset="0"/>
                <a:ea typeface="Arial" pitchFamily="34" charset="-122"/>
                <a:cs typeface="Arial" pitchFamily="34" charset="-120"/>
              </a:rPr>
              <a:t>04</a:t>
            </a:r>
            <a:endParaRPr lang="en-US" sz="9600" dirty="0"/>
          </a:p>
        </p:txBody>
      </p:sp>
      <p:sp>
        <p:nvSpPr>
          <p:cNvPr id="8" name="Text 5"/>
          <p:cNvSpPr/>
          <p:nvPr/>
        </p:nvSpPr>
        <p:spPr>
          <a:xfrm>
            <a:off x="594360" y="2651760"/>
            <a:ext cx="6309360" cy="1143000"/>
          </a:xfrm>
          <a:prstGeom prst="rect">
            <a:avLst/>
          </a:prstGeom>
          <a:noFill/>
          <a:ln/>
        </p:spPr>
        <p:txBody>
          <a:bodyPr wrap="square" lIns="0" tIns="0" rIns="0" bIns="0" rtlCol="0" anchor="ctr"/>
          <a:lstStyle/>
          <a:p>
            <a:pPr indent="0" marL="0">
              <a:lnSpc>
                <a:spcPts val="3600"/>
              </a:lnSpc>
              <a:buNone/>
            </a:pPr>
            <a:r>
              <a:rPr lang="en-US" sz="3100" b="1" dirty="0">
                <a:solidFill>
                  <a:srgbClr val="FFFFFF"/>
                </a:solidFill>
                <a:latin typeface="Arial" pitchFamily="34" charset="0"/>
                <a:ea typeface="Arial" pitchFamily="34" charset="-122"/>
                <a:cs typeface="Arial" pitchFamily="34" charset="-120"/>
              </a:rPr>
              <a:t>Communication</a:t>
            </a:r>
            <a:endParaRPr lang="en-US" sz="3100" dirty="0"/>
          </a:p>
          <a:p>
            <a:pPr indent="0" marL="0">
              <a:lnSpc>
                <a:spcPts val="3600"/>
              </a:lnSpc>
              <a:buNone/>
            </a:pPr>
            <a:r>
              <a:rPr lang="en-US" sz="3100" b="1" dirty="0">
                <a:solidFill>
                  <a:srgbClr val="FFFFFF"/>
                </a:solidFill>
                <a:latin typeface="Arial" pitchFamily="34" charset="0"/>
                <a:ea typeface="Arial" pitchFamily="34" charset="-122"/>
                <a:cs typeface="Arial" pitchFamily="34" charset="-120"/>
              </a:rPr>
              <a:t>&amp; Command</a:t>
            </a:r>
            <a:endParaRPr lang="en-US" sz="3100" dirty="0"/>
          </a:p>
        </p:txBody>
      </p:sp>
      <p:sp>
        <p:nvSpPr>
          <p:cNvPr id="9" name="Text 6"/>
          <p:cNvSpPr/>
          <p:nvPr/>
        </p:nvSpPr>
        <p:spPr>
          <a:xfrm>
            <a:off x="594360" y="3840480"/>
            <a:ext cx="6126480" cy="685800"/>
          </a:xfrm>
          <a:prstGeom prst="rect">
            <a:avLst/>
          </a:prstGeom>
          <a:noFill/>
          <a:ln/>
        </p:spPr>
        <p:txBody>
          <a:bodyPr wrap="square" lIns="0" tIns="0" rIns="0" bIns="0" rtlCol="0" anchor="ctr"/>
          <a:lstStyle/>
          <a:p>
            <a:pPr indent="0" marL="0">
              <a:buNone/>
            </a:pPr>
            <a:r>
              <a:rPr lang="en-US" sz="1350" b="1" dirty="0">
                <a:solidFill>
                  <a:srgbClr val="F5A623"/>
                </a:solidFill>
                <a:latin typeface="Arial" pitchFamily="34" charset="0"/>
                <a:ea typeface="Arial" pitchFamily="34" charset="-122"/>
                <a:cs typeface="Arial" pitchFamily="34" charset="-120"/>
              </a:rPr>
              <a:t>OBJECTIVE — </a:t>
            </a:r>
            <a:pPr indent="0" marL="0">
              <a:buNone/>
            </a:pPr>
            <a:r>
              <a:rPr lang="en-US" sz="1350" dirty="0">
                <a:solidFill>
                  <a:srgbClr val="D9DEE2"/>
                </a:solidFill>
                <a:latin typeface="Arial" pitchFamily="34" charset="0"/>
                <a:ea typeface="Arial" pitchFamily="34" charset="-122"/>
                <a:cs typeface="Arial" pitchFamily="34" charset="-120"/>
              </a:rPr>
              <a:t>Ensure effective coordination and control when the noise starts.</a:t>
            </a:r>
            <a:endParaRPr lang="en-US" sz="1350" dirty="0"/>
          </a:p>
        </p:txBody>
      </p:sp>
      <p:sp>
        <p:nvSpPr>
          <p:cNvPr id="10" name="Shape 7"/>
          <p:cNvSpPr/>
          <p:nvPr/>
        </p:nvSpPr>
        <p:spPr>
          <a:xfrm>
            <a:off x="594360" y="4828032"/>
            <a:ext cx="146304" cy="146304"/>
          </a:xfrm>
          <a:prstGeom prst="ellipse">
            <a:avLst/>
          </a:prstGeom>
          <a:solidFill>
            <a:srgbClr val="E8491D"/>
          </a:solidFill>
          <a:ln/>
        </p:spPr>
      </p:sp>
      <p:sp>
        <p:nvSpPr>
          <p:cNvPr id="11" name="Text 8"/>
          <p:cNvSpPr/>
          <p:nvPr/>
        </p:nvSpPr>
        <p:spPr>
          <a:xfrm>
            <a:off x="886968" y="4709160"/>
            <a:ext cx="2743200" cy="5029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Communication protocols</a:t>
            </a:r>
            <a:endParaRPr lang="en-US" sz="1150" dirty="0"/>
          </a:p>
        </p:txBody>
      </p:sp>
      <p:sp>
        <p:nvSpPr>
          <p:cNvPr id="12" name="Shape 9"/>
          <p:cNvSpPr/>
          <p:nvPr/>
        </p:nvSpPr>
        <p:spPr>
          <a:xfrm>
            <a:off x="3749040" y="4828032"/>
            <a:ext cx="146304" cy="146304"/>
          </a:xfrm>
          <a:prstGeom prst="ellipse">
            <a:avLst/>
          </a:prstGeom>
          <a:solidFill>
            <a:srgbClr val="E8491D"/>
          </a:solidFill>
          <a:ln/>
        </p:spPr>
      </p:sp>
      <p:sp>
        <p:nvSpPr>
          <p:cNvPr id="13" name="Text 10"/>
          <p:cNvSpPr/>
          <p:nvPr/>
        </p:nvSpPr>
        <p:spPr>
          <a:xfrm>
            <a:off x="4041648" y="4709160"/>
            <a:ext cx="2743200" cy="5029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Multi-team coordination</a:t>
            </a:r>
            <a:endParaRPr lang="en-US" sz="1150" dirty="0"/>
          </a:p>
        </p:txBody>
      </p:sp>
      <p:sp>
        <p:nvSpPr>
          <p:cNvPr id="14" name="Shape 11"/>
          <p:cNvSpPr/>
          <p:nvPr/>
        </p:nvSpPr>
        <p:spPr>
          <a:xfrm>
            <a:off x="594360" y="5486400"/>
            <a:ext cx="146304" cy="146304"/>
          </a:xfrm>
          <a:prstGeom prst="ellipse">
            <a:avLst/>
          </a:prstGeom>
          <a:solidFill>
            <a:srgbClr val="E8491D"/>
          </a:solidFill>
          <a:ln/>
        </p:spPr>
      </p:sp>
      <p:sp>
        <p:nvSpPr>
          <p:cNvPr id="15" name="Text 12"/>
          <p:cNvSpPr/>
          <p:nvPr/>
        </p:nvSpPr>
        <p:spPr>
          <a:xfrm>
            <a:off x="886968" y="5367528"/>
            <a:ext cx="2743200" cy="5029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Command structure &amp; reporting</a:t>
            </a:r>
            <a:endParaRPr lang="en-US" sz="1150" dirty="0"/>
          </a:p>
        </p:txBody>
      </p:sp>
      <p:sp>
        <p:nvSpPr>
          <p:cNvPr id="16" name="Shape 13"/>
          <p:cNvSpPr/>
          <p:nvPr/>
        </p:nvSpPr>
        <p:spPr>
          <a:xfrm>
            <a:off x="3749040" y="5486400"/>
            <a:ext cx="146304" cy="146304"/>
          </a:xfrm>
          <a:prstGeom prst="ellipse">
            <a:avLst/>
          </a:prstGeom>
          <a:solidFill>
            <a:srgbClr val="E8491D"/>
          </a:solidFill>
          <a:ln/>
        </p:spPr>
      </p:sp>
      <p:sp>
        <p:nvSpPr>
          <p:cNvPr id="17" name="Text 14"/>
          <p:cNvSpPr/>
          <p:nvPr/>
        </p:nvSpPr>
        <p:spPr>
          <a:xfrm>
            <a:off x="4041648" y="5367528"/>
            <a:ext cx="2743200" cy="5029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Control during escalation</a:t>
            </a:r>
            <a:endParaRPr lang="en-US" sz="1150" dirty="0"/>
          </a:p>
        </p:txBody>
      </p:sp>
      <p:sp>
        <p:nvSpPr>
          <p:cNvPr id="18" name="Shape 15"/>
          <p:cNvSpPr/>
          <p:nvPr/>
        </p:nvSpPr>
        <p:spPr>
          <a:xfrm>
            <a:off x="6080760" y="777240"/>
            <a:ext cx="640080" cy="640080"/>
          </a:xfrm>
          <a:prstGeom prst="ellipse">
            <a:avLst/>
          </a:prstGeom>
          <a:solidFill>
            <a:srgbClr val="1F262C"/>
          </a:solidFill>
          <a:ln/>
        </p:spPr>
      </p:sp>
      <p:pic>
        <p:nvPicPr>
          <p:cNvPr id="19" name="Image 1" descr="/tmp/claude-0/-home-user-My-Future-Idaes/0806094f-208a-506e-82b2-f78683d50c82/scratchpad/icons/FaBroadcastTower_flame.png">    </p:cNvPr>
          <p:cNvPicPr>
            <a:picLocks noChangeAspect="1"/>
          </p:cNvPicPr>
          <p:nvPr/>
        </p:nvPicPr>
        <p:blipFill>
          <a:blip r:embed="rId2"/>
          <a:stretch>
            <a:fillRect/>
          </a:stretch>
        </p:blipFill>
        <p:spPr>
          <a:xfrm>
            <a:off x="6234379" y="930859"/>
            <a:ext cx="332842" cy="332842"/>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46</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4</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Radio discipline: closed loop or open disaster</a:t>
            </a:r>
            <a:endParaRPr lang="en-US" sz="3000" dirty="0"/>
          </a:p>
        </p:txBody>
      </p:sp>
      <p:sp>
        <p:nvSpPr>
          <p:cNvPr id="6" name="Shape 4"/>
          <p:cNvSpPr/>
          <p:nvPr/>
        </p:nvSpPr>
        <p:spPr>
          <a:xfrm>
            <a:off x="594360" y="1828800"/>
            <a:ext cx="2148840" cy="914400"/>
          </a:xfrm>
          <a:prstGeom prst="roundRect">
            <a:avLst>
              <a:gd name="adj" fmla="val 10000"/>
            </a:avLst>
          </a:prstGeom>
          <a:solidFill>
            <a:srgbClr val="14181C"/>
          </a:solidFill>
          <a:ln/>
        </p:spPr>
      </p:sp>
      <p:sp>
        <p:nvSpPr>
          <p:cNvPr id="7" name="Text 5"/>
          <p:cNvSpPr/>
          <p:nvPr/>
        </p:nvSpPr>
        <p:spPr>
          <a:xfrm>
            <a:off x="731520" y="1828800"/>
            <a:ext cx="1874520" cy="9144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SENDER
</a:t>
            </a:r>
            <a:pPr indent="0" marL="0">
              <a:buNone/>
            </a:pPr>
            <a:r>
              <a:rPr lang="en-US" sz="1000" dirty="0">
                <a:solidFill>
                  <a:srgbClr val="9AA5AD"/>
                </a:solidFill>
                <a:latin typeface="Arial" pitchFamily="34" charset="0"/>
                <a:ea typeface="Arial" pitchFamily="34" charset="-122"/>
                <a:cs typeface="Arial" pitchFamily="34" charset="-120"/>
              </a:rPr>
              <a:t>orders</a:t>
            </a:r>
            <a:endParaRPr lang="en-US" sz="1300" dirty="0"/>
          </a:p>
        </p:txBody>
      </p:sp>
      <p:sp>
        <p:nvSpPr>
          <p:cNvPr id="8" name="Text 6"/>
          <p:cNvSpPr/>
          <p:nvPr/>
        </p:nvSpPr>
        <p:spPr>
          <a:xfrm>
            <a:off x="2743200" y="2011680"/>
            <a:ext cx="457200" cy="548640"/>
          </a:xfrm>
          <a:prstGeom prst="rect">
            <a:avLst/>
          </a:prstGeom>
          <a:noFill/>
          <a:ln/>
        </p:spPr>
        <p:txBody>
          <a:bodyPr wrap="square" lIns="0" tIns="0" rIns="0" bIns="0" rtlCol="0" anchor="ctr"/>
          <a:lstStyle/>
          <a:p>
            <a:pPr algn="ctr" indent="0" marL="0">
              <a:buNone/>
            </a:pPr>
            <a:r>
              <a:rPr lang="en-US" sz="2400" b="1" dirty="0">
                <a:solidFill>
                  <a:srgbClr val="E8491D"/>
                </a:solidFill>
                <a:latin typeface="Arial" pitchFamily="34" charset="0"/>
                <a:ea typeface="Arial" pitchFamily="34" charset="-122"/>
                <a:cs typeface="Arial" pitchFamily="34" charset="-120"/>
              </a:rPr>
              <a:t>→</a:t>
            </a:r>
            <a:endParaRPr lang="en-US" sz="2400" dirty="0"/>
          </a:p>
        </p:txBody>
      </p:sp>
      <p:sp>
        <p:nvSpPr>
          <p:cNvPr id="9" name="Shape 7"/>
          <p:cNvSpPr/>
          <p:nvPr/>
        </p:nvSpPr>
        <p:spPr>
          <a:xfrm>
            <a:off x="3200400" y="1828800"/>
            <a:ext cx="2148840" cy="914400"/>
          </a:xfrm>
          <a:prstGeom prst="roundRect">
            <a:avLst>
              <a:gd name="adj" fmla="val 10000"/>
            </a:avLst>
          </a:prstGeom>
          <a:solidFill>
            <a:srgbClr val="F3F4F5"/>
          </a:solidFill>
          <a:ln/>
        </p:spPr>
      </p:sp>
      <p:sp>
        <p:nvSpPr>
          <p:cNvPr id="10" name="Text 8"/>
          <p:cNvSpPr/>
          <p:nvPr/>
        </p:nvSpPr>
        <p:spPr>
          <a:xfrm>
            <a:off x="3337560" y="1828800"/>
            <a:ext cx="1874520" cy="914400"/>
          </a:xfrm>
          <a:prstGeom prst="rect">
            <a:avLst/>
          </a:prstGeom>
          <a:noFill/>
          <a:ln/>
        </p:spPr>
        <p:txBody>
          <a:bodyPr wrap="square" lIns="0" tIns="0" rIns="0" bIns="0" rtlCol="0" anchor="ctr"/>
          <a:lstStyle/>
          <a:p>
            <a:pPr indent="0" marL="0">
              <a:buNone/>
            </a:pPr>
            <a:r>
              <a:rPr lang="en-US" sz="1300" b="1" dirty="0">
                <a:solidFill>
                  <a:srgbClr val="1A2027"/>
                </a:solidFill>
                <a:latin typeface="Arial" pitchFamily="34" charset="0"/>
                <a:ea typeface="Arial" pitchFamily="34" charset="-122"/>
                <a:cs typeface="Arial" pitchFamily="34" charset="-120"/>
              </a:rPr>
              <a:t>MESSAGE
</a:t>
            </a:r>
            <a:pPr indent="0" marL="0">
              <a:buNone/>
            </a:pPr>
            <a:r>
              <a:rPr lang="en-US" sz="1000" dirty="0">
                <a:solidFill>
                  <a:srgbClr val="5A646C"/>
                </a:solidFill>
                <a:latin typeface="Arial" pitchFamily="34" charset="0"/>
                <a:ea typeface="Arial" pitchFamily="34" charset="-122"/>
                <a:cs typeface="Arial" pitchFamily="34" charset="-120"/>
              </a:rPr>
              <a:t>short, structured</a:t>
            </a:r>
            <a:endParaRPr lang="en-US" sz="1300" dirty="0"/>
          </a:p>
        </p:txBody>
      </p:sp>
      <p:sp>
        <p:nvSpPr>
          <p:cNvPr id="11" name="Text 9"/>
          <p:cNvSpPr/>
          <p:nvPr/>
        </p:nvSpPr>
        <p:spPr>
          <a:xfrm>
            <a:off x="5349240" y="2011680"/>
            <a:ext cx="457200" cy="548640"/>
          </a:xfrm>
          <a:prstGeom prst="rect">
            <a:avLst/>
          </a:prstGeom>
          <a:noFill/>
          <a:ln/>
        </p:spPr>
        <p:txBody>
          <a:bodyPr wrap="square" lIns="0" tIns="0" rIns="0" bIns="0" rtlCol="0" anchor="ctr"/>
          <a:lstStyle/>
          <a:p>
            <a:pPr algn="ctr" indent="0" marL="0">
              <a:buNone/>
            </a:pPr>
            <a:r>
              <a:rPr lang="en-US" sz="2400" b="1" dirty="0">
                <a:solidFill>
                  <a:srgbClr val="E8491D"/>
                </a:solidFill>
                <a:latin typeface="Arial" pitchFamily="34" charset="0"/>
                <a:ea typeface="Arial" pitchFamily="34" charset="-122"/>
                <a:cs typeface="Arial" pitchFamily="34" charset="-120"/>
              </a:rPr>
              <a:t>→</a:t>
            </a:r>
            <a:endParaRPr lang="en-US" sz="2400" dirty="0"/>
          </a:p>
        </p:txBody>
      </p:sp>
      <p:sp>
        <p:nvSpPr>
          <p:cNvPr id="12" name="Shape 10"/>
          <p:cNvSpPr/>
          <p:nvPr/>
        </p:nvSpPr>
        <p:spPr>
          <a:xfrm>
            <a:off x="5806440" y="1828800"/>
            <a:ext cx="2148840" cy="914400"/>
          </a:xfrm>
          <a:prstGeom prst="roundRect">
            <a:avLst>
              <a:gd name="adj" fmla="val 10000"/>
            </a:avLst>
          </a:prstGeom>
          <a:solidFill>
            <a:srgbClr val="14181C"/>
          </a:solidFill>
          <a:ln/>
        </p:spPr>
      </p:sp>
      <p:sp>
        <p:nvSpPr>
          <p:cNvPr id="13" name="Text 11"/>
          <p:cNvSpPr/>
          <p:nvPr/>
        </p:nvSpPr>
        <p:spPr>
          <a:xfrm>
            <a:off x="5943600" y="1828800"/>
            <a:ext cx="1874520" cy="9144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READBACK
</a:t>
            </a:r>
            <a:pPr indent="0" marL="0">
              <a:buNone/>
            </a:pPr>
            <a:r>
              <a:rPr lang="en-US" sz="1000" dirty="0">
                <a:solidFill>
                  <a:srgbClr val="9AA5AD"/>
                </a:solidFill>
                <a:latin typeface="Arial" pitchFamily="34" charset="0"/>
                <a:ea typeface="Arial" pitchFamily="34" charset="-122"/>
                <a:cs typeface="Arial" pitchFamily="34" charset="-120"/>
              </a:rPr>
              <a:t>receiver repeats</a:t>
            </a:r>
            <a:endParaRPr lang="en-US" sz="1300" dirty="0"/>
          </a:p>
        </p:txBody>
      </p:sp>
      <p:sp>
        <p:nvSpPr>
          <p:cNvPr id="14" name="Text 12"/>
          <p:cNvSpPr/>
          <p:nvPr/>
        </p:nvSpPr>
        <p:spPr>
          <a:xfrm>
            <a:off x="7955280" y="2011680"/>
            <a:ext cx="457200" cy="548640"/>
          </a:xfrm>
          <a:prstGeom prst="rect">
            <a:avLst/>
          </a:prstGeom>
          <a:noFill/>
          <a:ln/>
        </p:spPr>
        <p:txBody>
          <a:bodyPr wrap="square" lIns="0" tIns="0" rIns="0" bIns="0" rtlCol="0" anchor="ctr"/>
          <a:lstStyle/>
          <a:p>
            <a:pPr algn="ctr" indent="0" marL="0">
              <a:buNone/>
            </a:pPr>
            <a:r>
              <a:rPr lang="en-US" sz="2400" b="1" dirty="0">
                <a:solidFill>
                  <a:srgbClr val="E8491D"/>
                </a:solidFill>
                <a:latin typeface="Arial" pitchFamily="34" charset="0"/>
                <a:ea typeface="Arial" pitchFamily="34" charset="-122"/>
                <a:cs typeface="Arial" pitchFamily="34" charset="-120"/>
              </a:rPr>
              <a:t>→</a:t>
            </a:r>
            <a:endParaRPr lang="en-US" sz="2400" dirty="0"/>
          </a:p>
        </p:txBody>
      </p:sp>
      <p:sp>
        <p:nvSpPr>
          <p:cNvPr id="15" name="Shape 13"/>
          <p:cNvSpPr/>
          <p:nvPr/>
        </p:nvSpPr>
        <p:spPr>
          <a:xfrm>
            <a:off x="8412480" y="1828800"/>
            <a:ext cx="2148840" cy="914400"/>
          </a:xfrm>
          <a:prstGeom prst="roundRect">
            <a:avLst>
              <a:gd name="adj" fmla="val 10000"/>
            </a:avLst>
          </a:prstGeom>
          <a:solidFill>
            <a:srgbClr val="F3F4F5"/>
          </a:solidFill>
          <a:ln/>
        </p:spPr>
      </p:sp>
      <p:sp>
        <p:nvSpPr>
          <p:cNvPr id="16" name="Text 14"/>
          <p:cNvSpPr/>
          <p:nvPr/>
        </p:nvSpPr>
        <p:spPr>
          <a:xfrm>
            <a:off x="8549640" y="1828800"/>
            <a:ext cx="1874520" cy="914400"/>
          </a:xfrm>
          <a:prstGeom prst="rect">
            <a:avLst/>
          </a:prstGeom>
          <a:noFill/>
          <a:ln/>
        </p:spPr>
        <p:txBody>
          <a:bodyPr wrap="square" lIns="0" tIns="0" rIns="0" bIns="0" rtlCol="0" anchor="ctr"/>
          <a:lstStyle/>
          <a:p>
            <a:pPr indent="0" marL="0">
              <a:buNone/>
            </a:pPr>
            <a:r>
              <a:rPr lang="en-US" sz="1300" b="1" dirty="0">
                <a:solidFill>
                  <a:srgbClr val="1A2027"/>
                </a:solidFill>
                <a:latin typeface="Arial" pitchFamily="34" charset="0"/>
                <a:ea typeface="Arial" pitchFamily="34" charset="-122"/>
                <a:cs typeface="Arial" pitchFamily="34" charset="-120"/>
              </a:rPr>
              <a:t>CONFIRM
</a:t>
            </a:r>
            <a:pPr indent="0" marL="0">
              <a:buNone/>
            </a:pPr>
            <a:r>
              <a:rPr lang="en-US" sz="1000" dirty="0">
                <a:solidFill>
                  <a:srgbClr val="5A646C"/>
                </a:solidFill>
                <a:latin typeface="Arial" pitchFamily="34" charset="0"/>
                <a:ea typeface="Arial" pitchFamily="34" charset="-122"/>
                <a:cs typeface="Arial" pitchFamily="34" charset="-120"/>
              </a:rPr>
              <a:t>“Correct — go”</a:t>
            </a:r>
            <a:endParaRPr lang="en-US" sz="1300" dirty="0"/>
          </a:p>
        </p:txBody>
      </p:sp>
      <p:sp>
        <p:nvSpPr>
          <p:cNvPr id="17" name="Text 15"/>
          <p:cNvSpPr/>
          <p:nvPr/>
        </p:nvSpPr>
        <p:spPr>
          <a:xfrm>
            <a:off x="594360" y="3108960"/>
            <a:ext cx="6400800" cy="2651760"/>
          </a:xfrm>
          <a:prstGeom prst="rect">
            <a:avLst/>
          </a:prstGeom>
          <a:noFill/>
          <a:ln/>
        </p:spPr>
        <p:txBody>
          <a:bodyPr wrap="square" rtlCol="0" anchor="ctr"/>
          <a:lstStyle/>
          <a:p>
            <a:pPr marL="177800" indent="-177800">
              <a:spcAft>
                <a:spcPts val="900"/>
              </a:spcAft>
              <a:buSzPct val="100000"/>
              <a:buChar char="•"/>
            </a:pPr>
            <a:r>
              <a:rPr lang="en-US" sz="1250" dirty="0">
                <a:solidFill>
                  <a:srgbClr val="1A2027"/>
                </a:solidFill>
                <a:latin typeface="Arial" pitchFamily="34" charset="0"/>
                <a:ea typeface="Arial" pitchFamily="34" charset="-122"/>
                <a:cs typeface="Arial" pitchFamily="34" charset="-120"/>
              </a:rPr>
              <a:t>One net, one speaker at a time — the leader enforces radio silence for priority traffic</a:t>
            </a:r>
            <a:endParaRPr lang="en-US" sz="1250" dirty="0"/>
          </a:p>
          <a:p>
            <a:pPr marL="177800" indent="-177800">
              <a:spcAft>
                <a:spcPts val="900"/>
              </a:spcAft>
              <a:buSzPct val="100000"/>
              <a:buChar char="•"/>
            </a:pPr>
            <a:r>
              <a:rPr lang="en-US" sz="1250" dirty="0">
                <a:solidFill>
                  <a:srgbClr val="1A2027"/>
                </a:solidFill>
                <a:latin typeface="Arial" pitchFamily="34" charset="0"/>
                <a:ea typeface="Arial" pitchFamily="34" charset="-122"/>
                <a:cs typeface="Arial" pitchFamily="34" charset="-120"/>
              </a:rPr>
              <a:t>Names, not “hey you”: task follows identity, identity follows task</a:t>
            </a:r>
            <a:endParaRPr lang="en-US" sz="1250" dirty="0"/>
          </a:p>
          <a:p>
            <a:pPr marL="177800" indent="-177800">
              <a:spcAft>
                <a:spcPts val="900"/>
              </a:spcAft>
              <a:buSzPct val="100000"/>
              <a:buChar char="•"/>
            </a:pPr>
            <a:r>
              <a:rPr lang="en-US" sz="1250" dirty="0">
                <a:solidFill>
                  <a:srgbClr val="1A2027"/>
                </a:solidFill>
                <a:latin typeface="Arial" pitchFamily="34" charset="0"/>
                <a:ea typeface="Arial" pitchFamily="34" charset="-122"/>
                <a:cs typeface="Arial" pitchFamily="34" charset="-120"/>
              </a:rPr>
              <a:t>Standard phrases: MAYDAY (life threat), URGENT (scene change), PRIORITY (command traffic)</a:t>
            </a:r>
            <a:endParaRPr lang="en-US" sz="1250" dirty="0"/>
          </a:p>
          <a:p>
            <a:pPr marL="177800" indent="-177800">
              <a:spcAft>
                <a:spcPts val="900"/>
              </a:spcAft>
              <a:buSzPct val="100000"/>
              <a:buChar char="•"/>
            </a:pPr>
            <a:r>
              <a:rPr lang="en-US" sz="1250" dirty="0">
                <a:solidFill>
                  <a:srgbClr val="1A2027"/>
                </a:solidFill>
                <a:latin typeface="Arial" pitchFamily="34" charset="0"/>
                <a:ea typeface="Arial" pitchFamily="34" charset="-122"/>
                <a:cs typeface="Arial" pitchFamily="34" charset="-120"/>
              </a:rPr>
              <a:t>No radio? Runner, hand signals, air horn withdrawal signal — brief the fallback BEFORE the incident</a:t>
            </a:r>
            <a:endParaRPr lang="en-US" sz="1250" dirty="0"/>
          </a:p>
        </p:txBody>
      </p:sp>
      <p:sp>
        <p:nvSpPr>
          <p:cNvPr id="18" name="Shape 16"/>
          <p:cNvSpPr/>
          <p:nvPr/>
        </p:nvSpPr>
        <p:spPr>
          <a:xfrm>
            <a:off x="7269480" y="3108960"/>
            <a:ext cx="4343400" cy="2743200"/>
          </a:xfrm>
          <a:prstGeom prst="roundRect">
            <a:avLst>
              <a:gd name="adj" fmla="val 3333"/>
            </a:avLst>
          </a:prstGeom>
          <a:solidFill>
            <a:srgbClr val="14181C"/>
          </a:solidFill>
          <a:ln/>
        </p:spPr>
      </p:sp>
      <p:sp>
        <p:nvSpPr>
          <p:cNvPr id="19" name="Text 17"/>
          <p:cNvSpPr/>
          <p:nvPr/>
        </p:nvSpPr>
        <p:spPr>
          <a:xfrm>
            <a:off x="7498080" y="3310128"/>
            <a:ext cx="3931920" cy="274320"/>
          </a:xfrm>
          <a:prstGeom prst="rect">
            <a:avLst/>
          </a:prstGeom>
          <a:noFill/>
          <a:ln/>
        </p:spPr>
        <p:txBody>
          <a:bodyPr wrap="square" lIns="0" tIns="0" rIns="0" bIns="0" rtlCol="0" anchor="ctr"/>
          <a:lstStyle/>
          <a:p>
            <a:pPr indent="0" marL="0">
              <a:buNone/>
            </a:pPr>
            <a:r>
              <a:rPr lang="en-US" sz="1150" b="1" spc="150" kern="0" dirty="0">
                <a:solidFill>
                  <a:srgbClr val="F5A623"/>
                </a:solidFill>
                <a:latin typeface="Arial" pitchFamily="34" charset="0"/>
                <a:ea typeface="Arial" pitchFamily="34" charset="-122"/>
                <a:cs typeface="Arial" pitchFamily="34" charset="-120"/>
              </a:rPr>
              <a:t>THE 20-SECOND SITREP (C.A.N.)</a:t>
            </a:r>
            <a:endParaRPr lang="en-US" sz="1150" dirty="0"/>
          </a:p>
        </p:txBody>
      </p:sp>
      <p:sp>
        <p:nvSpPr>
          <p:cNvPr id="20" name="Text 18"/>
          <p:cNvSpPr/>
          <p:nvPr/>
        </p:nvSpPr>
        <p:spPr>
          <a:xfrm>
            <a:off x="7498080" y="3657600"/>
            <a:ext cx="3931920" cy="2057400"/>
          </a:xfrm>
          <a:prstGeom prst="rect">
            <a:avLst/>
          </a:prstGeom>
          <a:noFill/>
          <a:ln/>
        </p:spPr>
        <p:txBody>
          <a:bodyPr wrap="square" lIns="0" tIns="0" rIns="0" bIns="0" rtlCol="0" anchor="ctr"/>
          <a:lstStyle/>
          <a:p>
            <a:pPr indent="0" marL="0">
              <a:lnSpc>
                <a:spcPts val="1600"/>
              </a:lnSpc>
              <a:buNone/>
            </a:pPr>
            <a:r>
              <a:rPr lang="en-US" sz="1250" b="1" dirty="0">
                <a:solidFill>
                  <a:srgbClr val="E8491D"/>
                </a:solidFill>
                <a:latin typeface="Arial" pitchFamily="34" charset="0"/>
                <a:ea typeface="Arial" pitchFamily="34" charset="-122"/>
                <a:cs typeface="Arial" pitchFamily="34" charset="-120"/>
              </a:rPr>
              <a:t>C — CONDITIONS  </a:t>
            </a:r>
            <a:pPr indent="0" marL="0">
              <a:lnSpc>
                <a:spcPts val="1600"/>
              </a:lnSpc>
              <a:buNone/>
            </a:pPr>
            <a:r>
              <a:rPr lang="en-US" sz="1100" dirty="0">
                <a:solidFill>
                  <a:srgbClr val="D9DEE2"/>
                </a:solidFill>
                <a:latin typeface="Arial" pitchFamily="34" charset="0"/>
                <a:ea typeface="Arial" pitchFamily="34" charset="-122"/>
                <a:cs typeface="Arial" pitchFamily="34" charset="-120"/>
              </a:rPr>
              <a:t>“Diesel fire, day tank area, wind from north, spreading east.”
</a:t>
            </a:r>
            <a:pPr indent="0" marL="0">
              <a:lnSpc>
                <a:spcPts val="1600"/>
              </a:lnSpc>
              <a:buNone/>
            </a:pPr>
            <a:r>
              <a:rPr lang="en-US" sz="1250" b="1" dirty="0">
                <a:solidFill>
                  <a:srgbClr val="E8491D"/>
                </a:solidFill>
                <a:latin typeface="Arial" pitchFamily="34" charset="0"/>
                <a:ea typeface="Arial" pitchFamily="34" charset="-122"/>
                <a:cs typeface="Arial" pitchFamily="34" charset="-120"/>
              </a:rPr>
              <a:t>A — ACTIONS  </a:t>
            </a:r>
            <a:pPr indent="0" marL="0">
              <a:lnSpc>
                <a:spcPts val="1600"/>
              </a:lnSpc>
              <a:buNone/>
            </a:pPr>
            <a:r>
              <a:rPr lang="en-US" sz="1100" dirty="0">
                <a:solidFill>
                  <a:srgbClr val="D9DEE2"/>
                </a:solidFill>
                <a:latin typeface="Arial" pitchFamily="34" charset="0"/>
                <a:ea typeface="Arial" pitchFamily="34" charset="-122"/>
                <a:cs typeface="Arial" pitchFamily="34" charset="-120"/>
              </a:rPr>
              <a:t>“Two foam lines in defensive mode, fuel isolated, muster complete.”
</a:t>
            </a:r>
            <a:pPr indent="0" marL="0">
              <a:lnSpc>
                <a:spcPts val="1600"/>
              </a:lnSpc>
              <a:buNone/>
            </a:pPr>
            <a:r>
              <a:rPr lang="en-US" sz="1250" b="1" dirty="0">
                <a:solidFill>
                  <a:srgbClr val="E8491D"/>
                </a:solidFill>
                <a:latin typeface="Arial" pitchFamily="34" charset="0"/>
                <a:ea typeface="Arial" pitchFamily="34" charset="-122"/>
                <a:cs typeface="Arial" pitchFamily="34" charset="-120"/>
              </a:rPr>
              <a:t>N — NEEDS  </a:t>
            </a:r>
            <a:pPr indent="0" marL="0">
              <a:lnSpc>
                <a:spcPts val="1600"/>
              </a:lnSpc>
              <a:buNone/>
            </a:pPr>
            <a:r>
              <a:rPr lang="en-US" sz="1100" dirty="0">
                <a:solidFill>
                  <a:srgbClr val="D9DEE2"/>
                </a:solidFill>
                <a:latin typeface="Arial" pitchFamily="34" charset="0"/>
                <a:ea typeface="Arial" pitchFamily="34" charset="-122"/>
                <a:cs typeface="Arial" pitchFamily="34" charset="-120"/>
              </a:rPr>
              <a:t>“Request Aramco Fire Protection, medic standby, more foam stock.”</a:t>
            </a:r>
            <a:endParaRPr lang="en-US" sz="12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47</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4</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Orders that stick: the brief-back standard</a:t>
            </a:r>
            <a:endParaRPr lang="en-US" sz="3000" dirty="0"/>
          </a:p>
        </p:txBody>
      </p:sp>
      <p:sp>
        <p:nvSpPr>
          <p:cNvPr id="6" name="Text 4"/>
          <p:cNvSpPr/>
          <p:nvPr/>
        </p:nvSpPr>
        <p:spPr>
          <a:xfrm>
            <a:off x="594360" y="1481328"/>
            <a:ext cx="10881360" cy="411480"/>
          </a:xfrm>
          <a:prstGeom prst="rect">
            <a:avLst/>
          </a:prstGeom>
          <a:noFill/>
          <a:ln/>
        </p:spPr>
        <p:txBody>
          <a:bodyPr wrap="square" lIns="0" tIns="0" rIns="0" bIns="0" rtlCol="0" anchor="ctr"/>
          <a:lstStyle/>
          <a:p>
            <a:pPr indent="0" marL="0">
              <a:buNone/>
            </a:pPr>
            <a:r>
              <a:rPr lang="en-US" sz="1350" i="1" dirty="0">
                <a:solidFill>
                  <a:srgbClr val="5A646C"/>
                </a:solidFill>
                <a:latin typeface="Arial" pitchFamily="34" charset="0"/>
                <a:ea typeface="Arial" pitchFamily="34" charset="-122"/>
                <a:cs typeface="Arial" pitchFamily="34" charset="-120"/>
              </a:rPr>
              <a:t>An order is not what you said — it is what they heard. Close the gap with structure:</a:t>
            </a:r>
            <a:endParaRPr lang="en-US" sz="1350" dirty="0"/>
          </a:p>
        </p:txBody>
      </p:sp>
      <p:sp>
        <p:nvSpPr>
          <p:cNvPr id="7" name="Shape 5"/>
          <p:cNvSpPr/>
          <p:nvPr/>
        </p:nvSpPr>
        <p:spPr>
          <a:xfrm>
            <a:off x="594360" y="2057400"/>
            <a:ext cx="2544318" cy="3017520"/>
          </a:xfrm>
          <a:prstGeom prst="roundRect">
            <a:avLst>
              <a:gd name="adj" fmla="val 3594"/>
            </a:avLst>
          </a:prstGeom>
          <a:solidFill>
            <a:srgbClr val="F3F4F5"/>
          </a:solidFill>
          <a:ln/>
        </p:spPr>
      </p:sp>
      <p:sp>
        <p:nvSpPr>
          <p:cNvPr id="8" name="Text 6"/>
          <p:cNvSpPr/>
          <p:nvPr/>
        </p:nvSpPr>
        <p:spPr>
          <a:xfrm>
            <a:off x="795528" y="2240280"/>
            <a:ext cx="2141982" cy="365760"/>
          </a:xfrm>
          <a:prstGeom prst="rect">
            <a:avLst/>
          </a:prstGeom>
          <a:noFill/>
          <a:ln/>
        </p:spPr>
        <p:txBody>
          <a:bodyPr wrap="square" lIns="0" tIns="0" rIns="0" bIns="0" rtlCol="0" anchor="ctr"/>
          <a:lstStyle/>
          <a:p>
            <a:pPr indent="0" marL="0">
              <a:buNone/>
            </a:pPr>
            <a:r>
              <a:rPr lang="en-US" sz="1400" b="1" spc="100" kern="0" dirty="0">
                <a:solidFill>
                  <a:srgbClr val="E8491D"/>
                </a:solidFill>
                <a:latin typeface="Arial" pitchFamily="34" charset="0"/>
                <a:ea typeface="Arial" pitchFamily="34" charset="-122"/>
                <a:cs typeface="Arial" pitchFamily="34" charset="-120"/>
              </a:rPr>
              <a:t>WHO</a:t>
            </a:r>
            <a:endParaRPr lang="en-US" sz="1400" dirty="0"/>
          </a:p>
        </p:txBody>
      </p:sp>
      <p:sp>
        <p:nvSpPr>
          <p:cNvPr id="9" name="Text 7"/>
          <p:cNvSpPr/>
          <p:nvPr/>
        </p:nvSpPr>
        <p:spPr>
          <a:xfrm>
            <a:off x="795528" y="2697480"/>
            <a:ext cx="2141982" cy="109728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Name the person or team. Orders without owners evaporate.</a:t>
            </a:r>
            <a:endParaRPr lang="en-US" sz="1050" dirty="0"/>
          </a:p>
        </p:txBody>
      </p:sp>
      <p:sp>
        <p:nvSpPr>
          <p:cNvPr id="10" name="Text 8"/>
          <p:cNvSpPr/>
          <p:nvPr/>
        </p:nvSpPr>
        <p:spPr>
          <a:xfrm>
            <a:off x="795528" y="3886200"/>
            <a:ext cx="2141982" cy="1005840"/>
          </a:xfrm>
          <a:prstGeom prst="rect">
            <a:avLst/>
          </a:prstGeom>
          <a:noFill/>
          <a:ln/>
        </p:spPr>
        <p:txBody>
          <a:bodyPr wrap="square" lIns="0" tIns="0" rIns="0" bIns="0" rtlCol="0" anchor="ctr"/>
          <a:lstStyle/>
          <a:p>
            <a:pPr indent="0" marL="0">
              <a:buNone/>
            </a:pPr>
            <a:r>
              <a:rPr lang="en-US" sz="1050" b="1" i="1" dirty="0">
                <a:solidFill>
                  <a:srgbClr val="C13415"/>
                </a:solidFill>
                <a:latin typeface="Arial" pitchFamily="34" charset="0"/>
                <a:ea typeface="Arial" pitchFamily="34" charset="-122"/>
                <a:cs typeface="Arial" pitchFamily="34" charset="-120"/>
              </a:rPr>
              <a:t>“Faisal — hose team two —”</a:t>
            </a:r>
            <a:endParaRPr lang="en-US" sz="1050" dirty="0"/>
          </a:p>
        </p:txBody>
      </p:sp>
      <p:sp>
        <p:nvSpPr>
          <p:cNvPr id="11" name="Text 9"/>
          <p:cNvSpPr/>
          <p:nvPr/>
        </p:nvSpPr>
        <p:spPr>
          <a:xfrm>
            <a:off x="3092958" y="3246120"/>
            <a:ext cx="365760" cy="548640"/>
          </a:xfrm>
          <a:prstGeom prst="rect">
            <a:avLst/>
          </a:prstGeom>
          <a:noFill/>
          <a:ln/>
        </p:spPr>
        <p:txBody>
          <a:bodyPr wrap="square" lIns="0" tIns="0" rIns="0" bIns="0" rtlCol="0" anchor="ctr"/>
          <a:lstStyle/>
          <a:p>
            <a:pPr algn="ctr" indent="0" marL="0">
              <a:buNone/>
            </a:pPr>
            <a:r>
              <a:rPr lang="en-US" sz="2000" b="1" dirty="0">
                <a:solidFill>
                  <a:srgbClr val="E8491D"/>
                </a:solidFill>
                <a:latin typeface="Arial" pitchFamily="34" charset="0"/>
                <a:ea typeface="Arial" pitchFamily="34" charset="-122"/>
                <a:cs typeface="Arial" pitchFamily="34" charset="-120"/>
              </a:rPr>
              <a:t>→</a:t>
            </a:r>
            <a:endParaRPr lang="en-US" sz="2000" dirty="0"/>
          </a:p>
        </p:txBody>
      </p:sp>
      <p:sp>
        <p:nvSpPr>
          <p:cNvPr id="12" name="Shape 10"/>
          <p:cNvSpPr/>
          <p:nvPr/>
        </p:nvSpPr>
        <p:spPr>
          <a:xfrm>
            <a:off x="3412998" y="2057400"/>
            <a:ext cx="2544318" cy="3017520"/>
          </a:xfrm>
          <a:prstGeom prst="roundRect">
            <a:avLst>
              <a:gd name="adj" fmla="val 3594"/>
            </a:avLst>
          </a:prstGeom>
          <a:solidFill>
            <a:srgbClr val="F3F4F5"/>
          </a:solidFill>
          <a:ln/>
        </p:spPr>
      </p:sp>
      <p:sp>
        <p:nvSpPr>
          <p:cNvPr id="13" name="Text 11"/>
          <p:cNvSpPr/>
          <p:nvPr/>
        </p:nvSpPr>
        <p:spPr>
          <a:xfrm>
            <a:off x="3614166" y="2240280"/>
            <a:ext cx="2141982" cy="365760"/>
          </a:xfrm>
          <a:prstGeom prst="rect">
            <a:avLst/>
          </a:prstGeom>
          <a:noFill/>
          <a:ln/>
        </p:spPr>
        <p:txBody>
          <a:bodyPr wrap="square" lIns="0" tIns="0" rIns="0" bIns="0" rtlCol="0" anchor="ctr"/>
          <a:lstStyle/>
          <a:p>
            <a:pPr indent="0" marL="0">
              <a:buNone/>
            </a:pPr>
            <a:r>
              <a:rPr lang="en-US" sz="1400" b="1" spc="100" kern="0" dirty="0">
                <a:solidFill>
                  <a:srgbClr val="E8491D"/>
                </a:solidFill>
                <a:latin typeface="Arial" pitchFamily="34" charset="0"/>
                <a:ea typeface="Arial" pitchFamily="34" charset="-122"/>
                <a:cs typeface="Arial" pitchFamily="34" charset="-120"/>
              </a:rPr>
              <a:t>WHAT + WHERE</a:t>
            </a:r>
            <a:endParaRPr lang="en-US" sz="1400" dirty="0"/>
          </a:p>
        </p:txBody>
      </p:sp>
      <p:sp>
        <p:nvSpPr>
          <p:cNvPr id="14" name="Text 12"/>
          <p:cNvSpPr/>
          <p:nvPr/>
        </p:nvSpPr>
        <p:spPr>
          <a:xfrm>
            <a:off x="3614166" y="2697480"/>
            <a:ext cx="2141982" cy="109728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One task, one location, concrete verbs.</a:t>
            </a:r>
            <a:endParaRPr lang="en-US" sz="1050" dirty="0"/>
          </a:p>
        </p:txBody>
      </p:sp>
      <p:sp>
        <p:nvSpPr>
          <p:cNvPr id="15" name="Text 13"/>
          <p:cNvSpPr/>
          <p:nvPr/>
        </p:nvSpPr>
        <p:spPr>
          <a:xfrm>
            <a:off x="3614166" y="3886200"/>
            <a:ext cx="2141982" cy="1005840"/>
          </a:xfrm>
          <a:prstGeom prst="rect">
            <a:avLst/>
          </a:prstGeom>
          <a:noFill/>
          <a:ln/>
        </p:spPr>
        <p:txBody>
          <a:bodyPr wrap="square" lIns="0" tIns="0" rIns="0" bIns="0" rtlCol="0" anchor="ctr"/>
          <a:lstStyle/>
          <a:p>
            <a:pPr indent="0" marL="0">
              <a:buNone/>
            </a:pPr>
            <a:r>
              <a:rPr lang="en-US" sz="1050" b="1" i="1" dirty="0">
                <a:solidFill>
                  <a:srgbClr val="C13415"/>
                </a:solidFill>
                <a:latin typeface="Arial" pitchFamily="34" charset="0"/>
                <a:ea typeface="Arial" pitchFamily="34" charset="-122"/>
                <a:cs typeface="Arial" pitchFamily="34" charset="-120"/>
              </a:rPr>
              <a:t>“—charged line to the day tank's north side—”</a:t>
            </a:r>
            <a:endParaRPr lang="en-US" sz="1050" dirty="0"/>
          </a:p>
        </p:txBody>
      </p:sp>
      <p:sp>
        <p:nvSpPr>
          <p:cNvPr id="16" name="Text 14"/>
          <p:cNvSpPr/>
          <p:nvPr/>
        </p:nvSpPr>
        <p:spPr>
          <a:xfrm>
            <a:off x="5911596" y="3246120"/>
            <a:ext cx="365760" cy="548640"/>
          </a:xfrm>
          <a:prstGeom prst="rect">
            <a:avLst/>
          </a:prstGeom>
          <a:noFill/>
          <a:ln/>
        </p:spPr>
        <p:txBody>
          <a:bodyPr wrap="square" lIns="0" tIns="0" rIns="0" bIns="0" rtlCol="0" anchor="ctr"/>
          <a:lstStyle/>
          <a:p>
            <a:pPr algn="ctr" indent="0" marL="0">
              <a:buNone/>
            </a:pPr>
            <a:r>
              <a:rPr lang="en-US" sz="2000" b="1" dirty="0">
                <a:solidFill>
                  <a:srgbClr val="E8491D"/>
                </a:solidFill>
                <a:latin typeface="Arial" pitchFamily="34" charset="0"/>
                <a:ea typeface="Arial" pitchFamily="34" charset="-122"/>
                <a:cs typeface="Arial" pitchFamily="34" charset="-120"/>
              </a:rPr>
              <a:t>→</a:t>
            </a:r>
            <a:endParaRPr lang="en-US" sz="2000" dirty="0"/>
          </a:p>
        </p:txBody>
      </p:sp>
      <p:sp>
        <p:nvSpPr>
          <p:cNvPr id="17" name="Shape 15"/>
          <p:cNvSpPr/>
          <p:nvPr/>
        </p:nvSpPr>
        <p:spPr>
          <a:xfrm>
            <a:off x="6231636" y="2057400"/>
            <a:ext cx="2544318" cy="3017520"/>
          </a:xfrm>
          <a:prstGeom prst="roundRect">
            <a:avLst>
              <a:gd name="adj" fmla="val 3594"/>
            </a:avLst>
          </a:prstGeom>
          <a:solidFill>
            <a:srgbClr val="F3F4F5"/>
          </a:solidFill>
          <a:ln/>
        </p:spPr>
      </p:sp>
      <p:sp>
        <p:nvSpPr>
          <p:cNvPr id="18" name="Text 16"/>
          <p:cNvSpPr/>
          <p:nvPr/>
        </p:nvSpPr>
        <p:spPr>
          <a:xfrm>
            <a:off x="6432804" y="2240280"/>
            <a:ext cx="2141982" cy="365760"/>
          </a:xfrm>
          <a:prstGeom prst="rect">
            <a:avLst/>
          </a:prstGeom>
          <a:noFill/>
          <a:ln/>
        </p:spPr>
        <p:txBody>
          <a:bodyPr wrap="square" lIns="0" tIns="0" rIns="0" bIns="0" rtlCol="0" anchor="ctr"/>
          <a:lstStyle/>
          <a:p>
            <a:pPr indent="0" marL="0">
              <a:buNone/>
            </a:pPr>
            <a:r>
              <a:rPr lang="en-US" sz="1400" b="1" spc="100" kern="0" dirty="0">
                <a:solidFill>
                  <a:srgbClr val="E8491D"/>
                </a:solidFill>
                <a:latin typeface="Arial" pitchFamily="34" charset="0"/>
                <a:ea typeface="Arial" pitchFamily="34" charset="-122"/>
                <a:cs typeface="Arial" pitchFamily="34" charset="-120"/>
              </a:rPr>
              <a:t>WHY / INTENT</a:t>
            </a:r>
            <a:endParaRPr lang="en-US" sz="1400" dirty="0"/>
          </a:p>
        </p:txBody>
      </p:sp>
      <p:sp>
        <p:nvSpPr>
          <p:cNvPr id="19" name="Text 17"/>
          <p:cNvSpPr/>
          <p:nvPr/>
        </p:nvSpPr>
        <p:spPr>
          <a:xfrm>
            <a:off x="6432804" y="2697480"/>
            <a:ext cx="2141982" cy="109728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One phrase of purpose, so they can adapt when reality shifts.</a:t>
            </a:r>
            <a:endParaRPr lang="en-US" sz="1050" dirty="0"/>
          </a:p>
        </p:txBody>
      </p:sp>
      <p:sp>
        <p:nvSpPr>
          <p:cNvPr id="20" name="Text 18"/>
          <p:cNvSpPr/>
          <p:nvPr/>
        </p:nvSpPr>
        <p:spPr>
          <a:xfrm>
            <a:off x="6432804" y="3886200"/>
            <a:ext cx="2141982" cy="1005840"/>
          </a:xfrm>
          <a:prstGeom prst="rect">
            <a:avLst/>
          </a:prstGeom>
          <a:noFill/>
          <a:ln/>
        </p:spPr>
        <p:txBody>
          <a:bodyPr wrap="square" lIns="0" tIns="0" rIns="0" bIns="0" rtlCol="0" anchor="ctr"/>
          <a:lstStyle/>
          <a:p>
            <a:pPr indent="0" marL="0">
              <a:buNone/>
            </a:pPr>
            <a:r>
              <a:rPr lang="en-US" sz="1050" b="1" i="1" dirty="0">
                <a:solidFill>
                  <a:srgbClr val="C13415"/>
                </a:solidFill>
                <a:latin typeface="Arial" pitchFamily="34" charset="0"/>
                <a:ea typeface="Arial" pitchFamily="34" charset="-122"/>
                <a:cs typeface="Arial" pitchFamily="34" charset="-120"/>
              </a:rPr>
              <a:t>“—to cool the exposure, NOT extinguish—”</a:t>
            </a:r>
            <a:endParaRPr lang="en-US" sz="1050" dirty="0"/>
          </a:p>
        </p:txBody>
      </p:sp>
      <p:sp>
        <p:nvSpPr>
          <p:cNvPr id="21" name="Text 19"/>
          <p:cNvSpPr/>
          <p:nvPr/>
        </p:nvSpPr>
        <p:spPr>
          <a:xfrm>
            <a:off x="8730234" y="3246120"/>
            <a:ext cx="365760" cy="548640"/>
          </a:xfrm>
          <a:prstGeom prst="rect">
            <a:avLst/>
          </a:prstGeom>
          <a:noFill/>
          <a:ln/>
        </p:spPr>
        <p:txBody>
          <a:bodyPr wrap="square" lIns="0" tIns="0" rIns="0" bIns="0" rtlCol="0" anchor="ctr"/>
          <a:lstStyle/>
          <a:p>
            <a:pPr algn="ctr" indent="0" marL="0">
              <a:buNone/>
            </a:pPr>
            <a:r>
              <a:rPr lang="en-US" sz="2000" b="1" dirty="0">
                <a:solidFill>
                  <a:srgbClr val="E8491D"/>
                </a:solidFill>
                <a:latin typeface="Arial" pitchFamily="34" charset="0"/>
                <a:ea typeface="Arial" pitchFamily="34" charset="-122"/>
                <a:cs typeface="Arial" pitchFamily="34" charset="-120"/>
              </a:rPr>
              <a:t>→</a:t>
            </a:r>
            <a:endParaRPr lang="en-US" sz="2000" dirty="0"/>
          </a:p>
        </p:txBody>
      </p:sp>
      <p:sp>
        <p:nvSpPr>
          <p:cNvPr id="22" name="Shape 20"/>
          <p:cNvSpPr/>
          <p:nvPr/>
        </p:nvSpPr>
        <p:spPr>
          <a:xfrm>
            <a:off x="9050274" y="2057400"/>
            <a:ext cx="2544318" cy="3017520"/>
          </a:xfrm>
          <a:prstGeom prst="roundRect">
            <a:avLst>
              <a:gd name="adj" fmla="val 3594"/>
            </a:avLst>
          </a:prstGeom>
          <a:solidFill>
            <a:srgbClr val="14181C"/>
          </a:solidFill>
          <a:ln/>
        </p:spPr>
      </p:sp>
      <p:sp>
        <p:nvSpPr>
          <p:cNvPr id="23" name="Text 21"/>
          <p:cNvSpPr/>
          <p:nvPr/>
        </p:nvSpPr>
        <p:spPr>
          <a:xfrm>
            <a:off x="9251442" y="2240280"/>
            <a:ext cx="2141982" cy="365760"/>
          </a:xfrm>
          <a:prstGeom prst="rect">
            <a:avLst/>
          </a:prstGeom>
          <a:noFill/>
          <a:ln/>
        </p:spPr>
        <p:txBody>
          <a:bodyPr wrap="square" lIns="0" tIns="0" rIns="0" bIns="0" rtlCol="0" anchor="ctr"/>
          <a:lstStyle/>
          <a:p>
            <a:pPr indent="0" marL="0">
              <a:buNone/>
            </a:pPr>
            <a:r>
              <a:rPr lang="en-US" sz="1400" b="1" spc="100" kern="0" dirty="0">
                <a:solidFill>
                  <a:srgbClr val="E8491D"/>
                </a:solidFill>
                <a:latin typeface="Arial" pitchFamily="34" charset="0"/>
                <a:ea typeface="Arial" pitchFamily="34" charset="-122"/>
                <a:cs typeface="Arial" pitchFamily="34" charset="-120"/>
              </a:rPr>
              <a:t>BRIEF-BACK</a:t>
            </a:r>
            <a:endParaRPr lang="en-US" sz="1400" dirty="0"/>
          </a:p>
        </p:txBody>
      </p:sp>
      <p:sp>
        <p:nvSpPr>
          <p:cNvPr id="24" name="Text 22"/>
          <p:cNvSpPr/>
          <p:nvPr/>
        </p:nvSpPr>
        <p:spPr>
          <a:xfrm>
            <a:off x="9251442" y="2697480"/>
            <a:ext cx="2141982" cy="1097280"/>
          </a:xfrm>
          <a:prstGeom prst="rect">
            <a:avLst/>
          </a:prstGeom>
          <a:noFill/>
          <a:ln/>
        </p:spPr>
        <p:txBody>
          <a:bodyPr wrap="square" lIns="0" tIns="0" rIns="0" bIns="0" rtlCol="0" anchor="ctr"/>
          <a:lstStyle/>
          <a:p>
            <a:pPr indent="0" marL="0">
              <a:buNone/>
            </a:pPr>
            <a:r>
              <a:rPr lang="en-US" sz="1050" dirty="0">
                <a:solidFill>
                  <a:srgbClr val="D9DEE2"/>
                </a:solidFill>
                <a:latin typeface="Arial" pitchFamily="34" charset="0"/>
                <a:ea typeface="Arial" pitchFamily="34" charset="-122"/>
                <a:cs typeface="Arial" pitchFamily="34" charset="-120"/>
              </a:rPr>
              <a:t>They repeat it in their own words. Now it is their plan too.</a:t>
            </a:r>
            <a:endParaRPr lang="en-US" sz="1050" dirty="0"/>
          </a:p>
        </p:txBody>
      </p:sp>
      <p:sp>
        <p:nvSpPr>
          <p:cNvPr id="25" name="Text 23"/>
          <p:cNvSpPr/>
          <p:nvPr/>
        </p:nvSpPr>
        <p:spPr>
          <a:xfrm>
            <a:off x="9251442" y="3886200"/>
            <a:ext cx="2141982" cy="1005840"/>
          </a:xfrm>
          <a:prstGeom prst="rect">
            <a:avLst/>
          </a:prstGeom>
          <a:noFill/>
          <a:ln/>
        </p:spPr>
        <p:txBody>
          <a:bodyPr wrap="square" lIns="0" tIns="0" rIns="0" bIns="0" rtlCol="0" anchor="ctr"/>
          <a:lstStyle/>
          <a:p>
            <a:pPr indent="0" marL="0">
              <a:buNone/>
            </a:pPr>
            <a:r>
              <a:rPr lang="en-US" sz="1050" b="1" i="1" dirty="0">
                <a:solidFill>
                  <a:srgbClr val="F5A623"/>
                </a:solidFill>
                <a:latin typeface="Arial" pitchFamily="34" charset="0"/>
                <a:ea typeface="Arial" pitchFamily="34" charset="-122"/>
                <a:cs typeface="Arial" pitchFamily="34" charset="-120"/>
              </a:rPr>
              <a:t>“Tell me the task.” … “Correct — go.”</a:t>
            </a:r>
            <a:endParaRPr lang="en-US" sz="1050" dirty="0"/>
          </a:p>
        </p:txBody>
      </p:sp>
      <p:sp>
        <p:nvSpPr>
          <p:cNvPr id="26" name="Shape 24"/>
          <p:cNvSpPr/>
          <p:nvPr/>
        </p:nvSpPr>
        <p:spPr>
          <a:xfrm>
            <a:off x="594360" y="5440680"/>
            <a:ext cx="11000232" cy="777240"/>
          </a:xfrm>
          <a:prstGeom prst="roundRect">
            <a:avLst>
              <a:gd name="adj" fmla="val 9412"/>
            </a:avLst>
          </a:prstGeom>
          <a:solidFill>
            <a:srgbClr val="F3F4F5"/>
          </a:solidFill>
          <a:ln/>
        </p:spPr>
      </p:sp>
      <p:sp>
        <p:nvSpPr>
          <p:cNvPr id="27" name="Text 25"/>
          <p:cNvSpPr/>
          <p:nvPr/>
        </p:nvSpPr>
        <p:spPr>
          <a:xfrm>
            <a:off x="868680" y="5440680"/>
            <a:ext cx="10451592" cy="777240"/>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Under pressure you will not rise to eloquence —  </a:t>
            </a:r>
            <a:pPr indent="0" marL="0">
              <a:buNone/>
            </a:pPr>
            <a:r>
              <a:rPr lang="en-US" sz="1250" dirty="0">
                <a:solidFill>
                  <a:srgbClr val="5A646C"/>
                </a:solidFill>
                <a:latin typeface="Arial" pitchFamily="34" charset="0"/>
                <a:ea typeface="Arial" pitchFamily="34" charset="-122"/>
                <a:cs typeface="Arial" pitchFamily="34" charset="-120"/>
              </a:rPr>
              <a:t>you will fall back on structure. Build the structure now, use it forever.</a:t>
            </a:r>
            <a:endParaRPr lang="en-US" sz="12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48</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4</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Coordinating many teams without losing one</a:t>
            </a:r>
            <a:endParaRPr lang="en-US" sz="3000" dirty="0"/>
          </a:p>
        </p:txBody>
      </p:sp>
      <p:sp>
        <p:nvSpPr>
          <p:cNvPr id="6" name="Shape 4"/>
          <p:cNvSpPr/>
          <p:nvPr/>
        </p:nvSpPr>
        <p:spPr>
          <a:xfrm>
            <a:off x="594360" y="1783080"/>
            <a:ext cx="5317236" cy="1783080"/>
          </a:xfrm>
          <a:prstGeom prst="roundRect">
            <a:avLst>
              <a:gd name="adj" fmla="val 5128"/>
            </a:avLst>
          </a:prstGeom>
          <a:solidFill>
            <a:srgbClr val="F3F4F5"/>
          </a:solidFill>
          <a:ln/>
        </p:spPr>
      </p:sp>
      <p:sp>
        <p:nvSpPr>
          <p:cNvPr id="7" name="Shape 5"/>
          <p:cNvSpPr/>
          <p:nvPr/>
        </p:nvSpPr>
        <p:spPr>
          <a:xfrm>
            <a:off x="822960" y="2011680"/>
            <a:ext cx="530352" cy="530352"/>
          </a:xfrm>
          <a:prstGeom prst="ellipse">
            <a:avLst/>
          </a:prstGeom>
          <a:solidFill>
            <a:srgbClr val="E8491D"/>
          </a:solidFill>
          <a:ln/>
        </p:spPr>
      </p:sp>
      <p:pic>
        <p:nvPicPr>
          <p:cNvPr id="8" name="Image 0" descr="/tmp/claude-0/-home-user-My-Future-Idaes/0806094f-208a-506e-82b2-f78683d50c82/scratchpad/icons/FaLayerGroup_white.png">    </p:cNvPr>
          <p:cNvPicPr>
            <a:picLocks noChangeAspect="1"/>
          </p:cNvPicPr>
          <p:nvPr/>
        </p:nvPicPr>
        <p:blipFill>
          <a:blip r:embed="rId1"/>
          <a:stretch>
            <a:fillRect/>
          </a:stretch>
        </p:blipFill>
        <p:spPr>
          <a:xfrm>
            <a:off x="950244" y="2138964"/>
            <a:ext cx="275783" cy="275783"/>
          </a:xfrm>
          <a:prstGeom prst="rect">
            <a:avLst/>
          </a:prstGeom>
        </p:spPr>
      </p:pic>
      <p:sp>
        <p:nvSpPr>
          <p:cNvPr id="9" name="Text 6"/>
          <p:cNvSpPr/>
          <p:nvPr/>
        </p:nvSpPr>
        <p:spPr>
          <a:xfrm>
            <a:off x="1527048" y="2002536"/>
            <a:ext cx="4174236" cy="384048"/>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Sectorize the scene</a:t>
            </a:r>
            <a:endParaRPr lang="en-US" sz="1400" dirty="0"/>
          </a:p>
        </p:txBody>
      </p:sp>
      <p:sp>
        <p:nvSpPr>
          <p:cNvPr id="10" name="Text 7"/>
          <p:cNvSpPr/>
          <p:nvPr/>
        </p:nvSpPr>
        <p:spPr>
          <a:xfrm>
            <a:off x="1527048" y="2404872"/>
            <a:ext cx="4128516" cy="105156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Split the fireground into named sectors (Attack, Exposure, Water, Medical). One officer per sector, one voice per sector.</a:t>
            </a:r>
            <a:endParaRPr lang="en-US" sz="1050" dirty="0"/>
          </a:p>
        </p:txBody>
      </p:sp>
      <p:sp>
        <p:nvSpPr>
          <p:cNvPr id="11" name="Shape 8"/>
          <p:cNvSpPr/>
          <p:nvPr/>
        </p:nvSpPr>
        <p:spPr>
          <a:xfrm>
            <a:off x="6277356" y="1783080"/>
            <a:ext cx="5317236" cy="1783080"/>
          </a:xfrm>
          <a:prstGeom prst="roundRect">
            <a:avLst>
              <a:gd name="adj" fmla="val 5128"/>
            </a:avLst>
          </a:prstGeom>
          <a:solidFill>
            <a:srgbClr val="F3F4F5"/>
          </a:solidFill>
          <a:ln/>
        </p:spPr>
      </p:sp>
      <p:sp>
        <p:nvSpPr>
          <p:cNvPr id="12" name="Shape 9"/>
          <p:cNvSpPr/>
          <p:nvPr/>
        </p:nvSpPr>
        <p:spPr>
          <a:xfrm>
            <a:off x="6505956" y="2011680"/>
            <a:ext cx="530352" cy="530352"/>
          </a:xfrm>
          <a:prstGeom prst="ellipse">
            <a:avLst/>
          </a:prstGeom>
          <a:solidFill>
            <a:srgbClr val="E8491D"/>
          </a:solidFill>
          <a:ln/>
        </p:spPr>
      </p:sp>
      <p:pic>
        <p:nvPicPr>
          <p:cNvPr id="13" name="Image 1" descr="/tmp/claude-0/-home-user-My-Future-Idaes/0806094f-208a-506e-82b2-f78683d50c82/scratchpad/icons/FaListOl_white.png">    </p:cNvPr>
          <p:cNvPicPr>
            <a:picLocks noChangeAspect="1"/>
          </p:cNvPicPr>
          <p:nvPr/>
        </p:nvPicPr>
        <p:blipFill>
          <a:blip r:embed="rId2"/>
          <a:stretch>
            <a:fillRect/>
          </a:stretch>
        </p:blipFill>
        <p:spPr>
          <a:xfrm>
            <a:off x="6633240" y="2138964"/>
            <a:ext cx="275783" cy="275783"/>
          </a:xfrm>
          <a:prstGeom prst="rect">
            <a:avLst/>
          </a:prstGeom>
        </p:spPr>
      </p:pic>
      <p:sp>
        <p:nvSpPr>
          <p:cNvPr id="14" name="Text 10"/>
          <p:cNvSpPr/>
          <p:nvPr/>
        </p:nvSpPr>
        <p:spPr>
          <a:xfrm>
            <a:off x="7210044" y="2002536"/>
            <a:ext cx="4174236" cy="384048"/>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Span of control 1:5</a:t>
            </a:r>
            <a:endParaRPr lang="en-US" sz="1400" dirty="0"/>
          </a:p>
        </p:txBody>
      </p:sp>
      <p:sp>
        <p:nvSpPr>
          <p:cNvPr id="15" name="Text 11"/>
          <p:cNvSpPr/>
          <p:nvPr/>
        </p:nvSpPr>
        <p:spPr>
          <a:xfrm>
            <a:off x="7210044" y="2404872"/>
            <a:ext cx="4128516" cy="105156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No leader directs more than ~5 units. Beyond that, appoint sector officers — or lose the picture.</a:t>
            </a:r>
            <a:endParaRPr lang="en-US" sz="1050" dirty="0"/>
          </a:p>
        </p:txBody>
      </p:sp>
      <p:sp>
        <p:nvSpPr>
          <p:cNvPr id="16" name="Shape 12"/>
          <p:cNvSpPr/>
          <p:nvPr/>
        </p:nvSpPr>
        <p:spPr>
          <a:xfrm>
            <a:off x="594360" y="3749040"/>
            <a:ext cx="5317236" cy="1783080"/>
          </a:xfrm>
          <a:prstGeom prst="roundRect">
            <a:avLst>
              <a:gd name="adj" fmla="val 5128"/>
            </a:avLst>
          </a:prstGeom>
          <a:solidFill>
            <a:srgbClr val="F3F4F5"/>
          </a:solidFill>
          <a:ln/>
        </p:spPr>
      </p:sp>
      <p:sp>
        <p:nvSpPr>
          <p:cNvPr id="17" name="Shape 13"/>
          <p:cNvSpPr/>
          <p:nvPr/>
        </p:nvSpPr>
        <p:spPr>
          <a:xfrm>
            <a:off x="822960" y="3977640"/>
            <a:ext cx="530352" cy="530352"/>
          </a:xfrm>
          <a:prstGeom prst="ellipse">
            <a:avLst/>
          </a:prstGeom>
          <a:solidFill>
            <a:srgbClr val="E8491D"/>
          </a:solidFill>
          <a:ln/>
        </p:spPr>
      </p:sp>
      <p:pic>
        <p:nvPicPr>
          <p:cNvPr id="18" name="Image 2" descr="/tmp/claude-0/-home-user-My-Future-Idaes/0806094f-208a-506e-82b2-f78683d50c82/scratchpad/icons/FaComments_white.png">    </p:cNvPr>
          <p:cNvPicPr>
            <a:picLocks noChangeAspect="1"/>
          </p:cNvPicPr>
          <p:nvPr/>
        </p:nvPicPr>
        <p:blipFill>
          <a:blip r:embed="rId3"/>
          <a:stretch>
            <a:fillRect/>
          </a:stretch>
        </p:blipFill>
        <p:spPr>
          <a:xfrm>
            <a:off x="950244" y="4104924"/>
            <a:ext cx="275783" cy="275783"/>
          </a:xfrm>
          <a:prstGeom prst="rect">
            <a:avLst/>
          </a:prstGeom>
        </p:spPr>
      </p:pic>
      <p:sp>
        <p:nvSpPr>
          <p:cNvPr id="19" name="Text 14"/>
          <p:cNvSpPr/>
          <p:nvPr/>
        </p:nvSpPr>
        <p:spPr>
          <a:xfrm>
            <a:off x="1527048" y="3968496"/>
            <a:ext cx="4174236" cy="384048"/>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Common operating picture</a:t>
            </a:r>
            <a:endParaRPr lang="en-US" sz="1400" dirty="0"/>
          </a:p>
        </p:txBody>
      </p:sp>
      <p:sp>
        <p:nvSpPr>
          <p:cNvPr id="20" name="Text 15"/>
          <p:cNvSpPr/>
          <p:nvPr/>
        </p:nvSpPr>
        <p:spPr>
          <a:xfrm>
            <a:off x="1527048" y="4370832"/>
            <a:ext cx="4128516" cy="105156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Everyone hears mode changes, hazard warnings and withdrawal orders. Critical info is broadcast, not whispered.</a:t>
            </a:r>
            <a:endParaRPr lang="en-US" sz="1050" dirty="0"/>
          </a:p>
        </p:txBody>
      </p:sp>
      <p:sp>
        <p:nvSpPr>
          <p:cNvPr id="21" name="Shape 16"/>
          <p:cNvSpPr/>
          <p:nvPr/>
        </p:nvSpPr>
        <p:spPr>
          <a:xfrm>
            <a:off x="6277356" y="3749040"/>
            <a:ext cx="5317236" cy="1783080"/>
          </a:xfrm>
          <a:prstGeom prst="roundRect">
            <a:avLst>
              <a:gd name="adj" fmla="val 5128"/>
            </a:avLst>
          </a:prstGeom>
          <a:solidFill>
            <a:srgbClr val="F3F4F5"/>
          </a:solidFill>
          <a:ln/>
        </p:spPr>
      </p:sp>
      <p:sp>
        <p:nvSpPr>
          <p:cNvPr id="22" name="Shape 17"/>
          <p:cNvSpPr/>
          <p:nvPr/>
        </p:nvSpPr>
        <p:spPr>
          <a:xfrm>
            <a:off x="6505956" y="3977640"/>
            <a:ext cx="530352" cy="530352"/>
          </a:xfrm>
          <a:prstGeom prst="ellipse">
            <a:avLst/>
          </a:prstGeom>
          <a:solidFill>
            <a:srgbClr val="E8491D"/>
          </a:solidFill>
          <a:ln/>
        </p:spPr>
      </p:sp>
      <p:pic>
        <p:nvPicPr>
          <p:cNvPr id="23" name="Image 3" descr="/tmp/claude-0/-home-user-My-Future-Idaes/0806094f-208a-506e-82b2-f78683d50c82/scratchpad/icons/FaCompress_white.png">    </p:cNvPr>
          <p:cNvPicPr>
            <a:picLocks noChangeAspect="1"/>
          </p:cNvPicPr>
          <p:nvPr/>
        </p:nvPicPr>
        <p:blipFill>
          <a:blip r:embed="rId4"/>
          <a:stretch>
            <a:fillRect/>
          </a:stretch>
        </p:blipFill>
        <p:spPr>
          <a:xfrm>
            <a:off x="6633240" y="4104924"/>
            <a:ext cx="275783" cy="275783"/>
          </a:xfrm>
          <a:prstGeom prst="rect">
            <a:avLst/>
          </a:prstGeom>
        </p:spPr>
      </p:pic>
      <p:sp>
        <p:nvSpPr>
          <p:cNvPr id="24" name="Text 18"/>
          <p:cNvSpPr/>
          <p:nvPr/>
        </p:nvSpPr>
        <p:spPr>
          <a:xfrm>
            <a:off x="7210044" y="3968496"/>
            <a:ext cx="4174236" cy="384048"/>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Deconflict movement</a:t>
            </a:r>
            <a:endParaRPr lang="en-US" sz="1400" dirty="0"/>
          </a:p>
        </p:txBody>
      </p:sp>
      <p:sp>
        <p:nvSpPr>
          <p:cNvPr id="25" name="Text 19"/>
          <p:cNvSpPr/>
          <p:nvPr/>
        </p:nvSpPr>
        <p:spPr>
          <a:xfrm>
            <a:off x="7210044" y="4370832"/>
            <a:ext cx="4128516" cy="105156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Hose streams vs. electricity, crews vs. vehicle paths, opposing nozzles: the leader owns the geometry of the scene.</a:t>
            </a:r>
            <a:endParaRPr lang="en-US" sz="1050" dirty="0"/>
          </a:p>
        </p:txBody>
      </p:sp>
      <p:sp>
        <p:nvSpPr>
          <p:cNvPr id="26" name="Text 20"/>
          <p:cNvSpPr/>
          <p:nvPr/>
        </p:nvSpPr>
        <p:spPr>
          <a:xfrm>
            <a:off x="594360" y="5806440"/>
            <a:ext cx="11000232" cy="457200"/>
          </a:xfrm>
          <a:prstGeom prst="rect">
            <a:avLst/>
          </a:prstGeom>
          <a:noFill/>
          <a:ln/>
        </p:spPr>
        <p:txBody>
          <a:bodyPr wrap="square" lIns="0" tIns="0" rIns="0" bIns="0" rtlCol="0" anchor="ctr"/>
          <a:lstStyle/>
          <a:p>
            <a:pPr indent="0" marL="0">
              <a:buNone/>
            </a:pPr>
            <a:r>
              <a:rPr lang="en-US" sz="1200" b="1" dirty="0">
                <a:solidFill>
                  <a:srgbClr val="C13415"/>
                </a:solidFill>
                <a:latin typeface="Arial" pitchFamily="34" charset="0"/>
                <a:ea typeface="Arial" pitchFamily="34" charset="-122"/>
                <a:cs typeface="Arial" pitchFamily="34" charset="-120"/>
              </a:rPr>
              <a:t>Escalation warning signs:  </a:t>
            </a:r>
            <a:pPr indent="0" marL="0">
              <a:buNone/>
            </a:pPr>
            <a:r>
              <a:rPr lang="en-US" sz="1200" dirty="0">
                <a:solidFill>
                  <a:srgbClr val="5A646C"/>
                </a:solidFill>
                <a:latin typeface="Arial" pitchFamily="34" charset="0"/>
                <a:ea typeface="Arial" pitchFamily="34" charset="-122"/>
                <a:cs typeface="Arial" pitchFamily="34" charset="-120"/>
              </a:rPr>
              <a:t>rising radio traffic, unanswered calls, crews improvising, conflicting reports. Any two together = pull back, regroup, re-command.</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49</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4</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Alarm levels: matching response to reality</a:t>
            </a:r>
            <a:endParaRPr lang="en-US" sz="3000" dirty="0"/>
          </a:p>
        </p:txBody>
      </p:sp>
      <p:sp>
        <p:nvSpPr>
          <p:cNvPr id="6" name="Shape 4"/>
          <p:cNvSpPr/>
          <p:nvPr/>
        </p:nvSpPr>
        <p:spPr>
          <a:xfrm>
            <a:off x="594360" y="1783080"/>
            <a:ext cx="3453384" cy="3291840"/>
          </a:xfrm>
          <a:prstGeom prst="roundRect">
            <a:avLst>
              <a:gd name="adj" fmla="val 2778"/>
            </a:avLst>
          </a:prstGeom>
          <a:solidFill>
            <a:srgbClr val="F3F4F5"/>
          </a:solidFill>
          <a:ln/>
        </p:spPr>
      </p:sp>
      <p:sp>
        <p:nvSpPr>
          <p:cNvPr id="7" name="Shape 5"/>
          <p:cNvSpPr/>
          <p:nvPr/>
        </p:nvSpPr>
        <p:spPr>
          <a:xfrm>
            <a:off x="822960" y="1965960"/>
            <a:ext cx="1371600" cy="457200"/>
          </a:xfrm>
          <a:prstGeom prst="roundRect">
            <a:avLst>
              <a:gd name="adj" fmla="val 50000"/>
            </a:avLst>
          </a:prstGeom>
          <a:solidFill>
            <a:srgbClr val="E8491D"/>
          </a:solidFill>
          <a:ln/>
        </p:spPr>
      </p:sp>
      <p:sp>
        <p:nvSpPr>
          <p:cNvPr id="8" name="Text 6"/>
          <p:cNvSpPr/>
          <p:nvPr/>
        </p:nvSpPr>
        <p:spPr>
          <a:xfrm>
            <a:off x="822960" y="1965960"/>
            <a:ext cx="1371600"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LEVEL 1</a:t>
            </a:r>
            <a:endParaRPr lang="en-US" sz="1150" dirty="0"/>
          </a:p>
        </p:txBody>
      </p:sp>
      <p:sp>
        <p:nvSpPr>
          <p:cNvPr id="9" name="Text 7"/>
          <p:cNvSpPr/>
          <p:nvPr/>
        </p:nvSpPr>
        <p:spPr>
          <a:xfrm>
            <a:off x="822960" y="2560320"/>
            <a:ext cx="2996184" cy="411480"/>
          </a:xfrm>
          <a:prstGeom prst="rect">
            <a:avLst/>
          </a:prstGeom>
          <a:noFill/>
          <a:ln/>
        </p:spPr>
        <p:txBody>
          <a:bodyPr wrap="square" lIns="0" tIns="0" rIns="0" bIns="0" rtlCol="0" anchor="ctr"/>
          <a:lstStyle/>
          <a:p>
            <a:pPr indent="0" marL="0">
              <a:buNone/>
            </a:pPr>
            <a:r>
              <a:rPr lang="en-US" sz="1500" b="1" dirty="0">
                <a:solidFill>
                  <a:srgbClr val="1A2027"/>
                </a:solidFill>
                <a:latin typeface="Arial" pitchFamily="34" charset="0"/>
                <a:ea typeface="Arial" pitchFamily="34" charset="-122"/>
                <a:cs typeface="Arial" pitchFamily="34" charset="-120"/>
              </a:rPr>
              <a:t>Local response</a:t>
            </a:r>
            <a:endParaRPr lang="en-US" sz="1500" dirty="0"/>
          </a:p>
        </p:txBody>
      </p:sp>
      <p:sp>
        <p:nvSpPr>
          <p:cNvPr id="10" name="Text 8"/>
          <p:cNvSpPr/>
          <p:nvPr/>
        </p:nvSpPr>
        <p:spPr>
          <a:xfrm>
            <a:off x="822960" y="3017520"/>
            <a:ext cx="2996184" cy="192024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Small, contained, no immediate escalation path. Fire team responds; rig management informed; operations may continue in unaffected areas.</a:t>
            </a:r>
            <a:endParaRPr lang="en-US" sz="1050" dirty="0"/>
          </a:p>
        </p:txBody>
      </p:sp>
      <p:sp>
        <p:nvSpPr>
          <p:cNvPr id="11" name="Shape 9"/>
          <p:cNvSpPr/>
          <p:nvPr/>
        </p:nvSpPr>
        <p:spPr>
          <a:xfrm>
            <a:off x="4367784" y="1783080"/>
            <a:ext cx="3453384" cy="3291840"/>
          </a:xfrm>
          <a:prstGeom prst="roundRect">
            <a:avLst>
              <a:gd name="adj" fmla="val 2778"/>
            </a:avLst>
          </a:prstGeom>
          <a:solidFill>
            <a:srgbClr val="F3F4F5"/>
          </a:solidFill>
          <a:ln/>
        </p:spPr>
      </p:sp>
      <p:sp>
        <p:nvSpPr>
          <p:cNvPr id="12" name="Shape 10"/>
          <p:cNvSpPr/>
          <p:nvPr/>
        </p:nvSpPr>
        <p:spPr>
          <a:xfrm>
            <a:off x="4596384" y="1965960"/>
            <a:ext cx="1371600" cy="457200"/>
          </a:xfrm>
          <a:prstGeom prst="roundRect">
            <a:avLst>
              <a:gd name="adj" fmla="val 50000"/>
            </a:avLst>
          </a:prstGeom>
          <a:solidFill>
            <a:srgbClr val="E8491D"/>
          </a:solidFill>
          <a:ln/>
        </p:spPr>
      </p:sp>
      <p:sp>
        <p:nvSpPr>
          <p:cNvPr id="13" name="Text 11"/>
          <p:cNvSpPr/>
          <p:nvPr/>
        </p:nvSpPr>
        <p:spPr>
          <a:xfrm>
            <a:off x="4596384" y="1965960"/>
            <a:ext cx="1371600"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LEVEL 2</a:t>
            </a:r>
            <a:endParaRPr lang="en-US" sz="1150" dirty="0"/>
          </a:p>
        </p:txBody>
      </p:sp>
      <p:sp>
        <p:nvSpPr>
          <p:cNvPr id="14" name="Text 12"/>
          <p:cNvSpPr/>
          <p:nvPr/>
        </p:nvSpPr>
        <p:spPr>
          <a:xfrm>
            <a:off x="4596384" y="2560320"/>
            <a:ext cx="2996184" cy="411480"/>
          </a:xfrm>
          <a:prstGeom prst="rect">
            <a:avLst/>
          </a:prstGeom>
          <a:noFill/>
          <a:ln/>
        </p:spPr>
        <p:txBody>
          <a:bodyPr wrap="square" lIns="0" tIns="0" rIns="0" bIns="0" rtlCol="0" anchor="ctr"/>
          <a:lstStyle/>
          <a:p>
            <a:pPr indent="0" marL="0">
              <a:buNone/>
            </a:pPr>
            <a:r>
              <a:rPr lang="en-US" sz="1500" b="1" dirty="0">
                <a:solidFill>
                  <a:srgbClr val="1A2027"/>
                </a:solidFill>
                <a:latin typeface="Arial" pitchFamily="34" charset="0"/>
                <a:ea typeface="Arial" pitchFamily="34" charset="-122"/>
                <a:cs typeface="Arial" pitchFamily="34" charset="-120"/>
              </a:rPr>
              <a:t>Rig emergency</a:t>
            </a:r>
            <a:endParaRPr lang="en-US" sz="1500" dirty="0"/>
          </a:p>
        </p:txBody>
      </p:sp>
      <p:sp>
        <p:nvSpPr>
          <p:cNvPr id="15" name="Text 13"/>
          <p:cNvSpPr/>
          <p:nvPr/>
        </p:nvSpPr>
        <p:spPr>
          <a:xfrm>
            <a:off x="4596384" y="3017520"/>
            <a:ext cx="2996184" cy="192024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Growing or near critical equipment. General alarm, muster, operations secured, SANAD emergency response activated, external support alerted.</a:t>
            </a:r>
            <a:endParaRPr lang="en-US" sz="1050" dirty="0"/>
          </a:p>
        </p:txBody>
      </p:sp>
      <p:sp>
        <p:nvSpPr>
          <p:cNvPr id="16" name="Shape 14"/>
          <p:cNvSpPr/>
          <p:nvPr/>
        </p:nvSpPr>
        <p:spPr>
          <a:xfrm>
            <a:off x="8141208" y="1783080"/>
            <a:ext cx="3453384" cy="3291840"/>
          </a:xfrm>
          <a:prstGeom prst="roundRect">
            <a:avLst>
              <a:gd name="adj" fmla="val 2778"/>
            </a:avLst>
          </a:prstGeom>
          <a:solidFill>
            <a:srgbClr val="14181C"/>
          </a:solidFill>
          <a:ln/>
        </p:spPr>
      </p:sp>
      <p:sp>
        <p:nvSpPr>
          <p:cNvPr id="17" name="Shape 15"/>
          <p:cNvSpPr/>
          <p:nvPr/>
        </p:nvSpPr>
        <p:spPr>
          <a:xfrm>
            <a:off x="8369808" y="1965960"/>
            <a:ext cx="1371600" cy="457200"/>
          </a:xfrm>
          <a:prstGeom prst="roundRect">
            <a:avLst>
              <a:gd name="adj" fmla="val 50000"/>
            </a:avLst>
          </a:prstGeom>
          <a:solidFill>
            <a:srgbClr val="E8491D"/>
          </a:solidFill>
          <a:ln/>
        </p:spPr>
      </p:sp>
      <p:sp>
        <p:nvSpPr>
          <p:cNvPr id="18" name="Text 16"/>
          <p:cNvSpPr/>
          <p:nvPr/>
        </p:nvSpPr>
        <p:spPr>
          <a:xfrm>
            <a:off x="8369808" y="1965960"/>
            <a:ext cx="1371600"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LEVEL 3</a:t>
            </a:r>
            <a:endParaRPr lang="en-US" sz="1150" dirty="0"/>
          </a:p>
        </p:txBody>
      </p:sp>
      <p:sp>
        <p:nvSpPr>
          <p:cNvPr id="19" name="Text 17"/>
          <p:cNvSpPr/>
          <p:nvPr/>
        </p:nvSpPr>
        <p:spPr>
          <a:xfrm>
            <a:off x="8369808" y="2560320"/>
            <a:ext cx="2996184" cy="41148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Major emergency</a:t>
            </a:r>
            <a:endParaRPr lang="en-US" sz="1500" dirty="0"/>
          </a:p>
        </p:txBody>
      </p:sp>
      <p:sp>
        <p:nvSpPr>
          <p:cNvPr id="20" name="Text 18"/>
          <p:cNvSpPr/>
          <p:nvPr/>
        </p:nvSpPr>
        <p:spPr>
          <a:xfrm>
            <a:off x="8369808" y="3017520"/>
            <a:ext cx="2996184" cy="1920240"/>
          </a:xfrm>
          <a:prstGeom prst="rect">
            <a:avLst/>
          </a:prstGeom>
          <a:noFill/>
          <a:ln/>
        </p:spPr>
        <p:txBody>
          <a:bodyPr wrap="square" lIns="0" tIns="0" rIns="0" bIns="0" rtlCol="0" anchor="ctr"/>
          <a:lstStyle/>
          <a:p>
            <a:pPr indent="0" marL="0">
              <a:buNone/>
            </a:pPr>
            <a:r>
              <a:rPr lang="en-US" sz="1050" dirty="0">
                <a:solidFill>
                  <a:srgbClr val="9AA5AD"/>
                </a:solidFill>
                <a:latin typeface="Arial" pitchFamily="34" charset="0"/>
                <a:ea typeface="Arial" pitchFamily="34" charset="-122"/>
                <a:cs typeface="Arial" pitchFamily="34" charset="-120"/>
              </a:rPr>
              <a:t>Life threat, well control interface, or spread beyond the rig. Full ERP: Saudi Aramco Fire Protection, medevac readiness, possible evacuation.</a:t>
            </a:r>
            <a:endParaRPr lang="en-US" sz="1050" dirty="0"/>
          </a:p>
        </p:txBody>
      </p:sp>
      <p:sp>
        <p:nvSpPr>
          <p:cNvPr id="21" name="Shape 19"/>
          <p:cNvSpPr/>
          <p:nvPr/>
        </p:nvSpPr>
        <p:spPr>
          <a:xfrm>
            <a:off x="594360" y="5349240"/>
            <a:ext cx="11000232" cy="822960"/>
          </a:xfrm>
          <a:prstGeom prst="roundRect">
            <a:avLst>
              <a:gd name="adj" fmla="val 11111"/>
            </a:avLst>
          </a:prstGeom>
          <a:solidFill>
            <a:srgbClr val="F3F4F5"/>
          </a:solidFill>
          <a:ln/>
        </p:spPr>
      </p:sp>
      <p:sp>
        <p:nvSpPr>
          <p:cNvPr id="22" name="Text 20"/>
          <p:cNvSpPr/>
          <p:nvPr/>
        </p:nvSpPr>
        <p:spPr>
          <a:xfrm>
            <a:off x="868680" y="5349240"/>
            <a:ext cx="10451592" cy="822960"/>
          </a:xfrm>
          <a:prstGeom prst="rect">
            <a:avLst/>
          </a:prstGeom>
          <a:noFill/>
          <a:ln/>
        </p:spPr>
        <p:txBody>
          <a:bodyPr wrap="square" lIns="0" tIns="0" rIns="0" bIns="0" rtlCol="0" anchor="ctr"/>
          <a:lstStyle/>
          <a:p>
            <a:pPr indent="0" marL="0">
              <a:buNone/>
            </a:pPr>
            <a:r>
              <a:rPr lang="en-US" sz="1200" b="1" dirty="0">
                <a:solidFill>
                  <a:srgbClr val="C13415"/>
                </a:solidFill>
                <a:latin typeface="Arial" pitchFamily="34" charset="0"/>
                <a:ea typeface="Arial" pitchFamily="34" charset="-122"/>
                <a:cs typeface="Arial" pitchFamily="34" charset="-120"/>
              </a:rPr>
              <a:t>Declare early, downgrade later.  </a:t>
            </a:r>
            <a:pPr indent="0" marL="0">
              <a:buNone/>
            </a:pPr>
            <a:r>
              <a:rPr lang="en-US" sz="1200" dirty="0">
                <a:solidFill>
                  <a:srgbClr val="5A646C"/>
                </a:solidFill>
                <a:latin typeface="Arial" pitchFamily="34" charset="0"/>
                <a:ea typeface="Arial" pitchFamily="34" charset="-122"/>
                <a:cs typeface="Arial" pitchFamily="34" charset="-120"/>
              </a:rPr>
              <a:t>Nobody was ever hurt by an over-declared alarm. People die in under-declared ones. Your rig's ERP defines the exact triggers — know them by heart.</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50</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4 — PRACTICAL</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Communication drills under pressure</a:t>
            </a:r>
            <a:endParaRPr lang="en-US" sz="3000" dirty="0"/>
          </a:p>
        </p:txBody>
      </p:sp>
      <p:sp>
        <p:nvSpPr>
          <p:cNvPr id="6" name="Shape 4"/>
          <p:cNvSpPr/>
          <p:nvPr/>
        </p:nvSpPr>
        <p:spPr>
          <a:xfrm>
            <a:off x="9445752" y="438912"/>
            <a:ext cx="2148840" cy="457200"/>
          </a:xfrm>
          <a:prstGeom prst="roundRect">
            <a:avLst>
              <a:gd name="adj" fmla="val 50000"/>
            </a:avLst>
          </a:prstGeom>
          <a:solidFill>
            <a:srgbClr val="E8491D"/>
          </a:solidFill>
          <a:ln/>
        </p:spPr>
      </p:sp>
      <p:sp>
        <p:nvSpPr>
          <p:cNvPr id="7" name="Text 5"/>
          <p:cNvSpPr/>
          <p:nvPr/>
        </p:nvSpPr>
        <p:spPr>
          <a:xfrm>
            <a:off x="9445752" y="438912"/>
            <a:ext cx="2148840" cy="457200"/>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Arial" pitchFamily="34" charset="0"/>
                <a:ea typeface="Arial" pitchFamily="34" charset="-122"/>
                <a:cs typeface="Arial" pitchFamily="34" charset="-120"/>
              </a:rPr>
              <a:t>PRACTICAL BLOCK</a:t>
            </a:r>
            <a:endParaRPr lang="en-US" sz="1100" dirty="0"/>
          </a:p>
        </p:txBody>
      </p:sp>
      <p:sp>
        <p:nvSpPr>
          <p:cNvPr id="8" name="Text 6"/>
          <p:cNvSpPr/>
          <p:nvPr/>
        </p:nvSpPr>
        <p:spPr>
          <a:xfrm>
            <a:off x="594360" y="1536192"/>
            <a:ext cx="11000232" cy="502920"/>
          </a:xfrm>
          <a:prstGeom prst="rect">
            <a:avLst/>
          </a:prstGeom>
          <a:noFill/>
          <a:ln/>
        </p:spPr>
        <p:txBody>
          <a:bodyPr wrap="square" lIns="0" tIns="0" rIns="0" bIns="0" rtlCol="0" anchor="ctr"/>
          <a:lstStyle/>
          <a:p>
            <a:pPr indent="0" marL="0">
              <a:buNone/>
            </a:pPr>
            <a:r>
              <a:rPr lang="en-US" sz="1350" i="1" dirty="0">
                <a:solidFill>
                  <a:srgbClr val="5A646C"/>
                </a:solidFill>
                <a:latin typeface="Arial" pitchFamily="34" charset="0"/>
                <a:ea typeface="Arial" pitchFamily="34" charset="-122"/>
                <a:cs typeface="Arial" pitchFamily="34" charset="-120"/>
              </a:rPr>
              <a:t>Noise, blackout masks and jammed frequencies. If your communication survives here, it will survive a fireground.</a:t>
            </a:r>
            <a:endParaRPr lang="en-US" sz="1350" dirty="0"/>
          </a:p>
        </p:txBody>
      </p:sp>
      <p:sp>
        <p:nvSpPr>
          <p:cNvPr id="9" name="Shape 7"/>
          <p:cNvSpPr/>
          <p:nvPr/>
        </p:nvSpPr>
        <p:spPr>
          <a:xfrm>
            <a:off x="594360" y="2194560"/>
            <a:ext cx="3453384" cy="3200400"/>
          </a:xfrm>
          <a:prstGeom prst="roundRect">
            <a:avLst>
              <a:gd name="adj" fmla="val 2857"/>
            </a:avLst>
          </a:prstGeom>
          <a:solidFill>
            <a:srgbClr val="F3F4F5"/>
          </a:solidFill>
          <a:ln/>
        </p:spPr>
      </p:sp>
      <p:sp>
        <p:nvSpPr>
          <p:cNvPr id="10" name="Shape 8"/>
          <p:cNvSpPr/>
          <p:nvPr/>
        </p:nvSpPr>
        <p:spPr>
          <a:xfrm>
            <a:off x="822960" y="2423160"/>
            <a:ext cx="548640" cy="548640"/>
          </a:xfrm>
          <a:prstGeom prst="ellipse">
            <a:avLst/>
          </a:prstGeom>
          <a:solidFill>
            <a:srgbClr val="E8491D"/>
          </a:solidFill>
          <a:ln/>
        </p:spPr>
      </p:sp>
      <p:pic>
        <p:nvPicPr>
          <p:cNvPr id="11" name="Image 0" descr="/tmp/claude-0/-home-user-My-Future-Idaes/0806094f-208a-506e-82b2-f78683d50c82/scratchpad/icons/FaBroadcastTower_white.png">    </p:cNvPr>
          <p:cNvPicPr>
            <a:picLocks noChangeAspect="1"/>
          </p:cNvPicPr>
          <p:nvPr/>
        </p:nvPicPr>
        <p:blipFill>
          <a:blip r:embed="rId1"/>
          <a:stretch>
            <a:fillRect/>
          </a:stretch>
        </p:blipFill>
        <p:spPr>
          <a:xfrm>
            <a:off x="954634" y="2554834"/>
            <a:ext cx="285293" cy="285293"/>
          </a:xfrm>
          <a:prstGeom prst="rect">
            <a:avLst/>
          </a:prstGeom>
        </p:spPr>
      </p:pic>
      <p:sp>
        <p:nvSpPr>
          <p:cNvPr id="12" name="Text 9"/>
          <p:cNvSpPr/>
          <p:nvPr/>
        </p:nvSpPr>
        <p:spPr>
          <a:xfrm>
            <a:off x="822960" y="3108960"/>
            <a:ext cx="2996184" cy="621792"/>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Radio-only command</a:t>
            </a:r>
            <a:endParaRPr lang="en-US" sz="1400" dirty="0"/>
          </a:p>
        </p:txBody>
      </p:sp>
      <p:sp>
        <p:nvSpPr>
          <p:cNvPr id="13" name="Text 10"/>
          <p:cNvSpPr/>
          <p:nvPr/>
        </p:nvSpPr>
        <p:spPr>
          <a:xfrm>
            <a:off x="822960" y="3749040"/>
            <a:ext cx="2996184" cy="150876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Lead a deployment you cannot see — sector officers report by radio; you command through the CAN structure alone.</a:t>
            </a:r>
            <a:endParaRPr lang="en-US" sz="1050" dirty="0"/>
          </a:p>
        </p:txBody>
      </p:sp>
      <p:sp>
        <p:nvSpPr>
          <p:cNvPr id="14" name="Shape 11"/>
          <p:cNvSpPr/>
          <p:nvPr/>
        </p:nvSpPr>
        <p:spPr>
          <a:xfrm>
            <a:off x="4367784" y="2194560"/>
            <a:ext cx="3453384" cy="3200400"/>
          </a:xfrm>
          <a:prstGeom prst="roundRect">
            <a:avLst>
              <a:gd name="adj" fmla="val 2857"/>
            </a:avLst>
          </a:prstGeom>
          <a:solidFill>
            <a:srgbClr val="F3F4F5"/>
          </a:solidFill>
          <a:ln/>
        </p:spPr>
      </p:sp>
      <p:sp>
        <p:nvSpPr>
          <p:cNvPr id="15" name="Shape 12"/>
          <p:cNvSpPr/>
          <p:nvPr/>
        </p:nvSpPr>
        <p:spPr>
          <a:xfrm>
            <a:off x="4596384" y="2423160"/>
            <a:ext cx="548640" cy="548640"/>
          </a:xfrm>
          <a:prstGeom prst="ellipse">
            <a:avLst/>
          </a:prstGeom>
          <a:solidFill>
            <a:srgbClr val="E8491D"/>
          </a:solidFill>
          <a:ln/>
        </p:spPr>
      </p:sp>
      <p:pic>
        <p:nvPicPr>
          <p:cNvPr id="16" name="Image 1" descr="/tmp/claude-0/-home-user-My-Future-Idaes/0806094f-208a-506e-82b2-f78683d50c82/scratchpad/icons/FaComments_white.png">    </p:cNvPr>
          <p:cNvPicPr>
            <a:picLocks noChangeAspect="1"/>
          </p:cNvPicPr>
          <p:nvPr/>
        </p:nvPicPr>
        <p:blipFill>
          <a:blip r:embed="rId2"/>
          <a:stretch>
            <a:fillRect/>
          </a:stretch>
        </p:blipFill>
        <p:spPr>
          <a:xfrm>
            <a:off x="4728058" y="2554834"/>
            <a:ext cx="285293" cy="285293"/>
          </a:xfrm>
          <a:prstGeom prst="rect">
            <a:avLst/>
          </a:prstGeom>
        </p:spPr>
      </p:pic>
      <p:sp>
        <p:nvSpPr>
          <p:cNvPr id="17" name="Text 13"/>
          <p:cNvSpPr/>
          <p:nvPr/>
        </p:nvSpPr>
        <p:spPr>
          <a:xfrm>
            <a:off x="4596384" y="3108960"/>
            <a:ext cx="2996184" cy="621792"/>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Degraded comms inject</a:t>
            </a:r>
            <a:endParaRPr lang="en-US" sz="1400" dirty="0"/>
          </a:p>
        </p:txBody>
      </p:sp>
      <p:sp>
        <p:nvSpPr>
          <p:cNvPr id="18" name="Text 14"/>
          <p:cNvSpPr/>
          <p:nvPr/>
        </p:nvSpPr>
        <p:spPr>
          <a:xfrm>
            <a:off x="4596384" y="3749040"/>
            <a:ext cx="2996184" cy="150876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Mid-exercise the radio “fails.” Switch to runners and signals without losing crew accountability.</a:t>
            </a:r>
            <a:endParaRPr lang="en-US" sz="1050" dirty="0"/>
          </a:p>
        </p:txBody>
      </p:sp>
      <p:sp>
        <p:nvSpPr>
          <p:cNvPr id="19" name="Shape 15"/>
          <p:cNvSpPr/>
          <p:nvPr/>
        </p:nvSpPr>
        <p:spPr>
          <a:xfrm>
            <a:off x="8141208" y="2194560"/>
            <a:ext cx="3453384" cy="3200400"/>
          </a:xfrm>
          <a:prstGeom prst="roundRect">
            <a:avLst>
              <a:gd name="adj" fmla="val 2857"/>
            </a:avLst>
          </a:prstGeom>
          <a:solidFill>
            <a:srgbClr val="F3F4F5"/>
          </a:solidFill>
          <a:ln/>
        </p:spPr>
      </p:sp>
      <p:sp>
        <p:nvSpPr>
          <p:cNvPr id="20" name="Shape 16"/>
          <p:cNvSpPr/>
          <p:nvPr/>
        </p:nvSpPr>
        <p:spPr>
          <a:xfrm>
            <a:off x="8369808" y="2423160"/>
            <a:ext cx="548640" cy="548640"/>
          </a:xfrm>
          <a:prstGeom prst="ellipse">
            <a:avLst/>
          </a:prstGeom>
          <a:solidFill>
            <a:srgbClr val="E8491D"/>
          </a:solidFill>
          <a:ln/>
        </p:spPr>
      </p:sp>
      <p:pic>
        <p:nvPicPr>
          <p:cNvPr id="21" name="Image 2" descr="/tmp/claude-0/-home-user-My-Future-Idaes/0806094f-208a-506e-82b2-f78683d50c82/scratchpad/icons/FaBullhorn_white.png">    </p:cNvPr>
          <p:cNvPicPr>
            <a:picLocks noChangeAspect="1"/>
          </p:cNvPicPr>
          <p:nvPr/>
        </p:nvPicPr>
        <p:blipFill>
          <a:blip r:embed="rId3"/>
          <a:stretch>
            <a:fillRect/>
          </a:stretch>
        </p:blipFill>
        <p:spPr>
          <a:xfrm>
            <a:off x="8501482" y="2554834"/>
            <a:ext cx="285293" cy="285293"/>
          </a:xfrm>
          <a:prstGeom prst="rect">
            <a:avLst/>
          </a:prstGeom>
        </p:spPr>
      </p:pic>
      <p:sp>
        <p:nvSpPr>
          <p:cNvPr id="22" name="Text 17"/>
          <p:cNvSpPr/>
          <p:nvPr/>
        </p:nvSpPr>
        <p:spPr>
          <a:xfrm>
            <a:off x="8369808" y="3108960"/>
            <a:ext cx="2996184" cy="621792"/>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SITREP gauntlet</a:t>
            </a:r>
            <a:endParaRPr lang="en-US" sz="1400" dirty="0"/>
          </a:p>
        </p:txBody>
      </p:sp>
      <p:sp>
        <p:nvSpPr>
          <p:cNvPr id="23" name="Text 18"/>
          <p:cNvSpPr/>
          <p:nvPr/>
        </p:nvSpPr>
        <p:spPr>
          <a:xfrm>
            <a:off x="8369808" y="3749040"/>
            <a:ext cx="2996184" cy="150876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Deliver 20-second CAN reports up the chain while the scene changes every 60 seconds. Scored for structure and brevity.</a:t>
            </a:r>
            <a:endParaRPr lang="en-US" sz="1050" dirty="0"/>
          </a:p>
        </p:txBody>
      </p:sp>
      <p:sp>
        <p:nvSpPr>
          <p:cNvPr id="24" name="Shape 19"/>
          <p:cNvSpPr/>
          <p:nvPr/>
        </p:nvSpPr>
        <p:spPr>
          <a:xfrm>
            <a:off x="594360" y="5623560"/>
            <a:ext cx="11000232" cy="658368"/>
          </a:xfrm>
          <a:prstGeom prst="roundRect">
            <a:avLst>
              <a:gd name="adj" fmla="val 11111"/>
            </a:avLst>
          </a:prstGeom>
          <a:solidFill>
            <a:srgbClr val="14181C"/>
          </a:solidFill>
          <a:ln/>
        </p:spPr>
      </p:sp>
      <p:sp>
        <p:nvSpPr>
          <p:cNvPr id="25" name="Text 20"/>
          <p:cNvSpPr/>
          <p:nvPr/>
        </p:nvSpPr>
        <p:spPr>
          <a:xfrm>
            <a:off x="822960" y="5623560"/>
            <a:ext cx="10543032" cy="658368"/>
          </a:xfrm>
          <a:prstGeom prst="rect">
            <a:avLst/>
          </a:prstGeom>
          <a:noFill/>
          <a:ln/>
        </p:spPr>
        <p:txBody>
          <a:bodyPr wrap="square" lIns="0" tIns="0" rIns="0" bIns="0" rtlCol="0" anchor="ctr"/>
          <a:lstStyle/>
          <a:p>
            <a:pPr indent="0" marL="0">
              <a:buNone/>
            </a:pPr>
            <a:r>
              <a:rPr lang="en-US" sz="1150" b="1" dirty="0">
                <a:solidFill>
                  <a:srgbClr val="F5A623"/>
                </a:solidFill>
                <a:latin typeface="Arial" pitchFamily="34" charset="0"/>
                <a:ea typeface="Arial" pitchFamily="34" charset="-122"/>
                <a:cs typeface="Arial" pitchFamily="34" charset="-120"/>
              </a:rPr>
              <a:t>ASSESSED:  </a:t>
            </a:r>
            <a:pPr indent="0" marL="0">
              <a:buNone/>
            </a:pPr>
            <a:r>
              <a:rPr lang="en-US" sz="1150" dirty="0">
                <a:solidFill>
                  <a:srgbClr val="FFFFFF"/>
                </a:solidFill>
                <a:latin typeface="Arial" pitchFamily="34" charset="0"/>
                <a:ea typeface="Arial" pitchFamily="34" charset="-122"/>
                <a:cs typeface="Arial" pitchFamily="34" charset="-120"/>
              </a:rPr>
              <a:t>Closed-loop compliance, SITREP quality and whether every team can state its task at any freeze point — Module 4 rubric.</a:t>
            </a:r>
            <a:endParaRPr lang="en-US" sz="11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14181C"/>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9AA5AD"/>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9AA5AD"/>
                </a:solidFill>
                <a:latin typeface="Arial" pitchFamily="34" charset="0"/>
                <a:ea typeface="Arial" pitchFamily="34" charset="-122"/>
                <a:cs typeface="Arial" pitchFamily="34" charset="-120"/>
              </a:rPr>
              <a:t>51</a:t>
            </a:r>
            <a:endParaRPr lang="en-US" sz="850" dirty="0"/>
          </a:p>
        </p:txBody>
      </p:sp>
      <p:pic>
        <p:nvPicPr>
          <p:cNvPr id="4" name="Image 0" descr="/home/user/My-Future-Idaes/SANAD-Fire-Team-Leader-Course/assets/img/icp.jpg">    </p:cNvPr>
          <p:cNvPicPr>
            <a:picLocks noChangeAspect="1"/>
          </p:cNvPicPr>
          <p:nvPr/>
        </p:nvPicPr>
        <p:blipFill>
          <a:blip r:embed="rId1"/>
          <a:srcRect l="0" r="0" t="0" b="0"/>
          <a:stretch/>
        </p:blipFill>
        <p:spPr>
          <a:xfrm>
            <a:off x="7040880" y="0"/>
            <a:ext cx="5148072" cy="6858000"/>
          </a:xfrm>
          <a:prstGeom prst="rect">
            <a:avLst/>
          </a:prstGeom>
        </p:spPr>
      </p:pic>
      <p:sp>
        <p:nvSpPr>
          <p:cNvPr id="5" name="Shape 2"/>
          <p:cNvSpPr/>
          <p:nvPr/>
        </p:nvSpPr>
        <p:spPr>
          <a:xfrm>
            <a:off x="7040880" y="0"/>
            <a:ext cx="5148072" cy="6858000"/>
          </a:xfrm>
          <a:prstGeom prst="rect">
            <a:avLst/>
          </a:prstGeom>
          <a:solidFill>
            <a:srgbClr val="14181C">
              <a:alpha val="28000"/>
            </a:srgbClr>
          </a:solidFill>
          <a:ln/>
        </p:spPr>
      </p:sp>
      <p:sp>
        <p:nvSpPr>
          <p:cNvPr id="6" name="Text 3"/>
          <p:cNvSpPr/>
          <p:nvPr/>
        </p:nvSpPr>
        <p:spPr>
          <a:xfrm>
            <a:off x="594360" y="777240"/>
            <a:ext cx="2743200" cy="320040"/>
          </a:xfrm>
          <a:prstGeom prst="rect">
            <a:avLst/>
          </a:prstGeom>
          <a:noFill/>
          <a:ln/>
        </p:spPr>
        <p:txBody>
          <a:bodyPr wrap="square" lIns="0" tIns="0" rIns="0" bIns="0" rtlCol="0" anchor="ctr"/>
          <a:lstStyle/>
          <a:p>
            <a:pPr indent="0" marL="0">
              <a:buNone/>
            </a:pPr>
            <a:r>
              <a:rPr lang="en-US" sz="1300" b="1" spc="400" kern="0" dirty="0">
                <a:solidFill>
                  <a:srgbClr val="9AA5AD"/>
                </a:solidFill>
                <a:latin typeface="Arial" pitchFamily="34" charset="0"/>
                <a:ea typeface="Arial" pitchFamily="34" charset="-122"/>
                <a:cs typeface="Arial" pitchFamily="34" charset="-120"/>
              </a:rPr>
              <a:t>MODULE</a:t>
            </a:r>
            <a:endParaRPr lang="en-US" sz="1300" dirty="0"/>
          </a:p>
        </p:txBody>
      </p:sp>
      <p:sp>
        <p:nvSpPr>
          <p:cNvPr id="7" name="Text 4"/>
          <p:cNvSpPr/>
          <p:nvPr/>
        </p:nvSpPr>
        <p:spPr>
          <a:xfrm>
            <a:off x="548640" y="960120"/>
            <a:ext cx="2194560" cy="1554480"/>
          </a:xfrm>
          <a:prstGeom prst="rect">
            <a:avLst/>
          </a:prstGeom>
          <a:noFill/>
          <a:ln/>
        </p:spPr>
        <p:txBody>
          <a:bodyPr wrap="square" lIns="0" tIns="0" rIns="0" bIns="0" rtlCol="0" anchor="ctr"/>
          <a:lstStyle/>
          <a:p>
            <a:pPr indent="0" marL="0">
              <a:buNone/>
            </a:pPr>
            <a:r>
              <a:rPr lang="en-US" sz="9600" b="1" dirty="0">
                <a:solidFill>
                  <a:srgbClr val="E8491D"/>
                </a:solidFill>
                <a:latin typeface="Arial" pitchFamily="34" charset="0"/>
                <a:ea typeface="Arial" pitchFamily="34" charset="-122"/>
                <a:cs typeface="Arial" pitchFamily="34" charset="-120"/>
              </a:rPr>
              <a:t>05</a:t>
            </a:r>
            <a:endParaRPr lang="en-US" sz="9600" dirty="0"/>
          </a:p>
        </p:txBody>
      </p:sp>
      <p:sp>
        <p:nvSpPr>
          <p:cNvPr id="8" name="Text 5"/>
          <p:cNvSpPr/>
          <p:nvPr/>
        </p:nvSpPr>
        <p:spPr>
          <a:xfrm>
            <a:off x="594360" y="2651760"/>
            <a:ext cx="6309360" cy="1143000"/>
          </a:xfrm>
          <a:prstGeom prst="rect">
            <a:avLst/>
          </a:prstGeom>
          <a:noFill/>
          <a:ln/>
        </p:spPr>
        <p:txBody>
          <a:bodyPr wrap="square" lIns="0" tIns="0" rIns="0" bIns="0" rtlCol="0" anchor="ctr"/>
          <a:lstStyle/>
          <a:p>
            <a:pPr indent="0" marL="0">
              <a:lnSpc>
                <a:spcPts val="3600"/>
              </a:lnSpc>
              <a:buNone/>
            </a:pPr>
            <a:r>
              <a:rPr lang="en-US" sz="3100" b="1" dirty="0">
                <a:solidFill>
                  <a:srgbClr val="FFFFFF"/>
                </a:solidFill>
                <a:latin typeface="Arial" pitchFamily="34" charset="0"/>
                <a:ea typeface="Arial" pitchFamily="34" charset="-122"/>
                <a:cs typeface="Arial" pitchFamily="34" charset="-120"/>
              </a:rPr>
              <a:t>Incident Command &amp;</a:t>
            </a:r>
            <a:endParaRPr lang="en-US" sz="3100" dirty="0"/>
          </a:p>
          <a:p>
            <a:pPr indent="0" marL="0">
              <a:lnSpc>
                <a:spcPts val="3600"/>
              </a:lnSpc>
              <a:buNone/>
            </a:pPr>
            <a:r>
              <a:rPr lang="en-US" sz="3100" b="1" dirty="0">
                <a:solidFill>
                  <a:srgbClr val="FFFFFF"/>
                </a:solidFill>
                <a:latin typeface="Arial" pitchFamily="34" charset="0"/>
                <a:ea typeface="Arial" pitchFamily="34" charset="-122"/>
                <a:cs typeface="Arial" pitchFamily="34" charset="-120"/>
              </a:rPr>
              <a:t>Emergency Control</a:t>
            </a:r>
            <a:endParaRPr lang="en-US" sz="3100" dirty="0"/>
          </a:p>
        </p:txBody>
      </p:sp>
      <p:sp>
        <p:nvSpPr>
          <p:cNvPr id="9" name="Text 6"/>
          <p:cNvSpPr/>
          <p:nvPr/>
        </p:nvSpPr>
        <p:spPr>
          <a:xfrm>
            <a:off x="594360" y="3840480"/>
            <a:ext cx="6126480" cy="685800"/>
          </a:xfrm>
          <a:prstGeom prst="rect">
            <a:avLst/>
          </a:prstGeom>
          <a:noFill/>
          <a:ln/>
        </p:spPr>
        <p:txBody>
          <a:bodyPr wrap="square" lIns="0" tIns="0" rIns="0" bIns="0" rtlCol="0" anchor="ctr"/>
          <a:lstStyle/>
          <a:p>
            <a:pPr indent="0" marL="0">
              <a:buNone/>
            </a:pPr>
            <a:r>
              <a:rPr lang="en-US" sz="1350" b="1" dirty="0">
                <a:solidFill>
                  <a:srgbClr val="F5A623"/>
                </a:solidFill>
                <a:latin typeface="Arial" pitchFamily="34" charset="0"/>
                <a:ea typeface="Arial" pitchFamily="34" charset="-122"/>
                <a:cs typeface="Arial" pitchFamily="34" charset="-120"/>
              </a:rPr>
              <a:t>OBJECTIVE — </a:t>
            </a:r>
            <a:pPr indent="0" marL="0">
              <a:buNone/>
            </a:pPr>
            <a:r>
              <a:rPr lang="en-US" sz="1350" dirty="0">
                <a:solidFill>
                  <a:srgbClr val="D9DEE2"/>
                </a:solidFill>
                <a:latin typeface="Arial" pitchFamily="34" charset="0"/>
                <a:ea typeface="Arial" pitchFamily="34" charset="-122"/>
                <a:cs typeface="Arial" pitchFamily="34" charset="-120"/>
              </a:rPr>
              <a:t>Apply structured command systems to control the whole emergency.</a:t>
            </a:r>
            <a:endParaRPr lang="en-US" sz="1350" dirty="0"/>
          </a:p>
        </p:txBody>
      </p:sp>
      <p:sp>
        <p:nvSpPr>
          <p:cNvPr id="10" name="Shape 7"/>
          <p:cNvSpPr/>
          <p:nvPr/>
        </p:nvSpPr>
        <p:spPr>
          <a:xfrm>
            <a:off x="594360" y="4828032"/>
            <a:ext cx="146304" cy="146304"/>
          </a:xfrm>
          <a:prstGeom prst="ellipse">
            <a:avLst/>
          </a:prstGeom>
          <a:solidFill>
            <a:srgbClr val="E8491D"/>
          </a:solidFill>
          <a:ln/>
        </p:spPr>
      </p:sp>
      <p:sp>
        <p:nvSpPr>
          <p:cNvPr id="11" name="Text 8"/>
          <p:cNvSpPr/>
          <p:nvPr/>
        </p:nvSpPr>
        <p:spPr>
          <a:xfrm>
            <a:off x="886968" y="4709160"/>
            <a:ext cx="2743200" cy="5029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Incident command principles</a:t>
            </a:r>
            <a:endParaRPr lang="en-US" sz="1150" dirty="0"/>
          </a:p>
        </p:txBody>
      </p:sp>
      <p:sp>
        <p:nvSpPr>
          <p:cNvPr id="12" name="Shape 9"/>
          <p:cNvSpPr/>
          <p:nvPr/>
        </p:nvSpPr>
        <p:spPr>
          <a:xfrm>
            <a:off x="3749040" y="4828032"/>
            <a:ext cx="146304" cy="146304"/>
          </a:xfrm>
          <a:prstGeom prst="ellipse">
            <a:avLst/>
          </a:prstGeom>
          <a:solidFill>
            <a:srgbClr val="E8491D"/>
          </a:solidFill>
          <a:ln/>
        </p:spPr>
      </p:sp>
      <p:sp>
        <p:nvSpPr>
          <p:cNvPr id="13" name="Text 10"/>
          <p:cNvSpPr/>
          <p:nvPr/>
        </p:nvSpPr>
        <p:spPr>
          <a:xfrm>
            <a:off x="4041648" y="4709160"/>
            <a:ext cx="2743200" cy="5029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Control zones &amp; structure</a:t>
            </a:r>
            <a:endParaRPr lang="en-US" sz="1150" dirty="0"/>
          </a:p>
        </p:txBody>
      </p:sp>
      <p:sp>
        <p:nvSpPr>
          <p:cNvPr id="14" name="Shape 11"/>
          <p:cNvSpPr/>
          <p:nvPr/>
        </p:nvSpPr>
        <p:spPr>
          <a:xfrm>
            <a:off x="594360" y="5486400"/>
            <a:ext cx="146304" cy="146304"/>
          </a:xfrm>
          <a:prstGeom prst="ellipse">
            <a:avLst/>
          </a:prstGeom>
          <a:solidFill>
            <a:srgbClr val="E8491D"/>
          </a:solidFill>
          <a:ln/>
        </p:spPr>
      </p:sp>
      <p:sp>
        <p:nvSpPr>
          <p:cNvPr id="15" name="Text 12"/>
          <p:cNvSpPr/>
          <p:nvPr/>
        </p:nvSpPr>
        <p:spPr>
          <a:xfrm>
            <a:off x="886968" y="5367528"/>
            <a:ext cx="2743200" cy="5029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Escalation management</a:t>
            </a:r>
            <a:endParaRPr lang="en-US" sz="1150" dirty="0"/>
          </a:p>
        </p:txBody>
      </p:sp>
      <p:sp>
        <p:nvSpPr>
          <p:cNvPr id="16" name="Shape 13"/>
          <p:cNvSpPr/>
          <p:nvPr/>
        </p:nvSpPr>
        <p:spPr>
          <a:xfrm>
            <a:off x="3749040" y="5486400"/>
            <a:ext cx="146304" cy="146304"/>
          </a:xfrm>
          <a:prstGeom prst="ellipse">
            <a:avLst/>
          </a:prstGeom>
          <a:solidFill>
            <a:srgbClr val="E8491D"/>
          </a:solidFill>
          <a:ln/>
        </p:spPr>
      </p:sp>
      <p:sp>
        <p:nvSpPr>
          <p:cNvPr id="17" name="Text 14"/>
          <p:cNvSpPr/>
          <p:nvPr/>
        </p:nvSpPr>
        <p:spPr>
          <a:xfrm>
            <a:off x="4041648" y="5367528"/>
            <a:ext cx="2743200" cy="5029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Accountability systems</a:t>
            </a:r>
            <a:endParaRPr lang="en-US" sz="1150" dirty="0"/>
          </a:p>
        </p:txBody>
      </p:sp>
      <p:sp>
        <p:nvSpPr>
          <p:cNvPr id="18" name="Shape 15"/>
          <p:cNvSpPr/>
          <p:nvPr/>
        </p:nvSpPr>
        <p:spPr>
          <a:xfrm>
            <a:off x="6080760" y="777240"/>
            <a:ext cx="640080" cy="640080"/>
          </a:xfrm>
          <a:prstGeom prst="ellipse">
            <a:avLst/>
          </a:prstGeom>
          <a:solidFill>
            <a:srgbClr val="1F262C"/>
          </a:solidFill>
          <a:ln/>
        </p:spPr>
      </p:sp>
      <p:pic>
        <p:nvPicPr>
          <p:cNvPr id="19" name="Image 1" descr="/tmp/claude-0/-home-user-My-Future-Idaes/0806094f-208a-506e-82b2-f78683d50c82/scratchpad/icons/FaSitemap_flame.png">    </p:cNvPr>
          <p:cNvPicPr>
            <a:picLocks noChangeAspect="1"/>
          </p:cNvPicPr>
          <p:nvPr/>
        </p:nvPicPr>
        <p:blipFill>
          <a:blip r:embed="rId2"/>
          <a:stretch>
            <a:fillRect/>
          </a:stretch>
        </p:blipFill>
        <p:spPr>
          <a:xfrm>
            <a:off x="6234379" y="930859"/>
            <a:ext cx="332842" cy="332842"/>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52</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5</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Incident command: structure beats chaos</a:t>
            </a:r>
            <a:endParaRPr lang="en-US" sz="3000" dirty="0"/>
          </a:p>
        </p:txBody>
      </p:sp>
      <p:sp>
        <p:nvSpPr>
          <p:cNvPr id="6" name="Shape 4"/>
          <p:cNvSpPr/>
          <p:nvPr/>
        </p:nvSpPr>
        <p:spPr>
          <a:xfrm>
            <a:off x="594360" y="1783080"/>
            <a:ext cx="2544318" cy="2468880"/>
          </a:xfrm>
          <a:prstGeom prst="roundRect">
            <a:avLst>
              <a:gd name="adj" fmla="val 3704"/>
            </a:avLst>
          </a:prstGeom>
          <a:solidFill>
            <a:srgbClr val="F3F4F5"/>
          </a:solidFill>
          <a:ln/>
        </p:spPr>
      </p:sp>
      <p:sp>
        <p:nvSpPr>
          <p:cNvPr id="7" name="Shape 5"/>
          <p:cNvSpPr/>
          <p:nvPr/>
        </p:nvSpPr>
        <p:spPr>
          <a:xfrm>
            <a:off x="795528" y="1993392"/>
            <a:ext cx="512064" cy="512064"/>
          </a:xfrm>
          <a:prstGeom prst="ellipse">
            <a:avLst/>
          </a:prstGeom>
          <a:solidFill>
            <a:srgbClr val="E8491D"/>
          </a:solidFill>
          <a:ln/>
        </p:spPr>
      </p:sp>
      <p:pic>
        <p:nvPicPr>
          <p:cNvPr id="8" name="Image 0" descr="/tmp/claude-0/-home-user-My-Future-Idaes/0806094f-208a-506e-82b2-f78683d50c82/scratchpad/icons/FaUserShield_white.png">    </p:cNvPr>
          <p:cNvPicPr>
            <a:picLocks noChangeAspect="1"/>
          </p:cNvPicPr>
          <p:nvPr/>
        </p:nvPicPr>
        <p:blipFill>
          <a:blip r:embed="rId1"/>
          <a:stretch>
            <a:fillRect/>
          </a:stretch>
        </p:blipFill>
        <p:spPr>
          <a:xfrm>
            <a:off x="918423" y="2116287"/>
            <a:ext cx="266273" cy="266273"/>
          </a:xfrm>
          <a:prstGeom prst="rect">
            <a:avLst/>
          </a:prstGeom>
        </p:spPr>
      </p:pic>
      <p:sp>
        <p:nvSpPr>
          <p:cNvPr id="9" name="Text 6"/>
          <p:cNvSpPr/>
          <p:nvPr/>
        </p:nvSpPr>
        <p:spPr>
          <a:xfrm>
            <a:off x="795528" y="2651760"/>
            <a:ext cx="2141982" cy="566928"/>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Unity of command</a:t>
            </a:r>
            <a:endParaRPr lang="en-US" sz="1250" dirty="0"/>
          </a:p>
        </p:txBody>
      </p:sp>
      <p:sp>
        <p:nvSpPr>
          <p:cNvPr id="10" name="Text 7"/>
          <p:cNvSpPr/>
          <p:nvPr/>
        </p:nvSpPr>
        <p:spPr>
          <a:xfrm>
            <a:off x="795528" y="3246120"/>
            <a:ext cx="2141982" cy="91440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Every person answers to exactly one leader. Two bosses on one crew is zero bosses.</a:t>
            </a:r>
            <a:endParaRPr lang="en-US" sz="1000" dirty="0"/>
          </a:p>
        </p:txBody>
      </p:sp>
      <p:sp>
        <p:nvSpPr>
          <p:cNvPr id="11" name="Shape 8"/>
          <p:cNvSpPr/>
          <p:nvPr/>
        </p:nvSpPr>
        <p:spPr>
          <a:xfrm>
            <a:off x="3412998" y="1783080"/>
            <a:ext cx="2544318" cy="2468880"/>
          </a:xfrm>
          <a:prstGeom prst="roundRect">
            <a:avLst>
              <a:gd name="adj" fmla="val 3704"/>
            </a:avLst>
          </a:prstGeom>
          <a:solidFill>
            <a:srgbClr val="F3F4F5"/>
          </a:solidFill>
          <a:ln/>
        </p:spPr>
      </p:sp>
      <p:sp>
        <p:nvSpPr>
          <p:cNvPr id="12" name="Shape 9"/>
          <p:cNvSpPr/>
          <p:nvPr/>
        </p:nvSpPr>
        <p:spPr>
          <a:xfrm>
            <a:off x="3614166" y="1993392"/>
            <a:ext cx="512064" cy="512064"/>
          </a:xfrm>
          <a:prstGeom prst="ellipse">
            <a:avLst/>
          </a:prstGeom>
          <a:solidFill>
            <a:srgbClr val="E8491D"/>
          </a:solidFill>
          <a:ln/>
        </p:spPr>
      </p:sp>
      <p:pic>
        <p:nvPicPr>
          <p:cNvPr id="13" name="Image 1" descr="/tmp/claude-0/-home-user-My-Future-Idaes/0806094f-208a-506e-82b2-f78683d50c82/scratchpad/icons/FaListOl_white.png">    </p:cNvPr>
          <p:cNvPicPr>
            <a:picLocks noChangeAspect="1"/>
          </p:cNvPicPr>
          <p:nvPr/>
        </p:nvPicPr>
        <p:blipFill>
          <a:blip r:embed="rId2"/>
          <a:stretch>
            <a:fillRect/>
          </a:stretch>
        </p:blipFill>
        <p:spPr>
          <a:xfrm>
            <a:off x="3737061" y="2116287"/>
            <a:ext cx="266273" cy="266273"/>
          </a:xfrm>
          <a:prstGeom prst="rect">
            <a:avLst/>
          </a:prstGeom>
        </p:spPr>
      </p:pic>
      <p:sp>
        <p:nvSpPr>
          <p:cNvPr id="14" name="Text 10"/>
          <p:cNvSpPr/>
          <p:nvPr/>
        </p:nvSpPr>
        <p:spPr>
          <a:xfrm>
            <a:off x="3614166" y="2651760"/>
            <a:ext cx="2141982" cy="566928"/>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Manageable span</a:t>
            </a:r>
            <a:endParaRPr lang="en-US" sz="1250" dirty="0"/>
          </a:p>
        </p:txBody>
      </p:sp>
      <p:sp>
        <p:nvSpPr>
          <p:cNvPr id="15" name="Text 11"/>
          <p:cNvSpPr/>
          <p:nvPr/>
        </p:nvSpPr>
        <p:spPr>
          <a:xfrm>
            <a:off x="3614166" y="3246120"/>
            <a:ext cx="2141982" cy="91440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1 to 5 reporting units per leader. Grow the structure, not the span.</a:t>
            </a:r>
            <a:endParaRPr lang="en-US" sz="1000" dirty="0"/>
          </a:p>
        </p:txBody>
      </p:sp>
      <p:sp>
        <p:nvSpPr>
          <p:cNvPr id="16" name="Shape 12"/>
          <p:cNvSpPr/>
          <p:nvPr/>
        </p:nvSpPr>
        <p:spPr>
          <a:xfrm>
            <a:off x="6231636" y="1783080"/>
            <a:ext cx="2544318" cy="2468880"/>
          </a:xfrm>
          <a:prstGeom prst="roundRect">
            <a:avLst>
              <a:gd name="adj" fmla="val 3704"/>
            </a:avLst>
          </a:prstGeom>
          <a:solidFill>
            <a:srgbClr val="F3F4F5"/>
          </a:solidFill>
          <a:ln/>
        </p:spPr>
      </p:sp>
      <p:sp>
        <p:nvSpPr>
          <p:cNvPr id="17" name="Shape 13"/>
          <p:cNvSpPr/>
          <p:nvPr/>
        </p:nvSpPr>
        <p:spPr>
          <a:xfrm>
            <a:off x="6432804" y="1993392"/>
            <a:ext cx="512064" cy="512064"/>
          </a:xfrm>
          <a:prstGeom prst="ellipse">
            <a:avLst/>
          </a:prstGeom>
          <a:solidFill>
            <a:srgbClr val="E8491D"/>
          </a:solidFill>
          <a:ln/>
        </p:spPr>
      </p:sp>
      <p:pic>
        <p:nvPicPr>
          <p:cNvPr id="18" name="Image 2" descr="/tmp/claude-0/-home-user-My-Future-Idaes/0806094f-208a-506e-82b2-f78683d50c82/scratchpad/icons/FaCrosshairs_white.png">    </p:cNvPr>
          <p:cNvPicPr>
            <a:picLocks noChangeAspect="1"/>
          </p:cNvPicPr>
          <p:nvPr/>
        </p:nvPicPr>
        <p:blipFill>
          <a:blip r:embed="rId3"/>
          <a:stretch>
            <a:fillRect/>
          </a:stretch>
        </p:blipFill>
        <p:spPr>
          <a:xfrm>
            <a:off x="6555699" y="2116287"/>
            <a:ext cx="266273" cy="266273"/>
          </a:xfrm>
          <a:prstGeom prst="rect">
            <a:avLst/>
          </a:prstGeom>
        </p:spPr>
      </p:pic>
      <p:sp>
        <p:nvSpPr>
          <p:cNvPr id="19" name="Text 14"/>
          <p:cNvSpPr/>
          <p:nvPr/>
        </p:nvSpPr>
        <p:spPr>
          <a:xfrm>
            <a:off x="6432804" y="2651760"/>
            <a:ext cx="2141982" cy="566928"/>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Objectives-driven</a:t>
            </a:r>
            <a:endParaRPr lang="en-US" sz="1250" dirty="0"/>
          </a:p>
        </p:txBody>
      </p:sp>
      <p:sp>
        <p:nvSpPr>
          <p:cNvPr id="20" name="Text 15"/>
          <p:cNvSpPr/>
          <p:nvPr/>
        </p:nvSpPr>
        <p:spPr>
          <a:xfrm>
            <a:off x="6432804" y="3246120"/>
            <a:ext cx="2141982" cy="91440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Command sets clear incident objectives; sectors turn them into tasks; crews execute.</a:t>
            </a:r>
            <a:endParaRPr lang="en-US" sz="1000" dirty="0"/>
          </a:p>
        </p:txBody>
      </p:sp>
      <p:sp>
        <p:nvSpPr>
          <p:cNvPr id="21" name="Shape 16"/>
          <p:cNvSpPr/>
          <p:nvPr/>
        </p:nvSpPr>
        <p:spPr>
          <a:xfrm>
            <a:off x="9050274" y="1783080"/>
            <a:ext cx="2544318" cy="2468880"/>
          </a:xfrm>
          <a:prstGeom prst="roundRect">
            <a:avLst>
              <a:gd name="adj" fmla="val 3704"/>
            </a:avLst>
          </a:prstGeom>
          <a:solidFill>
            <a:srgbClr val="F3F4F5"/>
          </a:solidFill>
          <a:ln/>
        </p:spPr>
      </p:sp>
      <p:sp>
        <p:nvSpPr>
          <p:cNvPr id="22" name="Shape 17"/>
          <p:cNvSpPr/>
          <p:nvPr/>
        </p:nvSpPr>
        <p:spPr>
          <a:xfrm>
            <a:off x="9251442" y="1993392"/>
            <a:ext cx="512064" cy="512064"/>
          </a:xfrm>
          <a:prstGeom prst="ellipse">
            <a:avLst/>
          </a:prstGeom>
          <a:solidFill>
            <a:srgbClr val="E8491D"/>
          </a:solidFill>
          <a:ln/>
        </p:spPr>
      </p:sp>
      <p:pic>
        <p:nvPicPr>
          <p:cNvPr id="23" name="Image 3" descr="/tmp/claude-0/-home-user-My-Future-Idaes/0806094f-208a-506e-82b2-f78683d50c82/scratchpad/icons/FaLayerGroup_white.png">    </p:cNvPr>
          <p:cNvPicPr>
            <a:picLocks noChangeAspect="1"/>
          </p:cNvPicPr>
          <p:nvPr/>
        </p:nvPicPr>
        <p:blipFill>
          <a:blip r:embed="rId4"/>
          <a:stretch>
            <a:fillRect/>
          </a:stretch>
        </p:blipFill>
        <p:spPr>
          <a:xfrm>
            <a:off x="9374337" y="2116287"/>
            <a:ext cx="266273" cy="266273"/>
          </a:xfrm>
          <a:prstGeom prst="rect">
            <a:avLst/>
          </a:prstGeom>
        </p:spPr>
      </p:pic>
      <p:sp>
        <p:nvSpPr>
          <p:cNvPr id="24" name="Text 18"/>
          <p:cNvSpPr/>
          <p:nvPr/>
        </p:nvSpPr>
        <p:spPr>
          <a:xfrm>
            <a:off x="9251442" y="2651760"/>
            <a:ext cx="2141982" cy="566928"/>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Modular expansion</a:t>
            </a:r>
            <a:endParaRPr lang="en-US" sz="1250" dirty="0"/>
          </a:p>
        </p:txBody>
      </p:sp>
      <p:sp>
        <p:nvSpPr>
          <p:cNvPr id="25" name="Text 19"/>
          <p:cNvSpPr/>
          <p:nvPr/>
        </p:nvSpPr>
        <p:spPr>
          <a:xfrm>
            <a:off x="9251442" y="3246120"/>
            <a:ext cx="2141982" cy="91440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The system starts small and grows with the incident — same structure at every size.</a:t>
            </a:r>
            <a:endParaRPr lang="en-US" sz="1000" dirty="0"/>
          </a:p>
        </p:txBody>
      </p:sp>
      <p:sp>
        <p:nvSpPr>
          <p:cNvPr id="26" name="Shape 20"/>
          <p:cNvSpPr/>
          <p:nvPr/>
        </p:nvSpPr>
        <p:spPr>
          <a:xfrm>
            <a:off x="594360" y="4572000"/>
            <a:ext cx="11000232" cy="1508760"/>
          </a:xfrm>
          <a:prstGeom prst="roundRect">
            <a:avLst>
              <a:gd name="adj" fmla="val 6061"/>
            </a:avLst>
          </a:prstGeom>
          <a:solidFill>
            <a:srgbClr val="14181C"/>
          </a:solidFill>
          <a:ln/>
        </p:spPr>
      </p:sp>
      <p:sp>
        <p:nvSpPr>
          <p:cNvPr id="27" name="Text 21"/>
          <p:cNvSpPr/>
          <p:nvPr/>
        </p:nvSpPr>
        <p:spPr>
          <a:xfrm>
            <a:off x="868680" y="4736592"/>
            <a:ext cx="10058400" cy="274320"/>
          </a:xfrm>
          <a:prstGeom prst="rect">
            <a:avLst/>
          </a:prstGeom>
          <a:noFill/>
          <a:ln/>
        </p:spPr>
        <p:txBody>
          <a:bodyPr wrap="square" lIns="0" tIns="0" rIns="0" bIns="0" rtlCol="0" anchor="ctr"/>
          <a:lstStyle/>
          <a:p>
            <a:pPr indent="0" marL="0">
              <a:buNone/>
            </a:pPr>
            <a:r>
              <a:rPr lang="en-US" sz="1100" b="1" spc="150" kern="0" dirty="0">
                <a:solidFill>
                  <a:srgbClr val="F5A623"/>
                </a:solidFill>
                <a:latin typeface="Arial" pitchFamily="34" charset="0"/>
                <a:ea typeface="Arial" pitchFamily="34" charset="-122"/>
                <a:cs typeface="Arial" pitchFamily="34" charset="-120"/>
              </a:rPr>
              <a:t>RIG INCIDENT COMMAND — TYPICAL FIRST STRUCTURE</a:t>
            </a:r>
            <a:endParaRPr lang="en-US" sz="1100" dirty="0"/>
          </a:p>
        </p:txBody>
      </p:sp>
      <p:sp>
        <p:nvSpPr>
          <p:cNvPr id="28" name="Shape 22"/>
          <p:cNvSpPr/>
          <p:nvPr/>
        </p:nvSpPr>
        <p:spPr>
          <a:xfrm>
            <a:off x="868680" y="5074920"/>
            <a:ext cx="1956816" cy="777240"/>
          </a:xfrm>
          <a:prstGeom prst="roundRect">
            <a:avLst>
              <a:gd name="adj" fmla="val 9412"/>
            </a:avLst>
          </a:prstGeom>
          <a:solidFill>
            <a:srgbClr val="E8491D"/>
          </a:solidFill>
          <a:ln w="6350">
            <a:solidFill>
              <a:srgbClr val="39434B"/>
            </a:solidFill>
            <a:prstDash val="solid"/>
          </a:ln>
        </p:spPr>
      </p:sp>
      <p:sp>
        <p:nvSpPr>
          <p:cNvPr id="29" name="Text 23"/>
          <p:cNvSpPr/>
          <p:nvPr/>
        </p:nvSpPr>
        <p:spPr>
          <a:xfrm>
            <a:off x="868680" y="5074920"/>
            <a:ext cx="1956816" cy="777240"/>
          </a:xfrm>
          <a:prstGeom prst="rect">
            <a:avLst/>
          </a:prstGeom>
          <a:noFill/>
          <a:ln/>
        </p:spPr>
        <p:txBody>
          <a:bodyPr wrap="square" lIns="381" tIns="381" rIns="381" bIns="381"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On-Scene Commander</a:t>
            </a:r>
            <a:endParaRPr lang="en-US" sz="950" dirty="0"/>
          </a:p>
          <a:p>
            <a:pPr algn="ctr" indent="0" marL="0">
              <a:buNone/>
            </a:pPr>
            <a:r>
              <a:rPr lang="en-US" sz="950" b="1" dirty="0">
                <a:solidFill>
                  <a:srgbClr val="FFFFFF"/>
                </a:solidFill>
                <a:latin typeface="Arial" pitchFamily="34" charset="0"/>
                <a:ea typeface="Arial" pitchFamily="34" charset="-122"/>
                <a:cs typeface="Arial" pitchFamily="34" charset="-120"/>
              </a:rPr>
              <a:t>(Fire Team Leader)</a:t>
            </a:r>
            <a:endParaRPr lang="en-US" sz="950" dirty="0"/>
          </a:p>
        </p:txBody>
      </p:sp>
      <p:sp>
        <p:nvSpPr>
          <p:cNvPr id="30" name="Shape 24"/>
          <p:cNvSpPr/>
          <p:nvPr/>
        </p:nvSpPr>
        <p:spPr>
          <a:xfrm>
            <a:off x="3026664" y="5074920"/>
            <a:ext cx="1956816" cy="777240"/>
          </a:xfrm>
          <a:prstGeom prst="roundRect">
            <a:avLst>
              <a:gd name="adj" fmla="val 9412"/>
            </a:avLst>
          </a:prstGeom>
          <a:solidFill>
            <a:srgbClr val="1F262C"/>
          </a:solidFill>
          <a:ln w="6350">
            <a:solidFill>
              <a:srgbClr val="39434B"/>
            </a:solidFill>
            <a:prstDash val="solid"/>
          </a:ln>
        </p:spPr>
      </p:sp>
      <p:sp>
        <p:nvSpPr>
          <p:cNvPr id="31" name="Text 25"/>
          <p:cNvSpPr/>
          <p:nvPr/>
        </p:nvSpPr>
        <p:spPr>
          <a:xfrm>
            <a:off x="3026664" y="5074920"/>
            <a:ext cx="1956816" cy="777240"/>
          </a:xfrm>
          <a:prstGeom prst="rect">
            <a:avLst/>
          </a:prstGeom>
          <a:noFill/>
          <a:ln/>
        </p:spPr>
        <p:txBody>
          <a:bodyPr wrap="square" lIns="381" tIns="381" rIns="381" bIns="381" rtlCol="0" anchor="ctr"/>
          <a:lstStyle/>
          <a:p>
            <a:pPr algn="ctr" indent="0" marL="0">
              <a:buNone/>
            </a:pPr>
            <a:r>
              <a:rPr lang="en-US" sz="950" dirty="0">
                <a:solidFill>
                  <a:srgbClr val="FFFFFF"/>
                </a:solidFill>
                <a:latin typeface="Arial" pitchFamily="34" charset="0"/>
                <a:ea typeface="Arial" pitchFamily="34" charset="-122"/>
                <a:cs typeface="Arial" pitchFamily="34" charset="-120"/>
              </a:rPr>
              <a:t>Attack Sector</a:t>
            </a:r>
            <a:endParaRPr lang="en-US" sz="950" dirty="0"/>
          </a:p>
        </p:txBody>
      </p:sp>
      <p:sp>
        <p:nvSpPr>
          <p:cNvPr id="32" name="Shape 26"/>
          <p:cNvSpPr/>
          <p:nvPr/>
        </p:nvSpPr>
        <p:spPr>
          <a:xfrm>
            <a:off x="5184648" y="5074920"/>
            <a:ext cx="1956816" cy="777240"/>
          </a:xfrm>
          <a:prstGeom prst="roundRect">
            <a:avLst>
              <a:gd name="adj" fmla="val 9412"/>
            </a:avLst>
          </a:prstGeom>
          <a:solidFill>
            <a:srgbClr val="1F262C"/>
          </a:solidFill>
          <a:ln w="6350">
            <a:solidFill>
              <a:srgbClr val="39434B"/>
            </a:solidFill>
            <a:prstDash val="solid"/>
          </a:ln>
        </p:spPr>
      </p:sp>
      <p:sp>
        <p:nvSpPr>
          <p:cNvPr id="33" name="Text 27"/>
          <p:cNvSpPr/>
          <p:nvPr/>
        </p:nvSpPr>
        <p:spPr>
          <a:xfrm>
            <a:off x="5184648" y="5074920"/>
            <a:ext cx="1956816" cy="777240"/>
          </a:xfrm>
          <a:prstGeom prst="rect">
            <a:avLst/>
          </a:prstGeom>
          <a:noFill/>
          <a:ln/>
        </p:spPr>
        <p:txBody>
          <a:bodyPr wrap="square" lIns="381" tIns="381" rIns="381" bIns="381" rtlCol="0" anchor="ctr"/>
          <a:lstStyle/>
          <a:p>
            <a:pPr algn="ctr" indent="0" marL="0">
              <a:buNone/>
            </a:pPr>
            <a:r>
              <a:rPr lang="en-US" sz="950" dirty="0">
                <a:solidFill>
                  <a:srgbClr val="FFFFFF"/>
                </a:solidFill>
                <a:latin typeface="Arial" pitchFamily="34" charset="0"/>
                <a:ea typeface="Arial" pitchFamily="34" charset="-122"/>
                <a:cs typeface="Arial" pitchFamily="34" charset="-120"/>
              </a:rPr>
              <a:t>Exposure / Water Sector</a:t>
            </a:r>
            <a:endParaRPr lang="en-US" sz="950" dirty="0"/>
          </a:p>
        </p:txBody>
      </p:sp>
      <p:sp>
        <p:nvSpPr>
          <p:cNvPr id="34" name="Shape 28"/>
          <p:cNvSpPr/>
          <p:nvPr/>
        </p:nvSpPr>
        <p:spPr>
          <a:xfrm>
            <a:off x="7342632" y="5074920"/>
            <a:ext cx="1956816" cy="777240"/>
          </a:xfrm>
          <a:prstGeom prst="roundRect">
            <a:avLst>
              <a:gd name="adj" fmla="val 9412"/>
            </a:avLst>
          </a:prstGeom>
          <a:solidFill>
            <a:srgbClr val="1F262C"/>
          </a:solidFill>
          <a:ln w="6350">
            <a:solidFill>
              <a:srgbClr val="39434B"/>
            </a:solidFill>
            <a:prstDash val="solid"/>
          </a:ln>
        </p:spPr>
      </p:sp>
      <p:sp>
        <p:nvSpPr>
          <p:cNvPr id="35" name="Text 29"/>
          <p:cNvSpPr/>
          <p:nvPr/>
        </p:nvSpPr>
        <p:spPr>
          <a:xfrm>
            <a:off x="7342632" y="5074920"/>
            <a:ext cx="1956816" cy="777240"/>
          </a:xfrm>
          <a:prstGeom prst="rect">
            <a:avLst/>
          </a:prstGeom>
          <a:noFill/>
          <a:ln/>
        </p:spPr>
        <p:txBody>
          <a:bodyPr wrap="square" lIns="381" tIns="381" rIns="381" bIns="381" rtlCol="0" anchor="ctr"/>
          <a:lstStyle/>
          <a:p>
            <a:pPr algn="ctr" indent="0" marL="0">
              <a:buNone/>
            </a:pPr>
            <a:r>
              <a:rPr lang="en-US" sz="950" dirty="0">
                <a:solidFill>
                  <a:srgbClr val="FFFFFF"/>
                </a:solidFill>
                <a:latin typeface="Arial" pitchFamily="34" charset="0"/>
                <a:ea typeface="Arial" pitchFamily="34" charset="-122"/>
                <a:cs typeface="Arial" pitchFamily="34" charset="-120"/>
              </a:rPr>
              <a:t>Muster &amp; Accountability</a:t>
            </a:r>
            <a:endParaRPr lang="en-US" sz="950" dirty="0"/>
          </a:p>
        </p:txBody>
      </p:sp>
      <p:sp>
        <p:nvSpPr>
          <p:cNvPr id="36" name="Shape 30"/>
          <p:cNvSpPr/>
          <p:nvPr/>
        </p:nvSpPr>
        <p:spPr>
          <a:xfrm>
            <a:off x="9500616" y="5074920"/>
            <a:ext cx="1956816" cy="777240"/>
          </a:xfrm>
          <a:prstGeom prst="roundRect">
            <a:avLst>
              <a:gd name="adj" fmla="val 9412"/>
            </a:avLst>
          </a:prstGeom>
          <a:solidFill>
            <a:srgbClr val="1F262C"/>
          </a:solidFill>
          <a:ln w="6350">
            <a:solidFill>
              <a:srgbClr val="39434B"/>
            </a:solidFill>
            <a:prstDash val="solid"/>
          </a:ln>
        </p:spPr>
      </p:sp>
      <p:sp>
        <p:nvSpPr>
          <p:cNvPr id="37" name="Text 31"/>
          <p:cNvSpPr/>
          <p:nvPr/>
        </p:nvSpPr>
        <p:spPr>
          <a:xfrm>
            <a:off x="9500616" y="5074920"/>
            <a:ext cx="1956816" cy="777240"/>
          </a:xfrm>
          <a:prstGeom prst="rect">
            <a:avLst/>
          </a:prstGeom>
          <a:noFill/>
          <a:ln/>
        </p:spPr>
        <p:txBody>
          <a:bodyPr wrap="square" lIns="381" tIns="381" rIns="381" bIns="381" rtlCol="0" anchor="ctr"/>
          <a:lstStyle/>
          <a:p>
            <a:pPr algn="ctr" indent="0" marL="0">
              <a:buNone/>
            </a:pPr>
            <a:r>
              <a:rPr lang="en-US" sz="950" dirty="0">
                <a:solidFill>
                  <a:srgbClr val="FFFFFF"/>
                </a:solidFill>
                <a:latin typeface="Arial" pitchFamily="34" charset="0"/>
                <a:ea typeface="Arial" pitchFamily="34" charset="-122"/>
                <a:cs typeface="Arial" pitchFamily="34" charset="-120"/>
              </a:rPr>
              <a:t>Medical / Rehab</a:t>
            </a:r>
            <a:endParaRPr lang="en-US" sz="9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53</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5</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Control zones: geography of survival</a:t>
            </a:r>
            <a:endParaRPr lang="en-US" sz="3000" dirty="0"/>
          </a:p>
        </p:txBody>
      </p:sp>
      <p:sp>
        <p:nvSpPr>
          <p:cNvPr id="6" name="Shape 4"/>
          <p:cNvSpPr/>
          <p:nvPr/>
        </p:nvSpPr>
        <p:spPr>
          <a:xfrm>
            <a:off x="640080" y="1874520"/>
            <a:ext cx="5303520" cy="3931920"/>
          </a:xfrm>
          <a:prstGeom prst="ellipse">
            <a:avLst/>
          </a:prstGeom>
          <a:solidFill>
            <a:srgbClr val="DCE3E8"/>
          </a:solidFill>
          <a:ln/>
        </p:spPr>
      </p:sp>
      <p:sp>
        <p:nvSpPr>
          <p:cNvPr id="7" name="Shape 5"/>
          <p:cNvSpPr/>
          <p:nvPr/>
        </p:nvSpPr>
        <p:spPr>
          <a:xfrm>
            <a:off x="1417320" y="2468880"/>
            <a:ext cx="3749040" cy="2743200"/>
          </a:xfrm>
          <a:prstGeom prst="ellipse">
            <a:avLst/>
          </a:prstGeom>
          <a:solidFill>
            <a:srgbClr val="F5A623"/>
          </a:solidFill>
          <a:ln/>
        </p:spPr>
      </p:sp>
      <p:sp>
        <p:nvSpPr>
          <p:cNvPr id="8" name="Shape 6"/>
          <p:cNvSpPr/>
          <p:nvPr/>
        </p:nvSpPr>
        <p:spPr>
          <a:xfrm>
            <a:off x="2194560" y="3063240"/>
            <a:ext cx="2194560" cy="1554480"/>
          </a:xfrm>
          <a:prstGeom prst="ellipse">
            <a:avLst/>
          </a:prstGeom>
          <a:solidFill>
            <a:srgbClr val="E8491D"/>
          </a:solidFill>
          <a:ln/>
        </p:spPr>
      </p:sp>
      <p:sp>
        <p:nvSpPr>
          <p:cNvPr id="9" name="Text 7"/>
          <p:cNvSpPr/>
          <p:nvPr/>
        </p:nvSpPr>
        <p:spPr>
          <a:xfrm>
            <a:off x="2194560" y="3520440"/>
            <a:ext cx="219456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HOT</a:t>
            </a:r>
            <a:endParaRPr lang="en-US" sz="1600" dirty="0"/>
          </a:p>
        </p:txBody>
      </p:sp>
      <p:sp>
        <p:nvSpPr>
          <p:cNvPr id="10" name="Text 8"/>
          <p:cNvSpPr/>
          <p:nvPr/>
        </p:nvSpPr>
        <p:spPr>
          <a:xfrm>
            <a:off x="1417320" y="2542032"/>
            <a:ext cx="3749040" cy="457200"/>
          </a:xfrm>
          <a:prstGeom prst="rect">
            <a:avLst/>
          </a:prstGeom>
          <a:noFill/>
          <a:ln/>
        </p:spPr>
        <p:txBody>
          <a:bodyPr wrap="square" lIns="0" tIns="0" rIns="0" bIns="0" rtlCol="0" anchor="ctr"/>
          <a:lstStyle/>
          <a:p>
            <a:pPr algn="ctr" indent="0" marL="0">
              <a:buNone/>
            </a:pPr>
            <a:r>
              <a:rPr lang="en-US" sz="1300" b="1" dirty="0">
                <a:solidFill>
                  <a:srgbClr val="14181C"/>
                </a:solidFill>
                <a:latin typeface="Arial" pitchFamily="34" charset="0"/>
                <a:ea typeface="Arial" pitchFamily="34" charset="-122"/>
                <a:cs typeface="Arial" pitchFamily="34" charset="-120"/>
              </a:rPr>
              <a:t>WARM</a:t>
            </a:r>
            <a:endParaRPr lang="en-US" sz="1300" dirty="0"/>
          </a:p>
        </p:txBody>
      </p:sp>
      <p:sp>
        <p:nvSpPr>
          <p:cNvPr id="11" name="Text 9"/>
          <p:cNvSpPr/>
          <p:nvPr/>
        </p:nvSpPr>
        <p:spPr>
          <a:xfrm>
            <a:off x="640080" y="1938528"/>
            <a:ext cx="5303520" cy="457200"/>
          </a:xfrm>
          <a:prstGeom prst="rect">
            <a:avLst/>
          </a:prstGeom>
          <a:noFill/>
          <a:ln/>
        </p:spPr>
        <p:txBody>
          <a:bodyPr wrap="square" lIns="0" tIns="0" rIns="0" bIns="0" rtlCol="0" anchor="ctr"/>
          <a:lstStyle/>
          <a:p>
            <a:pPr algn="ctr" indent="0" marL="0">
              <a:buNone/>
            </a:pPr>
            <a:r>
              <a:rPr lang="en-US" sz="1300" b="1" dirty="0">
                <a:solidFill>
                  <a:srgbClr val="5A646C"/>
                </a:solidFill>
                <a:latin typeface="Arial" pitchFamily="34" charset="0"/>
                <a:ea typeface="Arial" pitchFamily="34" charset="-122"/>
                <a:cs typeface="Arial" pitchFamily="34" charset="-120"/>
              </a:rPr>
              <a:t>COLD</a:t>
            </a:r>
            <a:endParaRPr lang="en-US" sz="1300" dirty="0"/>
          </a:p>
        </p:txBody>
      </p:sp>
      <p:sp>
        <p:nvSpPr>
          <p:cNvPr id="12" name="Shape 10"/>
          <p:cNvSpPr/>
          <p:nvPr/>
        </p:nvSpPr>
        <p:spPr>
          <a:xfrm>
            <a:off x="6583680" y="1783080"/>
            <a:ext cx="5029200" cy="1234440"/>
          </a:xfrm>
          <a:prstGeom prst="roundRect">
            <a:avLst>
              <a:gd name="adj" fmla="val 7407"/>
            </a:avLst>
          </a:prstGeom>
          <a:solidFill>
            <a:srgbClr val="F3F4F5"/>
          </a:solidFill>
          <a:ln/>
        </p:spPr>
      </p:sp>
      <p:sp>
        <p:nvSpPr>
          <p:cNvPr id="13" name="Shape 11"/>
          <p:cNvSpPr/>
          <p:nvPr/>
        </p:nvSpPr>
        <p:spPr>
          <a:xfrm>
            <a:off x="6812280" y="2167128"/>
            <a:ext cx="457200" cy="457200"/>
          </a:xfrm>
          <a:prstGeom prst="ellipse">
            <a:avLst/>
          </a:prstGeom>
          <a:solidFill>
            <a:srgbClr val="E8491D"/>
          </a:solidFill>
          <a:ln/>
        </p:spPr>
      </p:sp>
      <p:sp>
        <p:nvSpPr>
          <p:cNvPr id="14" name="Text 12"/>
          <p:cNvSpPr/>
          <p:nvPr/>
        </p:nvSpPr>
        <p:spPr>
          <a:xfrm>
            <a:off x="7452360" y="1892808"/>
            <a:ext cx="4023360" cy="320040"/>
          </a:xfrm>
          <a:prstGeom prst="rect">
            <a:avLst/>
          </a:prstGeom>
          <a:noFill/>
          <a:ln/>
        </p:spPr>
        <p:txBody>
          <a:bodyPr wrap="square" lIns="0" tIns="0" rIns="0" bIns="0" rtlCol="0" anchor="ctr"/>
          <a:lstStyle/>
          <a:p>
            <a:pPr indent="0" marL="0">
              <a:buNone/>
            </a:pPr>
            <a:r>
              <a:rPr lang="en-US" sz="1300" b="1" dirty="0">
                <a:solidFill>
                  <a:srgbClr val="1A2027"/>
                </a:solidFill>
                <a:latin typeface="Arial" pitchFamily="34" charset="0"/>
                <a:ea typeface="Arial" pitchFamily="34" charset="-122"/>
                <a:cs typeface="Arial" pitchFamily="34" charset="-120"/>
              </a:rPr>
              <a:t>HOT ZONE</a:t>
            </a:r>
            <a:endParaRPr lang="en-US" sz="1300" dirty="0"/>
          </a:p>
        </p:txBody>
      </p:sp>
      <p:sp>
        <p:nvSpPr>
          <p:cNvPr id="15" name="Text 13"/>
          <p:cNvSpPr/>
          <p:nvPr/>
        </p:nvSpPr>
        <p:spPr>
          <a:xfrm>
            <a:off x="7452360" y="2212848"/>
            <a:ext cx="4023360" cy="749808"/>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Immediate danger area. Full PPE + BA, tracked entry only, minimum crews, maximum discipline.</a:t>
            </a:r>
            <a:endParaRPr lang="en-US" sz="1050" dirty="0"/>
          </a:p>
        </p:txBody>
      </p:sp>
      <p:sp>
        <p:nvSpPr>
          <p:cNvPr id="16" name="Shape 14"/>
          <p:cNvSpPr/>
          <p:nvPr/>
        </p:nvSpPr>
        <p:spPr>
          <a:xfrm>
            <a:off x="6583680" y="3200400"/>
            <a:ext cx="5029200" cy="1234440"/>
          </a:xfrm>
          <a:prstGeom prst="roundRect">
            <a:avLst>
              <a:gd name="adj" fmla="val 7407"/>
            </a:avLst>
          </a:prstGeom>
          <a:solidFill>
            <a:srgbClr val="F3F4F5"/>
          </a:solidFill>
          <a:ln/>
        </p:spPr>
      </p:sp>
      <p:sp>
        <p:nvSpPr>
          <p:cNvPr id="17" name="Shape 15"/>
          <p:cNvSpPr/>
          <p:nvPr/>
        </p:nvSpPr>
        <p:spPr>
          <a:xfrm>
            <a:off x="6812280" y="3584448"/>
            <a:ext cx="457200" cy="457200"/>
          </a:xfrm>
          <a:prstGeom prst="ellipse">
            <a:avLst/>
          </a:prstGeom>
          <a:solidFill>
            <a:srgbClr val="F5A623"/>
          </a:solidFill>
          <a:ln/>
        </p:spPr>
      </p:sp>
      <p:sp>
        <p:nvSpPr>
          <p:cNvPr id="18" name="Text 16"/>
          <p:cNvSpPr/>
          <p:nvPr/>
        </p:nvSpPr>
        <p:spPr>
          <a:xfrm>
            <a:off x="7452360" y="3310128"/>
            <a:ext cx="4023360" cy="320040"/>
          </a:xfrm>
          <a:prstGeom prst="rect">
            <a:avLst/>
          </a:prstGeom>
          <a:noFill/>
          <a:ln/>
        </p:spPr>
        <p:txBody>
          <a:bodyPr wrap="square" lIns="0" tIns="0" rIns="0" bIns="0" rtlCol="0" anchor="ctr"/>
          <a:lstStyle/>
          <a:p>
            <a:pPr indent="0" marL="0">
              <a:buNone/>
            </a:pPr>
            <a:r>
              <a:rPr lang="en-US" sz="1300" b="1" dirty="0">
                <a:solidFill>
                  <a:srgbClr val="1A2027"/>
                </a:solidFill>
                <a:latin typeface="Arial" pitchFamily="34" charset="0"/>
                <a:ea typeface="Arial" pitchFamily="34" charset="-122"/>
                <a:cs typeface="Arial" pitchFamily="34" charset="-120"/>
              </a:rPr>
              <a:t>WARM ZONE</a:t>
            </a:r>
            <a:endParaRPr lang="en-US" sz="1300" dirty="0"/>
          </a:p>
        </p:txBody>
      </p:sp>
      <p:sp>
        <p:nvSpPr>
          <p:cNvPr id="19" name="Text 17"/>
          <p:cNvSpPr/>
          <p:nvPr/>
        </p:nvSpPr>
        <p:spPr>
          <a:xfrm>
            <a:off x="7452360" y="3630168"/>
            <a:ext cx="4023360" cy="749808"/>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Support ring: entry control, BA staging, decon, equipment pool. Controlled access only.</a:t>
            </a:r>
            <a:endParaRPr lang="en-US" sz="1050" dirty="0"/>
          </a:p>
        </p:txBody>
      </p:sp>
      <p:sp>
        <p:nvSpPr>
          <p:cNvPr id="20" name="Shape 18"/>
          <p:cNvSpPr/>
          <p:nvPr/>
        </p:nvSpPr>
        <p:spPr>
          <a:xfrm>
            <a:off x="6583680" y="4617720"/>
            <a:ext cx="5029200" cy="1234440"/>
          </a:xfrm>
          <a:prstGeom prst="roundRect">
            <a:avLst>
              <a:gd name="adj" fmla="val 7407"/>
            </a:avLst>
          </a:prstGeom>
          <a:solidFill>
            <a:srgbClr val="F3F4F5"/>
          </a:solidFill>
          <a:ln/>
        </p:spPr>
      </p:sp>
      <p:sp>
        <p:nvSpPr>
          <p:cNvPr id="21" name="Shape 19"/>
          <p:cNvSpPr/>
          <p:nvPr/>
        </p:nvSpPr>
        <p:spPr>
          <a:xfrm>
            <a:off x="6812280" y="5001768"/>
            <a:ext cx="457200" cy="457200"/>
          </a:xfrm>
          <a:prstGeom prst="ellipse">
            <a:avLst/>
          </a:prstGeom>
          <a:solidFill>
            <a:srgbClr val="5A646C"/>
          </a:solidFill>
          <a:ln/>
        </p:spPr>
      </p:sp>
      <p:sp>
        <p:nvSpPr>
          <p:cNvPr id="22" name="Text 20"/>
          <p:cNvSpPr/>
          <p:nvPr/>
        </p:nvSpPr>
        <p:spPr>
          <a:xfrm>
            <a:off x="7452360" y="4727448"/>
            <a:ext cx="4023360" cy="320040"/>
          </a:xfrm>
          <a:prstGeom prst="rect">
            <a:avLst/>
          </a:prstGeom>
          <a:noFill/>
          <a:ln/>
        </p:spPr>
        <p:txBody>
          <a:bodyPr wrap="square" lIns="0" tIns="0" rIns="0" bIns="0" rtlCol="0" anchor="ctr"/>
          <a:lstStyle/>
          <a:p>
            <a:pPr indent="0" marL="0">
              <a:buNone/>
            </a:pPr>
            <a:r>
              <a:rPr lang="en-US" sz="1300" b="1" dirty="0">
                <a:solidFill>
                  <a:srgbClr val="1A2027"/>
                </a:solidFill>
                <a:latin typeface="Arial" pitchFamily="34" charset="0"/>
                <a:ea typeface="Arial" pitchFamily="34" charset="-122"/>
                <a:cs typeface="Arial" pitchFamily="34" charset="-120"/>
              </a:rPr>
              <a:t>COLD ZONE</a:t>
            </a:r>
            <a:endParaRPr lang="en-US" sz="1300" dirty="0"/>
          </a:p>
        </p:txBody>
      </p:sp>
      <p:sp>
        <p:nvSpPr>
          <p:cNvPr id="23" name="Text 21"/>
          <p:cNvSpPr/>
          <p:nvPr/>
        </p:nvSpPr>
        <p:spPr>
          <a:xfrm>
            <a:off x="7452360" y="5047488"/>
            <a:ext cx="4023360" cy="749808"/>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Command post, muster points, medical, staging — always upwind, uphill, out of the escalation path.</a:t>
            </a:r>
            <a:endParaRPr lang="en-US" sz="1050" dirty="0"/>
          </a:p>
        </p:txBody>
      </p:sp>
      <p:sp>
        <p:nvSpPr>
          <p:cNvPr id="24" name="Text 22"/>
          <p:cNvSpPr/>
          <p:nvPr/>
        </p:nvSpPr>
        <p:spPr>
          <a:xfrm>
            <a:off x="6583680" y="6035040"/>
            <a:ext cx="5029200" cy="365760"/>
          </a:xfrm>
          <a:prstGeom prst="rect">
            <a:avLst/>
          </a:prstGeom>
          <a:noFill/>
          <a:ln/>
        </p:spPr>
        <p:txBody>
          <a:bodyPr wrap="square" lIns="0" tIns="0" rIns="0" bIns="0" rtlCol="0" anchor="ctr"/>
          <a:lstStyle/>
          <a:p>
            <a:pPr indent="0" marL="0">
              <a:buNone/>
            </a:pPr>
            <a:r>
              <a:rPr lang="en-US" sz="1150" b="1" dirty="0">
                <a:solidFill>
                  <a:srgbClr val="C13415"/>
                </a:solidFill>
                <a:latin typeface="Arial" pitchFamily="34" charset="0"/>
                <a:ea typeface="Arial" pitchFamily="34" charset="-122"/>
                <a:cs typeface="Arial" pitchFamily="34" charset="-120"/>
              </a:rPr>
              <a:t>ICP placement rule:  </a:t>
            </a:r>
            <a:pPr indent="0" marL="0">
              <a:buNone/>
            </a:pPr>
            <a:r>
              <a:rPr lang="en-US" sz="1150" dirty="0">
                <a:solidFill>
                  <a:srgbClr val="5A646C"/>
                </a:solidFill>
                <a:latin typeface="Arial" pitchFamily="34" charset="0"/>
                <a:ea typeface="Arial" pitchFamily="34" charset="-122"/>
                <a:cs typeface="Arial" pitchFamily="34" charset="-120"/>
              </a:rPr>
              <a:t>upwind, sight of the scene, escape route behind you.</a:t>
            </a:r>
            <a:endParaRPr lang="en-US" sz="11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14181C"/>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9AA5AD"/>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9AA5AD"/>
                </a:solidFill>
                <a:latin typeface="Arial" pitchFamily="34" charset="0"/>
                <a:ea typeface="Arial" pitchFamily="34" charset="-122"/>
                <a:cs typeface="Arial" pitchFamily="34" charset="-120"/>
              </a:rPr>
              <a:t>54</a:t>
            </a:r>
            <a:endParaRPr lang="en-US" sz="850" dirty="0"/>
          </a:p>
        </p:txBody>
      </p:sp>
      <p:pic>
        <p:nvPicPr>
          <p:cNvPr id="4" name="Image 0" descr="/home/user/My-Future-Idaes/SANAD-Fire-Team-Leader-Course/assets/img/muster.jpg">    </p:cNvPr>
          <p:cNvPicPr>
            <a:picLocks noChangeAspect="1"/>
          </p:cNvPicPr>
          <p:nvPr/>
        </p:nvPicPr>
        <p:blipFill>
          <a:blip r:embed="rId1"/>
          <a:srcRect l="0" r="0" t="0" b="0"/>
          <a:stretch/>
        </p:blipFill>
        <p:spPr>
          <a:xfrm>
            <a:off x="6309360" y="0"/>
            <a:ext cx="5879592" cy="6858000"/>
          </a:xfrm>
          <a:prstGeom prst="rect">
            <a:avLst/>
          </a:prstGeom>
        </p:spPr>
      </p:pic>
      <p:sp>
        <p:nvSpPr>
          <p:cNvPr id="5" name="Shape 2"/>
          <p:cNvSpPr/>
          <p:nvPr/>
        </p:nvSpPr>
        <p:spPr>
          <a:xfrm>
            <a:off x="6309360" y="0"/>
            <a:ext cx="5879592" cy="6858000"/>
          </a:xfrm>
          <a:prstGeom prst="rect">
            <a:avLst/>
          </a:prstGeom>
          <a:solidFill>
            <a:srgbClr val="14181C">
              <a:alpha val="30000"/>
            </a:srgbClr>
          </a:solidFill>
          <a:ln/>
        </p:spPr>
      </p:sp>
      <p:sp>
        <p:nvSpPr>
          <p:cNvPr id="6" name="Text 3"/>
          <p:cNvSpPr/>
          <p:nvPr/>
        </p:nvSpPr>
        <p:spPr>
          <a:xfrm>
            <a:off x="594360" y="502920"/>
            <a:ext cx="4572000"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5</a:t>
            </a:r>
            <a:endParaRPr lang="en-US" sz="1200" dirty="0"/>
          </a:p>
        </p:txBody>
      </p:sp>
      <p:sp>
        <p:nvSpPr>
          <p:cNvPr id="7" name="Text 4"/>
          <p:cNvSpPr/>
          <p:nvPr/>
        </p:nvSpPr>
        <p:spPr>
          <a:xfrm>
            <a:off x="594360" y="841248"/>
            <a:ext cx="5669280" cy="1188720"/>
          </a:xfrm>
          <a:prstGeom prst="rect">
            <a:avLst/>
          </a:prstGeom>
          <a:noFill/>
          <a:ln/>
        </p:spPr>
        <p:txBody>
          <a:bodyPr wrap="square" lIns="0" tIns="0" rIns="0" bIns="0" rtlCol="0" anchor="ctr"/>
          <a:lstStyle/>
          <a:p>
            <a:pPr indent="0" marL="0">
              <a:lnSpc>
                <a:spcPts val="3000"/>
              </a:lnSpc>
              <a:buNone/>
            </a:pPr>
            <a:r>
              <a:rPr lang="en-US" sz="2600" b="1" dirty="0">
                <a:solidFill>
                  <a:srgbClr val="FFFFFF"/>
                </a:solidFill>
                <a:latin typeface="Arial" pitchFamily="34" charset="0"/>
                <a:ea typeface="Arial" pitchFamily="34" charset="-122"/>
                <a:cs typeface="Arial" pitchFamily="34" charset="-120"/>
              </a:rPr>
              <a:t>Muster: the count that</a:t>
            </a:r>
            <a:endParaRPr lang="en-US" sz="2600" dirty="0"/>
          </a:p>
          <a:p>
            <a:pPr indent="0" marL="0">
              <a:lnSpc>
                <a:spcPts val="3000"/>
              </a:lnSpc>
              <a:buNone/>
            </a:pPr>
            <a:r>
              <a:rPr lang="en-US" sz="2600" b="1" dirty="0">
                <a:solidFill>
                  <a:srgbClr val="FFFFFF"/>
                </a:solidFill>
                <a:latin typeface="Arial" pitchFamily="34" charset="0"/>
                <a:ea typeface="Arial" pitchFamily="34" charset="-122"/>
                <a:cs typeface="Arial" pitchFamily="34" charset="-120"/>
              </a:rPr>
              <a:t>changes everything</a:t>
            </a:r>
            <a:endParaRPr lang="en-US" sz="2600" dirty="0"/>
          </a:p>
        </p:txBody>
      </p:sp>
      <p:sp>
        <p:nvSpPr>
          <p:cNvPr id="8" name="Shape 5"/>
          <p:cNvSpPr/>
          <p:nvPr/>
        </p:nvSpPr>
        <p:spPr>
          <a:xfrm>
            <a:off x="594360" y="2331720"/>
            <a:ext cx="402336" cy="402336"/>
          </a:xfrm>
          <a:prstGeom prst="ellipse">
            <a:avLst/>
          </a:prstGeom>
          <a:solidFill>
            <a:srgbClr val="E8491D"/>
          </a:solidFill>
          <a:ln/>
        </p:spPr>
      </p:sp>
      <p:sp>
        <p:nvSpPr>
          <p:cNvPr id="9" name="Text 6"/>
          <p:cNvSpPr/>
          <p:nvPr/>
        </p:nvSpPr>
        <p:spPr>
          <a:xfrm>
            <a:off x="594360" y="233172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7"/>
          <p:cNvSpPr/>
          <p:nvPr/>
        </p:nvSpPr>
        <p:spPr>
          <a:xfrm>
            <a:off x="1179576" y="2286000"/>
            <a:ext cx="5120640" cy="658368"/>
          </a:xfrm>
          <a:prstGeom prst="rect">
            <a:avLst/>
          </a:prstGeom>
          <a:noFill/>
          <a:ln/>
        </p:spPr>
        <p:txBody>
          <a:bodyPr wrap="square" lIns="0" tIns="0" rIns="0" bIns="0" rtlCol="0" anchor="ctr"/>
          <a:lstStyle/>
          <a:p>
            <a:pPr indent="0" marL="0">
              <a:buNone/>
            </a:pPr>
            <a:r>
              <a:rPr lang="en-US" sz="1150" dirty="0">
                <a:solidFill>
                  <a:srgbClr val="D9DEE2"/>
                </a:solidFill>
                <a:latin typeface="Arial" pitchFamily="34" charset="0"/>
                <a:ea typeface="Arial" pitchFamily="34" charset="-122"/>
                <a:cs typeface="Arial" pitchFamily="34" charset="-120"/>
              </a:rPr>
              <a:t>Alarm → all non-responders to primary muster (upwind alternate if wind dictates)</a:t>
            </a:r>
            <a:endParaRPr lang="en-US" sz="1150" dirty="0"/>
          </a:p>
        </p:txBody>
      </p:sp>
      <p:sp>
        <p:nvSpPr>
          <p:cNvPr id="11" name="Shape 8"/>
          <p:cNvSpPr/>
          <p:nvPr/>
        </p:nvSpPr>
        <p:spPr>
          <a:xfrm>
            <a:off x="594360" y="3044952"/>
            <a:ext cx="402336" cy="402336"/>
          </a:xfrm>
          <a:prstGeom prst="ellipse">
            <a:avLst/>
          </a:prstGeom>
          <a:solidFill>
            <a:srgbClr val="E8491D"/>
          </a:solidFill>
          <a:ln/>
        </p:spPr>
      </p:sp>
      <p:sp>
        <p:nvSpPr>
          <p:cNvPr id="12" name="Text 9"/>
          <p:cNvSpPr/>
          <p:nvPr/>
        </p:nvSpPr>
        <p:spPr>
          <a:xfrm>
            <a:off x="594360" y="304495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3" name="Text 10"/>
          <p:cNvSpPr/>
          <p:nvPr/>
        </p:nvSpPr>
        <p:spPr>
          <a:xfrm>
            <a:off x="1179576" y="2999232"/>
            <a:ext cx="5120640" cy="658368"/>
          </a:xfrm>
          <a:prstGeom prst="rect">
            <a:avLst/>
          </a:prstGeom>
          <a:noFill/>
          <a:ln/>
        </p:spPr>
        <p:txBody>
          <a:bodyPr wrap="square" lIns="0" tIns="0" rIns="0" bIns="0" rtlCol="0" anchor="ctr"/>
          <a:lstStyle/>
          <a:p>
            <a:pPr indent="0" marL="0">
              <a:buNone/>
            </a:pPr>
            <a:r>
              <a:rPr lang="en-US" sz="1150" dirty="0">
                <a:solidFill>
                  <a:srgbClr val="D9DEE2"/>
                </a:solidFill>
                <a:latin typeface="Arial" pitchFamily="34" charset="0"/>
                <a:ea typeface="Arial" pitchFamily="34" charset="-122"/>
                <a:cs typeface="Arial" pitchFamily="34" charset="-120"/>
              </a:rPr>
              <a:t>Muster checkers count against the POB list — live, not from memory</a:t>
            </a:r>
            <a:endParaRPr lang="en-US" sz="1150" dirty="0"/>
          </a:p>
        </p:txBody>
      </p:sp>
      <p:sp>
        <p:nvSpPr>
          <p:cNvPr id="14" name="Shape 11"/>
          <p:cNvSpPr/>
          <p:nvPr/>
        </p:nvSpPr>
        <p:spPr>
          <a:xfrm>
            <a:off x="594360" y="3758184"/>
            <a:ext cx="402336" cy="402336"/>
          </a:xfrm>
          <a:prstGeom prst="ellipse">
            <a:avLst/>
          </a:prstGeom>
          <a:solidFill>
            <a:srgbClr val="E8491D"/>
          </a:solidFill>
          <a:ln/>
        </p:spPr>
      </p:sp>
      <p:sp>
        <p:nvSpPr>
          <p:cNvPr id="15" name="Text 12"/>
          <p:cNvSpPr/>
          <p:nvPr/>
        </p:nvSpPr>
        <p:spPr>
          <a:xfrm>
            <a:off x="594360" y="375818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6" name="Text 13"/>
          <p:cNvSpPr/>
          <p:nvPr/>
        </p:nvSpPr>
        <p:spPr>
          <a:xfrm>
            <a:off x="1179576" y="3712464"/>
            <a:ext cx="5120640" cy="658368"/>
          </a:xfrm>
          <a:prstGeom prst="rect">
            <a:avLst/>
          </a:prstGeom>
          <a:noFill/>
          <a:ln/>
        </p:spPr>
        <p:txBody>
          <a:bodyPr wrap="square" lIns="0" tIns="0" rIns="0" bIns="0" rtlCol="0" anchor="ctr"/>
          <a:lstStyle/>
          <a:p>
            <a:pPr indent="0" marL="0">
              <a:buNone/>
            </a:pPr>
            <a:r>
              <a:rPr lang="en-US" sz="1150" dirty="0">
                <a:solidFill>
                  <a:srgbClr val="D9DEE2"/>
                </a:solidFill>
                <a:latin typeface="Arial" pitchFamily="34" charset="0"/>
                <a:ea typeface="Arial" pitchFamily="34" charset="-122"/>
                <a:cs typeface="Arial" pitchFamily="34" charset="-120"/>
              </a:rPr>
              <a:t>Count reported to the leader: “POB 86, mustered 84, two unaccounted”</a:t>
            </a:r>
            <a:endParaRPr lang="en-US" sz="1150" dirty="0"/>
          </a:p>
        </p:txBody>
      </p:sp>
      <p:sp>
        <p:nvSpPr>
          <p:cNvPr id="17" name="Shape 14"/>
          <p:cNvSpPr/>
          <p:nvPr/>
        </p:nvSpPr>
        <p:spPr>
          <a:xfrm>
            <a:off x="594360" y="4471416"/>
            <a:ext cx="402336" cy="402336"/>
          </a:xfrm>
          <a:prstGeom prst="ellipse">
            <a:avLst/>
          </a:prstGeom>
          <a:solidFill>
            <a:srgbClr val="E8491D"/>
          </a:solidFill>
          <a:ln/>
        </p:spPr>
      </p:sp>
      <p:sp>
        <p:nvSpPr>
          <p:cNvPr id="18" name="Text 15"/>
          <p:cNvSpPr/>
          <p:nvPr/>
        </p:nvSpPr>
        <p:spPr>
          <a:xfrm>
            <a:off x="594360" y="447141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9" name="Text 16"/>
          <p:cNvSpPr/>
          <p:nvPr/>
        </p:nvSpPr>
        <p:spPr>
          <a:xfrm>
            <a:off x="1179576" y="4425696"/>
            <a:ext cx="5120640" cy="658368"/>
          </a:xfrm>
          <a:prstGeom prst="rect">
            <a:avLst/>
          </a:prstGeom>
          <a:noFill/>
          <a:ln/>
        </p:spPr>
        <p:txBody>
          <a:bodyPr wrap="square" lIns="0" tIns="0" rIns="0" bIns="0" rtlCol="0" anchor="ctr"/>
          <a:lstStyle/>
          <a:p>
            <a:pPr indent="0" marL="0">
              <a:buNone/>
            </a:pPr>
            <a:r>
              <a:rPr lang="en-US" sz="1150" dirty="0">
                <a:solidFill>
                  <a:srgbClr val="D9DEE2"/>
                </a:solidFill>
                <a:latin typeface="Arial" pitchFamily="34" charset="0"/>
                <a:ea typeface="Arial" pitchFamily="34" charset="-122"/>
                <a:cs typeface="Arial" pitchFamily="34" charset="-120"/>
              </a:rPr>
              <a:t>Names and last known locations of the missing — inside 3 minutes</a:t>
            </a:r>
            <a:endParaRPr lang="en-US" sz="1150" dirty="0"/>
          </a:p>
        </p:txBody>
      </p:sp>
      <p:sp>
        <p:nvSpPr>
          <p:cNvPr id="20" name="Shape 17"/>
          <p:cNvSpPr/>
          <p:nvPr/>
        </p:nvSpPr>
        <p:spPr>
          <a:xfrm>
            <a:off x="594360" y="5184648"/>
            <a:ext cx="402336" cy="402336"/>
          </a:xfrm>
          <a:prstGeom prst="ellipse">
            <a:avLst/>
          </a:prstGeom>
          <a:solidFill>
            <a:srgbClr val="E8491D"/>
          </a:solidFill>
          <a:ln/>
        </p:spPr>
      </p:sp>
      <p:sp>
        <p:nvSpPr>
          <p:cNvPr id="21" name="Text 18"/>
          <p:cNvSpPr/>
          <p:nvPr/>
        </p:nvSpPr>
        <p:spPr>
          <a:xfrm>
            <a:off x="594360" y="518464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22" name="Text 19"/>
          <p:cNvSpPr/>
          <p:nvPr/>
        </p:nvSpPr>
        <p:spPr>
          <a:xfrm>
            <a:off x="1179576" y="5138928"/>
            <a:ext cx="5120640" cy="658368"/>
          </a:xfrm>
          <a:prstGeom prst="rect">
            <a:avLst/>
          </a:prstGeom>
          <a:noFill/>
          <a:ln/>
        </p:spPr>
        <p:txBody>
          <a:bodyPr wrap="square" lIns="0" tIns="0" rIns="0" bIns="0" rtlCol="0" anchor="ctr"/>
          <a:lstStyle/>
          <a:p>
            <a:pPr indent="0" marL="0">
              <a:buNone/>
            </a:pPr>
            <a:r>
              <a:rPr lang="en-US" sz="1150" dirty="0">
                <a:solidFill>
                  <a:srgbClr val="D9DEE2"/>
                </a:solidFill>
                <a:latin typeface="Arial" pitchFamily="34" charset="0"/>
                <a:ea typeface="Arial" pitchFamily="34" charset="-122"/>
                <a:cs typeface="Arial" pitchFamily="34" charset="-120"/>
              </a:rPr>
              <a:t>Missing persons drive the ENTIRE tactical plan from that second</a:t>
            </a:r>
            <a:endParaRPr lang="en-US" sz="1150" dirty="0"/>
          </a:p>
        </p:txBody>
      </p:sp>
      <p:sp>
        <p:nvSpPr>
          <p:cNvPr id="23" name="Shape 20"/>
          <p:cNvSpPr/>
          <p:nvPr/>
        </p:nvSpPr>
        <p:spPr>
          <a:xfrm>
            <a:off x="594360" y="5943600"/>
            <a:ext cx="5577840" cy="502920"/>
          </a:xfrm>
          <a:prstGeom prst="roundRect">
            <a:avLst>
              <a:gd name="adj" fmla="val 14545"/>
            </a:avLst>
          </a:prstGeom>
          <a:solidFill>
            <a:srgbClr val="E8491D"/>
          </a:solidFill>
          <a:ln/>
        </p:spPr>
      </p:sp>
      <p:sp>
        <p:nvSpPr>
          <p:cNvPr id="24" name="Text 21"/>
          <p:cNvSpPr/>
          <p:nvPr/>
        </p:nvSpPr>
        <p:spPr>
          <a:xfrm>
            <a:off x="777240" y="5943600"/>
            <a:ext cx="5257800" cy="502920"/>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An accurate count in 3 minutes is worth more than a hose line in 30 seconds.</a:t>
            </a:r>
            <a:endParaRPr lang="en-US" sz="11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55</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5</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Escalation: growing the response without losing it</a:t>
            </a:r>
            <a:endParaRPr lang="en-US" sz="3000" dirty="0"/>
          </a:p>
        </p:txBody>
      </p:sp>
      <p:sp>
        <p:nvSpPr>
          <p:cNvPr id="6" name="Shape 4"/>
          <p:cNvSpPr/>
          <p:nvPr/>
        </p:nvSpPr>
        <p:spPr>
          <a:xfrm>
            <a:off x="594360" y="1783080"/>
            <a:ext cx="2544318" cy="2743200"/>
          </a:xfrm>
          <a:prstGeom prst="roundRect">
            <a:avLst>
              <a:gd name="adj" fmla="val 3594"/>
            </a:avLst>
          </a:prstGeom>
          <a:solidFill>
            <a:srgbClr val="14181C"/>
          </a:solidFill>
          <a:ln/>
        </p:spPr>
      </p:sp>
      <p:sp>
        <p:nvSpPr>
          <p:cNvPr id="7" name="Text 5"/>
          <p:cNvSpPr/>
          <p:nvPr/>
        </p:nvSpPr>
        <p:spPr>
          <a:xfrm>
            <a:off x="795528" y="1938528"/>
            <a:ext cx="2141982" cy="274320"/>
          </a:xfrm>
          <a:prstGeom prst="rect">
            <a:avLst/>
          </a:prstGeom>
          <a:noFill/>
          <a:ln/>
        </p:spPr>
        <p:txBody>
          <a:bodyPr wrap="square" lIns="0" tIns="0" rIns="0" bIns="0" rtlCol="0" anchor="ctr"/>
          <a:lstStyle/>
          <a:p>
            <a:pPr indent="0" marL="0">
              <a:buNone/>
            </a:pPr>
            <a:r>
              <a:rPr lang="en-US" sz="1100" b="1" spc="150" kern="0" dirty="0">
                <a:solidFill>
                  <a:srgbClr val="E8491D"/>
                </a:solidFill>
                <a:latin typeface="Arial" pitchFamily="34" charset="0"/>
                <a:ea typeface="Arial" pitchFamily="34" charset="-122"/>
                <a:cs typeface="Arial" pitchFamily="34" charset="-120"/>
              </a:rPr>
              <a:t>TIER 1</a:t>
            </a:r>
            <a:endParaRPr lang="en-US" sz="1100" dirty="0"/>
          </a:p>
        </p:txBody>
      </p:sp>
      <p:sp>
        <p:nvSpPr>
          <p:cNvPr id="8" name="Text 6"/>
          <p:cNvSpPr/>
          <p:nvPr/>
        </p:nvSpPr>
        <p:spPr>
          <a:xfrm>
            <a:off x="795528" y="2231136"/>
            <a:ext cx="2141982" cy="59436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Rig fire team</a:t>
            </a:r>
            <a:endParaRPr lang="en-US" sz="1300" dirty="0"/>
          </a:p>
        </p:txBody>
      </p:sp>
      <p:sp>
        <p:nvSpPr>
          <p:cNvPr id="9" name="Text 7"/>
          <p:cNvSpPr/>
          <p:nvPr/>
        </p:nvSpPr>
        <p:spPr>
          <a:xfrm>
            <a:off x="795528" y="2852928"/>
            <a:ext cx="2141982" cy="1554480"/>
          </a:xfrm>
          <a:prstGeom prst="rect">
            <a:avLst/>
          </a:prstGeom>
          <a:noFill/>
          <a:ln/>
        </p:spPr>
        <p:txBody>
          <a:bodyPr wrap="square" lIns="0" tIns="0" rIns="0" bIns="0" rtlCol="0" anchor="ctr"/>
          <a:lstStyle/>
          <a:p>
            <a:pPr indent="0" marL="0">
              <a:buNone/>
            </a:pPr>
            <a:r>
              <a:rPr lang="en-US" sz="1000" dirty="0">
                <a:solidFill>
                  <a:srgbClr val="9AA5AD"/>
                </a:solidFill>
                <a:latin typeface="Arial" pitchFamily="34" charset="0"/>
                <a:ea typeface="Arial" pitchFamily="34" charset="-122"/>
                <a:cs typeface="Arial" pitchFamily="34" charset="-120"/>
              </a:rPr>
              <a:t>First response — your team, your command, first 15 minutes decide everything.</a:t>
            </a:r>
            <a:endParaRPr lang="en-US" sz="1000" dirty="0"/>
          </a:p>
        </p:txBody>
      </p:sp>
      <p:sp>
        <p:nvSpPr>
          <p:cNvPr id="10" name="Text 8"/>
          <p:cNvSpPr/>
          <p:nvPr/>
        </p:nvSpPr>
        <p:spPr>
          <a:xfrm>
            <a:off x="3083814" y="2880360"/>
            <a:ext cx="384048" cy="548640"/>
          </a:xfrm>
          <a:prstGeom prst="rect">
            <a:avLst/>
          </a:prstGeom>
          <a:noFill/>
          <a:ln/>
        </p:spPr>
        <p:txBody>
          <a:bodyPr wrap="square" lIns="0" tIns="0" rIns="0" bIns="0" rtlCol="0" anchor="ctr"/>
          <a:lstStyle/>
          <a:p>
            <a:pPr algn="ctr" indent="0" marL="0">
              <a:buNone/>
            </a:pPr>
            <a:r>
              <a:rPr lang="en-US" sz="2200" b="1" dirty="0">
                <a:solidFill>
                  <a:srgbClr val="E8491D"/>
                </a:solidFill>
                <a:latin typeface="Arial" pitchFamily="34" charset="0"/>
                <a:ea typeface="Arial" pitchFamily="34" charset="-122"/>
                <a:cs typeface="Arial" pitchFamily="34" charset="-120"/>
              </a:rPr>
              <a:t>→</a:t>
            </a:r>
            <a:endParaRPr lang="en-US" sz="2200" dirty="0"/>
          </a:p>
        </p:txBody>
      </p:sp>
      <p:sp>
        <p:nvSpPr>
          <p:cNvPr id="11" name="Shape 9"/>
          <p:cNvSpPr/>
          <p:nvPr/>
        </p:nvSpPr>
        <p:spPr>
          <a:xfrm>
            <a:off x="3412998" y="1783080"/>
            <a:ext cx="2544318" cy="2743200"/>
          </a:xfrm>
          <a:prstGeom prst="roundRect">
            <a:avLst>
              <a:gd name="adj" fmla="val 3594"/>
            </a:avLst>
          </a:prstGeom>
          <a:solidFill>
            <a:srgbClr val="F3F4F5"/>
          </a:solidFill>
          <a:ln/>
        </p:spPr>
      </p:sp>
      <p:sp>
        <p:nvSpPr>
          <p:cNvPr id="12" name="Text 10"/>
          <p:cNvSpPr/>
          <p:nvPr/>
        </p:nvSpPr>
        <p:spPr>
          <a:xfrm>
            <a:off x="3614166" y="1938528"/>
            <a:ext cx="2141982" cy="274320"/>
          </a:xfrm>
          <a:prstGeom prst="rect">
            <a:avLst/>
          </a:prstGeom>
          <a:noFill/>
          <a:ln/>
        </p:spPr>
        <p:txBody>
          <a:bodyPr wrap="square" lIns="0" tIns="0" rIns="0" bIns="0" rtlCol="0" anchor="ctr"/>
          <a:lstStyle/>
          <a:p>
            <a:pPr indent="0" marL="0">
              <a:buNone/>
            </a:pPr>
            <a:r>
              <a:rPr lang="en-US" sz="1100" b="1" spc="150" kern="0" dirty="0">
                <a:solidFill>
                  <a:srgbClr val="E8491D"/>
                </a:solidFill>
                <a:latin typeface="Arial" pitchFamily="34" charset="0"/>
                <a:ea typeface="Arial" pitchFamily="34" charset="-122"/>
                <a:cs typeface="Arial" pitchFamily="34" charset="-120"/>
              </a:rPr>
              <a:t>TIER 2</a:t>
            </a:r>
            <a:endParaRPr lang="en-US" sz="1100" dirty="0"/>
          </a:p>
        </p:txBody>
      </p:sp>
      <p:sp>
        <p:nvSpPr>
          <p:cNvPr id="13" name="Text 11"/>
          <p:cNvSpPr/>
          <p:nvPr/>
        </p:nvSpPr>
        <p:spPr>
          <a:xfrm>
            <a:off x="3614166" y="2231136"/>
            <a:ext cx="2141982" cy="594360"/>
          </a:xfrm>
          <a:prstGeom prst="rect">
            <a:avLst/>
          </a:prstGeom>
          <a:noFill/>
          <a:ln/>
        </p:spPr>
        <p:txBody>
          <a:bodyPr wrap="square" lIns="0" tIns="0" rIns="0" bIns="0" rtlCol="0" anchor="ctr"/>
          <a:lstStyle/>
          <a:p>
            <a:pPr indent="0" marL="0">
              <a:buNone/>
            </a:pPr>
            <a:r>
              <a:rPr lang="en-US" sz="1300" b="1" dirty="0">
                <a:solidFill>
                  <a:srgbClr val="1A2027"/>
                </a:solidFill>
                <a:latin typeface="Arial" pitchFamily="34" charset="0"/>
                <a:ea typeface="Arial" pitchFamily="34" charset="-122"/>
                <a:cs typeface="Arial" pitchFamily="34" charset="-120"/>
              </a:rPr>
              <a:t>SANAD emergency response</a:t>
            </a:r>
            <a:endParaRPr lang="en-US" sz="1300" dirty="0"/>
          </a:p>
        </p:txBody>
      </p:sp>
      <p:sp>
        <p:nvSpPr>
          <p:cNvPr id="14" name="Text 12"/>
          <p:cNvSpPr/>
          <p:nvPr/>
        </p:nvSpPr>
        <p:spPr>
          <a:xfrm>
            <a:off x="3614166" y="2852928"/>
            <a:ext cx="2141982" cy="155448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Company ERP activates: management notification, mutual aid, logistics, next-of-kin readiness.</a:t>
            </a:r>
            <a:endParaRPr lang="en-US" sz="1000" dirty="0"/>
          </a:p>
        </p:txBody>
      </p:sp>
      <p:sp>
        <p:nvSpPr>
          <p:cNvPr id="15" name="Text 13"/>
          <p:cNvSpPr/>
          <p:nvPr/>
        </p:nvSpPr>
        <p:spPr>
          <a:xfrm>
            <a:off x="5902452" y="2880360"/>
            <a:ext cx="384048" cy="548640"/>
          </a:xfrm>
          <a:prstGeom prst="rect">
            <a:avLst/>
          </a:prstGeom>
          <a:noFill/>
          <a:ln/>
        </p:spPr>
        <p:txBody>
          <a:bodyPr wrap="square" lIns="0" tIns="0" rIns="0" bIns="0" rtlCol="0" anchor="ctr"/>
          <a:lstStyle/>
          <a:p>
            <a:pPr algn="ctr" indent="0" marL="0">
              <a:buNone/>
            </a:pPr>
            <a:r>
              <a:rPr lang="en-US" sz="2200" b="1" dirty="0">
                <a:solidFill>
                  <a:srgbClr val="E8491D"/>
                </a:solidFill>
                <a:latin typeface="Arial" pitchFamily="34" charset="0"/>
                <a:ea typeface="Arial" pitchFamily="34" charset="-122"/>
                <a:cs typeface="Arial" pitchFamily="34" charset="-120"/>
              </a:rPr>
              <a:t>→</a:t>
            </a:r>
            <a:endParaRPr lang="en-US" sz="2200" dirty="0"/>
          </a:p>
        </p:txBody>
      </p:sp>
      <p:sp>
        <p:nvSpPr>
          <p:cNvPr id="16" name="Shape 14"/>
          <p:cNvSpPr/>
          <p:nvPr/>
        </p:nvSpPr>
        <p:spPr>
          <a:xfrm>
            <a:off x="6231636" y="1783080"/>
            <a:ext cx="2544318" cy="2743200"/>
          </a:xfrm>
          <a:prstGeom prst="roundRect">
            <a:avLst>
              <a:gd name="adj" fmla="val 3594"/>
            </a:avLst>
          </a:prstGeom>
          <a:solidFill>
            <a:srgbClr val="F3F4F5"/>
          </a:solidFill>
          <a:ln/>
        </p:spPr>
      </p:sp>
      <p:sp>
        <p:nvSpPr>
          <p:cNvPr id="17" name="Text 15"/>
          <p:cNvSpPr/>
          <p:nvPr/>
        </p:nvSpPr>
        <p:spPr>
          <a:xfrm>
            <a:off x="6432804" y="1938528"/>
            <a:ext cx="2141982" cy="274320"/>
          </a:xfrm>
          <a:prstGeom prst="rect">
            <a:avLst/>
          </a:prstGeom>
          <a:noFill/>
          <a:ln/>
        </p:spPr>
        <p:txBody>
          <a:bodyPr wrap="square" lIns="0" tIns="0" rIns="0" bIns="0" rtlCol="0" anchor="ctr"/>
          <a:lstStyle/>
          <a:p>
            <a:pPr indent="0" marL="0">
              <a:buNone/>
            </a:pPr>
            <a:r>
              <a:rPr lang="en-US" sz="1100" b="1" spc="150" kern="0" dirty="0">
                <a:solidFill>
                  <a:srgbClr val="E8491D"/>
                </a:solidFill>
                <a:latin typeface="Arial" pitchFamily="34" charset="0"/>
                <a:ea typeface="Arial" pitchFamily="34" charset="-122"/>
                <a:cs typeface="Arial" pitchFamily="34" charset="-120"/>
              </a:rPr>
              <a:t>TIER 3</a:t>
            </a:r>
            <a:endParaRPr lang="en-US" sz="1100" dirty="0"/>
          </a:p>
        </p:txBody>
      </p:sp>
      <p:sp>
        <p:nvSpPr>
          <p:cNvPr id="18" name="Text 16"/>
          <p:cNvSpPr/>
          <p:nvPr/>
        </p:nvSpPr>
        <p:spPr>
          <a:xfrm>
            <a:off x="6432804" y="2231136"/>
            <a:ext cx="2141982" cy="594360"/>
          </a:xfrm>
          <a:prstGeom prst="rect">
            <a:avLst/>
          </a:prstGeom>
          <a:noFill/>
          <a:ln/>
        </p:spPr>
        <p:txBody>
          <a:bodyPr wrap="square" lIns="0" tIns="0" rIns="0" bIns="0" rtlCol="0" anchor="ctr"/>
          <a:lstStyle/>
          <a:p>
            <a:pPr indent="0" marL="0">
              <a:buNone/>
            </a:pPr>
            <a:r>
              <a:rPr lang="en-US" sz="1300" b="1" dirty="0">
                <a:solidFill>
                  <a:srgbClr val="1A2027"/>
                </a:solidFill>
                <a:latin typeface="Arial" pitchFamily="34" charset="0"/>
                <a:ea typeface="Arial" pitchFamily="34" charset="-122"/>
                <a:cs typeface="Arial" pitchFamily="34" charset="-120"/>
              </a:rPr>
              <a:t>Saudi Aramco Fire Protection</a:t>
            </a:r>
            <a:endParaRPr lang="en-US" sz="1300" dirty="0"/>
          </a:p>
        </p:txBody>
      </p:sp>
      <p:sp>
        <p:nvSpPr>
          <p:cNvPr id="19" name="Text 17"/>
          <p:cNvSpPr/>
          <p:nvPr/>
        </p:nvSpPr>
        <p:spPr>
          <a:xfrm>
            <a:off x="6432804" y="2852928"/>
            <a:ext cx="2141982" cy="155448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Professional industrial fire response. Structured handover: SITREP, actions taken, hazards, resources.</a:t>
            </a:r>
            <a:endParaRPr lang="en-US" sz="1000" dirty="0"/>
          </a:p>
        </p:txBody>
      </p:sp>
      <p:sp>
        <p:nvSpPr>
          <p:cNvPr id="20" name="Text 18"/>
          <p:cNvSpPr/>
          <p:nvPr/>
        </p:nvSpPr>
        <p:spPr>
          <a:xfrm>
            <a:off x="8721090" y="2880360"/>
            <a:ext cx="384048" cy="548640"/>
          </a:xfrm>
          <a:prstGeom prst="rect">
            <a:avLst/>
          </a:prstGeom>
          <a:noFill/>
          <a:ln/>
        </p:spPr>
        <p:txBody>
          <a:bodyPr wrap="square" lIns="0" tIns="0" rIns="0" bIns="0" rtlCol="0" anchor="ctr"/>
          <a:lstStyle/>
          <a:p>
            <a:pPr algn="ctr" indent="0" marL="0">
              <a:buNone/>
            </a:pPr>
            <a:r>
              <a:rPr lang="en-US" sz="2200" b="1" dirty="0">
                <a:solidFill>
                  <a:srgbClr val="E8491D"/>
                </a:solidFill>
                <a:latin typeface="Arial" pitchFamily="34" charset="0"/>
                <a:ea typeface="Arial" pitchFamily="34" charset="-122"/>
                <a:cs typeface="Arial" pitchFamily="34" charset="-120"/>
              </a:rPr>
              <a:t>→</a:t>
            </a:r>
            <a:endParaRPr lang="en-US" sz="2200" dirty="0"/>
          </a:p>
        </p:txBody>
      </p:sp>
      <p:sp>
        <p:nvSpPr>
          <p:cNvPr id="21" name="Shape 19"/>
          <p:cNvSpPr/>
          <p:nvPr/>
        </p:nvSpPr>
        <p:spPr>
          <a:xfrm>
            <a:off x="9050274" y="1783080"/>
            <a:ext cx="2544318" cy="2743200"/>
          </a:xfrm>
          <a:prstGeom prst="roundRect">
            <a:avLst>
              <a:gd name="adj" fmla="val 3594"/>
            </a:avLst>
          </a:prstGeom>
          <a:solidFill>
            <a:srgbClr val="F3F4F5"/>
          </a:solidFill>
          <a:ln/>
        </p:spPr>
      </p:sp>
      <p:sp>
        <p:nvSpPr>
          <p:cNvPr id="22" name="Text 20"/>
          <p:cNvSpPr/>
          <p:nvPr/>
        </p:nvSpPr>
        <p:spPr>
          <a:xfrm>
            <a:off x="9251442" y="1938528"/>
            <a:ext cx="2141982" cy="274320"/>
          </a:xfrm>
          <a:prstGeom prst="rect">
            <a:avLst/>
          </a:prstGeom>
          <a:noFill/>
          <a:ln/>
        </p:spPr>
        <p:txBody>
          <a:bodyPr wrap="square" lIns="0" tIns="0" rIns="0" bIns="0" rtlCol="0" anchor="ctr"/>
          <a:lstStyle/>
          <a:p>
            <a:pPr indent="0" marL="0">
              <a:buNone/>
            </a:pPr>
            <a:r>
              <a:rPr lang="en-US" sz="1100" b="1" spc="150" kern="0" dirty="0">
                <a:solidFill>
                  <a:srgbClr val="E8491D"/>
                </a:solidFill>
                <a:latin typeface="Arial" pitchFamily="34" charset="0"/>
                <a:ea typeface="Arial" pitchFamily="34" charset="-122"/>
                <a:cs typeface="Arial" pitchFamily="34" charset="-120"/>
              </a:rPr>
              <a:t>TIER 4</a:t>
            </a:r>
            <a:endParaRPr lang="en-US" sz="1100" dirty="0"/>
          </a:p>
        </p:txBody>
      </p:sp>
      <p:sp>
        <p:nvSpPr>
          <p:cNvPr id="23" name="Text 21"/>
          <p:cNvSpPr/>
          <p:nvPr/>
        </p:nvSpPr>
        <p:spPr>
          <a:xfrm>
            <a:off x="9251442" y="2231136"/>
            <a:ext cx="2141982" cy="594360"/>
          </a:xfrm>
          <a:prstGeom prst="rect">
            <a:avLst/>
          </a:prstGeom>
          <a:noFill/>
          <a:ln/>
        </p:spPr>
        <p:txBody>
          <a:bodyPr wrap="square" lIns="0" tIns="0" rIns="0" bIns="0" rtlCol="0" anchor="ctr"/>
          <a:lstStyle/>
          <a:p>
            <a:pPr indent="0" marL="0">
              <a:buNone/>
            </a:pPr>
            <a:r>
              <a:rPr lang="en-US" sz="1300" b="1" dirty="0">
                <a:solidFill>
                  <a:srgbClr val="1A2027"/>
                </a:solidFill>
                <a:latin typeface="Arial" pitchFamily="34" charset="0"/>
                <a:ea typeface="Arial" pitchFamily="34" charset="-122"/>
                <a:cs typeface="Arial" pitchFamily="34" charset="-120"/>
              </a:rPr>
              <a:t>Civil Defense &amp; mutual aid</a:t>
            </a:r>
            <a:endParaRPr lang="en-US" sz="1300" dirty="0"/>
          </a:p>
        </p:txBody>
      </p:sp>
      <p:sp>
        <p:nvSpPr>
          <p:cNvPr id="24" name="Text 22"/>
          <p:cNvSpPr/>
          <p:nvPr/>
        </p:nvSpPr>
        <p:spPr>
          <a:xfrm>
            <a:off x="9251442" y="2852928"/>
            <a:ext cx="2141982" cy="155448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Major incident. Unified command; rig leader becomes the site knowledge authority.</a:t>
            </a:r>
            <a:endParaRPr lang="en-US" sz="1000" dirty="0"/>
          </a:p>
        </p:txBody>
      </p:sp>
      <p:sp>
        <p:nvSpPr>
          <p:cNvPr id="25" name="Shape 23"/>
          <p:cNvSpPr/>
          <p:nvPr/>
        </p:nvSpPr>
        <p:spPr>
          <a:xfrm>
            <a:off x="594360" y="4892040"/>
            <a:ext cx="11000232" cy="1188720"/>
          </a:xfrm>
          <a:prstGeom prst="roundRect">
            <a:avLst>
              <a:gd name="adj" fmla="val 7692"/>
            </a:avLst>
          </a:prstGeom>
          <a:solidFill>
            <a:srgbClr val="F3F4F5"/>
          </a:solidFill>
          <a:ln/>
        </p:spPr>
      </p:sp>
      <p:sp>
        <p:nvSpPr>
          <p:cNvPr id="26" name="Shape 24"/>
          <p:cNvSpPr/>
          <p:nvPr/>
        </p:nvSpPr>
        <p:spPr>
          <a:xfrm>
            <a:off x="868680" y="5166360"/>
            <a:ext cx="594360" cy="594360"/>
          </a:xfrm>
          <a:prstGeom prst="ellipse">
            <a:avLst/>
          </a:prstGeom>
          <a:solidFill>
            <a:srgbClr val="E8491D"/>
          </a:solidFill>
          <a:ln/>
        </p:spPr>
      </p:sp>
      <p:pic>
        <p:nvPicPr>
          <p:cNvPr id="27" name="Image 0" descr="/tmp/claude-0/-home-user-My-Future-Idaes/0806094f-208a-506e-82b2-f78683d50c82/scratchpad/icons/FaPeopleArrows_white.png">    </p:cNvPr>
          <p:cNvPicPr>
            <a:picLocks noChangeAspect="1"/>
          </p:cNvPicPr>
          <p:nvPr/>
        </p:nvPicPr>
        <p:blipFill>
          <a:blip r:embed="rId1"/>
          <a:stretch>
            <a:fillRect/>
          </a:stretch>
        </p:blipFill>
        <p:spPr>
          <a:xfrm>
            <a:off x="1011326" y="5309006"/>
            <a:ext cx="309067" cy="309067"/>
          </a:xfrm>
          <a:prstGeom prst="rect">
            <a:avLst/>
          </a:prstGeom>
        </p:spPr>
      </p:pic>
      <p:sp>
        <p:nvSpPr>
          <p:cNvPr id="28" name="Text 25"/>
          <p:cNvSpPr/>
          <p:nvPr/>
        </p:nvSpPr>
        <p:spPr>
          <a:xfrm>
            <a:off x="1691640" y="4983480"/>
            <a:ext cx="9537192" cy="1005840"/>
          </a:xfrm>
          <a:prstGeom prst="rect">
            <a:avLst/>
          </a:prstGeom>
          <a:noFill/>
          <a:ln/>
        </p:spPr>
        <p:txBody>
          <a:bodyPr wrap="square" lIns="0" tIns="0" rIns="0" bIns="0" rtlCol="0" anchor="ctr"/>
          <a:lstStyle/>
          <a:p>
            <a:pPr indent="0" marL="0">
              <a:buNone/>
            </a:pPr>
            <a:r>
              <a:rPr lang="en-US" sz="1200" b="1" dirty="0">
                <a:solidFill>
                  <a:srgbClr val="1A2027"/>
                </a:solidFill>
                <a:latin typeface="Arial" pitchFamily="34" charset="0"/>
                <a:ea typeface="Arial" pitchFamily="34" charset="-122"/>
                <a:cs typeface="Arial" pitchFamily="34" charset="-120"/>
              </a:rPr>
              <a:t>The professional handover (60 seconds):  </a:t>
            </a:r>
            <a:pPr indent="0" marL="0">
              <a:buNone/>
            </a:pPr>
            <a:r>
              <a:rPr lang="en-US" sz="1200" dirty="0">
                <a:solidFill>
                  <a:srgbClr val="5A646C"/>
                </a:solidFill>
                <a:latin typeface="Arial" pitchFamily="34" charset="0"/>
                <a:ea typeface="Arial" pitchFamily="34" charset="-122"/>
                <a:cs typeface="Arial" pitchFamily="34" charset="-120"/>
              </a:rPr>
              <a:t>“I am [name], on-scene commander. Situation. Actions taken. People status. Hazards. Resources deployed. What I need from you.” Then: “Do you accept command?” — and log the time.</a:t>
            </a:r>
            <a:endParaRPr lang="en-US" sz="12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56</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5</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Accountability: everyone, everywhere, always</a:t>
            </a:r>
            <a:endParaRPr lang="en-US" sz="3000" dirty="0"/>
          </a:p>
        </p:txBody>
      </p:sp>
      <p:sp>
        <p:nvSpPr>
          <p:cNvPr id="6" name="Shape 4"/>
          <p:cNvSpPr/>
          <p:nvPr/>
        </p:nvSpPr>
        <p:spPr>
          <a:xfrm>
            <a:off x="594360" y="1783080"/>
            <a:ext cx="5317236" cy="1783080"/>
          </a:xfrm>
          <a:prstGeom prst="roundRect">
            <a:avLst>
              <a:gd name="adj" fmla="val 5128"/>
            </a:avLst>
          </a:prstGeom>
          <a:solidFill>
            <a:srgbClr val="F3F4F5"/>
          </a:solidFill>
          <a:ln/>
        </p:spPr>
      </p:sp>
      <p:sp>
        <p:nvSpPr>
          <p:cNvPr id="7" name="Shape 5"/>
          <p:cNvSpPr/>
          <p:nvPr/>
        </p:nvSpPr>
        <p:spPr>
          <a:xfrm>
            <a:off x="822960" y="2011680"/>
            <a:ext cx="530352" cy="530352"/>
          </a:xfrm>
          <a:prstGeom prst="ellipse">
            <a:avLst/>
          </a:prstGeom>
          <a:solidFill>
            <a:srgbClr val="E8491D"/>
          </a:solidFill>
          <a:ln/>
        </p:spPr>
      </p:sp>
      <p:pic>
        <p:nvPicPr>
          <p:cNvPr id="8" name="Image 0" descr="/tmp/claude-0/-home-user-My-Future-Idaes/0806094f-208a-506e-82b2-f78683d50c82/scratchpad/icons/FaTasks_white.png">    </p:cNvPr>
          <p:cNvPicPr>
            <a:picLocks noChangeAspect="1"/>
          </p:cNvPicPr>
          <p:nvPr/>
        </p:nvPicPr>
        <p:blipFill>
          <a:blip r:embed="rId1"/>
          <a:stretch>
            <a:fillRect/>
          </a:stretch>
        </p:blipFill>
        <p:spPr>
          <a:xfrm>
            <a:off x="950244" y="2138964"/>
            <a:ext cx="275783" cy="275783"/>
          </a:xfrm>
          <a:prstGeom prst="rect">
            <a:avLst/>
          </a:prstGeom>
        </p:spPr>
      </p:pic>
      <p:sp>
        <p:nvSpPr>
          <p:cNvPr id="9" name="Text 6"/>
          <p:cNvSpPr/>
          <p:nvPr/>
        </p:nvSpPr>
        <p:spPr>
          <a:xfrm>
            <a:off x="1527048" y="2002536"/>
            <a:ext cx="4174236" cy="384048"/>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Entry control</a:t>
            </a:r>
            <a:endParaRPr lang="en-US" sz="1400" dirty="0"/>
          </a:p>
        </p:txBody>
      </p:sp>
      <p:sp>
        <p:nvSpPr>
          <p:cNvPr id="10" name="Text 7"/>
          <p:cNvSpPr/>
          <p:nvPr/>
        </p:nvSpPr>
        <p:spPr>
          <a:xfrm>
            <a:off x="1527048" y="2404872"/>
            <a:ext cx="4128516" cy="105156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A named entry-control officer logs every hot-zone entry: names, task, cylinder pressure, time in / time due out.</a:t>
            </a:r>
            <a:endParaRPr lang="en-US" sz="1050" dirty="0"/>
          </a:p>
        </p:txBody>
      </p:sp>
      <p:sp>
        <p:nvSpPr>
          <p:cNvPr id="11" name="Shape 8"/>
          <p:cNvSpPr/>
          <p:nvPr/>
        </p:nvSpPr>
        <p:spPr>
          <a:xfrm>
            <a:off x="6277356" y="1783080"/>
            <a:ext cx="5317236" cy="1783080"/>
          </a:xfrm>
          <a:prstGeom prst="roundRect">
            <a:avLst>
              <a:gd name="adj" fmla="val 5128"/>
            </a:avLst>
          </a:prstGeom>
          <a:solidFill>
            <a:srgbClr val="F3F4F5"/>
          </a:solidFill>
          <a:ln/>
        </p:spPr>
      </p:sp>
      <p:sp>
        <p:nvSpPr>
          <p:cNvPr id="12" name="Shape 9"/>
          <p:cNvSpPr/>
          <p:nvPr/>
        </p:nvSpPr>
        <p:spPr>
          <a:xfrm>
            <a:off x="6505956" y="2011680"/>
            <a:ext cx="530352" cy="530352"/>
          </a:xfrm>
          <a:prstGeom prst="ellipse">
            <a:avLst/>
          </a:prstGeom>
          <a:solidFill>
            <a:srgbClr val="E8491D"/>
          </a:solidFill>
          <a:ln/>
        </p:spPr>
      </p:sp>
      <p:pic>
        <p:nvPicPr>
          <p:cNvPr id="13" name="Image 1" descr="/tmp/claude-0/-home-user-My-Future-Idaes/0806094f-208a-506e-82b2-f78683d50c82/scratchpad/icons/FaClock_white.png">    </p:cNvPr>
          <p:cNvPicPr>
            <a:picLocks noChangeAspect="1"/>
          </p:cNvPicPr>
          <p:nvPr/>
        </p:nvPicPr>
        <p:blipFill>
          <a:blip r:embed="rId2"/>
          <a:stretch>
            <a:fillRect/>
          </a:stretch>
        </p:blipFill>
        <p:spPr>
          <a:xfrm>
            <a:off x="6633240" y="2138964"/>
            <a:ext cx="275783" cy="275783"/>
          </a:xfrm>
          <a:prstGeom prst="rect">
            <a:avLst/>
          </a:prstGeom>
        </p:spPr>
      </p:pic>
      <p:sp>
        <p:nvSpPr>
          <p:cNvPr id="14" name="Text 10"/>
          <p:cNvSpPr/>
          <p:nvPr/>
        </p:nvSpPr>
        <p:spPr>
          <a:xfrm>
            <a:off x="7210044" y="2002536"/>
            <a:ext cx="4174236" cy="384048"/>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PAR checks</a:t>
            </a:r>
            <a:endParaRPr lang="en-US" sz="1400" dirty="0"/>
          </a:p>
        </p:txBody>
      </p:sp>
      <p:sp>
        <p:nvSpPr>
          <p:cNvPr id="15" name="Text 11"/>
          <p:cNvSpPr/>
          <p:nvPr/>
        </p:nvSpPr>
        <p:spPr>
          <a:xfrm>
            <a:off x="7210044" y="2404872"/>
            <a:ext cx="4128516" cy="105156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Personnel Accountability Report on the clock (every 10–15 min) and at every event: mode change, collapse, mayday.</a:t>
            </a:r>
            <a:endParaRPr lang="en-US" sz="1050" dirty="0"/>
          </a:p>
        </p:txBody>
      </p:sp>
      <p:sp>
        <p:nvSpPr>
          <p:cNvPr id="16" name="Shape 12"/>
          <p:cNvSpPr/>
          <p:nvPr/>
        </p:nvSpPr>
        <p:spPr>
          <a:xfrm>
            <a:off x="594360" y="3749040"/>
            <a:ext cx="5317236" cy="1783080"/>
          </a:xfrm>
          <a:prstGeom prst="roundRect">
            <a:avLst>
              <a:gd name="adj" fmla="val 5128"/>
            </a:avLst>
          </a:prstGeom>
          <a:solidFill>
            <a:srgbClr val="F3F4F5"/>
          </a:solidFill>
          <a:ln/>
        </p:spPr>
      </p:sp>
      <p:sp>
        <p:nvSpPr>
          <p:cNvPr id="17" name="Shape 13"/>
          <p:cNvSpPr/>
          <p:nvPr/>
        </p:nvSpPr>
        <p:spPr>
          <a:xfrm>
            <a:off x="822960" y="3977640"/>
            <a:ext cx="530352" cy="530352"/>
          </a:xfrm>
          <a:prstGeom prst="ellipse">
            <a:avLst/>
          </a:prstGeom>
          <a:solidFill>
            <a:srgbClr val="E8491D"/>
          </a:solidFill>
          <a:ln/>
        </p:spPr>
      </p:sp>
      <p:pic>
        <p:nvPicPr>
          <p:cNvPr id="18" name="Image 2" descr="/tmp/claude-0/-home-user-My-Future-Idaes/0806094f-208a-506e-82b2-f78683d50c82/scratchpad/icons/FaLayerGroup_white.png">    </p:cNvPr>
          <p:cNvPicPr>
            <a:picLocks noChangeAspect="1"/>
          </p:cNvPicPr>
          <p:nvPr/>
        </p:nvPicPr>
        <p:blipFill>
          <a:blip r:embed="rId3"/>
          <a:stretch>
            <a:fillRect/>
          </a:stretch>
        </p:blipFill>
        <p:spPr>
          <a:xfrm>
            <a:off x="950244" y="4104924"/>
            <a:ext cx="275783" cy="275783"/>
          </a:xfrm>
          <a:prstGeom prst="rect">
            <a:avLst/>
          </a:prstGeom>
        </p:spPr>
      </p:pic>
      <p:sp>
        <p:nvSpPr>
          <p:cNvPr id="19" name="Text 14"/>
          <p:cNvSpPr/>
          <p:nvPr/>
        </p:nvSpPr>
        <p:spPr>
          <a:xfrm>
            <a:off x="1527048" y="3968496"/>
            <a:ext cx="4174236" cy="384048"/>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T-card / tag system</a:t>
            </a:r>
            <a:endParaRPr lang="en-US" sz="1400" dirty="0"/>
          </a:p>
        </p:txBody>
      </p:sp>
      <p:sp>
        <p:nvSpPr>
          <p:cNvPr id="20" name="Text 15"/>
          <p:cNvSpPr/>
          <p:nvPr/>
        </p:nvSpPr>
        <p:spPr>
          <a:xfrm>
            <a:off x="1527048" y="4370832"/>
            <a:ext cx="4128516" cy="105156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Physical tags or T-cards track every crew's location and task — survives radio failure and battery death.</a:t>
            </a:r>
            <a:endParaRPr lang="en-US" sz="1050" dirty="0"/>
          </a:p>
        </p:txBody>
      </p:sp>
      <p:sp>
        <p:nvSpPr>
          <p:cNvPr id="21" name="Shape 16"/>
          <p:cNvSpPr/>
          <p:nvPr/>
        </p:nvSpPr>
        <p:spPr>
          <a:xfrm>
            <a:off x="6277356" y="3749040"/>
            <a:ext cx="5317236" cy="1783080"/>
          </a:xfrm>
          <a:prstGeom prst="roundRect">
            <a:avLst>
              <a:gd name="adj" fmla="val 5128"/>
            </a:avLst>
          </a:prstGeom>
          <a:solidFill>
            <a:srgbClr val="F3F4F5"/>
          </a:solidFill>
          <a:ln/>
        </p:spPr>
      </p:sp>
      <p:sp>
        <p:nvSpPr>
          <p:cNvPr id="22" name="Shape 17"/>
          <p:cNvSpPr/>
          <p:nvPr/>
        </p:nvSpPr>
        <p:spPr>
          <a:xfrm>
            <a:off x="6505956" y="3977640"/>
            <a:ext cx="530352" cy="530352"/>
          </a:xfrm>
          <a:prstGeom prst="ellipse">
            <a:avLst/>
          </a:prstGeom>
          <a:solidFill>
            <a:srgbClr val="E8491D"/>
          </a:solidFill>
          <a:ln/>
        </p:spPr>
      </p:sp>
      <p:pic>
        <p:nvPicPr>
          <p:cNvPr id="23" name="Image 3" descr="/tmp/claude-0/-home-user-My-Future-Idaes/0806094f-208a-506e-82b2-f78683d50c82/scratchpad/icons/FaBell_white.png">    </p:cNvPr>
          <p:cNvPicPr>
            <a:picLocks noChangeAspect="1"/>
          </p:cNvPicPr>
          <p:nvPr/>
        </p:nvPicPr>
        <p:blipFill>
          <a:blip r:embed="rId4"/>
          <a:stretch>
            <a:fillRect/>
          </a:stretch>
        </p:blipFill>
        <p:spPr>
          <a:xfrm>
            <a:off x="6633240" y="4104924"/>
            <a:ext cx="275783" cy="275783"/>
          </a:xfrm>
          <a:prstGeom prst="rect">
            <a:avLst/>
          </a:prstGeom>
        </p:spPr>
      </p:pic>
      <p:sp>
        <p:nvSpPr>
          <p:cNvPr id="24" name="Text 18"/>
          <p:cNvSpPr/>
          <p:nvPr/>
        </p:nvSpPr>
        <p:spPr>
          <a:xfrm>
            <a:off x="7210044" y="3968496"/>
            <a:ext cx="4174236" cy="384048"/>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Emergency withdrawal</a:t>
            </a:r>
            <a:endParaRPr lang="en-US" sz="1400" dirty="0"/>
          </a:p>
        </p:txBody>
      </p:sp>
      <p:sp>
        <p:nvSpPr>
          <p:cNvPr id="25" name="Text 19"/>
          <p:cNvSpPr/>
          <p:nvPr/>
        </p:nvSpPr>
        <p:spPr>
          <a:xfrm>
            <a:off x="7210044" y="4370832"/>
            <a:ext cx="4128516" cy="105156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One unmistakable signal (air horn blasts / radio call) = everyone out, muster, immediate PAR. Drilled until instant.</a:t>
            </a:r>
            <a:endParaRPr lang="en-US" sz="1050" dirty="0"/>
          </a:p>
        </p:txBody>
      </p:sp>
      <p:sp>
        <p:nvSpPr>
          <p:cNvPr id="26" name="Text 20"/>
          <p:cNvSpPr/>
          <p:nvPr/>
        </p:nvSpPr>
        <p:spPr>
          <a:xfrm>
            <a:off x="594360" y="5806440"/>
            <a:ext cx="11000232" cy="457200"/>
          </a:xfrm>
          <a:prstGeom prst="rect">
            <a:avLst/>
          </a:prstGeom>
          <a:noFill/>
          <a:ln/>
        </p:spPr>
        <p:txBody>
          <a:bodyPr wrap="square" lIns="0" tIns="0" rIns="0" bIns="0" rtlCol="0" anchor="ctr"/>
          <a:lstStyle/>
          <a:p>
            <a:pPr indent="0" marL="0">
              <a:buNone/>
            </a:pPr>
            <a:r>
              <a:rPr lang="en-US" sz="1200" b="1" dirty="0">
                <a:solidFill>
                  <a:srgbClr val="C13415"/>
                </a:solidFill>
                <a:latin typeface="Arial" pitchFamily="34" charset="0"/>
                <a:ea typeface="Arial" pitchFamily="34" charset="-122"/>
                <a:cs typeface="Arial" pitchFamily="34" charset="-120"/>
              </a:rPr>
              <a:t>The question you must always answer in 30 seconds:  </a:t>
            </a:r>
            <a:pPr indent="0" marL="0">
              <a:buNone/>
            </a:pPr>
            <a:r>
              <a:rPr lang="en-US" sz="1200" dirty="0">
                <a:solidFill>
                  <a:srgbClr val="5A646C"/>
                </a:solidFill>
                <a:latin typeface="Arial" pitchFamily="34" charset="0"/>
                <a:ea typeface="Arial" pitchFamily="34" charset="-122"/>
                <a:cs typeface="Arial" pitchFamily="34" charset="-120"/>
              </a:rPr>
              <a:t>“Where are all of your people right now?” If you can't, stop the fireground until you can.</a:t>
            </a:r>
            <a:endParaRPr lang="en-US" sz="12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14181C"/>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9AA5AD"/>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9AA5AD"/>
                </a:solidFill>
                <a:latin typeface="Arial" pitchFamily="34" charset="0"/>
                <a:ea typeface="Arial" pitchFamily="34" charset="-122"/>
                <a:cs typeface="Arial" pitchFamily="34" charset="-120"/>
              </a:rPr>
              <a:t>57</a:t>
            </a:r>
            <a:endParaRPr lang="en-US" sz="850" dirty="0"/>
          </a:p>
        </p:txBody>
      </p:sp>
      <p:pic>
        <p:nvPicPr>
          <p:cNvPr id="4" name="Image 0" descr="/home/user/My-Future-Idaes/SANAD-Fire-Team-Leader-Course/assets/img/rescue.jpg">    </p:cNvPr>
          <p:cNvPicPr>
            <a:picLocks noChangeAspect="1"/>
          </p:cNvPicPr>
          <p:nvPr/>
        </p:nvPicPr>
        <p:blipFill>
          <a:blip r:embed="rId1"/>
          <a:srcRect l="0" r="0" t="0" b="0"/>
          <a:stretch/>
        </p:blipFill>
        <p:spPr>
          <a:xfrm>
            <a:off x="0" y="0"/>
            <a:ext cx="5394960" cy="6858000"/>
          </a:xfrm>
          <a:prstGeom prst="rect">
            <a:avLst/>
          </a:prstGeom>
        </p:spPr>
      </p:pic>
      <p:sp>
        <p:nvSpPr>
          <p:cNvPr id="5" name="Shape 2"/>
          <p:cNvSpPr/>
          <p:nvPr/>
        </p:nvSpPr>
        <p:spPr>
          <a:xfrm>
            <a:off x="0" y="0"/>
            <a:ext cx="5394960" cy="6858000"/>
          </a:xfrm>
          <a:prstGeom prst="rect">
            <a:avLst/>
          </a:prstGeom>
          <a:solidFill>
            <a:srgbClr val="14181C">
              <a:alpha val="40000"/>
            </a:srgbClr>
          </a:solidFill>
          <a:ln/>
        </p:spPr>
      </p:sp>
      <p:sp>
        <p:nvSpPr>
          <p:cNvPr id="6" name="Text 3"/>
          <p:cNvSpPr/>
          <p:nvPr/>
        </p:nvSpPr>
        <p:spPr>
          <a:xfrm>
            <a:off x="5760720" y="457200"/>
            <a:ext cx="5486400"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5</a:t>
            </a:r>
            <a:endParaRPr lang="en-US" sz="1200" dirty="0"/>
          </a:p>
        </p:txBody>
      </p:sp>
      <p:sp>
        <p:nvSpPr>
          <p:cNvPr id="7" name="Text 4"/>
          <p:cNvSpPr/>
          <p:nvPr/>
        </p:nvSpPr>
        <p:spPr>
          <a:xfrm>
            <a:off x="5760720" y="749808"/>
            <a:ext cx="5943600" cy="54864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MAYDAY: when the rescuer needs rescue</a:t>
            </a:r>
            <a:endParaRPr lang="en-US" sz="2300" dirty="0"/>
          </a:p>
        </p:txBody>
      </p:sp>
      <p:sp>
        <p:nvSpPr>
          <p:cNvPr id="8" name="Text 5"/>
          <p:cNvSpPr/>
          <p:nvPr/>
        </p:nvSpPr>
        <p:spPr>
          <a:xfrm>
            <a:off x="5760720" y="1463040"/>
            <a:ext cx="5486400" cy="274320"/>
          </a:xfrm>
          <a:prstGeom prst="rect">
            <a:avLst/>
          </a:prstGeom>
          <a:noFill/>
          <a:ln/>
        </p:spPr>
        <p:txBody>
          <a:bodyPr wrap="square" lIns="0" tIns="0" rIns="0" bIns="0" rtlCol="0" anchor="ctr"/>
          <a:lstStyle/>
          <a:p>
            <a:pPr indent="0" marL="0">
              <a:buNone/>
            </a:pPr>
            <a:r>
              <a:rPr lang="en-US" sz="1100" b="1" spc="200" kern="0" dirty="0">
                <a:solidFill>
                  <a:srgbClr val="F5A623"/>
                </a:solidFill>
                <a:latin typeface="Arial" pitchFamily="34" charset="0"/>
                <a:ea typeface="Arial" pitchFamily="34" charset="-122"/>
                <a:cs typeface="Arial" pitchFamily="34" charset="-120"/>
              </a:rPr>
              <a:t>CALL IT EARLY — ANY OF THESE:</a:t>
            </a:r>
            <a:endParaRPr lang="en-US" sz="1100" dirty="0"/>
          </a:p>
        </p:txBody>
      </p:sp>
      <p:sp>
        <p:nvSpPr>
          <p:cNvPr id="9" name="Text 6"/>
          <p:cNvSpPr/>
          <p:nvPr/>
        </p:nvSpPr>
        <p:spPr>
          <a:xfrm>
            <a:off x="5760720" y="1783080"/>
            <a:ext cx="5760720" cy="1371600"/>
          </a:xfrm>
          <a:prstGeom prst="rect">
            <a:avLst/>
          </a:prstGeom>
          <a:noFill/>
          <a:ln/>
        </p:spPr>
        <p:txBody>
          <a:bodyPr wrap="square" rtlCol="0" anchor="ctr"/>
          <a:lstStyle/>
          <a:p>
            <a:pPr marL="177800" indent="-177800">
              <a:spcAft>
                <a:spcPts val="700"/>
              </a:spcAft>
              <a:buSzPct val="100000"/>
              <a:buChar char="•"/>
            </a:pPr>
            <a:r>
              <a:rPr lang="en-US" sz="1200" dirty="0">
                <a:solidFill>
                  <a:srgbClr val="D9DEE2"/>
                </a:solidFill>
                <a:latin typeface="Arial" pitchFamily="34" charset="0"/>
                <a:ea typeface="Arial" pitchFamily="34" charset="-122"/>
                <a:cs typeface="Arial" pitchFamily="34" charset="-120"/>
              </a:rPr>
              <a:t>Firefighter down, trapped, lost or separated from buddy</a:t>
            </a:r>
            <a:endParaRPr lang="en-US" sz="1200" dirty="0"/>
          </a:p>
          <a:p>
            <a:pPr marL="177800" indent="-177800">
              <a:spcAft>
                <a:spcPts val="700"/>
              </a:spcAft>
              <a:buSzPct val="100000"/>
              <a:buChar char="•"/>
            </a:pPr>
            <a:r>
              <a:rPr lang="en-US" sz="1200" dirty="0">
                <a:solidFill>
                  <a:srgbClr val="D9DEE2"/>
                </a:solidFill>
                <a:latin typeface="Arial" pitchFamily="34" charset="0"/>
                <a:ea typeface="Arial" pitchFamily="34" charset="-122"/>
                <a:cs typeface="Arial" pitchFamily="34" charset="-120"/>
              </a:rPr>
              <a:t>BA emergency: low air, mask or regulator failure in the hot zone</a:t>
            </a:r>
            <a:endParaRPr lang="en-US" sz="1200" dirty="0"/>
          </a:p>
          <a:p>
            <a:pPr marL="177800" indent="-177800">
              <a:spcAft>
                <a:spcPts val="700"/>
              </a:spcAft>
              <a:buSzPct val="100000"/>
              <a:buChar char="•"/>
            </a:pPr>
            <a:r>
              <a:rPr lang="en-US" sz="1200" dirty="0">
                <a:solidFill>
                  <a:srgbClr val="D9DEE2"/>
                </a:solidFill>
                <a:latin typeface="Arial" pitchFamily="34" charset="0"/>
                <a:ea typeface="Arial" pitchFamily="34" charset="-122"/>
                <a:cs typeface="Arial" pitchFamily="34" charset="-120"/>
              </a:rPr>
              <a:t>Sudden condition change: collapse, flashover, engulfment</a:t>
            </a:r>
            <a:endParaRPr lang="en-US" sz="1200" dirty="0"/>
          </a:p>
        </p:txBody>
      </p:sp>
      <p:sp>
        <p:nvSpPr>
          <p:cNvPr id="10" name="Text 7"/>
          <p:cNvSpPr/>
          <p:nvPr/>
        </p:nvSpPr>
        <p:spPr>
          <a:xfrm>
            <a:off x="5760720" y="3291840"/>
            <a:ext cx="5486400" cy="274320"/>
          </a:xfrm>
          <a:prstGeom prst="rect">
            <a:avLst/>
          </a:prstGeom>
          <a:noFill/>
          <a:ln/>
        </p:spPr>
        <p:txBody>
          <a:bodyPr wrap="square" lIns="0" tIns="0" rIns="0" bIns="0" rtlCol="0" anchor="ctr"/>
          <a:lstStyle/>
          <a:p>
            <a:pPr indent="0" marL="0">
              <a:buNone/>
            </a:pPr>
            <a:r>
              <a:rPr lang="en-US" sz="1100" b="1" spc="200" kern="0" dirty="0">
                <a:solidFill>
                  <a:srgbClr val="F5A623"/>
                </a:solidFill>
                <a:latin typeface="Arial" pitchFamily="34" charset="0"/>
                <a:ea typeface="Arial" pitchFamily="34" charset="-122"/>
                <a:cs typeface="Arial" pitchFamily="34" charset="-120"/>
              </a:rPr>
              <a:t>LEADER'S MAYDAY RESPONSE:</a:t>
            </a:r>
            <a:endParaRPr lang="en-US" sz="1100" dirty="0"/>
          </a:p>
        </p:txBody>
      </p:sp>
      <p:sp>
        <p:nvSpPr>
          <p:cNvPr id="11" name="Shape 8"/>
          <p:cNvSpPr/>
          <p:nvPr/>
        </p:nvSpPr>
        <p:spPr>
          <a:xfrm>
            <a:off x="5760720" y="3657600"/>
            <a:ext cx="365760" cy="365760"/>
          </a:xfrm>
          <a:prstGeom prst="ellipse">
            <a:avLst/>
          </a:prstGeom>
          <a:solidFill>
            <a:srgbClr val="E8491D"/>
          </a:solidFill>
          <a:ln/>
        </p:spPr>
      </p:sp>
      <p:sp>
        <p:nvSpPr>
          <p:cNvPr id="12" name="Text 9"/>
          <p:cNvSpPr/>
          <p:nvPr/>
        </p:nvSpPr>
        <p:spPr>
          <a:xfrm>
            <a:off x="5760720" y="36576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3" name="Text 10"/>
          <p:cNvSpPr/>
          <p:nvPr/>
        </p:nvSpPr>
        <p:spPr>
          <a:xfrm>
            <a:off x="6263640" y="3611880"/>
            <a:ext cx="5303520" cy="475488"/>
          </a:xfrm>
          <a:prstGeom prst="rect">
            <a:avLst/>
          </a:prstGeom>
          <a:noFill/>
          <a:ln/>
        </p:spPr>
        <p:txBody>
          <a:bodyPr wrap="square" lIns="0" tIns="0" rIns="0" bIns="0" rtlCol="0" anchor="ctr"/>
          <a:lstStyle/>
          <a:p>
            <a:pPr indent="0" marL="0">
              <a:buNone/>
            </a:pPr>
            <a:r>
              <a:rPr lang="en-US" sz="1100" dirty="0">
                <a:solidFill>
                  <a:srgbClr val="E8EBED"/>
                </a:solidFill>
                <a:latin typeface="Arial" pitchFamily="34" charset="0"/>
                <a:ea typeface="Arial" pitchFamily="34" charset="-122"/>
                <a:cs typeface="Arial" pitchFamily="34" charset="-120"/>
              </a:rPr>
              <a:t>Clear the net — “MAYDAY traffic only”</a:t>
            </a:r>
            <a:endParaRPr lang="en-US" sz="1100" dirty="0"/>
          </a:p>
        </p:txBody>
      </p:sp>
      <p:sp>
        <p:nvSpPr>
          <p:cNvPr id="14" name="Shape 11"/>
          <p:cNvSpPr/>
          <p:nvPr/>
        </p:nvSpPr>
        <p:spPr>
          <a:xfrm>
            <a:off x="5760720" y="4187952"/>
            <a:ext cx="365760" cy="365760"/>
          </a:xfrm>
          <a:prstGeom prst="ellipse">
            <a:avLst/>
          </a:prstGeom>
          <a:solidFill>
            <a:srgbClr val="E8491D"/>
          </a:solidFill>
          <a:ln/>
        </p:spPr>
      </p:sp>
      <p:sp>
        <p:nvSpPr>
          <p:cNvPr id="15" name="Text 12"/>
          <p:cNvSpPr/>
          <p:nvPr/>
        </p:nvSpPr>
        <p:spPr>
          <a:xfrm>
            <a:off x="5760720" y="418795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6" name="Text 13"/>
          <p:cNvSpPr/>
          <p:nvPr/>
        </p:nvSpPr>
        <p:spPr>
          <a:xfrm>
            <a:off x="6263640" y="4142232"/>
            <a:ext cx="5303520" cy="475488"/>
          </a:xfrm>
          <a:prstGeom prst="rect">
            <a:avLst/>
          </a:prstGeom>
          <a:noFill/>
          <a:ln/>
        </p:spPr>
        <p:txBody>
          <a:bodyPr wrap="square" lIns="0" tIns="0" rIns="0" bIns="0" rtlCol="0" anchor="ctr"/>
          <a:lstStyle/>
          <a:p>
            <a:pPr indent="0" marL="0">
              <a:buNone/>
            </a:pPr>
            <a:r>
              <a:rPr lang="en-US" sz="1100" dirty="0">
                <a:solidFill>
                  <a:srgbClr val="E8EBED"/>
                </a:solidFill>
                <a:latin typeface="Arial" pitchFamily="34" charset="0"/>
                <a:ea typeface="Arial" pitchFamily="34" charset="-122"/>
                <a:cs typeface="Arial" pitchFamily="34" charset="-120"/>
              </a:rPr>
              <a:t>LUNAR from the caller: Location, Unit, Name, Air, Resources needed</a:t>
            </a:r>
            <a:endParaRPr lang="en-US" sz="1100" dirty="0"/>
          </a:p>
        </p:txBody>
      </p:sp>
      <p:sp>
        <p:nvSpPr>
          <p:cNvPr id="17" name="Shape 14"/>
          <p:cNvSpPr/>
          <p:nvPr/>
        </p:nvSpPr>
        <p:spPr>
          <a:xfrm>
            <a:off x="5760720" y="4718304"/>
            <a:ext cx="365760" cy="365760"/>
          </a:xfrm>
          <a:prstGeom prst="ellipse">
            <a:avLst/>
          </a:prstGeom>
          <a:solidFill>
            <a:srgbClr val="E8491D"/>
          </a:solidFill>
          <a:ln/>
        </p:spPr>
      </p:sp>
      <p:sp>
        <p:nvSpPr>
          <p:cNvPr id="18" name="Text 15"/>
          <p:cNvSpPr/>
          <p:nvPr/>
        </p:nvSpPr>
        <p:spPr>
          <a:xfrm>
            <a:off x="5760720" y="471830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9" name="Text 16"/>
          <p:cNvSpPr/>
          <p:nvPr/>
        </p:nvSpPr>
        <p:spPr>
          <a:xfrm>
            <a:off x="6263640" y="4672584"/>
            <a:ext cx="5303520" cy="475488"/>
          </a:xfrm>
          <a:prstGeom prst="rect">
            <a:avLst/>
          </a:prstGeom>
          <a:noFill/>
          <a:ln/>
        </p:spPr>
        <p:txBody>
          <a:bodyPr wrap="square" lIns="0" tIns="0" rIns="0" bIns="0" rtlCol="0" anchor="ctr"/>
          <a:lstStyle/>
          <a:p>
            <a:pPr indent="0" marL="0">
              <a:buNone/>
            </a:pPr>
            <a:r>
              <a:rPr lang="en-US" sz="1100" dirty="0">
                <a:solidFill>
                  <a:srgbClr val="E8EBED"/>
                </a:solidFill>
                <a:latin typeface="Arial" pitchFamily="34" charset="0"/>
                <a:ea typeface="Arial" pitchFamily="34" charset="-122"/>
                <a:cs typeface="Arial" pitchFamily="34" charset="-120"/>
              </a:rPr>
              <a:t>Deploy the standby/rescue team — this is why the reserve exists</a:t>
            </a:r>
            <a:endParaRPr lang="en-US" sz="1100" dirty="0"/>
          </a:p>
        </p:txBody>
      </p:sp>
      <p:sp>
        <p:nvSpPr>
          <p:cNvPr id="20" name="Shape 17"/>
          <p:cNvSpPr/>
          <p:nvPr/>
        </p:nvSpPr>
        <p:spPr>
          <a:xfrm>
            <a:off x="5760720" y="5248656"/>
            <a:ext cx="365760" cy="365760"/>
          </a:xfrm>
          <a:prstGeom prst="ellipse">
            <a:avLst/>
          </a:prstGeom>
          <a:solidFill>
            <a:srgbClr val="E8491D"/>
          </a:solidFill>
          <a:ln/>
        </p:spPr>
      </p:sp>
      <p:sp>
        <p:nvSpPr>
          <p:cNvPr id="21" name="Text 18"/>
          <p:cNvSpPr/>
          <p:nvPr/>
        </p:nvSpPr>
        <p:spPr>
          <a:xfrm>
            <a:off x="5760720" y="52486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2" name="Text 19"/>
          <p:cNvSpPr/>
          <p:nvPr/>
        </p:nvSpPr>
        <p:spPr>
          <a:xfrm>
            <a:off x="6263640" y="5202936"/>
            <a:ext cx="5303520" cy="475488"/>
          </a:xfrm>
          <a:prstGeom prst="rect">
            <a:avLst/>
          </a:prstGeom>
          <a:noFill/>
          <a:ln/>
        </p:spPr>
        <p:txBody>
          <a:bodyPr wrap="square" lIns="0" tIns="0" rIns="0" bIns="0" rtlCol="0" anchor="ctr"/>
          <a:lstStyle/>
          <a:p>
            <a:pPr indent="0" marL="0">
              <a:buNone/>
            </a:pPr>
            <a:r>
              <a:rPr lang="en-US" sz="1100" dirty="0">
                <a:solidFill>
                  <a:srgbClr val="E8EBED"/>
                </a:solidFill>
                <a:latin typeface="Arial" pitchFamily="34" charset="0"/>
                <a:ea typeface="Arial" pitchFamily="34" charset="-122"/>
                <a:cs typeface="Arial" pitchFamily="34" charset="-120"/>
              </a:rPr>
              <a:t>Continue or contain the fire fight with remaining crews — two incidents now run in parallel</a:t>
            </a:r>
            <a:endParaRPr lang="en-US" sz="1100" dirty="0"/>
          </a:p>
        </p:txBody>
      </p:sp>
      <p:sp>
        <p:nvSpPr>
          <p:cNvPr id="23" name="Shape 20"/>
          <p:cNvSpPr/>
          <p:nvPr/>
        </p:nvSpPr>
        <p:spPr>
          <a:xfrm>
            <a:off x="5760720" y="5779008"/>
            <a:ext cx="365760" cy="365760"/>
          </a:xfrm>
          <a:prstGeom prst="ellipse">
            <a:avLst/>
          </a:prstGeom>
          <a:solidFill>
            <a:srgbClr val="E8491D"/>
          </a:solidFill>
          <a:ln/>
        </p:spPr>
      </p:sp>
      <p:sp>
        <p:nvSpPr>
          <p:cNvPr id="24" name="Text 21"/>
          <p:cNvSpPr/>
          <p:nvPr/>
        </p:nvSpPr>
        <p:spPr>
          <a:xfrm>
            <a:off x="5760720" y="57790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25" name="Text 22"/>
          <p:cNvSpPr/>
          <p:nvPr/>
        </p:nvSpPr>
        <p:spPr>
          <a:xfrm>
            <a:off x="6263640" y="5733288"/>
            <a:ext cx="5303520" cy="475488"/>
          </a:xfrm>
          <a:prstGeom prst="rect">
            <a:avLst/>
          </a:prstGeom>
          <a:noFill/>
          <a:ln/>
        </p:spPr>
        <p:txBody>
          <a:bodyPr wrap="square" lIns="0" tIns="0" rIns="0" bIns="0" rtlCol="0" anchor="ctr"/>
          <a:lstStyle/>
          <a:p>
            <a:pPr indent="0" marL="0">
              <a:buNone/>
            </a:pPr>
            <a:r>
              <a:rPr lang="en-US" sz="1100" dirty="0">
                <a:solidFill>
                  <a:srgbClr val="E8EBED"/>
                </a:solidFill>
                <a:latin typeface="Arial" pitchFamily="34" charset="0"/>
                <a:ea typeface="Arial" pitchFamily="34" charset="-122"/>
                <a:cs typeface="Arial" pitchFamily="34" charset="-120"/>
              </a:rPr>
              <a:t>PAR on everyone else — one mayday often hides another</a:t>
            </a:r>
            <a:endParaRPr lang="en-US" sz="11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58</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5 — PRACTICAL</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Incident command simulations</a:t>
            </a:r>
            <a:endParaRPr lang="en-US" sz="3000" dirty="0"/>
          </a:p>
        </p:txBody>
      </p:sp>
      <p:sp>
        <p:nvSpPr>
          <p:cNvPr id="6" name="Shape 4"/>
          <p:cNvSpPr/>
          <p:nvPr/>
        </p:nvSpPr>
        <p:spPr>
          <a:xfrm>
            <a:off x="9445752" y="438912"/>
            <a:ext cx="2148840" cy="457200"/>
          </a:xfrm>
          <a:prstGeom prst="roundRect">
            <a:avLst>
              <a:gd name="adj" fmla="val 50000"/>
            </a:avLst>
          </a:prstGeom>
          <a:solidFill>
            <a:srgbClr val="E8491D"/>
          </a:solidFill>
          <a:ln/>
        </p:spPr>
      </p:sp>
      <p:sp>
        <p:nvSpPr>
          <p:cNvPr id="7" name="Text 5"/>
          <p:cNvSpPr/>
          <p:nvPr/>
        </p:nvSpPr>
        <p:spPr>
          <a:xfrm>
            <a:off x="9445752" y="438912"/>
            <a:ext cx="2148840" cy="457200"/>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Arial" pitchFamily="34" charset="0"/>
                <a:ea typeface="Arial" pitchFamily="34" charset="-122"/>
                <a:cs typeface="Arial" pitchFamily="34" charset="-120"/>
              </a:rPr>
              <a:t>PRACTICAL BLOCK</a:t>
            </a:r>
            <a:endParaRPr lang="en-US" sz="1100" dirty="0"/>
          </a:p>
        </p:txBody>
      </p:sp>
      <p:sp>
        <p:nvSpPr>
          <p:cNvPr id="8" name="Text 6"/>
          <p:cNvSpPr/>
          <p:nvPr/>
        </p:nvSpPr>
        <p:spPr>
          <a:xfrm>
            <a:off x="594360" y="1536192"/>
            <a:ext cx="11000232" cy="502920"/>
          </a:xfrm>
          <a:prstGeom prst="rect">
            <a:avLst/>
          </a:prstGeom>
          <a:noFill/>
          <a:ln/>
        </p:spPr>
        <p:txBody>
          <a:bodyPr wrap="square" lIns="0" tIns="0" rIns="0" bIns="0" rtlCol="0" anchor="ctr"/>
          <a:lstStyle/>
          <a:p>
            <a:pPr indent="0" marL="0">
              <a:buNone/>
            </a:pPr>
            <a:r>
              <a:rPr lang="en-US" sz="1350" i="1" dirty="0">
                <a:solidFill>
                  <a:srgbClr val="5A646C"/>
                </a:solidFill>
                <a:latin typeface="Arial" pitchFamily="34" charset="0"/>
                <a:ea typeface="Arial" pitchFamily="34" charset="-122"/>
                <a:cs typeface="Arial" pitchFamily="34" charset="-120"/>
              </a:rPr>
              <a:t>Tabletop-to-field command labs run against the clock, with assessors tracking every order.</a:t>
            </a:r>
            <a:endParaRPr lang="en-US" sz="1350" dirty="0"/>
          </a:p>
        </p:txBody>
      </p:sp>
      <p:sp>
        <p:nvSpPr>
          <p:cNvPr id="9" name="Shape 7"/>
          <p:cNvSpPr/>
          <p:nvPr/>
        </p:nvSpPr>
        <p:spPr>
          <a:xfrm>
            <a:off x="594360" y="2194560"/>
            <a:ext cx="3453384" cy="3200400"/>
          </a:xfrm>
          <a:prstGeom prst="roundRect">
            <a:avLst>
              <a:gd name="adj" fmla="val 2857"/>
            </a:avLst>
          </a:prstGeom>
          <a:solidFill>
            <a:srgbClr val="F3F4F5"/>
          </a:solidFill>
          <a:ln/>
        </p:spPr>
      </p:sp>
      <p:sp>
        <p:nvSpPr>
          <p:cNvPr id="10" name="Shape 8"/>
          <p:cNvSpPr/>
          <p:nvPr/>
        </p:nvSpPr>
        <p:spPr>
          <a:xfrm>
            <a:off x="822960" y="2423160"/>
            <a:ext cx="548640" cy="548640"/>
          </a:xfrm>
          <a:prstGeom prst="ellipse">
            <a:avLst/>
          </a:prstGeom>
          <a:solidFill>
            <a:srgbClr val="E8491D"/>
          </a:solidFill>
          <a:ln/>
        </p:spPr>
      </p:sp>
      <p:pic>
        <p:nvPicPr>
          <p:cNvPr id="11" name="Image 0" descr="/tmp/claude-0/-home-user-My-Future-Idaes/0806094f-208a-506e-82b2-f78683d50c82/scratchpad/icons/FaSitemap_white.png">    </p:cNvPr>
          <p:cNvPicPr>
            <a:picLocks noChangeAspect="1"/>
          </p:cNvPicPr>
          <p:nvPr/>
        </p:nvPicPr>
        <p:blipFill>
          <a:blip r:embed="rId1"/>
          <a:stretch>
            <a:fillRect/>
          </a:stretch>
        </p:blipFill>
        <p:spPr>
          <a:xfrm>
            <a:off x="954634" y="2554834"/>
            <a:ext cx="285293" cy="285293"/>
          </a:xfrm>
          <a:prstGeom prst="rect">
            <a:avLst/>
          </a:prstGeom>
        </p:spPr>
      </p:pic>
      <p:sp>
        <p:nvSpPr>
          <p:cNvPr id="12" name="Text 9"/>
          <p:cNvSpPr/>
          <p:nvPr/>
        </p:nvSpPr>
        <p:spPr>
          <a:xfrm>
            <a:off x="822960" y="3108960"/>
            <a:ext cx="2996184" cy="621792"/>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Command post exercise</a:t>
            </a:r>
            <a:endParaRPr lang="en-US" sz="1400" dirty="0"/>
          </a:p>
        </p:txBody>
      </p:sp>
      <p:sp>
        <p:nvSpPr>
          <p:cNvPr id="13" name="Text 10"/>
          <p:cNvSpPr/>
          <p:nvPr/>
        </p:nvSpPr>
        <p:spPr>
          <a:xfrm>
            <a:off x="822960" y="3749040"/>
            <a:ext cx="2996184" cy="150876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Run an ICP for a simulated rig fire: build the structure, set objectives, manage sector reports and SITREPs upward.</a:t>
            </a:r>
            <a:endParaRPr lang="en-US" sz="1050" dirty="0"/>
          </a:p>
        </p:txBody>
      </p:sp>
      <p:sp>
        <p:nvSpPr>
          <p:cNvPr id="14" name="Shape 11"/>
          <p:cNvSpPr/>
          <p:nvPr/>
        </p:nvSpPr>
        <p:spPr>
          <a:xfrm>
            <a:off x="4367784" y="2194560"/>
            <a:ext cx="3453384" cy="3200400"/>
          </a:xfrm>
          <a:prstGeom prst="roundRect">
            <a:avLst>
              <a:gd name="adj" fmla="val 2857"/>
            </a:avLst>
          </a:prstGeom>
          <a:solidFill>
            <a:srgbClr val="F3F4F5"/>
          </a:solidFill>
          <a:ln/>
        </p:spPr>
      </p:sp>
      <p:sp>
        <p:nvSpPr>
          <p:cNvPr id="15" name="Shape 12"/>
          <p:cNvSpPr/>
          <p:nvPr/>
        </p:nvSpPr>
        <p:spPr>
          <a:xfrm>
            <a:off x="4596384" y="2423160"/>
            <a:ext cx="548640" cy="548640"/>
          </a:xfrm>
          <a:prstGeom prst="ellipse">
            <a:avLst/>
          </a:prstGeom>
          <a:solidFill>
            <a:srgbClr val="E8491D"/>
          </a:solidFill>
          <a:ln/>
        </p:spPr>
      </p:sp>
      <p:pic>
        <p:nvPicPr>
          <p:cNvPr id="16" name="Image 1" descr="/tmp/claude-0/-home-user-My-Future-Idaes/0806094f-208a-506e-82b2-f78683d50c82/scratchpad/icons/FaExclamationTriangle_white.png">    </p:cNvPr>
          <p:cNvPicPr>
            <a:picLocks noChangeAspect="1"/>
          </p:cNvPicPr>
          <p:nvPr/>
        </p:nvPicPr>
        <p:blipFill>
          <a:blip r:embed="rId2"/>
          <a:stretch>
            <a:fillRect/>
          </a:stretch>
        </p:blipFill>
        <p:spPr>
          <a:xfrm>
            <a:off x="4728058" y="2554834"/>
            <a:ext cx="285293" cy="285293"/>
          </a:xfrm>
          <a:prstGeom prst="rect">
            <a:avLst/>
          </a:prstGeom>
        </p:spPr>
      </p:pic>
      <p:sp>
        <p:nvSpPr>
          <p:cNvPr id="17" name="Text 13"/>
          <p:cNvSpPr/>
          <p:nvPr/>
        </p:nvSpPr>
        <p:spPr>
          <a:xfrm>
            <a:off x="4596384" y="3108960"/>
            <a:ext cx="2996184" cy="621792"/>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Multi-hazard scenario</a:t>
            </a:r>
            <a:endParaRPr lang="en-US" sz="1400" dirty="0"/>
          </a:p>
        </p:txBody>
      </p:sp>
      <p:sp>
        <p:nvSpPr>
          <p:cNvPr id="18" name="Text 14"/>
          <p:cNvSpPr/>
          <p:nvPr/>
        </p:nvSpPr>
        <p:spPr>
          <a:xfrm>
            <a:off x="4596384" y="3749040"/>
            <a:ext cx="2996184" cy="150876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Fire + H2S alarm + missing person, simultaneously. Prioritize, structure, and keep accountability intact.</a:t>
            </a:r>
            <a:endParaRPr lang="en-US" sz="1050" dirty="0"/>
          </a:p>
        </p:txBody>
      </p:sp>
      <p:sp>
        <p:nvSpPr>
          <p:cNvPr id="19" name="Shape 15"/>
          <p:cNvSpPr/>
          <p:nvPr/>
        </p:nvSpPr>
        <p:spPr>
          <a:xfrm>
            <a:off x="8141208" y="2194560"/>
            <a:ext cx="3453384" cy="3200400"/>
          </a:xfrm>
          <a:prstGeom prst="roundRect">
            <a:avLst>
              <a:gd name="adj" fmla="val 2857"/>
            </a:avLst>
          </a:prstGeom>
          <a:solidFill>
            <a:srgbClr val="F3F4F5"/>
          </a:solidFill>
          <a:ln/>
        </p:spPr>
      </p:sp>
      <p:sp>
        <p:nvSpPr>
          <p:cNvPr id="20" name="Shape 16"/>
          <p:cNvSpPr/>
          <p:nvPr/>
        </p:nvSpPr>
        <p:spPr>
          <a:xfrm>
            <a:off x="8369808" y="2423160"/>
            <a:ext cx="548640" cy="548640"/>
          </a:xfrm>
          <a:prstGeom prst="ellipse">
            <a:avLst/>
          </a:prstGeom>
          <a:solidFill>
            <a:srgbClr val="E8491D"/>
          </a:solidFill>
          <a:ln/>
        </p:spPr>
      </p:sp>
      <p:pic>
        <p:nvPicPr>
          <p:cNvPr id="21" name="Image 2" descr="/tmp/claude-0/-home-user-My-Future-Idaes/0806094f-208a-506e-82b2-f78683d50c82/scratchpad/icons/FaPeopleArrows_white.png">    </p:cNvPr>
          <p:cNvPicPr>
            <a:picLocks noChangeAspect="1"/>
          </p:cNvPicPr>
          <p:nvPr/>
        </p:nvPicPr>
        <p:blipFill>
          <a:blip r:embed="rId3"/>
          <a:stretch>
            <a:fillRect/>
          </a:stretch>
        </p:blipFill>
        <p:spPr>
          <a:xfrm>
            <a:off x="8501482" y="2554834"/>
            <a:ext cx="285293" cy="285293"/>
          </a:xfrm>
          <a:prstGeom prst="rect">
            <a:avLst/>
          </a:prstGeom>
        </p:spPr>
      </p:pic>
      <p:sp>
        <p:nvSpPr>
          <p:cNvPr id="22" name="Text 17"/>
          <p:cNvSpPr/>
          <p:nvPr/>
        </p:nvSpPr>
        <p:spPr>
          <a:xfrm>
            <a:off x="8369808" y="3108960"/>
            <a:ext cx="2996184" cy="621792"/>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The handover gauntlet</a:t>
            </a:r>
            <a:endParaRPr lang="en-US" sz="1400" dirty="0"/>
          </a:p>
        </p:txBody>
      </p:sp>
      <p:sp>
        <p:nvSpPr>
          <p:cNvPr id="23" name="Text 18"/>
          <p:cNvSpPr/>
          <p:nvPr/>
        </p:nvSpPr>
        <p:spPr>
          <a:xfrm>
            <a:off x="8369808" y="3749040"/>
            <a:ext cx="2996184" cy="150876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Command transfers mid-incident — brief the incoming commander in 60 seconds without losing the scene.</a:t>
            </a:r>
            <a:endParaRPr lang="en-US" sz="1050" dirty="0"/>
          </a:p>
        </p:txBody>
      </p:sp>
      <p:sp>
        <p:nvSpPr>
          <p:cNvPr id="24" name="Shape 19"/>
          <p:cNvSpPr/>
          <p:nvPr/>
        </p:nvSpPr>
        <p:spPr>
          <a:xfrm>
            <a:off x="594360" y="5623560"/>
            <a:ext cx="11000232" cy="658368"/>
          </a:xfrm>
          <a:prstGeom prst="roundRect">
            <a:avLst>
              <a:gd name="adj" fmla="val 11111"/>
            </a:avLst>
          </a:prstGeom>
          <a:solidFill>
            <a:srgbClr val="14181C"/>
          </a:solidFill>
          <a:ln/>
        </p:spPr>
      </p:sp>
      <p:sp>
        <p:nvSpPr>
          <p:cNvPr id="25" name="Text 20"/>
          <p:cNvSpPr/>
          <p:nvPr/>
        </p:nvSpPr>
        <p:spPr>
          <a:xfrm>
            <a:off x="822960" y="5623560"/>
            <a:ext cx="10543032" cy="658368"/>
          </a:xfrm>
          <a:prstGeom prst="rect">
            <a:avLst/>
          </a:prstGeom>
          <a:noFill/>
          <a:ln/>
        </p:spPr>
        <p:txBody>
          <a:bodyPr wrap="square" lIns="0" tIns="0" rIns="0" bIns="0" rtlCol="0" anchor="ctr"/>
          <a:lstStyle/>
          <a:p>
            <a:pPr indent="0" marL="0">
              <a:buNone/>
            </a:pPr>
            <a:r>
              <a:rPr lang="en-US" sz="1150" b="1" dirty="0">
                <a:solidFill>
                  <a:srgbClr val="F5A623"/>
                </a:solidFill>
                <a:latin typeface="Arial" pitchFamily="34" charset="0"/>
                <a:ea typeface="Arial" pitchFamily="34" charset="-122"/>
                <a:cs typeface="Arial" pitchFamily="34" charset="-120"/>
              </a:rPr>
              <a:t>ASSESSED:  </a:t>
            </a:r>
            <a:pPr indent="0" marL="0">
              <a:buNone/>
            </a:pPr>
            <a:r>
              <a:rPr lang="en-US" sz="1150" dirty="0">
                <a:solidFill>
                  <a:srgbClr val="FFFFFF"/>
                </a:solidFill>
                <a:latin typeface="Arial" pitchFamily="34" charset="0"/>
                <a:ea typeface="Arial" pitchFamily="34" charset="-122"/>
                <a:cs typeface="Arial" pitchFamily="34" charset="-120"/>
              </a:rPr>
              <a:t>Command structure, zone discipline, PAR integrity and handover quality — Module 5 rubric.</a:t>
            </a:r>
            <a:endParaRPr lang="en-US" sz="11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14181C"/>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9AA5AD"/>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9AA5AD"/>
                </a:solidFill>
                <a:latin typeface="Arial" pitchFamily="34" charset="0"/>
                <a:ea typeface="Arial" pitchFamily="34" charset="-122"/>
                <a:cs typeface="Arial" pitchFamily="34" charset="-120"/>
              </a:rPr>
              <a:t>59</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END OF DAY 2</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The commander's checklist you now own</a:t>
            </a:r>
            <a:endParaRPr lang="en-US" sz="3000" dirty="0"/>
          </a:p>
        </p:txBody>
      </p:sp>
      <p:sp>
        <p:nvSpPr>
          <p:cNvPr id="6" name="Shape 4"/>
          <p:cNvSpPr/>
          <p:nvPr/>
        </p:nvSpPr>
        <p:spPr>
          <a:xfrm>
            <a:off x="594360" y="1783080"/>
            <a:ext cx="3453384" cy="3657600"/>
          </a:xfrm>
          <a:prstGeom prst="roundRect">
            <a:avLst>
              <a:gd name="adj" fmla="val 2648"/>
            </a:avLst>
          </a:prstGeom>
          <a:solidFill>
            <a:srgbClr val="1F262C"/>
          </a:solidFill>
          <a:ln w="9525">
            <a:solidFill>
              <a:srgbClr val="39434B"/>
            </a:solidFill>
            <a:prstDash val="solid"/>
          </a:ln>
        </p:spPr>
      </p:sp>
      <p:sp>
        <p:nvSpPr>
          <p:cNvPr id="7" name="Text 5"/>
          <p:cNvSpPr/>
          <p:nvPr/>
        </p:nvSpPr>
        <p:spPr>
          <a:xfrm>
            <a:off x="822960" y="1965960"/>
            <a:ext cx="2996184" cy="320040"/>
          </a:xfrm>
          <a:prstGeom prst="rect">
            <a:avLst/>
          </a:prstGeom>
          <a:noFill/>
          <a:ln/>
        </p:spPr>
        <p:txBody>
          <a:bodyPr wrap="square" lIns="0" tIns="0" rIns="0" bIns="0" rtlCol="0" anchor="ctr"/>
          <a:lstStyle/>
          <a:p>
            <a:pPr indent="0" marL="0">
              <a:buNone/>
            </a:pPr>
            <a:r>
              <a:rPr lang="en-US" sz="1300" b="1" spc="200" kern="0" dirty="0">
                <a:solidFill>
                  <a:srgbClr val="F5A623"/>
                </a:solidFill>
                <a:latin typeface="Arial" pitchFamily="34" charset="0"/>
                <a:ea typeface="Arial" pitchFamily="34" charset="-122"/>
                <a:cs typeface="Arial" pitchFamily="34" charset="-120"/>
              </a:rPr>
              <a:t>TACTICS</a:t>
            </a:r>
            <a:endParaRPr lang="en-US" sz="1300" dirty="0"/>
          </a:p>
        </p:txBody>
      </p:sp>
      <p:pic>
        <p:nvPicPr>
          <p:cNvPr id="8" name="Image 0" descr="/tmp/claude-0/-home-user-My-Future-Idaes/0806094f-208a-506e-82b2-f78683d50c82/scratchpad/icons/FaCheckCircle_flame.png">    </p:cNvPr>
          <p:cNvPicPr>
            <a:picLocks noChangeAspect="1"/>
          </p:cNvPicPr>
          <p:nvPr/>
        </p:nvPicPr>
        <p:blipFill>
          <a:blip r:embed="rId1"/>
          <a:stretch>
            <a:fillRect/>
          </a:stretch>
        </p:blipFill>
        <p:spPr>
          <a:xfrm>
            <a:off x="822960" y="2450592"/>
            <a:ext cx="237744" cy="237744"/>
          </a:xfrm>
          <a:prstGeom prst="rect">
            <a:avLst/>
          </a:prstGeom>
        </p:spPr>
      </p:pic>
      <p:sp>
        <p:nvSpPr>
          <p:cNvPr id="9" name="Text 6"/>
          <p:cNvSpPr/>
          <p:nvPr/>
        </p:nvSpPr>
        <p:spPr>
          <a:xfrm>
            <a:off x="1161288" y="2423160"/>
            <a:ext cx="2676144" cy="685800"/>
          </a:xfrm>
          <a:prstGeom prst="rect">
            <a:avLst/>
          </a:prstGeom>
          <a:noFill/>
          <a:ln/>
        </p:spPr>
        <p:txBody>
          <a:bodyPr wrap="square" lIns="0" tIns="0" rIns="0" bIns="0" rtlCol="0" anchor="t"/>
          <a:lstStyle/>
          <a:p>
            <a:pPr indent="0" marL="0">
              <a:buNone/>
            </a:pPr>
            <a:r>
              <a:rPr lang="en-US" sz="1050" dirty="0">
                <a:solidFill>
                  <a:srgbClr val="D9DEE2"/>
                </a:solidFill>
                <a:latin typeface="Arial" pitchFamily="34" charset="0"/>
                <a:ea typeface="Arial" pitchFamily="34" charset="-122"/>
                <a:cs typeface="Arial" pitchFamily="34" charset="-120"/>
              </a:rPr>
              <a:t>Size-up in 30 seconds, out loud</a:t>
            </a:r>
            <a:endParaRPr lang="en-US" sz="1050" dirty="0"/>
          </a:p>
        </p:txBody>
      </p:sp>
      <p:pic>
        <p:nvPicPr>
          <p:cNvPr id="10" name="Image 1" descr="/tmp/claude-0/-home-user-My-Future-Idaes/0806094f-208a-506e-82b2-f78683d50c82/scratchpad/icons/FaCheckCircle_flame.png">    </p:cNvPr>
          <p:cNvPicPr>
            <a:picLocks noChangeAspect="1"/>
          </p:cNvPicPr>
          <p:nvPr/>
        </p:nvPicPr>
        <p:blipFill>
          <a:blip r:embed="rId2"/>
          <a:stretch>
            <a:fillRect/>
          </a:stretch>
        </p:blipFill>
        <p:spPr>
          <a:xfrm>
            <a:off x="822960" y="3200400"/>
            <a:ext cx="237744" cy="237744"/>
          </a:xfrm>
          <a:prstGeom prst="rect">
            <a:avLst/>
          </a:prstGeom>
        </p:spPr>
      </p:pic>
      <p:sp>
        <p:nvSpPr>
          <p:cNvPr id="11" name="Text 7"/>
          <p:cNvSpPr/>
          <p:nvPr/>
        </p:nvSpPr>
        <p:spPr>
          <a:xfrm>
            <a:off x="1161288" y="3172968"/>
            <a:ext cx="2676144" cy="685800"/>
          </a:xfrm>
          <a:prstGeom prst="rect">
            <a:avLst/>
          </a:prstGeom>
          <a:noFill/>
          <a:ln/>
        </p:spPr>
        <p:txBody>
          <a:bodyPr wrap="square" lIns="0" tIns="0" rIns="0" bIns="0" rtlCol="0" anchor="t"/>
          <a:lstStyle/>
          <a:p>
            <a:pPr indent="0" marL="0">
              <a:buNone/>
            </a:pPr>
            <a:r>
              <a:rPr lang="en-US" sz="1050" dirty="0">
                <a:solidFill>
                  <a:srgbClr val="D9DEE2"/>
                </a:solidFill>
                <a:latin typeface="Arial" pitchFamily="34" charset="0"/>
                <a:ea typeface="Arial" pitchFamily="34" charset="-122"/>
                <a:cs typeface="Arial" pitchFamily="34" charset="-120"/>
              </a:rPr>
              <a:t>DRA loop running continuously</a:t>
            </a:r>
            <a:endParaRPr lang="en-US" sz="1050" dirty="0"/>
          </a:p>
        </p:txBody>
      </p:sp>
      <p:pic>
        <p:nvPicPr>
          <p:cNvPr id="12" name="Image 2" descr="/tmp/claude-0/-home-user-My-Future-Idaes/0806094f-208a-506e-82b2-f78683d50c82/scratchpad/icons/FaCheckCircle_flame.png">    </p:cNvPr>
          <p:cNvPicPr>
            <a:picLocks noChangeAspect="1"/>
          </p:cNvPicPr>
          <p:nvPr/>
        </p:nvPicPr>
        <p:blipFill>
          <a:blip r:embed="rId3"/>
          <a:stretch>
            <a:fillRect/>
          </a:stretch>
        </p:blipFill>
        <p:spPr>
          <a:xfrm>
            <a:off x="822960" y="3950208"/>
            <a:ext cx="237744" cy="237744"/>
          </a:xfrm>
          <a:prstGeom prst="rect">
            <a:avLst/>
          </a:prstGeom>
        </p:spPr>
      </p:pic>
      <p:sp>
        <p:nvSpPr>
          <p:cNvPr id="13" name="Text 8"/>
          <p:cNvSpPr/>
          <p:nvPr/>
        </p:nvSpPr>
        <p:spPr>
          <a:xfrm>
            <a:off x="1161288" y="3922776"/>
            <a:ext cx="2676144" cy="685800"/>
          </a:xfrm>
          <a:prstGeom prst="rect">
            <a:avLst/>
          </a:prstGeom>
          <a:noFill/>
          <a:ln/>
        </p:spPr>
        <p:txBody>
          <a:bodyPr wrap="square" lIns="0" tIns="0" rIns="0" bIns="0" rtlCol="0" anchor="t"/>
          <a:lstStyle/>
          <a:p>
            <a:pPr indent="0" marL="0">
              <a:buNone/>
            </a:pPr>
            <a:r>
              <a:rPr lang="en-US" sz="1050" dirty="0">
                <a:solidFill>
                  <a:srgbClr val="D9DEE2"/>
                </a:solidFill>
                <a:latin typeface="Arial" pitchFamily="34" charset="0"/>
                <a:ea typeface="Arial" pitchFamily="34" charset="-122"/>
                <a:cs typeface="Arial" pitchFamily="34" charset="-120"/>
              </a:rPr>
              <a:t>Mode declared: offensive / defensive / transitional</a:t>
            </a:r>
            <a:endParaRPr lang="en-US" sz="1050" dirty="0"/>
          </a:p>
        </p:txBody>
      </p:sp>
      <p:pic>
        <p:nvPicPr>
          <p:cNvPr id="14" name="Image 3" descr="/tmp/claude-0/-home-user-My-Future-Idaes/0806094f-208a-506e-82b2-f78683d50c82/scratchpad/icons/FaCheckCircle_flame.png">    </p:cNvPr>
          <p:cNvPicPr>
            <a:picLocks noChangeAspect="1"/>
          </p:cNvPicPr>
          <p:nvPr/>
        </p:nvPicPr>
        <p:blipFill>
          <a:blip r:embed="rId4"/>
          <a:stretch>
            <a:fillRect/>
          </a:stretch>
        </p:blipFill>
        <p:spPr>
          <a:xfrm>
            <a:off x="822960" y="4700016"/>
            <a:ext cx="237744" cy="237744"/>
          </a:xfrm>
          <a:prstGeom prst="rect">
            <a:avLst/>
          </a:prstGeom>
        </p:spPr>
      </p:pic>
      <p:sp>
        <p:nvSpPr>
          <p:cNvPr id="15" name="Text 9"/>
          <p:cNvSpPr/>
          <p:nvPr/>
        </p:nvSpPr>
        <p:spPr>
          <a:xfrm>
            <a:off x="1161288" y="4672584"/>
            <a:ext cx="2676144" cy="685800"/>
          </a:xfrm>
          <a:prstGeom prst="rect">
            <a:avLst/>
          </a:prstGeom>
          <a:noFill/>
          <a:ln/>
        </p:spPr>
        <p:txBody>
          <a:bodyPr wrap="square" lIns="0" tIns="0" rIns="0" bIns="0" rtlCol="0" anchor="t"/>
          <a:lstStyle/>
          <a:p>
            <a:pPr indent="0" marL="0">
              <a:buNone/>
            </a:pPr>
            <a:r>
              <a:rPr lang="en-US" sz="1050" dirty="0">
                <a:solidFill>
                  <a:srgbClr val="D9DEE2"/>
                </a:solidFill>
                <a:latin typeface="Arial" pitchFamily="34" charset="0"/>
                <a:ea typeface="Arial" pitchFamily="34" charset="-122"/>
                <a:cs typeface="Arial" pitchFamily="34" charset="-120"/>
              </a:rPr>
              <a:t>Reserve resources protected</a:t>
            </a:r>
            <a:endParaRPr lang="en-US" sz="1050" dirty="0"/>
          </a:p>
        </p:txBody>
      </p:sp>
      <p:sp>
        <p:nvSpPr>
          <p:cNvPr id="16" name="Shape 10"/>
          <p:cNvSpPr/>
          <p:nvPr/>
        </p:nvSpPr>
        <p:spPr>
          <a:xfrm>
            <a:off x="4367784" y="1783080"/>
            <a:ext cx="3453384" cy="3657600"/>
          </a:xfrm>
          <a:prstGeom prst="roundRect">
            <a:avLst>
              <a:gd name="adj" fmla="val 2648"/>
            </a:avLst>
          </a:prstGeom>
          <a:solidFill>
            <a:srgbClr val="1F262C"/>
          </a:solidFill>
          <a:ln w="9525">
            <a:solidFill>
              <a:srgbClr val="39434B"/>
            </a:solidFill>
            <a:prstDash val="solid"/>
          </a:ln>
        </p:spPr>
      </p:sp>
      <p:sp>
        <p:nvSpPr>
          <p:cNvPr id="17" name="Text 11"/>
          <p:cNvSpPr/>
          <p:nvPr/>
        </p:nvSpPr>
        <p:spPr>
          <a:xfrm>
            <a:off x="4596384" y="1965960"/>
            <a:ext cx="2996184" cy="320040"/>
          </a:xfrm>
          <a:prstGeom prst="rect">
            <a:avLst/>
          </a:prstGeom>
          <a:noFill/>
          <a:ln/>
        </p:spPr>
        <p:txBody>
          <a:bodyPr wrap="square" lIns="0" tIns="0" rIns="0" bIns="0" rtlCol="0" anchor="ctr"/>
          <a:lstStyle/>
          <a:p>
            <a:pPr indent="0" marL="0">
              <a:buNone/>
            </a:pPr>
            <a:r>
              <a:rPr lang="en-US" sz="1300" b="1" spc="200" kern="0" dirty="0">
                <a:solidFill>
                  <a:srgbClr val="F5A623"/>
                </a:solidFill>
                <a:latin typeface="Arial" pitchFamily="34" charset="0"/>
                <a:ea typeface="Arial" pitchFamily="34" charset="-122"/>
                <a:cs typeface="Arial" pitchFamily="34" charset="-120"/>
              </a:rPr>
              <a:t>COMMUNICATION</a:t>
            </a:r>
            <a:endParaRPr lang="en-US" sz="1300" dirty="0"/>
          </a:p>
        </p:txBody>
      </p:sp>
      <p:pic>
        <p:nvPicPr>
          <p:cNvPr id="18" name="Image 4" descr="/tmp/claude-0/-home-user-My-Future-Idaes/0806094f-208a-506e-82b2-f78683d50c82/scratchpad/icons/FaCheckCircle_flame.png">    </p:cNvPr>
          <p:cNvPicPr>
            <a:picLocks noChangeAspect="1"/>
          </p:cNvPicPr>
          <p:nvPr/>
        </p:nvPicPr>
        <p:blipFill>
          <a:blip r:embed="rId5"/>
          <a:stretch>
            <a:fillRect/>
          </a:stretch>
        </p:blipFill>
        <p:spPr>
          <a:xfrm>
            <a:off x="4596384" y="2450592"/>
            <a:ext cx="237744" cy="237744"/>
          </a:xfrm>
          <a:prstGeom prst="rect">
            <a:avLst/>
          </a:prstGeom>
        </p:spPr>
      </p:pic>
      <p:sp>
        <p:nvSpPr>
          <p:cNvPr id="19" name="Text 12"/>
          <p:cNvSpPr/>
          <p:nvPr/>
        </p:nvSpPr>
        <p:spPr>
          <a:xfrm>
            <a:off x="4934712" y="2423160"/>
            <a:ext cx="2676144" cy="685800"/>
          </a:xfrm>
          <a:prstGeom prst="rect">
            <a:avLst/>
          </a:prstGeom>
          <a:noFill/>
          <a:ln/>
        </p:spPr>
        <p:txBody>
          <a:bodyPr wrap="square" lIns="0" tIns="0" rIns="0" bIns="0" rtlCol="0" anchor="t"/>
          <a:lstStyle/>
          <a:p>
            <a:pPr indent="0" marL="0">
              <a:buNone/>
            </a:pPr>
            <a:r>
              <a:rPr lang="en-US" sz="1050" dirty="0">
                <a:solidFill>
                  <a:srgbClr val="D9DEE2"/>
                </a:solidFill>
                <a:latin typeface="Arial" pitchFamily="34" charset="0"/>
                <a:ea typeface="Arial" pitchFamily="34" charset="-122"/>
                <a:cs typeface="Arial" pitchFamily="34" charset="-120"/>
              </a:rPr>
              <a:t>Closed-loop on every order</a:t>
            </a:r>
            <a:endParaRPr lang="en-US" sz="1050" dirty="0"/>
          </a:p>
        </p:txBody>
      </p:sp>
      <p:pic>
        <p:nvPicPr>
          <p:cNvPr id="20" name="Image 5" descr="/tmp/claude-0/-home-user-My-Future-Idaes/0806094f-208a-506e-82b2-f78683d50c82/scratchpad/icons/FaCheckCircle_flame.png">    </p:cNvPr>
          <p:cNvPicPr>
            <a:picLocks noChangeAspect="1"/>
          </p:cNvPicPr>
          <p:nvPr/>
        </p:nvPicPr>
        <p:blipFill>
          <a:blip r:embed="rId6"/>
          <a:stretch>
            <a:fillRect/>
          </a:stretch>
        </p:blipFill>
        <p:spPr>
          <a:xfrm>
            <a:off x="4596384" y="3200400"/>
            <a:ext cx="237744" cy="237744"/>
          </a:xfrm>
          <a:prstGeom prst="rect">
            <a:avLst/>
          </a:prstGeom>
        </p:spPr>
      </p:pic>
      <p:sp>
        <p:nvSpPr>
          <p:cNvPr id="21" name="Text 13"/>
          <p:cNvSpPr/>
          <p:nvPr/>
        </p:nvSpPr>
        <p:spPr>
          <a:xfrm>
            <a:off x="4934712" y="3172968"/>
            <a:ext cx="2676144" cy="685800"/>
          </a:xfrm>
          <a:prstGeom prst="rect">
            <a:avLst/>
          </a:prstGeom>
          <a:noFill/>
          <a:ln/>
        </p:spPr>
        <p:txBody>
          <a:bodyPr wrap="square" lIns="0" tIns="0" rIns="0" bIns="0" rtlCol="0" anchor="t"/>
          <a:lstStyle/>
          <a:p>
            <a:pPr indent="0" marL="0">
              <a:buNone/>
            </a:pPr>
            <a:r>
              <a:rPr lang="en-US" sz="1050" dirty="0">
                <a:solidFill>
                  <a:srgbClr val="D9DEE2"/>
                </a:solidFill>
                <a:latin typeface="Arial" pitchFamily="34" charset="0"/>
                <a:ea typeface="Arial" pitchFamily="34" charset="-122"/>
                <a:cs typeface="Arial" pitchFamily="34" charset="-120"/>
              </a:rPr>
              <a:t>CAN SITREPs — 20 seconds, structured</a:t>
            </a:r>
            <a:endParaRPr lang="en-US" sz="1050" dirty="0"/>
          </a:p>
        </p:txBody>
      </p:sp>
      <p:pic>
        <p:nvPicPr>
          <p:cNvPr id="22" name="Image 6" descr="/tmp/claude-0/-home-user-My-Future-Idaes/0806094f-208a-506e-82b2-f78683d50c82/scratchpad/icons/FaCheckCircle_flame.png">    </p:cNvPr>
          <p:cNvPicPr>
            <a:picLocks noChangeAspect="1"/>
          </p:cNvPicPr>
          <p:nvPr/>
        </p:nvPicPr>
        <p:blipFill>
          <a:blip r:embed="rId7"/>
          <a:stretch>
            <a:fillRect/>
          </a:stretch>
        </p:blipFill>
        <p:spPr>
          <a:xfrm>
            <a:off x="4596384" y="3950208"/>
            <a:ext cx="237744" cy="237744"/>
          </a:xfrm>
          <a:prstGeom prst="rect">
            <a:avLst/>
          </a:prstGeom>
        </p:spPr>
      </p:pic>
      <p:sp>
        <p:nvSpPr>
          <p:cNvPr id="23" name="Text 14"/>
          <p:cNvSpPr/>
          <p:nvPr/>
        </p:nvSpPr>
        <p:spPr>
          <a:xfrm>
            <a:off x="4934712" y="3922776"/>
            <a:ext cx="2676144" cy="685800"/>
          </a:xfrm>
          <a:prstGeom prst="rect">
            <a:avLst/>
          </a:prstGeom>
          <a:noFill/>
          <a:ln/>
        </p:spPr>
        <p:txBody>
          <a:bodyPr wrap="square" lIns="0" tIns="0" rIns="0" bIns="0" rtlCol="0" anchor="t"/>
          <a:lstStyle/>
          <a:p>
            <a:pPr indent="0" marL="0">
              <a:buNone/>
            </a:pPr>
            <a:r>
              <a:rPr lang="en-US" sz="1050" dirty="0">
                <a:solidFill>
                  <a:srgbClr val="D9DEE2"/>
                </a:solidFill>
                <a:latin typeface="Arial" pitchFamily="34" charset="0"/>
                <a:ea typeface="Arial" pitchFamily="34" charset="-122"/>
                <a:cs typeface="Arial" pitchFamily="34" charset="-120"/>
              </a:rPr>
              <a:t>Sector officers, span of control 1:5</a:t>
            </a:r>
            <a:endParaRPr lang="en-US" sz="1050" dirty="0"/>
          </a:p>
        </p:txBody>
      </p:sp>
      <p:pic>
        <p:nvPicPr>
          <p:cNvPr id="24" name="Image 7" descr="/tmp/claude-0/-home-user-My-Future-Idaes/0806094f-208a-506e-82b2-f78683d50c82/scratchpad/icons/FaCheckCircle_flame.png">    </p:cNvPr>
          <p:cNvPicPr>
            <a:picLocks noChangeAspect="1"/>
          </p:cNvPicPr>
          <p:nvPr/>
        </p:nvPicPr>
        <p:blipFill>
          <a:blip r:embed="rId8"/>
          <a:stretch>
            <a:fillRect/>
          </a:stretch>
        </p:blipFill>
        <p:spPr>
          <a:xfrm>
            <a:off x="4596384" y="4700016"/>
            <a:ext cx="237744" cy="237744"/>
          </a:xfrm>
          <a:prstGeom prst="rect">
            <a:avLst/>
          </a:prstGeom>
        </p:spPr>
      </p:pic>
      <p:sp>
        <p:nvSpPr>
          <p:cNvPr id="25" name="Text 15"/>
          <p:cNvSpPr/>
          <p:nvPr/>
        </p:nvSpPr>
        <p:spPr>
          <a:xfrm>
            <a:off x="4934712" y="4672584"/>
            <a:ext cx="2676144" cy="685800"/>
          </a:xfrm>
          <a:prstGeom prst="rect">
            <a:avLst/>
          </a:prstGeom>
          <a:noFill/>
          <a:ln/>
        </p:spPr>
        <p:txBody>
          <a:bodyPr wrap="square" lIns="0" tIns="0" rIns="0" bIns="0" rtlCol="0" anchor="t"/>
          <a:lstStyle/>
          <a:p>
            <a:pPr indent="0" marL="0">
              <a:buNone/>
            </a:pPr>
            <a:r>
              <a:rPr lang="en-US" sz="1050" dirty="0">
                <a:solidFill>
                  <a:srgbClr val="D9DEE2"/>
                </a:solidFill>
                <a:latin typeface="Arial" pitchFamily="34" charset="0"/>
                <a:ea typeface="Arial" pitchFamily="34" charset="-122"/>
                <a:cs typeface="Arial" pitchFamily="34" charset="-120"/>
              </a:rPr>
              <a:t>Fallback comms briefed in advance</a:t>
            </a:r>
            <a:endParaRPr lang="en-US" sz="1050" dirty="0"/>
          </a:p>
        </p:txBody>
      </p:sp>
      <p:sp>
        <p:nvSpPr>
          <p:cNvPr id="26" name="Shape 16"/>
          <p:cNvSpPr/>
          <p:nvPr/>
        </p:nvSpPr>
        <p:spPr>
          <a:xfrm>
            <a:off x="8141208" y="1783080"/>
            <a:ext cx="3453384" cy="3657600"/>
          </a:xfrm>
          <a:prstGeom prst="roundRect">
            <a:avLst>
              <a:gd name="adj" fmla="val 2648"/>
            </a:avLst>
          </a:prstGeom>
          <a:solidFill>
            <a:srgbClr val="1F262C"/>
          </a:solidFill>
          <a:ln w="9525">
            <a:solidFill>
              <a:srgbClr val="39434B"/>
            </a:solidFill>
            <a:prstDash val="solid"/>
          </a:ln>
        </p:spPr>
      </p:sp>
      <p:sp>
        <p:nvSpPr>
          <p:cNvPr id="27" name="Text 17"/>
          <p:cNvSpPr/>
          <p:nvPr/>
        </p:nvSpPr>
        <p:spPr>
          <a:xfrm>
            <a:off x="8369808" y="1965960"/>
            <a:ext cx="2996184" cy="320040"/>
          </a:xfrm>
          <a:prstGeom prst="rect">
            <a:avLst/>
          </a:prstGeom>
          <a:noFill/>
          <a:ln/>
        </p:spPr>
        <p:txBody>
          <a:bodyPr wrap="square" lIns="0" tIns="0" rIns="0" bIns="0" rtlCol="0" anchor="ctr"/>
          <a:lstStyle/>
          <a:p>
            <a:pPr indent="0" marL="0">
              <a:buNone/>
            </a:pPr>
            <a:r>
              <a:rPr lang="en-US" sz="1300" b="1" spc="200" kern="0" dirty="0">
                <a:solidFill>
                  <a:srgbClr val="F5A623"/>
                </a:solidFill>
                <a:latin typeface="Arial" pitchFamily="34" charset="0"/>
                <a:ea typeface="Arial" pitchFamily="34" charset="-122"/>
                <a:cs typeface="Arial" pitchFamily="34" charset="-120"/>
              </a:rPr>
              <a:t>COMMAND &amp; CONTROL</a:t>
            </a:r>
            <a:endParaRPr lang="en-US" sz="1300" dirty="0"/>
          </a:p>
        </p:txBody>
      </p:sp>
      <p:pic>
        <p:nvPicPr>
          <p:cNvPr id="28" name="Image 8" descr="/tmp/claude-0/-home-user-My-Future-Idaes/0806094f-208a-506e-82b2-f78683d50c82/scratchpad/icons/FaCheckCircle_flame.png">    </p:cNvPr>
          <p:cNvPicPr>
            <a:picLocks noChangeAspect="1"/>
          </p:cNvPicPr>
          <p:nvPr/>
        </p:nvPicPr>
        <p:blipFill>
          <a:blip r:embed="rId9"/>
          <a:stretch>
            <a:fillRect/>
          </a:stretch>
        </p:blipFill>
        <p:spPr>
          <a:xfrm>
            <a:off x="8369808" y="2450592"/>
            <a:ext cx="237744" cy="237744"/>
          </a:xfrm>
          <a:prstGeom prst="rect">
            <a:avLst/>
          </a:prstGeom>
        </p:spPr>
      </p:pic>
      <p:sp>
        <p:nvSpPr>
          <p:cNvPr id="29" name="Text 18"/>
          <p:cNvSpPr/>
          <p:nvPr/>
        </p:nvSpPr>
        <p:spPr>
          <a:xfrm>
            <a:off x="8708136" y="2423160"/>
            <a:ext cx="2676144" cy="685800"/>
          </a:xfrm>
          <a:prstGeom prst="rect">
            <a:avLst/>
          </a:prstGeom>
          <a:noFill/>
          <a:ln/>
        </p:spPr>
        <p:txBody>
          <a:bodyPr wrap="square" lIns="0" tIns="0" rIns="0" bIns="0" rtlCol="0" anchor="t"/>
          <a:lstStyle/>
          <a:p>
            <a:pPr indent="0" marL="0">
              <a:buNone/>
            </a:pPr>
            <a:r>
              <a:rPr lang="en-US" sz="1050" dirty="0">
                <a:solidFill>
                  <a:srgbClr val="D9DEE2"/>
                </a:solidFill>
                <a:latin typeface="Arial" pitchFamily="34" charset="0"/>
                <a:ea typeface="Arial" pitchFamily="34" charset="-122"/>
                <a:cs typeface="Arial" pitchFamily="34" charset="-120"/>
              </a:rPr>
              <a:t>ICS structure grown to fit the incident</a:t>
            </a:r>
            <a:endParaRPr lang="en-US" sz="1050" dirty="0"/>
          </a:p>
        </p:txBody>
      </p:sp>
      <p:pic>
        <p:nvPicPr>
          <p:cNvPr id="30" name="Image 9" descr="/tmp/claude-0/-home-user-My-Future-Idaes/0806094f-208a-506e-82b2-f78683d50c82/scratchpad/icons/FaCheckCircle_flame.png">    </p:cNvPr>
          <p:cNvPicPr>
            <a:picLocks noChangeAspect="1"/>
          </p:cNvPicPr>
          <p:nvPr/>
        </p:nvPicPr>
        <p:blipFill>
          <a:blip r:embed="rId10"/>
          <a:stretch>
            <a:fillRect/>
          </a:stretch>
        </p:blipFill>
        <p:spPr>
          <a:xfrm>
            <a:off x="8369808" y="3200400"/>
            <a:ext cx="237744" cy="237744"/>
          </a:xfrm>
          <a:prstGeom prst="rect">
            <a:avLst/>
          </a:prstGeom>
        </p:spPr>
      </p:pic>
      <p:sp>
        <p:nvSpPr>
          <p:cNvPr id="31" name="Text 19"/>
          <p:cNvSpPr/>
          <p:nvPr/>
        </p:nvSpPr>
        <p:spPr>
          <a:xfrm>
            <a:off x="8708136" y="3172968"/>
            <a:ext cx="2676144" cy="685800"/>
          </a:xfrm>
          <a:prstGeom prst="rect">
            <a:avLst/>
          </a:prstGeom>
          <a:noFill/>
          <a:ln/>
        </p:spPr>
        <p:txBody>
          <a:bodyPr wrap="square" lIns="0" tIns="0" rIns="0" bIns="0" rtlCol="0" anchor="t"/>
          <a:lstStyle/>
          <a:p>
            <a:pPr indent="0" marL="0">
              <a:buNone/>
            </a:pPr>
            <a:r>
              <a:rPr lang="en-US" sz="1050" dirty="0">
                <a:solidFill>
                  <a:srgbClr val="D9DEE2"/>
                </a:solidFill>
                <a:latin typeface="Arial" pitchFamily="34" charset="0"/>
                <a:ea typeface="Arial" pitchFamily="34" charset="-122"/>
                <a:cs typeface="Arial" pitchFamily="34" charset="-120"/>
              </a:rPr>
              <a:t>Hot / warm / cold zones enforced</a:t>
            </a:r>
            <a:endParaRPr lang="en-US" sz="1050" dirty="0"/>
          </a:p>
        </p:txBody>
      </p:sp>
      <p:pic>
        <p:nvPicPr>
          <p:cNvPr id="32" name="Image 10" descr="/tmp/claude-0/-home-user-My-Future-Idaes/0806094f-208a-506e-82b2-f78683d50c82/scratchpad/icons/FaCheckCircle_flame.png">    </p:cNvPr>
          <p:cNvPicPr>
            <a:picLocks noChangeAspect="1"/>
          </p:cNvPicPr>
          <p:nvPr/>
        </p:nvPicPr>
        <p:blipFill>
          <a:blip r:embed="rId11"/>
          <a:stretch>
            <a:fillRect/>
          </a:stretch>
        </p:blipFill>
        <p:spPr>
          <a:xfrm>
            <a:off x="8369808" y="3950208"/>
            <a:ext cx="237744" cy="237744"/>
          </a:xfrm>
          <a:prstGeom prst="rect">
            <a:avLst/>
          </a:prstGeom>
        </p:spPr>
      </p:pic>
      <p:sp>
        <p:nvSpPr>
          <p:cNvPr id="33" name="Text 20"/>
          <p:cNvSpPr/>
          <p:nvPr/>
        </p:nvSpPr>
        <p:spPr>
          <a:xfrm>
            <a:off x="8708136" y="3922776"/>
            <a:ext cx="2676144" cy="685800"/>
          </a:xfrm>
          <a:prstGeom prst="rect">
            <a:avLst/>
          </a:prstGeom>
          <a:noFill/>
          <a:ln/>
        </p:spPr>
        <p:txBody>
          <a:bodyPr wrap="square" lIns="0" tIns="0" rIns="0" bIns="0" rtlCol="0" anchor="t"/>
          <a:lstStyle/>
          <a:p>
            <a:pPr indent="0" marL="0">
              <a:buNone/>
            </a:pPr>
            <a:r>
              <a:rPr lang="en-US" sz="1050" dirty="0">
                <a:solidFill>
                  <a:srgbClr val="D9DEE2"/>
                </a:solidFill>
                <a:latin typeface="Arial" pitchFamily="34" charset="0"/>
                <a:ea typeface="Arial" pitchFamily="34" charset="-122"/>
                <a:cs typeface="Arial" pitchFamily="34" charset="-120"/>
              </a:rPr>
              <a:t>Entry control + PAR without gaps</a:t>
            </a:r>
            <a:endParaRPr lang="en-US" sz="1050" dirty="0"/>
          </a:p>
        </p:txBody>
      </p:sp>
      <p:pic>
        <p:nvPicPr>
          <p:cNvPr id="34" name="Image 11" descr="/tmp/claude-0/-home-user-My-Future-Idaes/0806094f-208a-506e-82b2-f78683d50c82/scratchpad/icons/FaCheckCircle_flame.png">    </p:cNvPr>
          <p:cNvPicPr>
            <a:picLocks noChangeAspect="1"/>
          </p:cNvPicPr>
          <p:nvPr/>
        </p:nvPicPr>
        <p:blipFill>
          <a:blip r:embed="rId12"/>
          <a:stretch>
            <a:fillRect/>
          </a:stretch>
        </p:blipFill>
        <p:spPr>
          <a:xfrm>
            <a:off x="8369808" y="4700016"/>
            <a:ext cx="237744" cy="237744"/>
          </a:xfrm>
          <a:prstGeom prst="rect">
            <a:avLst/>
          </a:prstGeom>
        </p:spPr>
      </p:pic>
      <p:sp>
        <p:nvSpPr>
          <p:cNvPr id="35" name="Text 21"/>
          <p:cNvSpPr/>
          <p:nvPr/>
        </p:nvSpPr>
        <p:spPr>
          <a:xfrm>
            <a:off x="8708136" y="4672584"/>
            <a:ext cx="2676144" cy="685800"/>
          </a:xfrm>
          <a:prstGeom prst="rect">
            <a:avLst/>
          </a:prstGeom>
          <a:noFill/>
          <a:ln/>
        </p:spPr>
        <p:txBody>
          <a:bodyPr wrap="square" lIns="0" tIns="0" rIns="0" bIns="0" rtlCol="0" anchor="t"/>
          <a:lstStyle/>
          <a:p>
            <a:pPr indent="0" marL="0">
              <a:buNone/>
            </a:pPr>
            <a:r>
              <a:rPr lang="en-US" sz="1050" dirty="0">
                <a:solidFill>
                  <a:srgbClr val="D9DEE2"/>
                </a:solidFill>
                <a:latin typeface="Arial" pitchFamily="34" charset="0"/>
                <a:ea typeface="Arial" pitchFamily="34" charset="-122"/>
                <a:cs typeface="Arial" pitchFamily="34" charset="-120"/>
              </a:rPr>
              <a:t>Escalation tiers and handover ready</a:t>
            </a:r>
            <a:endParaRPr lang="en-US" sz="1050" dirty="0"/>
          </a:p>
        </p:txBody>
      </p:sp>
      <p:sp>
        <p:nvSpPr>
          <p:cNvPr id="36" name="Text 22"/>
          <p:cNvSpPr/>
          <p:nvPr/>
        </p:nvSpPr>
        <p:spPr>
          <a:xfrm>
            <a:off x="594360" y="5715000"/>
            <a:ext cx="11000232" cy="457200"/>
          </a:xfrm>
          <a:prstGeom prst="rect">
            <a:avLst/>
          </a:prstGeom>
          <a:noFill/>
          <a:ln/>
        </p:spPr>
        <p:txBody>
          <a:bodyPr wrap="square" lIns="0" tIns="0" rIns="0" bIns="0" rtlCol="0" anchor="ctr"/>
          <a:lstStyle/>
          <a:p>
            <a:pPr algn="ctr" indent="0" marL="0">
              <a:buNone/>
            </a:pPr>
            <a:r>
              <a:rPr lang="en-US" sz="1600" b="1" i="1" dirty="0">
                <a:solidFill>
                  <a:srgbClr val="F5A623"/>
                </a:solidFill>
                <a:latin typeface="Arial" pitchFamily="34" charset="0"/>
                <a:ea typeface="Arial" pitchFamily="34" charset="-122"/>
                <a:cs typeface="Arial" pitchFamily="34" charset="-120"/>
              </a:rPr>
              <a:t>Tomorrow there are no slides. Tomorrow you command.</a:t>
            </a:r>
            <a:endParaRPr lang="en-US" sz="16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14181C"/>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9AA5AD"/>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9AA5AD"/>
                </a:solidFill>
                <a:latin typeface="Arial" pitchFamily="34" charset="0"/>
                <a:ea typeface="Arial" pitchFamily="34" charset="-122"/>
                <a:cs typeface="Arial" pitchFamily="34" charset="-120"/>
              </a:rPr>
              <a:t>60</a:t>
            </a:r>
            <a:endParaRPr lang="en-US" sz="850" dirty="0"/>
          </a:p>
        </p:txBody>
      </p:sp>
      <p:pic>
        <p:nvPicPr>
          <p:cNvPr id="4" name="Image 0" descr="/home/user/My-Future-Idaes/SANAD-Fire-Team-Leader-Course/assets/img/day3.jpg">    </p:cNvPr>
          <p:cNvPicPr>
            <a:picLocks noChangeAspect="1"/>
          </p:cNvPicPr>
          <p:nvPr/>
        </p:nvPicPr>
        <p:blipFill>
          <a:blip r:embed="rId1"/>
          <a:srcRect l="0" r="0" t="0" b="0"/>
          <a:stretch/>
        </p:blipFill>
        <p:spPr>
          <a:xfrm>
            <a:off x="0" y="0"/>
            <a:ext cx="12188952" cy="6858000"/>
          </a:xfrm>
          <a:prstGeom prst="rect">
            <a:avLst/>
          </a:prstGeom>
        </p:spPr>
      </p:pic>
      <p:sp>
        <p:nvSpPr>
          <p:cNvPr id="5" name="Shape 2"/>
          <p:cNvSpPr/>
          <p:nvPr/>
        </p:nvSpPr>
        <p:spPr>
          <a:xfrm>
            <a:off x="0" y="0"/>
            <a:ext cx="6309360" cy="6858000"/>
          </a:xfrm>
          <a:prstGeom prst="rect">
            <a:avLst/>
          </a:prstGeom>
          <a:solidFill>
            <a:srgbClr val="14181C">
              <a:alpha val="82000"/>
            </a:srgbClr>
          </a:solidFill>
          <a:ln/>
        </p:spPr>
      </p:sp>
      <p:sp>
        <p:nvSpPr>
          <p:cNvPr id="6" name="Text 3"/>
          <p:cNvSpPr/>
          <p:nvPr/>
        </p:nvSpPr>
        <p:spPr>
          <a:xfrm>
            <a:off x="594360" y="1234440"/>
            <a:ext cx="5120640" cy="365760"/>
          </a:xfrm>
          <a:prstGeom prst="rect">
            <a:avLst/>
          </a:prstGeom>
          <a:noFill/>
          <a:ln/>
        </p:spPr>
        <p:txBody>
          <a:bodyPr wrap="square" lIns="0" tIns="0" rIns="0" bIns="0" rtlCol="0" anchor="ctr"/>
          <a:lstStyle/>
          <a:p>
            <a:pPr indent="0" marL="0">
              <a:buNone/>
            </a:pPr>
            <a:r>
              <a:rPr lang="en-US" sz="1500" b="1" spc="400" kern="0" dirty="0">
                <a:solidFill>
                  <a:srgbClr val="F5A623"/>
                </a:solidFill>
                <a:latin typeface="Arial" pitchFamily="34" charset="0"/>
                <a:ea typeface="Arial" pitchFamily="34" charset="-122"/>
                <a:cs typeface="Arial" pitchFamily="34" charset="-120"/>
              </a:rPr>
              <a:t>DAY 3 OF 3</a:t>
            </a:r>
            <a:endParaRPr lang="en-US" sz="1500" dirty="0"/>
          </a:p>
        </p:txBody>
      </p:sp>
      <p:sp>
        <p:nvSpPr>
          <p:cNvPr id="7" name="Text 4"/>
          <p:cNvSpPr/>
          <p:nvPr/>
        </p:nvSpPr>
        <p:spPr>
          <a:xfrm>
            <a:off x="594360" y="1691640"/>
            <a:ext cx="5394960" cy="1554480"/>
          </a:xfrm>
          <a:prstGeom prst="rect">
            <a:avLst/>
          </a:prstGeom>
          <a:noFill/>
          <a:ln/>
        </p:spPr>
        <p:txBody>
          <a:bodyPr wrap="square" lIns="0" tIns="0" rIns="0" bIns="0" rtlCol="0" anchor="ctr"/>
          <a:lstStyle/>
          <a:p>
            <a:pPr indent="0" marL="0">
              <a:lnSpc>
                <a:spcPts val="4400"/>
              </a:lnSpc>
              <a:buNone/>
            </a:pPr>
            <a:r>
              <a:rPr lang="en-US" sz="4000" b="1" dirty="0">
                <a:solidFill>
                  <a:srgbClr val="FFFFFF"/>
                </a:solidFill>
                <a:latin typeface="Arial" pitchFamily="34" charset="0"/>
                <a:ea typeface="Arial" pitchFamily="34" charset="-122"/>
                <a:cs typeface="Arial" pitchFamily="34" charset="-120"/>
              </a:rPr>
              <a:t>PROVE.</a:t>
            </a:r>
            <a:endParaRPr lang="en-US" sz="4000" dirty="0"/>
          </a:p>
          <a:p>
            <a:pPr indent="0" marL="0">
              <a:lnSpc>
                <a:spcPts val="4400"/>
              </a:lnSpc>
              <a:buNone/>
            </a:pPr>
            <a:r>
              <a:rPr lang="en-US" sz="4000" b="1" dirty="0">
                <a:solidFill>
                  <a:srgbClr val="FFFFFF"/>
                </a:solidFill>
                <a:latin typeface="Arial" pitchFamily="34" charset="0"/>
                <a:ea typeface="Arial" pitchFamily="34" charset="-122"/>
                <a:cs typeface="Arial" pitchFamily="34" charset="-120"/>
              </a:rPr>
              <a:t>Full-Scale Simulation</a:t>
            </a:r>
            <a:endParaRPr lang="en-US" sz="4000" dirty="0"/>
          </a:p>
        </p:txBody>
      </p:sp>
      <p:sp>
        <p:nvSpPr>
          <p:cNvPr id="8" name="Text 5"/>
          <p:cNvSpPr/>
          <p:nvPr/>
        </p:nvSpPr>
        <p:spPr>
          <a:xfrm>
            <a:off x="594360" y="3291840"/>
            <a:ext cx="5212080" cy="777240"/>
          </a:xfrm>
          <a:prstGeom prst="rect">
            <a:avLst/>
          </a:prstGeom>
          <a:noFill/>
          <a:ln/>
        </p:spPr>
        <p:txBody>
          <a:bodyPr wrap="square" lIns="0" tIns="0" rIns="0" bIns="0" rtlCol="0" anchor="ctr"/>
          <a:lstStyle/>
          <a:p>
            <a:pPr indent="0" marL="0">
              <a:buNone/>
            </a:pPr>
            <a:r>
              <a:rPr lang="en-US" sz="1400" dirty="0">
                <a:solidFill>
                  <a:srgbClr val="D9DEE2"/>
                </a:solidFill>
                <a:latin typeface="Arial" pitchFamily="34" charset="0"/>
                <a:ea typeface="Arial" pitchFamily="34" charset="-122"/>
                <a:cs typeface="Arial" pitchFamily="34" charset="-120"/>
              </a:rPr>
              <a:t>Everything from Days 1 and 2 — under pressure, in real time, evaluated. This is where certification is earned.</a:t>
            </a:r>
            <a:endParaRPr lang="en-US" sz="1400" dirty="0"/>
          </a:p>
        </p:txBody>
      </p:sp>
      <p:sp>
        <p:nvSpPr>
          <p:cNvPr id="9" name="Shape 6"/>
          <p:cNvSpPr/>
          <p:nvPr/>
        </p:nvSpPr>
        <p:spPr>
          <a:xfrm>
            <a:off x="594360" y="4379976"/>
            <a:ext cx="274320" cy="274320"/>
          </a:xfrm>
          <a:prstGeom prst="ellipse">
            <a:avLst/>
          </a:prstGeom>
          <a:solidFill>
            <a:srgbClr val="E8491D"/>
          </a:solidFill>
          <a:ln/>
        </p:spPr>
      </p:sp>
      <p:sp>
        <p:nvSpPr>
          <p:cNvPr id="10" name="Text 7"/>
          <p:cNvSpPr/>
          <p:nvPr/>
        </p:nvSpPr>
        <p:spPr>
          <a:xfrm>
            <a:off x="1051560" y="4297680"/>
            <a:ext cx="484632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Module 6 — Full-Scale Leadership Simulation &amp; Evaluation</a:t>
            </a:r>
            <a:endParaRPr lang="en-US" sz="1300" dirty="0"/>
          </a:p>
        </p:txBody>
      </p:sp>
      <p:sp>
        <p:nvSpPr>
          <p:cNvPr id="11" name="Shape 8"/>
          <p:cNvSpPr/>
          <p:nvPr/>
        </p:nvSpPr>
        <p:spPr>
          <a:xfrm>
            <a:off x="594360" y="4946904"/>
            <a:ext cx="274320" cy="274320"/>
          </a:xfrm>
          <a:prstGeom prst="ellipse">
            <a:avLst/>
          </a:prstGeom>
          <a:solidFill>
            <a:srgbClr val="E8491D"/>
          </a:solidFill>
          <a:ln/>
        </p:spPr>
      </p:sp>
      <p:sp>
        <p:nvSpPr>
          <p:cNvPr id="12" name="Text 9"/>
          <p:cNvSpPr/>
          <p:nvPr/>
        </p:nvSpPr>
        <p:spPr>
          <a:xfrm>
            <a:off x="1051560" y="4864608"/>
            <a:ext cx="484632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Real-time decision-making evaluation</a:t>
            </a:r>
            <a:endParaRPr lang="en-US" sz="1300" dirty="0"/>
          </a:p>
        </p:txBody>
      </p:sp>
      <p:sp>
        <p:nvSpPr>
          <p:cNvPr id="13" name="Shape 10"/>
          <p:cNvSpPr/>
          <p:nvPr/>
        </p:nvSpPr>
        <p:spPr>
          <a:xfrm>
            <a:off x="594360" y="5513832"/>
            <a:ext cx="274320" cy="274320"/>
          </a:xfrm>
          <a:prstGeom prst="ellipse">
            <a:avLst/>
          </a:prstGeom>
          <a:solidFill>
            <a:srgbClr val="E8491D"/>
          </a:solidFill>
          <a:ln/>
        </p:spPr>
      </p:sp>
      <p:sp>
        <p:nvSpPr>
          <p:cNvPr id="14" name="Text 11"/>
          <p:cNvSpPr/>
          <p:nvPr/>
        </p:nvSpPr>
        <p:spPr>
          <a:xfrm>
            <a:off x="1051560" y="5431536"/>
            <a:ext cx="484632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Final assessment, validation &amp; certification</a:t>
            </a:r>
            <a:endParaRPr lang="en-US" sz="13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61</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DAY 3 — PROVE</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Schedule of the day</a:t>
            </a:r>
            <a:endParaRPr lang="en-US" sz="30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594360" y="1645920"/>
          <a:ext cx="11000232" cy="914400"/>
        </p:xfrm>
        <a:graphic>
          <a:graphicData uri="http://schemas.openxmlformats.org/drawingml/2006/table">
            <a:tbl>
              <a:tblPr/>
              <a:tblGrid>
                <a:gridCol w="1554480"/>
                <a:gridCol w="7616952"/>
                <a:gridCol w="1828800"/>
              </a:tblGrid>
              <a:tr h="310896">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TIME</a:t>
                      </a:r>
                      <a:endParaRPr lang="en-US" sz="110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14181C"/>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SESSION</a:t>
                      </a:r>
                      <a:endParaRPr lang="en-US" sz="110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14181C"/>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MODE</a:t>
                      </a:r>
                      <a:endParaRPr lang="en-US" sz="110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14181C"/>
                    </a:solidFill>
                  </a:tcPr>
                </a:tc>
              </a:tr>
              <a:tr h="310896">
                <a:tc>
                  <a:txBody>
                    <a:bodyPr/>
                    <a:lstStyle/>
                    <a:p>
                      <a:pPr indent="0" marL="0">
                        <a:buNone/>
                      </a:pPr>
                      <a:r>
                        <a:rPr lang="en-US" sz="1050" b="1" dirty="0">
                          <a:solidFill>
                            <a:srgbClr val="1A2027"/>
                          </a:solidFill>
                          <a:latin typeface="Arial" pitchFamily="34" charset="0"/>
                          <a:ea typeface="Arial" pitchFamily="34" charset="-122"/>
                          <a:cs typeface="Arial" pitchFamily="34" charset="-120"/>
                        </a:rPr>
                        <a:t>07:30</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050" dirty="0">
                          <a:solidFill>
                            <a:srgbClr val="1A2027"/>
                          </a:solidFill>
                          <a:latin typeface="Arial" pitchFamily="34" charset="0"/>
                          <a:ea typeface="Arial" pitchFamily="34" charset="-122"/>
                          <a:cs typeface="Arial" pitchFamily="34" charset="-120"/>
                        </a:rPr>
                        <a:t>Readiness check, safety briefing &amp; assessment rules</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050" dirty="0">
                          <a:solidFill>
                            <a:srgbClr val="5A646C"/>
                          </a:solidFill>
                          <a:latin typeface="Arial" pitchFamily="34" charset="0"/>
                          <a:ea typeface="Arial" pitchFamily="34" charset="-122"/>
                          <a:cs typeface="Arial" pitchFamily="34" charset="-120"/>
                        </a:rPr>
                        <a:t>Classroom</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r>
              <a:tr h="310896">
                <a:tc>
                  <a:txBody>
                    <a:bodyPr/>
                    <a:lstStyle/>
                    <a:p>
                      <a:pPr indent="0" marL="0">
                        <a:buNone/>
                      </a:pPr>
                      <a:r>
                        <a:rPr lang="en-US" sz="1050" b="1" dirty="0">
                          <a:solidFill>
                            <a:srgbClr val="1A2027"/>
                          </a:solidFill>
                          <a:latin typeface="Arial" pitchFamily="34" charset="0"/>
                          <a:ea typeface="Arial" pitchFamily="34" charset="-122"/>
                          <a:cs typeface="Arial" pitchFamily="34" charset="-120"/>
                        </a:rPr>
                        <a:t>08:00</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indent="0" marL="0">
                        <a:buNone/>
                      </a:pPr>
                      <a:r>
                        <a:rPr lang="en-US" sz="1050" dirty="0">
                          <a:solidFill>
                            <a:srgbClr val="1A2027"/>
                          </a:solidFill>
                          <a:latin typeface="Arial" pitchFamily="34" charset="0"/>
                          <a:ea typeface="Arial" pitchFamily="34" charset="-122"/>
                          <a:cs typeface="Arial" pitchFamily="34" charset="-120"/>
                        </a:rPr>
                        <a:t>Module 6 — Scenario brief, team assignments, command rotations</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indent="0" marL="0">
                        <a:buNone/>
                      </a:pPr>
                      <a:r>
                        <a:rPr lang="en-US" sz="1050" dirty="0">
                          <a:solidFill>
                            <a:srgbClr val="5A646C"/>
                          </a:solidFill>
                          <a:latin typeface="Arial" pitchFamily="34" charset="0"/>
                          <a:ea typeface="Arial" pitchFamily="34" charset="-122"/>
                          <a:cs typeface="Arial" pitchFamily="34" charset="-120"/>
                        </a:rPr>
                        <a:t>Classroom</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r>
              <a:tr h="310896">
                <a:tc>
                  <a:txBody>
                    <a:bodyPr/>
                    <a:lstStyle/>
                    <a:p>
                      <a:pPr indent="0" marL="0">
                        <a:buNone/>
                      </a:pPr>
                      <a:r>
                        <a:rPr lang="en-US" sz="1050" b="1" dirty="0">
                          <a:solidFill>
                            <a:srgbClr val="1A2027"/>
                          </a:solidFill>
                          <a:latin typeface="Arial" pitchFamily="34" charset="0"/>
                          <a:ea typeface="Arial" pitchFamily="34" charset="-122"/>
                          <a:cs typeface="Arial" pitchFamily="34" charset="-120"/>
                        </a:rPr>
                        <a:t>08:45</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050" dirty="0">
                          <a:solidFill>
                            <a:srgbClr val="1A2027"/>
                          </a:solidFill>
                          <a:latin typeface="Arial" pitchFamily="34" charset="0"/>
                          <a:ea typeface="Arial" pitchFamily="34" charset="-122"/>
                          <a:cs typeface="Arial" pitchFamily="34" charset="-120"/>
                        </a:rPr>
                        <a:t>Full-scale simulation round 1 — rig fire with casualty</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050" b="1" dirty="0">
                          <a:solidFill>
                            <a:srgbClr val="E8491D"/>
                          </a:solidFill>
                          <a:latin typeface="Arial" pitchFamily="34" charset="0"/>
                          <a:ea typeface="Arial" pitchFamily="34" charset="-122"/>
                          <a:cs typeface="Arial" pitchFamily="34" charset="-120"/>
                        </a:rPr>
                        <a:t>Practical</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r>
              <a:tr h="310896">
                <a:tc>
                  <a:txBody>
                    <a:bodyPr/>
                    <a:lstStyle/>
                    <a:p>
                      <a:pPr indent="0" marL="0">
                        <a:buNone/>
                      </a:pPr>
                      <a:r>
                        <a:rPr lang="en-US" sz="1050" b="1" dirty="0">
                          <a:solidFill>
                            <a:srgbClr val="1A2027"/>
                          </a:solidFill>
                          <a:latin typeface="Arial" pitchFamily="34" charset="0"/>
                          <a:ea typeface="Arial" pitchFamily="34" charset="-122"/>
                          <a:cs typeface="Arial" pitchFamily="34" charset="-120"/>
                        </a:rPr>
                        <a:t>10:15</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indent="0" marL="0">
                        <a:buNone/>
                      </a:pPr>
                      <a:r>
                        <a:rPr lang="en-US" sz="1050" dirty="0">
                          <a:solidFill>
                            <a:srgbClr val="1A2027"/>
                          </a:solidFill>
                          <a:latin typeface="Arial" pitchFamily="34" charset="0"/>
                          <a:ea typeface="Arial" pitchFamily="34" charset="-122"/>
                          <a:cs typeface="Arial" pitchFamily="34" charset="-120"/>
                        </a:rPr>
                        <a:t>Break + hot debrief of round 1</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indent="0" marL="0">
                        <a:buNone/>
                      </a:pPr>
                      <a:r>
                        <a:rPr lang="en-US" sz="1050" b="1" dirty="0">
                          <a:solidFill>
                            <a:srgbClr val="E8491D"/>
                          </a:solidFill>
                          <a:latin typeface="Arial" pitchFamily="34" charset="0"/>
                          <a:ea typeface="Arial" pitchFamily="34" charset="-122"/>
                          <a:cs typeface="Arial" pitchFamily="34" charset="-120"/>
                        </a:rPr>
                        <a:t>Practical</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r>
              <a:tr h="310896">
                <a:tc>
                  <a:txBody>
                    <a:bodyPr/>
                    <a:lstStyle/>
                    <a:p>
                      <a:pPr indent="0" marL="0">
                        <a:buNone/>
                      </a:pPr>
                      <a:r>
                        <a:rPr lang="en-US" sz="1050" b="1" dirty="0">
                          <a:solidFill>
                            <a:srgbClr val="1A2027"/>
                          </a:solidFill>
                          <a:latin typeface="Arial" pitchFamily="34" charset="0"/>
                          <a:ea typeface="Arial" pitchFamily="34" charset="-122"/>
                          <a:cs typeface="Arial" pitchFamily="34" charset="-120"/>
                        </a:rPr>
                        <a:t>10:45</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050" dirty="0">
                          <a:solidFill>
                            <a:srgbClr val="1A2027"/>
                          </a:solidFill>
                          <a:latin typeface="Arial" pitchFamily="34" charset="0"/>
                          <a:ea typeface="Arial" pitchFamily="34" charset="-122"/>
                          <a:cs typeface="Arial" pitchFamily="34" charset="-120"/>
                        </a:rPr>
                        <a:t>Full-scale simulation round 2 — escalating multi-risk emergency</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050" b="1" dirty="0">
                          <a:solidFill>
                            <a:srgbClr val="E8491D"/>
                          </a:solidFill>
                          <a:latin typeface="Arial" pitchFamily="34" charset="0"/>
                          <a:ea typeface="Arial" pitchFamily="34" charset="-122"/>
                          <a:cs typeface="Arial" pitchFamily="34" charset="-120"/>
                        </a:rPr>
                        <a:t>Practical</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r>
              <a:tr h="310896">
                <a:tc>
                  <a:txBody>
                    <a:bodyPr/>
                    <a:lstStyle/>
                    <a:p>
                      <a:pPr indent="0" marL="0">
                        <a:buNone/>
                      </a:pPr>
                      <a:r>
                        <a:rPr lang="en-US" sz="1050" b="1" dirty="0">
                          <a:solidFill>
                            <a:srgbClr val="1A2027"/>
                          </a:solidFill>
                          <a:latin typeface="Arial" pitchFamily="34" charset="0"/>
                          <a:ea typeface="Arial" pitchFamily="34" charset="-122"/>
                          <a:cs typeface="Arial" pitchFamily="34" charset="-120"/>
                        </a:rPr>
                        <a:t>12:30</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indent="0" marL="0">
                        <a:buNone/>
                      </a:pPr>
                      <a:r>
                        <a:rPr lang="en-US" sz="1050" dirty="0">
                          <a:solidFill>
                            <a:srgbClr val="1A2027"/>
                          </a:solidFill>
                          <a:latin typeface="Arial" pitchFamily="34" charset="0"/>
                          <a:ea typeface="Arial" pitchFamily="34" charset="-122"/>
                          <a:cs typeface="Arial" pitchFamily="34" charset="-120"/>
                        </a:rPr>
                        <a:t>Lunch &amp; prayer</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indent="0" marL="0">
                        <a:buNone/>
                      </a:pPr>
                      <a:r>
                        <a:rPr lang="en-US" sz="1050" dirty="0">
                          <a:solidFill>
                            <a:srgbClr val="5A646C"/>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r>
              <a:tr h="310896">
                <a:tc>
                  <a:txBody>
                    <a:bodyPr/>
                    <a:lstStyle/>
                    <a:p>
                      <a:pPr indent="0" marL="0">
                        <a:buNone/>
                      </a:pPr>
                      <a:r>
                        <a:rPr lang="en-US" sz="1050" b="1" dirty="0">
                          <a:solidFill>
                            <a:srgbClr val="1A2027"/>
                          </a:solidFill>
                          <a:latin typeface="Arial" pitchFamily="34" charset="0"/>
                          <a:ea typeface="Arial" pitchFamily="34" charset="-122"/>
                          <a:cs typeface="Arial" pitchFamily="34" charset="-120"/>
                        </a:rPr>
                        <a:t>13:30</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050" dirty="0">
                          <a:solidFill>
                            <a:srgbClr val="1A2027"/>
                          </a:solidFill>
                          <a:latin typeface="Arial" pitchFamily="34" charset="0"/>
                          <a:ea typeface="Arial" pitchFamily="34" charset="-122"/>
                          <a:cs typeface="Arial" pitchFamily="34" charset="-120"/>
                        </a:rPr>
                        <a:t>Structured debrief &amp; lessons-learned workshop</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050" b="1" dirty="0">
                          <a:solidFill>
                            <a:srgbClr val="E8491D"/>
                          </a:solidFill>
                          <a:latin typeface="Arial" pitchFamily="34" charset="0"/>
                          <a:ea typeface="Arial" pitchFamily="34" charset="-122"/>
                          <a:cs typeface="Arial" pitchFamily="34" charset="-120"/>
                        </a:rPr>
                        <a:t>Practical</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r>
              <a:tr h="310896">
                <a:tc>
                  <a:txBody>
                    <a:bodyPr/>
                    <a:lstStyle/>
                    <a:p>
                      <a:pPr indent="0" marL="0">
                        <a:buNone/>
                      </a:pPr>
                      <a:r>
                        <a:rPr lang="en-US" sz="1050" b="1" dirty="0">
                          <a:solidFill>
                            <a:srgbClr val="1A2027"/>
                          </a:solidFill>
                          <a:latin typeface="Arial" pitchFamily="34" charset="0"/>
                          <a:ea typeface="Arial" pitchFamily="34" charset="-122"/>
                          <a:cs typeface="Arial" pitchFamily="34" charset="-120"/>
                        </a:rPr>
                        <a:t>14:30</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indent="0" marL="0">
                        <a:buNone/>
                      </a:pPr>
                      <a:r>
                        <a:rPr lang="en-US" sz="1050" dirty="0">
                          <a:solidFill>
                            <a:srgbClr val="1A2027"/>
                          </a:solidFill>
                          <a:latin typeface="Arial" pitchFamily="34" charset="0"/>
                          <a:ea typeface="Arial" pitchFamily="34" charset="-122"/>
                          <a:cs typeface="Arial" pitchFamily="34" charset="-120"/>
                        </a:rPr>
                        <a:t>Final assessment — leadership performance evaluation &amp; knowledge check</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indent="0" marL="0">
                        <a:buNone/>
                      </a:pPr>
                      <a:r>
                        <a:rPr lang="en-US" sz="1050" b="1" dirty="0">
                          <a:solidFill>
                            <a:srgbClr val="E8491D"/>
                          </a:solidFill>
                          <a:latin typeface="Arial" pitchFamily="34" charset="0"/>
                          <a:ea typeface="Arial" pitchFamily="34" charset="-122"/>
                          <a:cs typeface="Arial" pitchFamily="34" charset="-120"/>
                        </a:rPr>
                        <a:t>Practical</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r>
              <a:tr h="310896">
                <a:tc>
                  <a:txBody>
                    <a:bodyPr/>
                    <a:lstStyle/>
                    <a:p>
                      <a:pPr indent="0" marL="0">
                        <a:buNone/>
                      </a:pPr>
                      <a:r>
                        <a:rPr lang="en-US" sz="1050" b="1" dirty="0">
                          <a:solidFill>
                            <a:srgbClr val="1A2027"/>
                          </a:solidFill>
                          <a:latin typeface="Arial" pitchFamily="34" charset="0"/>
                          <a:ea typeface="Arial" pitchFamily="34" charset="-122"/>
                          <a:cs typeface="Arial" pitchFamily="34" charset="-120"/>
                        </a:rPr>
                        <a:t>15:30</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050" dirty="0">
                          <a:solidFill>
                            <a:srgbClr val="1A2027"/>
                          </a:solidFill>
                          <a:latin typeface="Arial" pitchFamily="34" charset="0"/>
                          <a:ea typeface="Arial" pitchFamily="34" charset="-122"/>
                          <a:cs typeface="Arial" pitchFamily="34" charset="-120"/>
                        </a:rPr>
                        <a:t>Individual competency validation &amp; feedback interviews</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050" b="1" dirty="0">
                          <a:solidFill>
                            <a:srgbClr val="E8491D"/>
                          </a:solidFill>
                          <a:latin typeface="Arial" pitchFamily="34" charset="0"/>
                          <a:ea typeface="Arial" pitchFamily="34" charset="-122"/>
                          <a:cs typeface="Arial" pitchFamily="34" charset="-120"/>
                        </a:rPr>
                        <a:t>Practical</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r>
              <a:tr h="310896">
                <a:tc>
                  <a:txBody>
                    <a:bodyPr/>
                    <a:lstStyle/>
                    <a:p>
                      <a:pPr indent="0" marL="0">
                        <a:buNone/>
                      </a:pPr>
                      <a:r>
                        <a:rPr lang="en-US" sz="1050" b="1" dirty="0">
                          <a:solidFill>
                            <a:srgbClr val="1A2027"/>
                          </a:solidFill>
                          <a:latin typeface="Arial" pitchFamily="34" charset="0"/>
                          <a:ea typeface="Arial" pitchFamily="34" charset="-122"/>
                          <a:cs typeface="Arial" pitchFamily="34" charset="-120"/>
                        </a:rPr>
                        <a:t>16:15</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indent="0" marL="0">
                        <a:buNone/>
                      </a:pPr>
                      <a:r>
                        <a:rPr lang="en-US" sz="1050" dirty="0">
                          <a:solidFill>
                            <a:srgbClr val="1A2027"/>
                          </a:solidFill>
                          <a:latin typeface="Arial" pitchFamily="34" charset="0"/>
                          <a:ea typeface="Arial" pitchFamily="34" charset="-122"/>
                          <a:cs typeface="Arial" pitchFamily="34" charset="-120"/>
                        </a:rPr>
                        <a:t>Certification &amp; course closing</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indent="0" marL="0">
                        <a:buNone/>
                      </a:pPr>
                      <a:r>
                        <a:rPr lang="en-US" sz="1050" dirty="0">
                          <a:solidFill>
                            <a:srgbClr val="5A646C"/>
                          </a:solidFill>
                          <a:latin typeface="Arial" pitchFamily="34" charset="0"/>
                          <a:ea typeface="Arial" pitchFamily="34" charset="-122"/>
                          <a:cs typeface="Arial" pitchFamily="34" charset="-120"/>
                        </a:rPr>
                        <a:t>Classroom</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r>
            </a:tbl>
          </a:graphicData>
        </a:graphic>
      </p:graphicFrame>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14181C"/>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9AA5AD"/>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9AA5AD"/>
                </a:solidFill>
                <a:latin typeface="Arial" pitchFamily="34" charset="0"/>
                <a:ea typeface="Arial" pitchFamily="34" charset="-122"/>
                <a:cs typeface="Arial" pitchFamily="34" charset="-120"/>
              </a:rPr>
              <a:t>62</a:t>
            </a:r>
            <a:endParaRPr lang="en-US" sz="850" dirty="0"/>
          </a:p>
        </p:txBody>
      </p:sp>
      <p:pic>
        <p:nvPicPr>
          <p:cNvPr id="4" name="Image 0" descr="/home/user/My-Future-Idaes/SANAD-Fire-Team-Leader-Course/assets/img/day3.jpg">    </p:cNvPr>
          <p:cNvPicPr>
            <a:picLocks noChangeAspect="1"/>
          </p:cNvPicPr>
          <p:nvPr/>
        </p:nvPicPr>
        <p:blipFill>
          <a:blip r:embed="rId1"/>
          <a:srcRect l="0" r="0" t="0" b="0"/>
          <a:stretch/>
        </p:blipFill>
        <p:spPr>
          <a:xfrm>
            <a:off x="7040880" y="0"/>
            <a:ext cx="5148072" cy="6858000"/>
          </a:xfrm>
          <a:prstGeom prst="rect">
            <a:avLst/>
          </a:prstGeom>
        </p:spPr>
      </p:pic>
      <p:sp>
        <p:nvSpPr>
          <p:cNvPr id="5" name="Shape 2"/>
          <p:cNvSpPr/>
          <p:nvPr/>
        </p:nvSpPr>
        <p:spPr>
          <a:xfrm>
            <a:off x="7040880" y="0"/>
            <a:ext cx="5148072" cy="6858000"/>
          </a:xfrm>
          <a:prstGeom prst="rect">
            <a:avLst/>
          </a:prstGeom>
          <a:solidFill>
            <a:srgbClr val="14181C">
              <a:alpha val="28000"/>
            </a:srgbClr>
          </a:solidFill>
          <a:ln/>
        </p:spPr>
      </p:sp>
      <p:sp>
        <p:nvSpPr>
          <p:cNvPr id="6" name="Text 3"/>
          <p:cNvSpPr/>
          <p:nvPr/>
        </p:nvSpPr>
        <p:spPr>
          <a:xfrm>
            <a:off x="594360" y="777240"/>
            <a:ext cx="2743200" cy="320040"/>
          </a:xfrm>
          <a:prstGeom prst="rect">
            <a:avLst/>
          </a:prstGeom>
          <a:noFill/>
          <a:ln/>
        </p:spPr>
        <p:txBody>
          <a:bodyPr wrap="square" lIns="0" tIns="0" rIns="0" bIns="0" rtlCol="0" anchor="ctr"/>
          <a:lstStyle/>
          <a:p>
            <a:pPr indent="0" marL="0">
              <a:buNone/>
            </a:pPr>
            <a:r>
              <a:rPr lang="en-US" sz="1300" b="1" spc="400" kern="0" dirty="0">
                <a:solidFill>
                  <a:srgbClr val="9AA5AD"/>
                </a:solidFill>
                <a:latin typeface="Arial" pitchFamily="34" charset="0"/>
                <a:ea typeface="Arial" pitchFamily="34" charset="-122"/>
                <a:cs typeface="Arial" pitchFamily="34" charset="-120"/>
              </a:rPr>
              <a:t>MODULE</a:t>
            </a:r>
            <a:endParaRPr lang="en-US" sz="1300" dirty="0"/>
          </a:p>
        </p:txBody>
      </p:sp>
      <p:sp>
        <p:nvSpPr>
          <p:cNvPr id="7" name="Text 4"/>
          <p:cNvSpPr/>
          <p:nvPr/>
        </p:nvSpPr>
        <p:spPr>
          <a:xfrm>
            <a:off x="548640" y="960120"/>
            <a:ext cx="2194560" cy="1554480"/>
          </a:xfrm>
          <a:prstGeom prst="rect">
            <a:avLst/>
          </a:prstGeom>
          <a:noFill/>
          <a:ln/>
        </p:spPr>
        <p:txBody>
          <a:bodyPr wrap="square" lIns="0" tIns="0" rIns="0" bIns="0" rtlCol="0" anchor="ctr"/>
          <a:lstStyle/>
          <a:p>
            <a:pPr indent="0" marL="0">
              <a:buNone/>
            </a:pPr>
            <a:r>
              <a:rPr lang="en-US" sz="9600" b="1" dirty="0">
                <a:solidFill>
                  <a:srgbClr val="E8491D"/>
                </a:solidFill>
                <a:latin typeface="Arial" pitchFamily="34" charset="0"/>
                <a:ea typeface="Arial" pitchFamily="34" charset="-122"/>
                <a:cs typeface="Arial" pitchFamily="34" charset="-120"/>
              </a:rPr>
              <a:t>06</a:t>
            </a:r>
            <a:endParaRPr lang="en-US" sz="9600" dirty="0"/>
          </a:p>
        </p:txBody>
      </p:sp>
      <p:sp>
        <p:nvSpPr>
          <p:cNvPr id="8" name="Text 5"/>
          <p:cNvSpPr/>
          <p:nvPr/>
        </p:nvSpPr>
        <p:spPr>
          <a:xfrm>
            <a:off x="594360" y="2651760"/>
            <a:ext cx="6309360" cy="1143000"/>
          </a:xfrm>
          <a:prstGeom prst="rect">
            <a:avLst/>
          </a:prstGeom>
          <a:noFill/>
          <a:ln/>
        </p:spPr>
        <p:txBody>
          <a:bodyPr wrap="square" lIns="0" tIns="0" rIns="0" bIns="0" rtlCol="0" anchor="ctr"/>
          <a:lstStyle/>
          <a:p>
            <a:pPr indent="0" marL="0">
              <a:lnSpc>
                <a:spcPts val="3600"/>
              </a:lnSpc>
              <a:buNone/>
            </a:pPr>
            <a:r>
              <a:rPr lang="en-US" sz="3100" b="1" dirty="0">
                <a:solidFill>
                  <a:srgbClr val="FFFFFF"/>
                </a:solidFill>
                <a:latin typeface="Arial" pitchFamily="34" charset="0"/>
                <a:ea typeface="Arial" pitchFamily="34" charset="-122"/>
                <a:cs typeface="Arial" pitchFamily="34" charset="-120"/>
              </a:rPr>
              <a:t>Full-Scale Simulation</a:t>
            </a:r>
            <a:endParaRPr lang="en-US" sz="3100" dirty="0"/>
          </a:p>
          <a:p>
            <a:pPr indent="0" marL="0">
              <a:lnSpc>
                <a:spcPts val="3600"/>
              </a:lnSpc>
              <a:buNone/>
            </a:pPr>
            <a:r>
              <a:rPr lang="en-US" sz="3100" b="1" dirty="0">
                <a:solidFill>
                  <a:srgbClr val="FFFFFF"/>
                </a:solidFill>
                <a:latin typeface="Arial" pitchFamily="34" charset="0"/>
                <a:ea typeface="Arial" pitchFamily="34" charset="-122"/>
                <a:cs typeface="Arial" pitchFamily="34" charset="-120"/>
              </a:rPr>
              <a:t>&amp; Evaluation</a:t>
            </a:r>
            <a:endParaRPr lang="en-US" sz="3100" dirty="0"/>
          </a:p>
        </p:txBody>
      </p:sp>
      <p:sp>
        <p:nvSpPr>
          <p:cNvPr id="9" name="Text 6"/>
          <p:cNvSpPr/>
          <p:nvPr/>
        </p:nvSpPr>
        <p:spPr>
          <a:xfrm>
            <a:off x="594360" y="3840480"/>
            <a:ext cx="6126480" cy="685800"/>
          </a:xfrm>
          <a:prstGeom prst="rect">
            <a:avLst/>
          </a:prstGeom>
          <a:noFill/>
          <a:ln/>
        </p:spPr>
        <p:txBody>
          <a:bodyPr wrap="square" lIns="0" tIns="0" rIns="0" bIns="0" rtlCol="0" anchor="ctr"/>
          <a:lstStyle/>
          <a:p>
            <a:pPr indent="0" marL="0">
              <a:buNone/>
            </a:pPr>
            <a:r>
              <a:rPr lang="en-US" sz="1350" b="1" dirty="0">
                <a:solidFill>
                  <a:srgbClr val="F5A623"/>
                </a:solidFill>
                <a:latin typeface="Arial" pitchFamily="34" charset="0"/>
                <a:ea typeface="Arial" pitchFamily="34" charset="-122"/>
                <a:cs typeface="Arial" pitchFamily="34" charset="-120"/>
              </a:rPr>
              <a:t>OBJECTIVE — </a:t>
            </a:r>
            <a:pPr indent="0" marL="0">
              <a:buNone/>
            </a:pPr>
            <a:r>
              <a:rPr lang="en-US" sz="1350" dirty="0">
                <a:solidFill>
                  <a:srgbClr val="D9DEE2"/>
                </a:solidFill>
                <a:latin typeface="Arial" pitchFamily="34" charset="0"/>
                <a:ea typeface="Arial" pitchFamily="34" charset="-122"/>
                <a:cs typeface="Arial" pitchFamily="34" charset="-120"/>
              </a:rPr>
              <a:t>Validate leadership capability in realistic, complex scenarios.</a:t>
            </a:r>
            <a:endParaRPr lang="en-US" sz="1350" dirty="0"/>
          </a:p>
        </p:txBody>
      </p:sp>
      <p:sp>
        <p:nvSpPr>
          <p:cNvPr id="10" name="Shape 7"/>
          <p:cNvSpPr/>
          <p:nvPr/>
        </p:nvSpPr>
        <p:spPr>
          <a:xfrm>
            <a:off x="594360" y="4828032"/>
            <a:ext cx="146304" cy="146304"/>
          </a:xfrm>
          <a:prstGeom prst="ellipse">
            <a:avLst/>
          </a:prstGeom>
          <a:solidFill>
            <a:srgbClr val="E8491D"/>
          </a:solidFill>
          <a:ln/>
        </p:spPr>
      </p:sp>
      <p:sp>
        <p:nvSpPr>
          <p:cNvPr id="11" name="Text 8"/>
          <p:cNvSpPr/>
          <p:nvPr/>
        </p:nvSpPr>
        <p:spPr>
          <a:xfrm>
            <a:off x="886968" y="4709160"/>
            <a:ext cx="2743200" cy="5029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Complex emergency scenarios</a:t>
            </a:r>
            <a:endParaRPr lang="en-US" sz="1150" dirty="0"/>
          </a:p>
        </p:txBody>
      </p:sp>
      <p:sp>
        <p:nvSpPr>
          <p:cNvPr id="12" name="Shape 9"/>
          <p:cNvSpPr/>
          <p:nvPr/>
        </p:nvSpPr>
        <p:spPr>
          <a:xfrm>
            <a:off x="3749040" y="4828032"/>
            <a:ext cx="146304" cy="146304"/>
          </a:xfrm>
          <a:prstGeom prst="ellipse">
            <a:avLst/>
          </a:prstGeom>
          <a:solidFill>
            <a:srgbClr val="E8491D"/>
          </a:solidFill>
          <a:ln/>
        </p:spPr>
      </p:sp>
      <p:sp>
        <p:nvSpPr>
          <p:cNvPr id="13" name="Text 10"/>
          <p:cNvSpPr/>
          <p:nvPr/>
        </p:nvSpPr>
        <p:spPr>
          <a:xfrm>
            <a:off x="4041648" y="4709160"/>
            <a:ext cx="2743200" cy="5029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Multi-risk environments</a:t>
            </a:r>
            <a:endParaRPr lang="en-US" sz="1150" dirty="0"/>
          </a:p>
        </p:txBody>
      </p:sp>
      <p:sp>
        <p:nvSpPr>
          <p:cNvPr id="14" name="Shape 11"/>
          <p:cNvSpPr/>
          <p:nvPr/>
        </p:nvSpPr>
        <p:spPr>
          <a:xfrm>
            <a:off x="594360" y="5486400"/>
            <a:ext cx="146304" cy="146304"/>
          </a:xfrm>
          <a:prstGeom prst="ellipse">
            <a:avLst/>
          </a:prstGeom>
          <a:solidFill>
            <a:srgbClr val="E8491D"/>
          </a:solidFill>
          <a:ln/>
        </p:spPr>
      </p:sp>
      <p:sp>
        <p:nvSpPr>
          <p:cNvPr id="15" name="Text 12"/>
          <p:cNvSpPr/>
          <p:nvPr/>
        </p:nvSpPr>
        <p:spPr>
          <a:xfrm>
            <a:off x="886968" y="5367528"/>
            <a:ext cx="2743200" cy="5029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Safety vs. urgency decisions</a:t>
            </a:r>
            <a:endParaRPr lang="en-US" sz="1150" dirty="0"/>
          </a:p>
        </p:txBody>
      </p:sp>
      <p:sp>
        <p:nvSpPr>
          <p:cNvPr id="16" name="Shape 13"/>
          <p:cNvSpPr/>
          <p:nvPr/>
        </p:nvSpPr>
        <p:spPr>
          <a:xfrm>
            <a:off x="3749040" y="5486400"/>
            <a:ext cx="146304" cy="146304"/>
          </a:xfrm>
          <a:prstGeom prst="ellipse">
            <a:avLst/>
          </a:prstGeom>
          <a:solidFill>
            <a:srgbClr val="E8491D"/>
          </a:solidFill>
          <a:ln/>
        </p:spPr>
      </p:sp>
      <p:sp>
        <p:nvSpPr>
          <p:cNvPr id="17" name="Text 14"/>
          <p:cNvSpPr/>
          <p:nvPr/>
        </p:nvSpPr>
        <p:spPr>
          <a:xfrm>
            <a:off x="4041648" y="5367528"/>
            <a:ext cx="2743200" cy="5029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Post-incident review</a:t>
            </a:r>
            <a:endParaRPr lang="en-US" sz="1150" dirty="0"/>
          </a:p>
        </p:txBody>
      </p:sp>
      <p:sp>
        <p:nvSpPr>
          <p:cNvPr id="18" name="Shape 15"/>
          <p:cNvSpPr/>
          <p:nvPr/>
        </p:nvSpPr>
        <p:spPr>
          <a:xfrm>
            <a:off x="6080760" y="777240"/>
            <a:ext cx="640080" cy="640080"/>
          </a:xfrm>
          <a:prstGeom prst="ellipse">
            <a:avLst/>
          </a:prstGeom>
          <a:solidFill>
            <a:srgbClr val="1F262C"/>
          </a:solidFill>
          <a:ln/>
        </p:spPr>
      </p:sp>
      <p:pic>
        <p:nvPicPr>
          <p:cNvPr id="19" name="Image 1" descr="/tmp/claude-0/-home-user-My-Future-Idaes/0806094f-208a-506e-82b2-f78683d50c82/scratchpad/icons/FaFlagCheckered_flame.png">    </p:cNvPr>
          <p:cNvPicPr>
            <a:picLocks noChangeAspect="1"/>
          </p:cNvPicPr>
          <p:nvPr/>
        </p:nvPicPr>
        <p:blipFill>
          <a:blip r:embed="rId2"/>
          <a:stretch>
            <a:fillRect/>
          </a:stretch>
        </p:blipFill>
        <p:spPr>
          <a:xfrm>
            <a:off x="6234379" y="930859"/>
            <a:ext cx="332842" cy="332842"/>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63</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6</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Exercise safety: realistic, never reckless</a:t>
            </a:r>
            <a:endParaRPr lang="en-US" sz="3000" dirty="0"/>
          </a:p>
        </p:txBody>
      </p:sp>
      <p:sp>
        <p:nvSpPr>
          <p:cNvPr id="6" name="Shape 4"/>
          <p:cNvSpPr/>
          <p:nvPr/>
        </p:nvSpPr>
        <p:spPr>
          <a:xfrm>
            <a:off x="594360" y="1737360"/>
            <a:ext cx="5317236" cy="1828800"/>
          </a:xfrm>
          <a:prstGeom prst="roundRect">
            <a:avLst>
              <a:gd name="adj" fmla="val 5000"/>
            </a:avLst>
          </a:prstGeom>
          <a:solidFill>
            <a:srgbClr val="F3F4F5"/>
          </a:solidFill>
          <a:ln/>
        </p:spPr>
      </p:sp>
      <p:sp>
        <p:nvSpPr>
          <p:cNvPr id="7" name="Shape 5"/>
          <p:cNvSpPr/>
          <p:nvPr/>
        </p:nvSpPr>
        <p:spPr>
          <a:xfrm>
            <a:off x="822960" y="1965960"/>
            <a:ext cx="530352" cy="530352"/>
          </a:xfrm>
          <a:prstGeom prst="ellipse">
            <a:avLst/>
          </a:prstGeom>
          <a:solidFill>
            <a:srgbClr val="E8491D"/>
          </a:solidFill>
          <a:ln/>
        </p:spPr>
      </p:sp>
      <p:pic>
        <p:nvPicPr>
          <p:cNvPr id="8" name="Image 0" descr="/tmp/claude-0/-home-user-My-Future-Idaes/0806094f-208a-506e-82b2-f78683d50c82/scratchpad/icons/FaUserShield_white.png">    </p:cNvPr>
          <p:cNvPicPr>
            <a:picLocks noChangeAspect="1"/>
          </p:cNvPicPr>
          <p:nvPr/>
        </p:nvPicPr>
        <p:blipFill>
          <a:blip r:embed="rId1"/>
          <a:stretch>
            <a:fillRect/>
          </a:stretch>
        </p:blipFill>
        <p:spPr>
          <a:xfrm>
            <a:off x="950244" y="2093244"/>
            <a:ext cx="275783" cy="275783"/>
          </a:xfrm>
          <a:prstGeom prst="rect">
            <a:avLst/>
          </a:prstGeom>
        </p:spPr>
      </p:pic>
      <p:sp>
        <p:nvSpPr>
          <p:cNvPr id="9" name="Text 6"/>
          <p:cNvSpPr/>
          <p:nvPr/>
        </p:nvSpPr>
        <p:spPr>
          <a:xfrm>
            <a:off x="1527048" y="1956816"/>
            <a:ext cx="4174236" cy="384048"/>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Dedicated safety officer</a:t>
            </a:r>
            <a:endParaRPr lang="en-US" sz="1400" dirty="0"/>
          </a:p>
        </p:txBody>
      </p:sp>
      <p:sp>
        <p:nvSpPr>
          <p:cNvPr id="10" name="Text 7"/>
          <p:cNvSpPr/>
          <p:nvPr/>
        </p:nvSpPr>
        <p:spPr>
          <a:xfrm>
            <a:off x="1527048" y="2359152"/>
            <a:ext cx="4128516" cy="114300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Present on the training ground throughout, outside the exercise play, with absolute STOP authority no one can override.</a:t>
            </a:r>
            <a:endParaRPr lang="en-US" sz="1050" dirty="0"/>
          </a:p>
        </p:txBody>
      </p:sp>
      <p:sp>
        <p:nvSpPr>
          <p:cNvPr id="11" name="Shape 8"/>
          <p:cNvSpPr/>
          <p:nvPr/>
        </p:nvSpPr>
        <p:spPr>
          <a:xfrm>
            <a:off x="6277356" y="1737360"/>
            <a:ext cx="5317236" cy="1828800"/>
          </a:xfrm>
          <a:prstGeom prst="roundRect">
            <a:avLst>
              <a:gd name="adj" fmla="val 5000"/>
            </a:avLst>
          </a:prstGeom>
          <a:solidFill>
            <a:srgbClr val="F3F4F5"/>
          </a:solidFill>
          <a:ln/>
        </p:spPr>
      </p:sp>
      <p:sp>
        <p:nvSpPr>
          <p:cNvPr id="12" name="Shape 9"/>
          <p:cNvSpPr/>
          <p:nvPr/>
        </p:nvSpPr>
        <p:spPr>
          <a:xfrm>
            <a:off x="6505956" y="1965960"/>
            <a:ext cx="530352" cy="530352"/>
          </a:xfrm>
          <a:prstGeom prst="ellipse">
            <a:avLst/>
          </a:prstGeom>
          <a:solidFill>
            <a:srgbClr val="E8491D"/>
          </a:solidFill>
          <a:ln/>
        </p:spPr>
      </p:sp>
      <p:pic>
        <p:nvPicPr>
          <p:cNvPr id="13" name="Image 1" descr="/tmp/claude-0/-home-user-My-Future-Idaes/0806094f-208a-506e-82b2-f78683d50c82/scratchpad/icons/FaHandPaper_white.png">    </p:cNvPr>
          <p:cNvPicPr>
            <a:picLocks noChangeAspect="1"/>
          </p:cNvPicPr>
          <p:nvPr/>
        </p:nvPicPr>
        <p:blipFill>
          <a:blip r:embed="rId2"/>
          <a:stretch>
            <a:fillRect/>
          </a:stretch>
        </p:blipFill>
        <p:spPr>
          <a:xfrm>
            <a:off x="6633240" y="2093244"/>
            <a:ext cx="275783" cy="275783"/>
          </a:xfrm>
          <a:prstGeom prst="rect">
            <a:avLst/>
          </a:prstGeom>
        </p:spPr>
      </p:pic>
      <p:sp>
        <p:nvSpPr>
          <p:cNvPr id="14" name="Text 10"/>
          <p:cNvSpPr/>
          <p:nvPr/>
        </p:nvSpPr>
        <p:spPr>
          <a:xfrm>
            <a:off x="7210044" y="1956816"/>
            <a:ext cx="4174236" cy="384048"/>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Two magic words</a:t>
            </a:r>
            <a:endParaRPr lang="en-US" sz="1400" dirty="0"/>
          </a:p>
        </p:txBody>
      </p:sp>
      <p:sp>
        <p:nvSpPr>
          <p:cNvPr id="15" name="Text 11"/>
          <p:cNvSpPr/>
          <p:nvPr/>
        </p:nvSpPr>
        <p:spPr>
          <a:xfrm>
            <a:off x="7210044" y="2359152"/>
            <a:ext cx="4128516" cy="114300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The exercise stop word freezes play instantly. The site's REAL emergency phrase — different, unmistakable — ends the exercise and starts a genuine response.</a:t>
            </a:r>
            <a:endParaRPr lang="en-US" sz="1050" dirty="0"/>
          </a:p>
        </p:txBody>
      </p:sp>
      <p:sp>
        <p:nvSpPr>
          <p:cNvPr id="16" name="Shape 12"/>
          <p:cNvSpPr/>
          <p:nvPr/>
        </p:nvSpPr>
        <p:spPr>
          <a:xfrm>
            <a:off x="594360" y="3749040"/>
            <a:ext cx="5317236" cy="1828800"/>
          </a:xfrm>
          <a:prstGeom prst="roundRect">
            <a:avLst>
              <a:gd name="adj" fmla="val 5000"/>
            </a:avLst>
          </a:prstGeom>
          <a:solidFill>
            <a:srgbClr val="F3F4F5"/>
          </a:solidFill>
          <a:ln/>
        </p:spPr>
      </p:sp>
      <p:sp>
        <p:nvSpPr>
          <p:cNvPr id="17" name="Shape 13"/>
          <p:cNvSpPr/>
          <p:nvPr/>
        </p:nvSpPr>
        <p:spPr>
          <a:xfrm>
            <a:off x="822960" y="3977640"/>
            <a:ext cx="530352" cy="530352"/>
          </a:xfrm>
          <a:prstGeom prst="ellipse">
            <a:avLst/>
          </a:prstGeom>
          <a:solidFill>
            <a:srgbClr val="E8491D"/>
          </a:solidFill>
          <a:ln/>
        </p:spPr>
      </p:sp>
      <p:pic>
        <p:nvPicPr>
          <p:cNvPr id="18" name="Image 2" descr="/tmp/claude-0/-home-user-My-Future-Idaes/0806094f-208a-506e-82b2-f78683d50c82/scratchpad/icons/FaFire_white.png">    </p:cNvPr>
          <p:cNvPicPr>
            <a:picLocks noChangeAspect="1"/>
          </p:cNvPicPr>
          <p:nvPr/>
        </p:nvPicPr>
        <p:blipFill>
          <a:blip r:embed="rId3"/>
          <a:stretch>
            <a:fillRect/>
          </a:stretch>
        </p:blipFill>
        <p:spPr>
          <a:xfrm>
            <a:off x="950244" y="4104924"/>
            <a:ext cx="275783" cy="275783"/>
          </a:xfrm>
          <a:prstGeom prst="rect">
            <a:avLst/>
          </a:prstGeom>
        </p:spPr>
      </p:pic>
      <p:sp>
        <p:nvSpPr>
          <p:cNvPr id="19" name="Text 14"/>
          <p:cNvSpPr/>
          <p:nvPr/>
        </p:nvSpPr>
        <p:spPr>
          <a:xfrm>
            <a:off x="1527048" y="3968496"/>
            <a:ext cx="4174236" cy="384048"/>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Controlled fire only</a:t>
            </a:r>
            <a:endParaRPr lang="en-US" sz="1400" dirty="0"/>
          </a:p>
        </p:txBody>
      </p:sp>
      <p:sp>
        <p:nvSpPr>
          <p:cNvPr id="20" name="Text 15"/>
          <p:cNvSpPr/>
          <p:nvPr/>
        </p:nvSpPr>
        <p:spPr>
          <a:xfrm>
            <a:off x="1527048" y="4370832"/>
            <a:ext cx="4128516" cy="114300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All live fire, smoke and props are operated by the training-ground team. Participants never handle fuel or ignition sources.</a:t>
            </a:r>
            <a:endParaRPr lang="en-US" sz="1050" dirty="0"/>
          </a:p>
        </p:txBody>
      </p:sp>
      <p:sp>
        <p:nvSpPr>
          <p:cNvPr id="21" name="Shape 16"/>
          <p:cNvSpPr/>
          <p:nvPr/>
        </p:nvSpPr>
        <p:spPr>
          <a:xfrm>
            <a:off x="6277356" y="3749040"/>
            <a:ext cx="5317236" cy="1828800"/>
          </a:xfrm>
          <a:prstGeom prst="roundRect">
            <a:avLst>
              <a:gd name="adj" fmla="val 5000"/>
            </a:avLst>
          </a:prstGeom>
          <a:solidFill>
            <a:srgbClr val="F3F4F5"/>
          </a:solidFill>
          <a:ln/>
        </p:spPr>
      </p:sp>
      <p:sp>
        <p:nvSpPr>
          <p:cNvPr id="22" name="Shape 17"/>
          <p:cNvSpPr/>
          <p:nvPr/>
        </p:nvSpPr>
        <p:spPr>
          <a:xfrm>
            <a:off x="6505956" y="3977640"/>
            <a:ext cx="530352" cy="530352"/>
          </a:xfrm>
          <a:prstGeom prst="ellipse">
            <a:avLst/>
          </a:prstGeom>
          <a:solidFill>
            <a:srgbClr val="E8491D"/>
          </a:solidFill>
          <a:ln/>
        </p:spPr>
      </p:sp>
      <p:pic>
        <p:nvPicPr>
          <p:cNvPr id="23" name="Image 3" descr="/tmp/claude-0/-home-user-My-Future-Idaes/0806094f-208a-506e-82b2-f78683d50c82/scratchpad/icons/FaHeartbeat_white.png">    </p:cNvPr>
          <p:cNvPicPr>
            <a:picLocks noChangeAspect="1"/>
          </p:cNvPicPr>
          <p:nvPr/>
        </p:nvPicPr>
        <p:blipFill>
          <a:blip r:embed="rId4"/>
          <a:stretch>
            <a:fillRect/>
          </a:stretch>
        </p:blipFill>
        <p:spPr>
          <a:xfrm>
            <a:off x="6633240" y="4104924"/>
            <a:ext cx="275783" cy="275783"/>
          </a:xfrm>
          <a:prstGeom prst="rect">
            <a:avLst/>
          </a:prstGeom>
        </p:spPr>
      </p:pic>
      <p:sp>
        <p:nvSpPr>
          <p:cNvPr id="24" name="Text 18"/>
          <p:cNvSpPr/>
          <p:nvPr/>
        </p:nvSpPr>
        <p:spPr>
          <a:xfrm>
            <a:off x="7210044" y="3968496"/>
            <a:ext cx="4174236" cy="384048"/>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People protected</a:t>
            </a:r>
            <a:endParaRPr lang="en-US" sz="1400" dirty="0"/>
          </a:p>
        </p:txBody>
      </p:sp>
      <p:sp>
        <p:nvSpPr>
          <p:cNvPr id="25" name="Text 19"/>
          <p:cNvSpPr/>
          <p:nvPr/>
        </p:nvSpPr>
        <p:spPr>
          <a:xfrm>
            <a:off x="7210044" y="4370832"/>
            <a:ext cx="4128516" cy="114300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Full PPE standards as per real operations, hydration breaks between segments, medic on standby, heat-stress watch in summer conditions.</a:t>
            </a:r>
            <a:endParaRPr lang="en-US" sz="1050" dirty="0"/>
          </a:p>
        </p:txBody>
      </p:sp>
      <p:sp>
        <p:nvSpPr>
          <p:cNvPr id="26" name="Shape 20"/>
          <p:cNvSpPr/>
          <p:nvPr/>
        </p:nvSpPr>
        <p:spPr>
          <a:xfrm>
            <a:off x="594360" y="5760720"/>
            <a:ext cx="11000232" cy="548640"/>
          </a:xfrm>
          <a:prstGeom prst="roundRect">
            <a:avLst>
              <a:gd name="adj" fmla="val 13333"/>
            </a:avLst>
          </a:prstGeom>
          <a:solidFill>
            <a:srgbClr val="14181C"/>
          </a:solidFill>
          <a:ln/>
        </p:spPr>
      </p:sp>
      <p:sp>
        <p:nvSpPr>
          <p:cNvPr id="27" name="Text 21"/>
          <p:cNvSpPr/>
          <p:nvPr/>
        </p:nvSpPr>
        <p:spPr>
          <a:xfrm>
            <a:off x="822960" y="5760720"/>
            <a:ext cx="10543032" cy="548640"/>
          </a:xfrm>
          <a:prstGeom prst="rect">
            <a:avLst/>
          </a:prstGeom>
          <a:noFill/>
          <a:ln/>
        </p:spPr>
        <p:txBody>
          <a:bodyPr wrap="square" lIns="0" tIns="0" rIns="0" bIns="0" rtlCol="0" anchor="ctr"/>
          <a:lstStyle/>
          <a:p>
            <a:pPr indent="0" marL="0">
              <a:buNone/>
            </a:pPr>
            <a:r>
              <a:rPr lang="en-US" sz="1150" b="1" dirty="0">
                <a:solidFill>
                  <a:srgbClr val="F5A623"/>
                </a:solidFill>
                <a:latin typeface="Arial" pitchFamily="34" charset="0"/>
                <a:ea typeface="Arial" pitchFamily="34" charset="-122"/>
                <a:cs typeface="Arial" pitchFamily="34" charset="-120"/>
              </a:rPr>
              <a:t>A training injury teaches one lesson only:  </a:t>
            </a:r>
            <a:pPr indent="0" marL="0">
              <a:buNone/>
            </a:pPr>
            <a:r>
              <a:rPr lang="en-US" sz="1150" dirty="0">
                <a:solidFill>
                  <a:srgbClr val="FFFFFF"/>
                </a:solidFill>
                <a:latin typeface="Arial" pitchFamily="34" charset="0"/>
                <a:ea typeface="Arial" pitchFamily="34" charset="-122"/>
                <a:cs typeface="Arial" pitchFamily="34" charset="-120"/>
              </a:rPr>
              <a:t>that we failed as instructors. Nothing on this ground is worth a real casualty.</a:t>
            </a:r>
            <a:endParaRPr lang="en-US" sz="11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64</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6</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The scenarios: built from your worst day</a:t>
            </a:r>
            <a:endParaRPr lang="en-US" sz="3000" dirty="0"/>
          </a:p>
        </p:txBody>
      </p:sp>
      <p:sp>
        <p:nvSpPr>
          <p:cNvPr id="6" name="Text 4"/>
          <p:cNvSpPr/>
          <p:nvPr/>
        </p:nvSpPr>
        <p:spPr>
          <a:xfrm>
            <a:off x="594360" y="1508760"/>
            <a:ext cx="10881360" cy="457200"/>
          </a:xfrm>
          <a:prstGeom prst="rect">
            <a:avLst/>
          </a:prstGeom>
          <a:noFill/>
          <a:ln/>
        </p:spPr>
        <p:txBody>
          <a:bodyPr wrap="square" lIns="0" tIns="0" rIns="0" bIns="0" rtlCol="0" anchor="ctr"/>
          <a:lstStyle/>
          <a:p>
            <a:pPr indent="0" marL="0">
              <a:buNone/>
            </a:pPr>
            <a:r>
              <a:rPr lang="en-US" sz="1350" i="1" dirty="0">
                <a:solidFill>
                  <a:srgbClr val="5A646C"/>
                </a:solidFill>
                <a:latin typeface="Arial" pitchFamily="34" charset="0"/>
                <a:ea typeface="Arial" pitchFamily="34" charset="-122"/>
                <a:cs typeface="Arial" pitchFamily="34" charset="-120"/>
              </a:rPr>
              <a:t>Both rounds are constructed from Day 2's rig hazard map. Expect layered, evolving problems — not a single tidy fire:</a:t>
            </a:r>
            <a:endParaRPr lang="en-US" sz="1350" dirty="0"/>
          </a:p>
        </p:txBody>
      </p:sp>
      <p:sp>
        <p:nvSpPr>
          <p:cNvPr id="7" name="Shape 5"/>
          <p:cNvSpPr/>
          <p:nvPr/>
        </p:nvSpPr>
        <p:spPr>
          <a:xfrm>
            <a:off x="594360" y="2148840"/>
            <a:ext cx="2544318" cy="2651760"/>
          </a:xfrm>
          <a:prstGeom prst="roundRect">
            <a:avLst>
              <a:gd name="adj" fmla="val 3594"/>
            </a:avLst>
          </a:prstGeom>
          <a:solidFill>
            <a:srgbClr val="F3F4F5"/>
          </a:solidFill>
          <a:ln/>
        </p:spPr>
      </p:sp>
      <p:sp>
        <p:nvSpPr>
          <p:cNvPr id="8" name="Shape 6"/>
          <p:cNvSpPr/>
          <p:nvPr/>
        </p:nvSpPr>
        <p:spPr>
          <a:xfrm>
            <a:off x="795528" y="2377440"/>
            <a:ext cx="512064" cy="512064"/>
          </a:xfrm>
          <a:prstGeom prst="ellipse">
            <a:avLst/>
          </a:prstGeom>
          <a:solidFill>
            <a:srgbClr val="E8491D"/>
          </a:solidFill>
          <a:ln/>
        </p:spPr>
      </p:sp>
      <p:pic>
        <p:nvPicPr>
          <p:cNvPr id="9" name="Image 0" descr="/tmp/claude-0/-home-user-My-Future-Idaes/0806094f-208a-506e-82b2-f78683d50c82/scratchpad/icons/FaFire_white.png">    </p:cNvPr>
          <p:cNvPicPr>
            <a:picLocks noChangeAspect="1"/>
          </p:cNvPicPr>
          <p:nvPr/>
        </p:nvPicPr>
        <p:blipFill>
          <a:blip r:embed="rId1"/>
          <a:stretch>
            <a:fillRect/>
          </a:stretch>
        </p:blipFill>
        <p:spPr>
          <a:xfrm>
            <a:off x="918423" y="2500335"/>
            <a:ext cx="266273" cy="266273"/>
          </a:xfrm>
          <a:prstGeom prst="rect">
            <a:avLst/>
          </a:prstGeom>
        </p:spPr>
      </p:pic>
      <p:sp>
        <p:nvSpPr>
          <p:cNvPr id="10" name="Text 7"/>
          <p:cNvSpPr/>
          <p:nvPr/>
        </p:nvSpPr>
        <p:spPr>
          <a:xfrm>
            <a:off x="795528" y="3017520"/>
            <a:ext cx="2141982" cy="566928"/>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A credible rig fire</a:t>
            </a:r>
            <a:endParaRPr lang="en-US" sz="1250" dirty="0"/>
          </a:p>
        </p:txBody>
      </p:sp>
      <p:sp>
        <p:nvSpPr>
          <p:cNvPr id="11" name="Text 8"/>
          <p:cNvSpPr/>
          <p:nvPr/>
        </p:nvSpPr>
        <p:spPr>
          <a:xfrm>
            <a:off x="795528" y="3611880"/>
            <a:ext cx="2141982" cy="109728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Fuel area, mud gas or electrical — staged with live training props, smoke and heat cues.</a:t>
            </a:r>
            <a:endParaRPr lang="en-US" sz="1000" dirty="0"/>
          </a:p>
        </p:txBody>
      </p:sp>
      <p:sp>
        <p:nvSpPr>
          <p:cNvPr id="12" name="Shape 9"/>
          <p:cNvSpPr/>
          <p:nvPr/>
        </p:nvSpPr>
        <p:spPr>
          <a:xfrm>
            <a:off x="3412998" y="2148840"/>
            <a:ext cx="2544318" cy="2651760"/>
          </a:xfrm>
          <a:prstGeom prst="roundRect">
            <a:avLst>
              <a:gd name="adj" fmla="val 3594"/>
            </a:avLst>
          </a:prstGeom>
          <a:solidFill>
            <a:srgbClr val="F3F4F5"/>
          </a:solidFill>
          <a:ln/>
        </p:spPr>
      </p:sp>
      <p:sp>
        <p:nvSpPr>
          <p:cNvPr id="13" name="Shape 10"/>
          <p:cNvSpPr/>
          <p:nvPr/>
        </p:nvSpPr>
        <p:spPr>
          <a:xfrm>
            <a:off x="3614166" y="2377440"/>
            <a:ext cx="512064" cy="512064"/>
          </a:xfrm>
          <a:prstGeom prst="ellipse">
            <a:avLst/>
          </a:prstGeom>
          <a:solidFill>
            <a:srgbClr val="E8491D"/>
          </a:solidFill>
          <a:ln/>
        </p:spPr>
      </p:sp>
      <p:pic>
        <p:nvPicPr>
          <p:cNvPr id="14" name="Image 1" descr="/tmp/claude-0/-home-user-My-Future-Idaes/0806094f-208a-506e-82b2-f78683d50c82/scratchpad/icons/FaFirstAid_white.png">    </p:cNvPr>
          <p:cNvPicPr>
            <a:picLocks noChangeAspect="1"/>
          </p:cNvPicPr>
          <p:nvPr/>
        </p:nvPicPr>
        <p:blipFill>
          <a:blip r:embed="rId2"/>
          <a:stretch>
            <a:fillRect/>
          </a:stretch>
        </p:blipFill>
        <p:spPr>
          <a:xfrm>
            <a:off x="3737061" y="2500335"/>
            <a:ext cx="266273" cy="266273"/>
          </a:xfrm>
          <a:prstGeom prst="rect">
            <a:avLst/>
          </a:prstGeom>
        </p:spPr>
      </p:pic>
      <p:sp>
        <p:nvSpPr>
          <p:cNvPr id="15" name="Text 11"/>
          <p:cNvSpPr/>
          <p:nvPr/>
        </p:nvSpPr>
        <p:spPr>
          <a:xfrm>
            <a:off x="3614166" y="3017520"/>
            <a:ext cx="2141982" cy="566928"/>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Casualties in play</a:t>
            </a:r>
            <a:endParaRPr lang="en-US" sz="1250" dirty="0"/>
          </a:p>
        </p:txBody>
      </p:sp>
      <p:sp>
        <p:nvSpPr>
          <p:cNvPr id="16" name="Text 12"/>
          <p:cNvSpPr/>
          <p:nvPr/>
        </p:nvSpPr>
        <p:spPr>
          <a:xfrm>
            <a:off x="3614166" y="3611880"/>
            <a:ext cx="2141982" cy="109728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Injured or missing role-players force the rescue-vs-attack decision early.</a:t>
            </a:r>
            <a:endParaRPr lang="en-US" sz="1000" dirty="0"/>
          </a:p>
        </p:txBody>
      </p:sp>
      <p:sp>
        <p:nvSpPr>
          <p:cNvPr id="17" name="Shape 13"/>
          <p:cNvSpPr/>
          <p:nvPr/>
        </p:nvSpPr>
        <p:spPr>
          <a:xfrm>
            <a:off x="6231636" y="2148840"/>
            <a:ext cx="2544318" cy="2651760"/>
          </a:xfrm>
          <a:prstGeom prst="roundRect">
            <a:avLst>
              <a:gd name="adj" fmla="val 3594"/>
            </a:avLst>
          </a:prstGeom>
          <a:solidFill>
            <a:srgbClr val="F3F4F5"/>
          </a:solidFill>
          <a:ln/>
        </p:spPr>
      </p:sp>
      <p:sp>
        <p:nvSpPr>
          <p:cNvPr id="18" name="Shape 14"/>
          <p:cNvSpPr/>
          <p:nvPr/>
        </p:nvSpPr>
        <p:spPr>
          <a:xfrm>
            <a:off x="6432804" y="2377440"/>
            <a:ext cx="512064" cy="512064"/>
          </a:xfrm>
          <a:prstGeom prst="ellipse">
            <a:avLst/>
          </a:prstGeom>
          <a:solidFill>
            <a:srgbClr val="E8491D"/>
          </a:solidFill>
          <a:ln/>
        </p:spPr>
      </p:sp>
      <p:pic>
        <p:nvPicPr>
          <p:cNvPr id="19" name="Image 2" descr="/tmp/claude-0/-home-user-My-Future-Idaes/0806094f-208a-506e-82b2-f78683d50c82/scratchpad/icons/FaAngleDoubleUp_white.png">    </p:cNvPr>
          <p:cNvPicPr>
            <a:picLocks noChangeAspect="1"/>
          </p:cNvPicPr>
          <p:nvPr/>
        </p:nvPicPr>
        <p:blipFill>
          <a:blip r:embed="rId3"/>
          <a:stretch>
            <a:fillRect/>
          </a:stretch>
        </p:blipFill>
        <p:spPr>
          <a:xfrm>
            <a:off x="6555699" y="2500335"/>
            <a:ext cx="266273" cy="266273"/>
          </a:xfrm>
          <a:prstGeom prst="rect">
            <a:avLst/>
          </a:prstGeom>
        </p:spPr>
      </p:pic>
      <p:sp>
        <p:nvSpPr>
          <p:cNvPr id="20" name="Text 15"/>
          <p:cNvSpPr/>
          <p:nvPr/>
        </p:nvSpPr>
        <p:spPr>
          <a:xfrm>
            <a:off x="6432804" y="3017520"/>
            <a:ext cx="2141982" cy="566928"/>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Escalation injects</a:t>
            </a:r>
            <a:endParaRPr lang="en-US" sz="1250" dirty="0"/>
          </a:p>
        </p:txBody>
      </p:sp>
      <p:sp>
        <p:nvSpPr>
          <p:cNvPr id="21" name="Text 16"/>
          <p:cNvSpPr/>
          <p:nvPr/>
        </p:nvSpPr>
        <p:spPr>
          <a:xfrm>
            <a:off x="6432804" y="3611880"/>
            <a:ext cx="2141982" cy="109728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Wind shift, second ignition, H2S alarm, comms failure — delivered mid-scenario, unannounced.</a:t>
            </a:r>
            <a:endParaRPr lang="en-US" sz="1000" dirty="0"/>
          </a:p>
        </p:txBody>
      </p:sp>
      <p:sp>
        <p:nvSpPr>
          <p:cNvPr id="22" name="Shape 17"/>
          <p:cNvSpPr/>
          <p:nvPr/>
        </p:nvSpPr>
        <p:spPr>
          <a:xfrm>
            <a:off x="9050274" y="2148840"/>
            <a:ext cx="2544318" cy="2651760"/>
          </a:xfrm>
          <a:prstGeom prst="roundRect">
            <a:avLst>
              <a:gd name="adj" fmla="val 3594"/>
            </a:avLst>
          </a:prstGeom>
          <a:solidFill>
            <a:srgbClr val="F3F4F5"/>
          </a:solidFill>
          <a:ln/>
        </p:spPr>
      </p:sp>
      <p:sp>
        <p:nvSpPr>
          <p:cNvPr id="23" name="Shape 18"/>
          <p:cNvSpPr/>
          <p:nvPr/>
        </p:nvSpPr>
        <p:spPr>
          <a:xfrm>
            <a:off x="9251442" y="2377440"/>
            <a:ext cx="512064" cy="512064"/>
          </a:xfrm>
          <a:prstGeom prst="ellipse">
            <a:avLst/>
          </a:prstGeom>
          <a:solidFill>
            <a:srgbClr val="E8491D"/>
          </a:solidFill>
          <a:ln/>
        </p:spPr>
      </p:sp>
      <p:pic>
        <p:nvPicPr>
          <p:cNvPr id="24" name="Image 3" descr="/tmp/claude-0/-home-user-My-Future-Idaes/0806094f-208a-506e-82b2-f78683d50c82/scratchpad/icons/FaHourglassHalf_white.png">    </p:cNvPr>
          <p:cNvPicPr>
            <a:picLocks noChangeAspect="1"/>
          </p:cNvPicPr>
          <p:nvPr/>
        </p:nvPicPr>
        <p:blipFill>
          <a:blip r:embed="rId4"/>
          <a:stretch>
            <a:fillRect/>
          </a:stretch>
        </p:blipFill>
        <p:spPr>
          <a:xfrm>
            <a:off x="9374337" y="2500335"/>
            <a:ext cx="266273" cy="266273"/>
          </a:xfrm>
          <a:prstGeom prst="rect">
            <a:avLst/>
          </a:prstGeom>
        </p:spPr>
      </p:pic>
      <p:sp>
        <p:nvSpPr>
          <p:cNvPr id="25" name="Text 19"/>
          <p:cNvSpPr/>
          <p:nvPr/>
        </p:nvSpPr>
        <p:spPr>
          <a:xfrm>
            <a:off x="9251442" y="3017520"/>
            <a:ext cx="2141982" cy="566928"/>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Resource scarcity</a:t>
            </a:r>
            <a:endParaRPr lang="en-US" sz="1250" dirty="0"/>
          </a:p>
        </p:txBody>
      </p:sp>
      <p:sp>
        <p:nvSpPr>
          <p:cNvPr id="26" name="Text 20"/>
          <p:cNvSpPr/>
          <p:nvPr/>
        </p:nvSpPr>
        <p:spPr>
          <a:xfrm>
            <a:off x="9251442" y="3611880"/>
            <a:ext cx="2141982" cy="109728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Never quite enough people, water or time. Exactly like the real thing.</a:t>
            </a:r>
            <a:endParaRPr lang="en-US" sz="1000" dirty="0"/>
          </a:p>
        </p:txBody>
      </p:sp>
      <p:sp>
        <p:nvSpPr>
          <p:cNvPr id="27" name="Shape 21"/>
          <p:cNvSpPr/>
          <p:nvPr/>
        </p:nvSpPr>
        <p:spPr>
          <a:xfrm>
            <a:off x="594360" y="5074920"/>
            <a:ext cx="11000232" cy="1005840"/>
          </a:xfrm>
          <a:prstGeom prst="roundRect">
            <a:avLst>
              <a:gd name="adj" fmla="val 9091"/>
            </a:avLst>
          </a:prstGeom>
          <a:solidFill>
            <a:srgbClr val="14181C"/>
          </a:solidFill>
          <a:ln/>
        </p:spPr>
      </p:sp>
      <p:sp>
        <p:nvSpPr>
          <p:cNvPr id="28" name="Text 22"/>
          <p:cNvSpPr/>
          <p:nvPr/>
        </p:nvSpPr>
        <p:spPr>
          <a:xfrm>
            <a:off x="868680" y="5074920"/>
            <a:ext cx="10451592" cy="1005840"/>
          </a:xfrm>
          <a:prstGeom prst="rect">
            <a:avLst/>
          </a:prstGeom>
          <a:noFill/>
          <a:ln/>
        </p:spPr>
        <p:txBody>
          <a:bodyPr wrap="square" lIns="0" tIns="0" rIns="0" bIns="0" rtlCol="0" anchor="ctr"/>
          <a:lstStyle/>
          <a:p>
            <a:pPr indent="0" marL="0">
              <a:buNone/>
            </a:pPr>
            <a:r>
              <a:rPr lang="en-US" sz="1250" b="1" dirty="0">
                <a:solidFill>
                  <a:srgbClr val="F5A623"/>
                </a:solidFill>
                <a:latin typeface="Arial" pitchFamily="34" charset="0"/>
                <a:ea typeface="Arial" pitchFamily="34" charset="-122"/>
                <a:cs typeface="Arial" pitchFamily="34" charset="-120"/>
              </a:rPr>
              <a:t>Command rotation:  </a:t>
            </a:r>
            <a:pPr indent="0" marL="0">
              <a:buNone/>
            </a:pPr>
            <a:r>
              <a:rPr lang="en-US" sz="1250" dirty="0">
                <a:solidFill>
                  <a:srgbClr val="FFFFFF"/>
                </a:solidFill>
                <a:latin typeface="Arial" pitchFamily="34" charset="0"/>
                <a:ea typeface="Arial" pitchFamily="34" charset="-122"/>
                <a:cs typeface="Arial" pitchFamily="34" charset="-120"/>
              </a:rPr>
              <a:t>every participant holds command for a graded segment — and serves as sector officer for peers. Leading and following are both assessed.</a:t>
            </a:r>
            <a:endParaRPr lang="en-US" sz="12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65</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6 — SIMULATION</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Round 1: fire at the day tank</a:t>
            </a:r>
            <a:endParaRPr lang="en-US" sz="3000" dirty="0"/>
          </a:p>
        </p:txBody>
      </p:sp>
      <p:sp>
        <p:nvSpPr>
          <p:cNvPr id="6" name="Shape 4"/>
          <p:cNvSpPr/>
          <p:nvPr/>
        </p:nvSpPr>
        <p:spPr>
          <a:xfrm>
            <a:off x="9217152" y="438912"/>
            <a:ext cx="2377440" cy="457200"/>
          </a:xfrm>
          <a:prstGeom prst="roundRect">
            <a:avLst>
              <a:gd name="adj" fmla="val 50000"/>
            </a:avLst>
          </a:prstGeom>
          <a:solidFill>
            <a:srgbClr val="C13415"/>
          </a:solidFill>
          <a:ln/>
        </p:spPr>
      </p:sp>
      <p:sp>
        <p:nvSpPr>
          <p:cNvPr id="7" name="Text 5"/>
          <p:cNvSpPr/>
          <p:nvPr/>
        </p:nvSpPr>
        <p:spPr>
          <a:xfrm>
            <a:off x="9217152" y="438912"/>
            <a:ext cx="2377440" cy="457200"/>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Arial" pitchFamily="34" charset="0"/>
                <a:ea typeface="Arial" pitchFamily="34" charset="-122"/>
                <a:cs typeface="Arial" pitchFamily="34" charset="-120"/>
              </a:rPr>
              <a:t>90 MIN + DEBRIEF</a:t>
            </a:r>
            <a:endParaRPr lang="en-US" sz="1100" dirty="0"/>
          </a:p>
        </p:txBody>
      </p:sp>
      <p:sp>
        <p:nvSpPr>
          <p:cNvPr id="8" name="Shape 6"/>
          <p:cNvSpPr/>
          <p:nvPr/>
        </p:nvSpPr>
        <p:spPr>
          <a:xfrm>
            <a:off x="594360" y="1691640"/>
            <a:ext cx="5317236" cy="1965960"/>
          </a:xfrm>
          <a:prstGeom prst="roundRect">
            <a:avLst>
              <a:gd name="adj" fmla="val 4651"/>
            </a:avLst>
          </a:prstGeom>
          <a:solidFill>
            <a:srgbClr val="F3F4F5"/>
          </a:solidFill>
          <a:ln/>
        </p:spPr>
      </p:sp>
      <p:sp>
        <p:nvSpPr>
          <p:cNvPr id="9" name="Shape 7"/>
          <p:cNvSpPr/>
          <p:nvPr/>
        </p:nvSpPr>
        <p:spPr>
          <a:xfrm>
            <a:off x="822960" y="1920240"/>
            <a:ext cx="512064" cy="512064"/>
          </a:xfrm>
          <a:prstGeom prst="ellipse">
            <a:avLst/>
          </a:prstGeom>
          <a:solidFill>
            <a:srgbClr val="E8491D"/>
          </a:solidFill>
          <a:ln/>
        </p:spPr>
      </p:sp>
      <p:pic>
        <p:nvPicPr>
          <p:cNvPr id="10" name="Image 0" descr="/tmp/claude-0/-home-user-My-Future-Idaes/0806094f-208a-506e-82b2-f78683d50c82/scratchpad/icons/FaFire_white.png">    </p:cNvPr>
          <p:cNvPicPr>
            <a:picLocks noChangeAspect="1"/>
          </p:cNvPicPr>
          <p:nvPr/>
        </p:nvPicPr>
        <p:blipFill>
          <a:blip r:embed="rId1"/>
          <a:stretch>
            <a:fillRect/>
          </a:stretch>
        </p:blipFill>
        <p:spPr>
          <a:xfrm>
            <a:off x="945855" y="2043135"/>
            <a:ext cx="266273" cy="266273"/>
          </a:xfrm>
          <a:prstGeom prst="rect">
            <a:avLst/>
          </a:prstGeom>
        </p:spPr>
      </p:pic>
      <p:sp>
        <p:nvSpPr>
          <p:cNvPr id="11" name="Text 8"/>
          <p:cNvSpPr/>
          <p:nvPr/>
        </p:nvSpPr>
        <p:spPr>
          <a:xfrm>
            <a:off x="1508760" y="1929384"/>
            <a:ext cx="4174236" cy="384048"/>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The situation</a:t>
            </a:r>
            <a:endParaRPr lang="en-US" sz="1400" dirty="0"/>
          </a:p>
        </p:txBody>
      </p:sp>
      <p:sp>
        <p:nvSpPr>
          <p:cNvPr id="12" name="Text 9"/>
          <p:cNvSpPr/>
          <p:nvPr/>
        </p:nvSpPr>
        <p:spPr>
          <a:xfrm>
            <a:off x="822960" y="2468880"/>
            <a:ext cx="4860036" cy="109728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Refueling operation goes wrong: spill ignites at the diesel day tank. Wind moderate, holding steady — for now. One operator seen near the tank at ignition; current location unknown.</a:t>
            </a:r>
            <a:endParaRPr lang="en-US" sz="1050" dirty="0"/>
          </a:p>
        </p:txBody>
      </p:sp>
      <p:sp>
        <p:nvSpPr>
          <p:cNvPr id="13" name="Shape 10"/>
          <p:cNvSpPr/>
          <p:nvPr/>
        </p:nvSpPr>
        <p:spPr>
          <a:xfrm>
            <a:off x="6277356" y="1691640"/>
            <a:ext cx="5317236" cy="1965960"/>
          </a:xfrm>
          <a:prstGeom prst="roundRect">
            <a:avLst>
              <a:gd name="adj" fmla="val 4651"/>
            </a:avLst>
          </a:prstGeom>
          <a:solidFill>
            <a:srgbClr val="F3F4F5"/>
          </a:solidFill>
          <a:ln/>
        </p:spPr>
      </p:sp>
      <p:sp>
        <p:nvSpPr>
          <p:cNvPr id="14" name="Shape 11"/>
          <p:cNvSpPr/>
          <p:nvPr/>
        </p:nvSpPr>
        <p:spPr>
          <a:xfrm>
            <a:off x="6505956" y="1920240"/>
            <a:ext cx="512064" cy="512064"/>
          </a:xfrm>
          <a:prstGeom prst="ellipse">
            <a:avLst/>
          </a:prstGeom>
          <a:solidFill>
            <a:srgbClr val="E8491D"/>
          </a:solidFill>
          <a:ln/>
        </p:spPr>
      </p:sp>
      <p:pic>
        <p:nvPicPr>
          <p:cNvPr id="15" name="Image 1" descr="/tmp/claude-0/-home-user-My-Future-Idaes/0806094f-208a-506e-82b2-f78683d50c82/scratchpad/icons/FaUsers_white.png">    </p:cNvPr>
          <p:cNvPicPr>
            <a:picLocks noChangeAspect="1"/>
          </p:cNvPicPr>
          <p:nvPr/>
        </p:nvPicPr>
        <p:blipFill>
          <a:blip r:embed="rId2"/>
          <a:stretch>
            <a:fillRect/>
          </a:stretch>
        </p:blipFill>
        <p:spPr>
          <a:xfrm>
            <a:off x="6628851" y="2043135"/>
            <a:ext cx="266273" cy="266273"/>
          </a:xfrm>
          <a:prstGeom prst="rect">
            <a:avLst/>
          </a:prstGeom>
        </p:spPr>
      </p:pic>
      <p:sp>
        <p:nvSpPr>
          <p:cNvPr id="16" name="Text 12"/>
          <p:cNvSpPr/>
          <p:nvPr/>
        </p:nvSpPr>
        <p:spPr>
          <a:xfrm>
            <a:off x="7191756" y="1929384"/>
            <a:ext cx="4174236" cy="384048"/>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Your resources</a:t>
            </a:r>
            <a:endParaRPr lang="en-US" sz="1400" dirty="0"/>
          </a:p>
        </p:txBody>
      </p:sp>
      <p:sp>
        <p:nvSpPr>
          <p:cNvPr id="17" name="Text 13"/>
          <p:cNvSpPr/>
          <p:nvPr/>
        </p:nvSpPr>
        <p:spPr>
          <a:xfrm>
            <a:off x="6505956" y="2468880"/>
            <a:ext cx="4860036" cy="109728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Standard rig fire team, two hose lines, foam stock as briefed, one standby crew. Water refill 40 minutes away. Exactly enough — if nothing goes wrong.</a:t>
            </a:r>
            <a:endParaRPr lang="en-US" sz="1050" dirty="0"/>
          </a:p>
        </p:txBody>
      </p:sp>
      <p:sp>
        <p:nvSpPr>
          <p:cNvPr id="18" name="Shape 14"/>
          <p:cNvSpPr/>
          <p:nvPr/>
        </p:nvSpPr>
        <p:spPr>
          <a:xfrm>
            <a:off x="594360" y="3840480"/>
            <a:ext cx="5317236" cy="1965960"/>
          </a:xfrm>
          <a:prstGeom prst="roundRect">
            <a:avLst>
              <a:gd name="adj" fmla="val 4651"/>
            </a:avLst>
          </a:prstGeom>
          <a:solidFill>
            <a:srgbClr val="F3F4F5"/>
          </a:solidFill>
          <a:ln/>
        </p:spPr>
      </p:sp>
      <p:sp>
        <p:nvSpPr>
          <p:cNvPr id="19" name="Shape 15"/>
          <p:cNvSpPr/>
          <p:nvPr/>
        </p:nvSpPr>
        <p:spPr>
          <a:xfrm>
            <a:off x="822960" y="4069080"/>
            <a:ext cx="512064" cy="512064"/>
          </a:xfrm>
          <a:prstGeom prst="ellipse">
            <a:avLst/>
          </a:prstGeom>
          <a:solidFill>
            <a:srgbClr val="E8491D"/>
          </a:solidFill>
          <a:ln/>
        </p:spPr>
      </p:sp>
      <p:pic>
        <p:nvPicPr>
          <p:cNvPr id="20" name="Image 2" descr="/tmp/claude-0/-home-user-My-Future-Idaes/0806094f-208a-506e-82b2-f78683d50c82/scratchpad/icons/FaCrosshairs_white.png">    </p:cNvPr>
          <p:cNvPicPr>
            <a:picLocks noChangeAspect="1"/>
          </p:cNvPicPr>
          <p:nvPr/>
        </p:nvPicPr>
        <p:blipFill>
          <a:blip r:embed="rId3"/>
          <a:stretch>
            <a:fillRect/>
          </a:stretch>
        </p:blipFill>
        <p:spPr>
          <a:xfrm>
            <a:off x="945855" y="4191975"/>
            <a:ext cx="266273" cy="266273"/>
          </a:xfrm>
          <a:prstGeom prst="rect">
            <a:avLst/>
          </a:prstGeom>
        </p:spPr>
      </p:pic>
      <p:sp>
        <p:nvSpPr>
          <p:cNvPr id="21" name="Text 16"/>
          <p:cNvSpPr/>
          <p:nvPr/>
        </p:nvSpPr>
        <p:spPr>
          <a:xfrm>
            <a:off x="1508760" y="4078224"/>
            <a:ext cx="4174236" cy="384048"/>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Expected decision points</a:t>
            </a:r>
            <a:endParaRPr lang="en-US" sz="1400" dirty="0"/>
          </a:p>
        </p:txBody>
      </p:sp>
      <p:sp>
        <p:nvSpPr>
          <p:cNvPr id="22" name="Text 17"/>
          <p:cNvSpPr/>
          <p:nvPr/>
        </p:nvSpPr>
        <p:spPr>
          <a:xfrm>
            <a:off x="822960" y="4617720"/>
            <a:ext cx="4860036" cy="109728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Rescue vs. attack priority • mode declaration • foam commitment arithmetic • muster and the unaccounted operator • first SITREP upward inside 3 minutes.</a:t>
            </a:r>
            <a:endParaRPr lang="en-US" sz="1050" dirty="0"/>
          </a:p>
        </p:txBody>
      </p:sp>
      <p:sp>
        <p:nvSpPr>
          <p:cNvPr id="23" name="Shape 18"/>
          <p:cNvSpPr/>
          <p:nvPr/>
        </p:nvSpPr>
        <p:spPr>
          <a:xfrm>
            <a:off x="6277356" y="3840480"/>
            <a:ext cx="5317236" cy="1965960"/>
          </a:xfrm>
          <a:prstGeom prst="roundRect">
            <a:avLst>
              <a:gd name="adj" fmla="val 4651"/>
            </a:avLst>
          </a:prstGeom>
          <a:solidFill>
            <a:srgbClr val="14181C"/>
          </a:solidFill>
          <a:ln/>
        </p:spPr>
      </p:sp>
      <p:sp>
        <p:nvSpPr>
          <p:cNvPr id="24" name="Shape 19"/>
          <p:cNvSpPr/>
          <p:nvPr/>
        </p:nvSpPr>
        <p:spPr>
          <a:xfrm>
            <a:off x="6505956" y="4069080"/>
            <a:ext cx="512064" cy="512064"/>
          </a:xfrm>
          <a:prstGeom prst="ellipse">
            <a:avLst/>
          </a:prstGeom>
          <a:solidFill>
            <a:srgbClr val="E8491D"/>
          </a:solidFill>
          <a:ln/>
        </p:spPr>
      </p:sp>
      <p:pic>
        <p:nvPicPr>
          <p:cNvPr id="25" name="Image 3" descr="/tmp/claude-0/-home-user-My-Future-Idaes/0806094f-208a-506e-82b2-f78683d50c82/scratchpad/icons/FaEye_white.png">    </p:cNvPr>
          <p:cNvPicPr>
            <a:picLocks noChangeAspect="1"/>
          </p:cNvPicPr>
          <p:nvPr/>
        </p:nvPicPr>
        <p:blipFill>
          <a:blip r:embed="rId4"/>
          <a:stretch>
            <a:fillRect/>
          </a:stretch>
        </p:blipFill>
        <p:spPr>
          <a:xfrm>
            <a:off x="6628851" y="4191975"/>
            <a:ext cx="266273" cy="266273"/>
          </a:xfrm>
          <a:prstGeom prst="rect">
            <a:avLst/>
          </a:prstGeom>
        </p:spPr>
      </p:pic>
      <p:sp>
        <p:nvSpPr>
          <p:cNvPr id="26" name="Text 20"/>
          <p:cNvSpPr/>
          <p:nvPr/>
        </p:nvSpPr>
        <p:spPr>
          <a:xfrm>
            <a:off x="7191756" y="4078224"/>
            <a:ext cx="4174236" cy="38404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What assessors score</a:t>
            </a:r>
            <a:endParaRPr lang="en-US" sz="1400" dirty="0"/>
          </a:p>
        </p:txBody>
      </p:sp>
      <p:sp>
        <p:nvSpPr>
          <p:cNvPr id="27" name="Text 21"/>
          <p:cNvSpPr/>
          <p:nvPr/>
        </p:nvSpPr>
        <p:spPr>
          <a:xfrm>
            <a:off x="6505956" y="4617720"/>
            <a:ext cx="4860036" cy="1097280"/>
          </a:xfrm>
          <a:prstGeom prst="rect">
            <a:avLst/>
          </a:prstGeom>
          <a:noFill/>
          <a:ln/>
        </p:spPr>
        <p:txBody>
          <a:bodyPr wrap="square" lIns="0" tIns="0" rIns="0" bIns="0" rtlCol="0" anchor="ctr"/>
          <a:lstStyle/>
          <a:p>
            <a:pPr indent="0" marL="0">
              <a:buNone/>
            </a:pPr>
            <a:r>
              <a:rPr lang="en-US" sz="1050" dirty="0">
                <a:solidFill>
                  <a:srgbClr val="9AA5AD"/>
                </a:solidFill>
                <a:latin typeface="Arial" pitchFamily="34" charset="0"/>
                <a:ea typeface="Arial" pitchFamily="34" charset="-122"/>
                <a:cs typeface="Arial" pitchFamily="34" charset="-120"/>
              </a:rPr>
              <a:t>The first 60 seconds executed as drilled • closed-loop orders with brief-back • DRA verbalized when conditions change • reserve intact at the 30-minute mark.</a:t>
            </a:r>
            <a:endParaRPr lang="en-US" sz="10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66</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6 — SIMULATION</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Round 2: the day everything happens</a:t>
            </a:r>
            <a:endParaRPr lang="en-US" sz="3000" dirty="0"/>
          </a:p>
        </p:txBody>
      </p:sp>
      <p:sp>
        <p:nvSpPr>
          <p:cNvPr id="6" name="Shape 4"/>
          <p:cNvSpPr/>
          <p:nvPr/>
        </p:nvSpPr>
        <p:spPr>
          <a:xfrm>
            <a:off x="9217152" y="438912"/>
            <a:ext cx="2377440" cy="457200"/>
          </a:xfrm>
          <a:prstGeom prst="roundRect">
            <a:avLst>
              <a:gd name="adj" fmla="val 50000"/>
            </a:avLst>
          </a:prstGeom>
          <a:solidFill>
            <a:srgbClr val="C13415"/>
          </a:solidFill>
          <a:ln/>
        </p:spPr>
      </p:sp>
      <p:sp>
        <p:nvSpPr>
          <p:cNvPr id="7" name="Text 5"/>
          <p:cNvSpPr/>
          <p:nvPr/>
        </p:nvSpPr>
        <p:spPr>
          <a:xfrm>
            <a:off x="9217152" y="438912"/>
            <a:ext cx="2377440" cy="457200"/>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Arial" pitchFamily="34" charset="0"/>
                <a:ea typeface="Arial" pitchFamily="34" charset="-122"/>
                <a:cs typeface="Arial" pitchFamily="34" charset="-120"/>
              </a:rPr>
              <a:t>105 MIN + DEBRIEF</a:t>
            </a:r>
            <a:endParaRPr lang="en-US" sz="1100" dirty="0"/>
          </a:p>
        </p:txBody>
      </p:sp>
      <p:sp>
        <p:nvSpPr>
          <p:cNvPr id="8" name="Text 6"/>
          <p:cNvSpPr/>
          <p:nvPr/>
        </p:nvSpPr>
        <p:spPr>
          <a:xfrm>
            <a:off x="594360" y="1508760"/>
            <a:ext cx="10881360" cy="457200"/>
          </a:xfrm>
          <a:prstGeom prst="rect">
            <a:avLst/>
          </a:prstGeom>
          <a:noFill/>
          <a:ln/>
        </p:spPr>
        <p:txBody>
          <a:bodyPr wrap="square" lIns="0" tIns="0" rIns="0" bIns="0" rtlCol="0" anchor="ctr"/>
          <a:lstStyle/>
          <a:p>
            <a:pPr indent="0" marL="0">
              <a:buNone/>
            </a:pPr>
            <a:r>
              <a:rPr lang="en-US" sz="1300" i="1" dirty="0">
                <a:solidFill>
                  <a:srgbClr val="5A646C"/>
                </a:solidFill>
                <a:latin typeface="Arial" pitchFamily="34" charset="0"/>
                <a:ea typeface="Arial" pitchFamily="34" charset="-122"/>
                <a:cs typeface="Arial" pitchFamily="34" charset="-120"/>
              </a:rPr>
              <a:t>Round 2 escalates past any single playbook. Expect layered injects — in any order, at the worst times:</a:t>
            </a:r>
            <a:endParaRPr lang="en-US" sz="1300" dirty="0"/>
          </a:p>
        </p:txBody>
      </p:sp>
      <p:sp>
        <p:nvSpPr>
          <p:cNvPr id="9" name="Shape 7"/>
          <p:cNvSpPr/>
          <p:nvPr/>
        </p:nvSpPr>
        <p:spPr>
          <a:xfrm>
            <a:off x="594360" y="2103120"/>
            <a:ext cx="3453384" cy="1417320"/>
          </a:xfrm>
          <a:prstGeom prst="roundRect">
            <a:avLst>
              <a:gd name="adj" fmla="val 6452"/>
            </a:avLst>
          </a:prstGeom>
          <a:solidFill>
            <a:srgbClr val="F3F4F5"/>
          </a:solidFill>
          <a:ln/>
        </p:spPr>
      </p:sp>
      <p:sp>
        <p:nvSpPr>
          <p:cNvPr id="10" name="Shape 8"/>
          <p:cNvSpPr/>
          <p:nvPr/>
        </p:nvSpPr>
        <p:spPr>
          <a:xfrm>
            <a:off x="795528" y="2286000"/>
            <a:ext cx="457200" cy="457200"/>
          </a:xfrm>
          <a:prstGeom prst="ellipse">
            <a:avLst/>
          </a:prstGeom>
          <a:solidFill>
            <a:srgbClr val="E8491D"/>
          </a:solidFill>
          <a:ln/>
        </p:spPr>
      </p:sp>
      <p:pic>
        <p:nvPicPr>
          <p:cNvPr id="11" name="Image 0" descr="/tmp/claude-0/-home-user-My-Future-Idaes/0806094f-208a-506e-82b2-f78683d50c82/scratchpad/icons/FaFire_white.png">    </p:cNvPr>
          <p:cNvPicPr>
            <a:picLocks noChangeAspect="1"/>
          </p:cNvPicPr>
          <p:nvPr/>
        </p:nvPicPr>
        <p:blipFill>
          <a:blip r:embed="rId1"/>
          <a:stretch>
            <a:fillRect/>
          </a:stretch>
        </p:blipFill>
        <p:spPr>
          <a:xfrm>
            <a:off x="905256" y="2395728"/>
            <a:ext cx="237744" cy="237744"/>
          </a:xfrm>
          <a:prstGeom prst="rect">
            <a:avLst/>
          </a:prstGeom>
        </p:spPr>
      </p:pic>
      <p:sp>
        <p:nvSpPr>
          <p:cNvPr id="12" name="Text 9"/>
          <p:cNvSpPr/>
          <p:nvPr/>
        </p:nvSpPr>
        <p:spPr>
          <a:xfrm>
            <a:off x="1371600" y="2267712"/>
            <a:ext cx="2493264" cy="502920"/>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Second ignition</a:t>
            </a:r>
            <a:endParaRPr lang="en-US" sz="1250" dirty="0"/>
          </a:p>
        </p:txBody>
      </p:sp>
      <p:sp>
        <p:nvSpPr>
          <p:cNvPr id="13" name="Text 10"/>
          <p:cNvSpPr/>
          <p:nvPr/>
        </p:nvSpPr>
        <p:spPr>
          <a:xfrm>
            <a:off x="795528" y="2852928"/>
            <a:ext cx="3051048" cy="59436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A new fire where the plan is thinnest</a:t>
            </a:r>
            <a:endParaRPr lang="en-US" sz="1000" dirty="0"/>
          </a:p>
        </p:txBody>
      </p:sp>
      <p:sp>
        <p:nvSpPr>
          <p:cNvPr id="14" name="Shape 11"/>
          <p:cNvSpPr/>
          <p:nvPr/>
        </p:nvSpPr>
        <p:spPr>
          <a:xfrm>
            <a:off x="4367784" y="2103120"/>
            <a:ext cx="3453384" cy="1417320"/>
          </a:xfrm>
          <a:prstGeom prst="roundRect">
            <a:avLst>
              <a:gd name="adj" fmla="val 6452"/>
            </a:avLst>
          </a:prstGeom>
          <a:solidFill>
            <a:srgbClr val="F3F4F5"/>
          </a:solidFill>
          <a:ln/>
        </p:spPr>
      </p:sp>
      <p:sp>
        <p:nvSpPr>
          <p:cNvPr id="15" name="Shape 12"/>
          <p:cNvSpPr/>
          <p:nvPr/>
        </p:nvSpPr>
        <p:spPr>
          <a:xfrm>
            <a:off x="4568952" y="2286000"/>
            <a:ext cx="457200" cy="457200"/>
          </a:xfrm>
          <a:prstGeom prst="ellipse">
            <a:avLst/>
          </a:prstGeom>
          <a:solidFill>
            <a:srgbClr val="E8491D"/>
          </a:solidFill>
          <a:ln/>
        </p:spPr>
      </p:sp>
      <p:pic>
        <p:nvPicPr>
          <p:cNvPr id="16" name="Image 1" descr="/tmp/claude-0/-home-user-My-Future-Idaes/0806094f-208a-506e-82b2-f78683d50c82/scratchpad/icons/FaWind_white.png">    </p:cNvPr>
          <p:cNvPicPr>
            <a:picLocks noChangeAspect="1"/>
          </p:cNvPicPr>
          <p:nvPr/>
        </p:nvPicPr>
        <p:blipFill>
          <a:blip r:embed="rId2"/>
          <a:stretch>
            <a:fillRect/>
          </a:stretch>
        </p:blipFill>
        <p:spPr>
          <a:xfrm>
            <a:off x="4678680" y="2395728"/>
            <a:ext cx="237744" cy="237744"/>
          </a:xfrm>
          <a:prstGeom prst="rect">
            <a:avLst/>
          </a:prstGeom>
        </p:spPr>
      </p:pic>
      <p:sp>
        <p:nvSpPr>
          <p:cNvPr id="17" name="Text 13"/>
          <p:cNvSpPr/>
          <p:nvPr/>
        </p:nvSpPr>
        <p:spPr>
          <a:xfrm>
            <a:off x="5145024" y="2267712"/>
            <a:ext cx="2493264" cy="502920"/>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Wind shift</a:t>
            </a:r>
            <a:endParaRPr lang="en-US" sz="1250" dirty="0"/>
          </a:p>
        </p:txBody>
      </p:sp>
      <p:sp>
        <p:nvSpPr>
          <p:cNvPr id="18" name="Text 14"/>
          <p:cNvSpPr/>
          <p:nvPr/>
        </p:nvSpPr>
        <p:spPr>
          <a:xfrm>
            <a:off x="4568952" y="2852928"/>
            <a:ext cx="3051048" cy="59436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Zones, muster and ICP all move — or should</a:t>
            </a:r>
            <a:endParaRPr lang="en-US" sz="1000" dirty="0"/>
          </a:p>
        </p:txBody>
      </p:sp>
      <p:sp>
        <p:nvSpPr>
          <p:cNvPr id="19" name="Shape 15"/>
          <p:cNvSpPr/>
          <p:nvPr/>
        </p:nvSpPr>
        <p:spPr>
          <a:xfrm>
            <a:off x="8141208" y="2103120"/>
            <a:ext cx="3453384" cy="1417320"/>
          </a:xfrm>
          <a:prstGeom prst="roundRect">
            <a:avLst>
              <a:gd name="adj" fmla="val 6452"/>
            </a:avLst>
          </a:prstGeom>
          <a:solidFill>
            <a:srgbClr val="F3F4F5"/>
          </a:solidFill>
          <a:ln/>
        </p:spPr>
      </p:sp>
      <p:sp>
        <p:nvSpPr>
          <p:cNvPr id="20" name="Shape 16"/>
          <p:cNvSpPr/>
          <p:nvPr/>
        </p:nvSpPr>
        <p:spPr>
          <a:xfrm>
            <a:off x="8342376" y="2286000"/>
            <a:ext cx="457200" cy="457200"/>
          </a:xfrm>
          <a:prstGeom prst="ellipse">
            <a:avLst/>
          </a:prstGeom>
          <a:solidFill>
            <a:srgbClr val="E8491D"/>
          </a:solidFill>
          <a:ln/>
        </p:spPr>
      </p:sp>
      <p:pic>
        <p:nvPicPr>
          <p:cNvPr id="21" name="Image 2" descr="/tmp/claude-0/-home-user-My-Future-Idaes/0806094f-208a-506e-82b2-f78683d50c82/scratchpad/icons/FaExclamationTriangle_white.png">    </p:cNvPr>
          <p:cNvPicPr>
            <a:picLocks noChangeAspect="1"/>
          </p:cNvPicPr>
          <p:nvPr/>
        </p:nvPicPr>
        <p:blipFill>
          <a:blip r:embed="rId3"/>
          <a:stretch>
            <a:fillRect/>
          </a:stretch>
        </p:blipFill>
        <p:spPr>
          <a:xfrm>
            <a:off x="8452104" y="2395728"/>
            <a:ext cx="237744" cy="237744"/>
          </a:xfrm>
          <a:prstGeom prst="rect">
            <a:avLst/>
          </a:prstGeom>
        </p:spPr>
      </p:pic>
      <p:sp>
        <p:nvSpPr>
          <p:cNvPr id="22" name="Text 17"/>
          <p:cNvSpPr/>
          <p:nvPr/>
        </p:nvSpPr>
        <p:spPr>
          <a:xfrm>
            <a:off x="8918448" y="2267712"/>
            <a:ext cx="2493264" cy="502920"/>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H2S alarm</a:t>
            </a:r>
            <a:endParaRPr lang="en-US" sz="1250" dirty="0"/>
          </a:p>
        </p:txBody>
      </p:sp>
      <p:sp>
        <p:nvSpPr>
          <p:cNvPr id="23" name="Text 18"/>
          <p:cNvSpPr/>
          <p:nvPr/>
        </p:nvSpPr>
        <p:spPr>
          <a:xfrm>
            <a:off x="8342376" y="2852928"/>
            <a:ext cx="3051048" cy="59436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The gas reflex chain, under fire conditions</a:t>
            </a:r>
            <a:endParaRPr lang="en-US" sz="1000" dirty="0"/>
          </a:p>
        </p:txBody>
      </p:sp>
      <p:sp>
        <p:nvSpPr>
          <p:cNvPr id="24" name="Shape 19"/>
          <p:cNvSpPr/>
          <p:nvPr/>
        </p:nvSpPr>
        <p:spPr>
          <a:xfrm>
            <a:off x="594360" y="3703320"/>
            <a:ext cx="3453384" cy="1417320"/>
          </a:xfrm>
          <a:prstGeom prst="roundRect">
            <a:avLst>
              <a:gd name="adj" fmla="val 6452"/>
            </a:avLst>
          </a:prstGeom>
          <a:solidFill>
            <a:srgbClr val="F3F4F5"/>
          </a:solidFill>
          <a:ln/>
        </p:spPr>
      </p:sp>
      <p:sp>
        <p:nvSpPr>
          <p:cNvPr id="25" name="Shape 20"/>
          <p:cNvSpPr/>
          <p:nvPr/>
        </p:nvSpPr>
        <p:spPr>
          <a:xfrm>
            <a:off x="795528" y="3886200"/>
            <a:ext cx="457200" cy="457200"/>
          </a:xfrm>
          <a:prstGeom prst="ellipse">
            <a:avLst/>
          </a:prstGeom>
          <a:solidFill>
            <a:srgbClr val="E8491D"/>
          </a:solidFill>
          <a:ln/>
        </p:spPr>
      </p:sp>
      <p:pic>
        <p:nvPicPr>
          <p:cNvPr id="26" name="Image 3" descr="/tmp/claude-0/-home-user-My-Future-Idaes/0806094f-208a-506e-82b2-f78683d50c82/scratchpad/icons/FaFirstAid_white.png">    </p:cNvPr>
          <p:cNvPicPr>
            <a:picLocks noChangeAspect="1"/>
          </p:cNvPicPr>
          <p:nvPr/>
        </p:nvPicPr>
        <p:blipFill>
          <a:blip r:embed="rId4"/>
          <a:stretch>
            <a:fillRect/>
          </a:stretch>
        </p:blipFill>
        <p:spPr>
          <a:xfrm>
            <a:off x="905256" y="3995928"/>
            <a:ext cx="237744" cy="237744"/>
          </a:xfrm>
          <a:prstGeom prst="rect">
            <a:avLst/>
          </a:prstGeom>
        </p:spPr>
      </p:pic>
      <p:sp>
        <p:nvSpPr>
          <p:cNvPr id="27" name="Text 21"/>
          <p:cNvSpPr/>
          <p:nvPr/>
        </p:nvSpPr>
        <p:spPr>
          <a:xfrm>
            <a:off x="1371600" y="3867912"/>
            <a:ext cx="2493264" cy="502920"/>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Casualty</a:t>
            </a:r>
            <a:endParaRPr lang="en-US" sz="1250" dirty="0"/>
          </a:p>
        </p:txBody>
      </p:sp>
      <p:sp>
        <p:nvSpPr>
          <p:cNvPr id="28" name="Text 22"/>
          <p:cNvSpPr/>
          <p:nvPr/>
        </p:nvSpPr>
        <p:spPr>
          <a:xfrm>
            <a:off x="795528" y="4453128"/>
            <a:ext cx="3051048" cy="59436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Rescue-vs-attack with real triage decisions</a:t>
            </a:r>
            <a:endParaRPr lang="en-US" sz="1000" dirty="0"/>
          </a:p>
        </p:txBody>
      </p:sp>
      <p:sp>
        <p:nvSpPr>
          <p:cNvPr id="29" name="Shape 23"/>
          <p:cNvSpPr/>
          <p:nvPr/>
        </p:nvSpPr>
        <p:spPr>
          <a:xfrm>
            <a:off x="4367784" y="3703320"/>
            <a:ext cx="3453384" cy="1417320"/>
          </a:xfrm>
          <a:prstGeom prst="roundRect">
            <a:avLst>
              <a:gd name="adj" fmla="val 6452"/>
            </a:avLst>
          </a:prstGeom>
          <a:solidFill>
            <a:srgbClr val="F3F4F5"/>
          </a:solidFill>
          <a:ln/>
        </p:spPr>
      </p:sp>
      <p:sp>
        <p:nvSpPr>
          <p:cNvPr id="30" name="Shape 24"/>
          <p:cNvSpPr/>
          <p:nvPr/>
        </p:nvSpPr>
        <p:spPr>
          <a:xfrm>
            <a:off x="4568952" y="3886200"/>
            <a:ext cx="457200" cy="457200"/>
          </a:xfrm>
          <a:prstGeom prst="ellipse">
            <a:avLst/>
          </a:prstGeom>
          <a:solidFill>
            <a:srgbClr val="E8491D"/>
          </a:solidFill>
          <a:ln/>
        </p:spPr>
      </p:sp>
      <p:pic>
        <p:nvPicPr>
          <p:cNvPr id="31" name="Image 4" descr="/tmp/claude-0/-home-user-My-Future-Idaes/0806094f-208a-506e-82b2-f78683d50c82/scratchpad/icons/FaBroadcastTower_white.png">    </p:cNvPr>
          <p:cNvPicPr>
            <a:picLocks noChangeAspect="1"/>
          </p:cNvPicPr>
          <p:nvPr/>
        </p:nvPicPr>
        <p:blipFill>
          <a:blip r:embed="rId5"/>
          <a:stretch>
            <a:fillRect/>
          </a:stretch>
        </p:blipFill>
        <p:spPr>
          <a:xfrm>
            <a:off x="4678680" y="3995928"/>
            <a:ext cx="237744" cy="237744"/>
          </a:xfrm>
          <a:prstGeom prst="rect">
            <a:avLst/>
          </a:prstGeom>
        </p:spPr>
      </p:pic>
      <p:sp>
        <p:nvSpPr>
          <p:cNvPr id="32" name="Text 25"/>
          <p:cNvSpPr/>
          <p:nvPr/>
        </p:nvSpPr>
        <p:spPr>
          <a:xfrm>
            <a:off x="5145024" y="3867912"/>
            <a:ext cx="2493264" cy="502920"/>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Comms failure</a:t>
            </a:r>
            <a:endParaRPr lang="en-US" sz="1250" dirty="0"/>
          </a:p>
        </p:txBody>
      </p:sp>
      <p:sp>
        <p:nvSpPr>
          <p:cNvPr id="33" name="Text 26"/>
          <p:cNvSpPr/>
          <p:nvPr/>
        </p:nvSpPr>
        <p:spPr>
          <a:xfrm>
            <a:off x="4568952" y="4453128"/>
            <a:ext cx="3051048" cy="59436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Runners, signals, and the fallback you briefed</a:t>
            </a:r>
            <a:endParaRPr lang="en-US" sz="1000" dirty="0"/>
          </a:p>
        </p:txBody>
      </p:sp>
      <p:sp>
        <p:nvSpPr>
          <p:cNvPr id="34" name="Shape 27"/>
          <p:cNvSpPr/>
          <p:nvPr/>
        </p:nvSpPr>
        <p:spPr>
          <a:xfrm>
            <a:off x="8141208" y="3703320"/>
            <a:ext cx="3453384" cy="1417320"/>
          </a:xfrm>
          <a:prstGeom prst="roundRect">
            <a:avLst>
              <a:gd name="adj" fmla="val 6452"/>
            </a:avLst>
          </a:prstGeom>
          <a:solidFill>
            <a:srgbClr val="F3F4F5"/>
          </a:solidFill>
          <a:ln/>
        </p:spPr>
      </p:sp>
      <p:sp>
        <p:nvSpPr>
          <p:cNvPr id="35" name="Shape 28"/>
          <p:cNvSpPr/>
          <p:nvPr/>
        </p:nvSpPr>
        <p:spPr>
          <a:xfrm>
            <a:off x="8342376" y="3886200"/>
            <a:ext cx="457200" cy="457200"/>
          </a:xfrm>
          <a:prstGeom prst="ellipse">
            <a:avLst/>
          </a:prstGeom>
          <a:solidFill>
            <a:srgbClr val="E8491D"/>
          </a:solidFill>
          <a:ln/>
        </p:spPr>
      </p:sp>
      <p:pic>
        <p:nvPicPr>
          <p:cNvPr id="36" name="Image 5" descr="/tmp/claude-0/-home-user-My-Future-Idaes/0806094f-208a-506e-82b2-f78683d50c82/scratchpad/icons/FaBell_white.png">    </p:cNvPr>
          <p:cNvPicPr>
            <a:picLocks noChangeAspect="1"/>
          </p:cNvPicPr>
          <p:nvPr/>
        </p:nvPicPr>
        <p:blipFill>
          <a:blip r:embed="rId6"/>
          <a:stretch>
            <a:fillRect/>
          </a:stretch>
        </p:blipFill>
        <p:spPr>
          <a:xfrm>
            <a:off x="8452104" y="3995928"/>
            <a:ext cx="237744" cy="237744"/>
          </a:xfrm>
          <a:prstGeom prst="rect">
            <a:avLst/>
          </a:prstGeom>
        </p:spPr>
      </p:pic>
      <p:sp>
        <p:nvSpPr>
          <p:cNvPr id="37" name="Text 29"/>
          <p:cNvSpPr/>
          <p:nvPr/>
        </p:nvSpPr>
        <p:spPr>
          <a:xfrm>
            <a:off x="8918448" y="3867912"/>
            <a:ext cx="2493264" cy="502920"/>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MAYDAY</a:t>
            </a:r>
            <a:endParaRPr lang="en-US" sz="1250" dirty="0"/>
          </a:p>
        </p:txBody>
      </p:sp>
      <p:sp>
        <p:nvSpPr>
          <p:cNvPr id="38" name="Text 30"/>
          <p:cNvSpPr/>
          <p:nvPr/>
        </p:nvSpPr>
        <p:spPr>
          <a:xfrm>
            <a:off x="8342376" y="4453128"/>
            <a:ext cx="3051048" cy="59436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A responder in trouble — the reserve's moment</a:t>
            </a:r>
            <a:endParaRPr lang="en-US" sz="1000" dirty="0"/>
          </a:p>
        </p:txBody>
      </p:sp>
      <p:sp>
        <p:nvSpPr>
          <p:cNvPr id="39" name="Shape 31"/>
          <p:cNvSpPr/>
          <p:nvPr/>
        </p:nvSpPr>
        <p:spPr>
          <a:xfrm>
            <a:off x="594360" y="5486400"/>
            <a:ext cx="11000232" cy="731520"/>
          </a:xfrm>
          <a:prstGeom prst="roundRect">
            <a:avLst>
              <a:gd name="adj" fmla="val 12500"/>
            </a:avLst>
          </a:prstGeom>
          <a:solidFill>
            <a:srgbClr val="14181C"/>
          </a:solidFill>
          <a:ln/>
        </p:spPr>
      </p:sp>
      <p:sp>
        <p:nvSpPr>
          <p:cNvPr id="40" name="Text 32"/>
          <p:cNvSpPr/>
          <p:nvPr/>
        </p:nvSpPr>
        <p:spPr>
          <a:xfrm>
            <a:off x="868680" y="5486400"/>
            <a:ext cx="10451592" cy="731520"/>
          </a:xfrm>
          <a:prstGeom prst="rect">
            <a:avLst/>
          </a:prstGeom>
          <a:noFill/>
          <a:ln/>
        </p:spPr>
        <p:txBody>
          <a:bodyPr wrap="square" lIns="0" tIns="0" rIns="0" bIns="0" rtlCol="0" anchor="ctr"/>
          <a:lstStyle/>
          <a:p>
            <a:pPr indent="0" marL="0">
              <a:buNone/>
            </a:pPr>
            <a:r>
              <a:rPr lang="en-US" sz="1250" b="1" dirty="0">
                <a:solidFill>
                  <a:srgbClr val="F5A623"/>
                </a:solidFill>
                <a:latin typeface="Arial" pitchFamily="34" charset="0"/>
                <a:ea typeface="Arial" pitchFamily="34" charset="-122"/>
                <a:cs typeface="Arial" pitchFamily="34" charset="-120"/>
              </a:rPr>
              <a:t>The test is not perfection.  </a:t>
            </a:r>
            <a:pPr indent="0" marL="0">
              <a:buNone/>
            </a:pPr>
            <a:r>
              <a:rPr lang="en-US" sz="1250" dirty="0">
                <a:solidFill>
                  <a:srgbClr val="FFFFFF"/>
                </a:solidFill>
                <a:latin typeface="Arial" pitchFamily="34" charset="0"/>
                <a:ea typeface="Arial" pitchFamily="34" charset="-122"/>
                <a:cs typeface="Arial" pitchFamily="34" charset="-120"/>
              </a:rPr>
              <a:t>It is whether structure survives chaos: command held, people counted, decisions owned out loud.</a:t>
            </a:r>
            <a:endParaRPr lang="en-US" sz="12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14181C"/>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9AA5AD"/>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9AA5AD"/>
                </a:solidFill>
                <a:latin typeface="Arial" pitchFamily="34" charset="0"/>
                <a:ea typeface="Arial" pitchFamily="34" charset="-122"/>
                <a:cs typeface="Arial" pitchFamily="34" charset="-120"/>
              </a:rPr>
              <a:t>67</a:t>
            </a:r>
            <a:endParaRPr lang="en-US" sz="850" dirty="0"/>
          </a:p>
        </p:txBody>
      </p:sp>
      <p:pic>
        <p:nvPicPr>
          <p:cNvPr id="4" name="Image 0" descr="/home/user/My-Future-Idaes/SANAD-Fire-Team-Leader-Course/assets/img/sizeup.jpg">    </p:cNvPr>
          <p:cNvPicPr>
            <a:picLocks noChangeAspect="1"/>
          </p:cNvPicPr>
          <p:nvPr/>
        </p:nvPicPr>
        <p:blipFill>
          <a:blip r:embed="rId1"/>
          <a:srcRect l="0" r="0" t="0" b="0"/>
          <a:stretch/>
        </p:blipFill>
        <p:spPr>
          <a:xfrm>
            <a:off x="6309360" y="0"/>
            <a:ext cx="5879592" cy="6858000"/>
          </a:xfrm>
          <a:prstGeom prst="rect">
            <a:avLst/>
          </a:prstGeom>
        </p:spPr>
      </p:pic>
      <p:sp>
        <p:nvSpPr>
          <p:cNvPr id="5" name="Shape 2"/>
          <p:cNvSpPr/>
          <p:nvPr/>
        </p:nvSpPr>
        <p:spPr>
          <a:xfrm>
            <a:off x="6309360" y="0"/>
            <a:ext cx="5879592" cy="6858000"/>
          </a:xfrm>
          <a:prstGeom prst="rect">
            <a:avLst/>
          </a:prstGeom>
          <a:solidFill>
            <a:srgbClr val="14181C">
              <a:alpha val="26000"/>
            </a:srgbClr>
          </a:solidFill>
          <a:ln/>
        </p:spPr>
      </p:sp>
      <p:sp>
        <p:nvSpPr>
          <p:cNvPr id="6" name="Text 3"/>
          <p:cNvSpPr/>
          <p:nvPr/>
        </p:nvSpPr>
        <p:spPr>
          <a:xfrm>
            <a:off x="594360" y="502920"/>
            <a:ext cx="4572000"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6</a:t>
            </a:r>
            <a:endParaRPr lang="en-US" sz="1200" dirty="0"/>
          </a:p>
        </p:txBody>
      </p:sp>
      <p:sp>
        <p:nvSpPr>
          <p:cNvPr id="7" name="Text 4"/>
          <p:cNvSpPr/>
          <p:nvPr/>
        </p:nvSpPr>
        <p:spPr>
          <a:xfrm>
            <a:off x="594360" y="822960"/>
            <a:ext cx="5577840" cy="1188720"/>
          </a:xfrm>
          <a:prstGeom prst="rect">
            <a:avLst/>
          </a:prstGeom>
          <a:noFill/>
          <a:ln/>
        </p:spPr>
        <p:txBody>
          <a:bodyPr wrap="square" lIns="0" tIns="0" rIns="0" bIns="0" rtlCol="0" anchor="ctr"/>
          <a:lstStyle/>
          <a:p>
            <a:pPr indent="0" marL="0">
              <a:lnSpc>
                <a:spcPts val="3000"/>
              </a:lnSpc>
              <a:buNone/>
            </a:pPr>
            <a:r>
              <a:rPr lang="en-US" sz="2600" b="1" dirty="0">
                <a:solidFill>
                  <a:srgbClr val="FFFFFF"/>
                </a:solidFill>
                <a:latin typeface="Arial" pitchFamily="34" charset="0"/>
                <a:ea typeface="Arial" pitchFamily="34" charset="-122"/>
                <a:cs typeface="Arial" pitchFamily="34" charset="-120"/>
              </a:rPr>
              <a:t>Safety vs. urgency:</a:t>
            </a:r>
            <a:endParaRPr lang="en-US" sz="2600" dirty="0"/>
          </a:p>
          <a:p>
            <a:pPr indent="0" marL="0">
              <a:lnSpc>
                <a:spcPts val="3000"/>
              </a:lnSpc>
              <a:buNone/>
            </a:pPr>
            <a:r>
              <a:rPr lang="en-US" sz="2600" b="1" dirty="0">
                <a:solidFill>
                  <a:srgbClr val="FFFFFF"/>
                </a:solidFill>
                <a:latin typeface="Arial" pitchFamily="34" charset="0"/>
                <a:ea typeface="Arial" pitchFamily="34" charset="-122"/>
                <a:cs typeface="Arial" pitchFamily="34" charset="-120"/>
              </a:rPr>
              <a:t>the leader's dilemma</a:t>
            </a:r>
            <a:endParaRPr lang="en-US" sz="2600" dirty="0"/>
          </a:p>
        </p:txBody>
      </p:sp>
      <p:sp>
        <p:nvSpPr>
          <p:cNvPr id="8" name="Text 5"/>
          <p:cNvSpPr/>
          <p:nvPr/>
        </p:nvSpPr>
        <p:spPr>
          <a:xfrm>
            <a:off x="594360" y="2240280"/>
            <a:ext cx="5486400" cy="2194560"/>
          </a:xfrm>
          <a:prstGeom prst="rect">
            <a:avLst/>
          </a:prstGeom>
          <a:noFill/>
          <a:ln/>
        </p:spPr>
        <p:txBody>
          <a:bodyPr wrap="square" rtlCol="0" anchor="ctr"/>
          <a:lstStyle/>
          <a:p>
            <a:pPr marL="177800" indent="-177800">
              <a:spcAft>
                <a:spcPts val="1000"/>
              </a:spcAft>
              <a:buSzPct val="100000"/>
              <a:buChar char="•"/>
            </a:pPr>
            <a:r>
              <a:rPr lang="en-US" sz="1250" dirty="0">
                <a:solidFill>
                  <a:srgbClr val="D9DEE2"/>
                </a:solidFill>
                <a:latin typeface="Arial" pitchFamily="34" charset="0"/>
                <a:ea typeface="Arial" pitchFamily="34" charset="-122"/>
                <a:cs typeface="Arial" pitchFamily="34" charset="-120"/>
              </a:rPr>
              <a:t>Urgency without safety creates a second incident inside the first</a:t>
            </a:r>
            <a:endParaRPr lang="en-US" sz="1250" dirty="0"/>
          </a:p>
          <a:p>
            <a:pPr marL="177800" indent="-177800">
              <a:spcAft>
                <a:spcPts val="1000"/>
              </a:spcAft>
              <a:buSzPct val="100000"/>
              <a:buChar char="•"/>
            </a:pPr>
            <a:r>
              <a:rPr lang="en-US" sz="1250" dirty="0">
                <a:solidFill>
                  <a:srgbClr val="D9DEE2"/>
                </a:solidFill>
                <a:latin typeface="Arial" pitchFamily="34" charset="0"/>
                <a:ea typeface="Arial" pitchFamily="34" charset="-122"/>
                <a:cs typeface="Arial" pitchFamily="34" charset="-120"/>
              </a:rPr>
              <a:t>Safety without urgency lets a savable situation become unsavable</a:t>
            </a:r>
            <a:endParaRPr lang="en-US" sz="1250" dirty="0"/>
          </a:p>
          <a:p>
            <a:pPr marL="177800" indent="-177800">
              <a:spcAft>
                <a:spcPts val="1000"/>
              </a:spcAft>
              <a:buSzPct val="100000"/>
              <a:buChar char="•"/>
            </a:pPr>
            <a:r>
              <a:rPr lang="en-US" sz="1250" dirty="0">
                <a:solidFill>
                  <a:srgbClr val="D9DEE2"/>
                </a:solidFill>
                <a:latin typeface="Arial" pitchFamily="34" charset="0"/>
                <a:ea typeface="Arial" pitchFamily="34" charset="-122"/>
                <a:cs typeface="Arial" pitchFamily="34" charset="-120"/>
              </a:rPr>
              <a:t>The balance point moves every minute — that is why the DRA loop never stops</a:t>
            </a:r>
            <a:endParaRPr lang="en-US" sz="1250" dirty="0"/>
          </a:p>
          <a:p>
            <a:pPr marL="177800" indent="-177800">
              <a:spcAft>
                <a:spcPts val="1000"/>
              </a:spcAft>
              <a:buSzPct val="100000"/>
              <a:buChar char="•"/>
            </a:pPr>
            <a:r>
              <a:rPr lang="en-US" sz="1250" dirty="0">
                <a:solidFill>
                  <a:srgbClr val="D9DEE2"/>
                </a:solidFill>
                <a:latin typeface="Arial" pitchFamily="34" charset="0"/>
                <a:ea typeface="Arial" pitchFamily="34" charset="-122"/>
                <a:cs typeface="Arial" pitchFamily="34" charset="-120"/>
              </a:rPr>
              <a:t>Your decisions will be replayed in the debrief: be able to say WHY, not just WHAT</a:t>
            </a:r>
            <a:endParaRPr lang="en-US" sz="1250" dirty="0"/>
          </a:p>
        </p:txBody>
      </p:sp>
      <p:sp>
        <p:nvSpPr>
          <p:cNvPr id="9" name="Shape 6"/>
          <p:cNvSpPr/>
          <p:nvPr/>
        </p:nvSpPr>
        <p:spPr>
          <a:xfrm>
            <a:off x="594360" y="4617720"/>
            <a:ext cx="5577840" cy="1554480"/>
          </a:xfrm>
          <a:prstGeom prst="roundRect">
            <a:avLst>
              <a:gd name="adj" fmla="val 5882"/>
            </a:avLst>
          </a:prstGeom>
          <a:solidFill>
            <a:srgbClr val="1F262C"/>
          </a:solidFill>
          <a:ln w="9525">
            <a:solidFill>
              <a:srgbClr val="39434B"/>
            </a:solidFill>
            <a:prstDash val="solid"/>
          </a:ln>
        </p:spPr>
      </p:sp>
      <p:sp>
        <p:nvSpPr>
          <p:cNvPr id="10" name="Text 7"/>
          <p:cNvSpPr/>
          <p:nvPr/>
        </p:nvSpPr>
        <p:spPr>
          <a:xfrm>
            <a:off x="822960" y="4773168"/>
            <a:ext cx="5120640" cy="274320"/>
          </a:xfrm>
          <a:prstGeom prst="rect">
            <a:avLst/>
          </a:prstGeom>
          <a:noFill/>
          <a:ln/>
        </p:spPr>
        <p:txBody>
          <a:bodyPr wrap="square" lIns="0" tIns="0" rIns="0" bIns="0" rtlCol="0" anchor="ctr"/>
          <a:lstStyle/>
          <a:p>
            <a:pPr indent="0" marL="0">
              <a:buNone/>
            </a:pPr>
            <a:r>
              <a:rPr lang="en-US" sz="1050" b="1" spc="150" kern="0" dirty="0">
                <a:solidFill>
                  <a:srgbClr val="F5A623"/>
                </a:solidFill>
                <a:latin typeface="Arial" pitchFamily="34" charset="0"/>
                <a:ea typeface="Arial" pitchFamily="34" charset="-122"/>
                <a:cs typeface="Arial" pitchFamily="34" charset="-120"/>
              </a:rPr>
              <a:t>THE THREE DECISION GATES</a:t>
            </a:r>
            <a:endParaRPr lang="en-US" sz="1050" dirty="0"/>
          </a:p>
        </p:txBody>
      </p:sp>
      <p:sp>
        <p:nvSpPr>
          <p:cNvPr id="11" name="Text 8"/>
          <p:cNvSpPr/>
          <p:nvPr/>
        </p:nvSpPr>
        <p:spPr>
          <a:xfrm>
            <a:off x="822960" y="5074920"/>
            <a:ext cx="5120640" cy="960120"/>
          </a:xfrm>
          <a:prstGeom prst="rect">
            <a:avLst/>
          </a:prstGeom>
          <a:noFill/>
          <a:ln/>
        </p:spPr>
        <p:txBody>
          <a:bodyPr wrap="square" lIns="0" tIns="0" rIns="0" bIns="0" rtlCol="0" anchor="ctr"/>
          <a:lstStyle/>
          <a:p>
            <a:pPr indent="0" marL="0">
              <a:lnSpc>
                <a:spcPts val="1700"/>
              </a:lnSpc>
              <a:buNone/>
            </a:pPr>
            <a:r>
              <a:rPr lang="en-US" sz="1150" b="1" dirty="0">
                <a:solidFill>
                  <a:srgbClr val="FFFFFF"/>
                </a:solidFill>
                <a:latin typeface="Arial" pitchFamily="34" charset="0"/>
                <a:ea typeface="Arial" pitchFamily="34" charset="-122"/>
                <a:cs typeface="Arial" pitchFamily="34" charset="-120"/>
              </a:rPr>
              <a:t>1. Is anyone savable at this risk?   </a:t>
            </a:r>
            <a:pPr indent="0" marL="0">
              <a:lnSpc>
                <a:spcPts val="1700"/>
              </a:lnSpc>
              <a:buNone/>
            </a:pPr>
            <a:r>
              <a:rPr lang="en-US" sz="1150" b="1" dirty="0">
                <a:solidFill>
                  <a:srgbClr val="FFFFFF"/>
                </a:solidFill>
                <a:latin typeface="Arial" pitchFamily="34" charset="0"/>
                <a:ea typeface="Arial" pitchFamily="34" charset="-122"/>
                <a:cs typeface="Arial" pitchFamily="34" charset="-120"/>
              </a:rPr>
              <a:t>2. Do I control the hazard, or does it control me?   </a:t>
            </a:r>
            <a:pPr indent="0" marL="0">
              <a:lnSpc>
                <a:spcPts val="1700"/>
              </a:lnSpc>
              <a:buNone/>
            </a:pPr>
            <a:r>
              <a:rPr lang="en-US" sz="1150" b="1" dirty="0">
                <a:solidFill>
                  <a:srgbClr val="FFFFFF"/>
                </a:solidFill>
                <a:latin typeface="Arial" pitchFamily="34" charset="0"/>
                <a:ea typeface="Arial" pitchFamily="34" charset="-122"/>
                <a:cs typeface="Arial" pitchFamily="34" charset="-120"/>
              </a:rPr>
              <a:t>3. If this goes wrong in 60 seconds, can I get everyone out?</a:t>
            </a:r>
            <a:endParaRPr lang="en-US" sz="11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68</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6</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How each simulation round runs</a:t>
            </a:r>
            <a:endParaRPr lang="en-US" sz="3000" dirty="0"/>
          </a:p>
        </p:txBody>
      </p:sp>
      <p:sp>
        <p:nvSpPr>
          <p:cNvPr id="6" name="Shape 4"/>
          <p:cNvSpPr/>
          <p:nvPr/>
        </p:nvSpPr>
        <p:spPr>
          <a:xfrm>
            <a:off x="594360" y="1828800"/>
            <a:ext cx="3453384" cy="1874520"/>
          </a:xfrm>
          <a:prstGeom prst="roundRect">
            <a:avLst>
              <a:gd name="adj" fmla="val 4878"/>
            </a:avLst>
          </a:prstGeom>
          <a:solidFill>
            <a:srgbClr val="F3F4F5"/>
          </a:solidFill>
          <a:ln/>
        </p:spPr>
      </p:sp>
      <p:sp>
        <p:nvSpPr>
          <p:cNvPr id="7" name="Text 5"/>
          <p:cNvSpPr/>
          <p:nvPr/>
        </p:nvSpPr>
        <p:spPr>
          <a:xfrm>
            <a:off x="795528" y="1993392"/>
            <a:ext cx="640080" cy="502920"/>
          </a:xfrm>
          <a:prstGeom prst="rect">
            <a:avLst/>
          </a:prstGeom>
          <a:noFill/>
          <a:ln/>
        </p:spPr>
        <p:txBody>
          <a:bodyPr wrap="square" lIns="0" tIns="0" rIns="0" bIns="0" rtlCol="0" anchor="ctr"/>
          <a:lstStyle/>
          <a:p>
            <a:pPr indent="0" marL="0">
              <a:buNone/>
            </a:pPr>
            <a:r>
              <a:rPr lang="en-US" sz="2400" b="1" dirty="0">
                <a:solidFill>
                  <a:srgbClr val="E8491D"/>
                </a:solidFill>
                <a:latin typeface="Arial" pitchFamily="34" charset="0"/>
                <a:ea typeface="Arial" pitchFamily="34" charset="-122"/>
                <a:cs typeface="Arial" pitchFamily="34" charset="-120"/>
              </a:rPr>
              <a:t>1</a:t>
            </a:r>
            <a:endParaRPr lang="en-US" sz="2400" dirty="0"/>
          </a:p>
        </p:txBody>
      </p:sp>
      <p:sp>
        <p:nvSpPr>
          <p:cNvPr id="8" name="Shape 6"/>
          <p:cNvSpPr/>
          <p:nvPr/>
        </p:nvSpPr>
        <p:spPr>
          <a:xfrm>
            <a:off x="3334512" y="2011680"/>
            <a:ext cx="475488" cy="475488"/>
          </a:xfrm>
          <a:prstGeom prst="ellipse">
            <a:avLst/>
          </a:prstGeom>
          <a:solidFill>
            <a:srgbClr val="E8491D"/>
          </a:solidFill>
          <a:ln/>
        </p:spPr>
      </p:sp>
      <p:pic>
        <p:nvPicPr>
          <p:cNvPr id="9" name="Image 0" descr="/tmp/claude-0/-home-user-My-Future-Idaes/0806094f-208a-506e-82b2-f78683d50c82/scratchpad/icons/FaBookOpen_white.png">    </p:cNvPr>
          <p:cNvPicPr>
            <a:picLocks noChangeAspect="1"/>
          </p:cNvPicPr>
          <p:nvPr/>
        </p:nvPicPr>
        <p:blipFill>
          <a:blip r:embed="rId1"/>
          <a:stretch>
            <a:fillRect/>
          </a:stretch>
        </p:blipFill>
        <p:spPr>
          <a:xfrm>
            <a:off x="3448629" y="2125797"/>
            <a:ext cx="247254" cy="247254"/>
          </a:xfrm>
          <a:prstGeom prst="rect">
            <a:avLst/>
          </a:prstGeom>
        </p:spPr>
      </p:pic>
      <p:sp>
        <p:nvSpPr>
          <p:cNvPr id="10" name="Text 7"/>
          <p:cNvSpPr/>
          <p:nvPr/>
        </p:nvSpPr>
        <p:spPr>
          <a:xfrm>
            <a:off x="795528" y="2542032"/>
            <a:ext cx="3051048" cy="320040"/>
          </a:xfrm>
          <a:prstGeom prst="rect">
            <a:avLst/>
          </a:prstGeom>
          <a:noFill/>
          <a:ln/>
        </p:spPr>
        <p:txBody>
          <a:bodyPr wrap="square" lIns="0" tIns="0" rIns="0" bIns="0" rtlCol="0" anchor="ctr"/>
          <a:lstStyle/>
          <a:p>
            <a:pPr indent="0" marL="0">
              <a:buNone/>
            </a:pPr>
            <a:r>
              <a:rPr lang="en-US" sz="1350" b="1" spc="100" kern="0" dirty="0">
                <a:solidFill>
                  <a:srgbClr val="1A2027"/>
                </a:solidFill>
                <a:latin typeface="Arial" pitchFamily="34" charset="0"/>
                <a:ea typeface="Arial" pitchFamily="34" charset="-122"/>
                <a:cs typeface="Arial" pitchFamily="34" charset="-120"/>
              </a:rPr>
              <a:t>BRIEF</a:t>
            </a:r>
            <a:endParaRPr lang="en-US" sz="1350" dirty="0"/>
          </a:p>
        </p:txBody>
      </p:sp>
      <p:sp>
        <p:nvSpPr>
          <p:cNvPr id="11" name="Text 8"/>
          <p:cNvSpPr/>
          <p:nvPr/>
        </p:nvSpPr>
        <p:spPr>
          <a:xfrm>
            <a:off x="795528" y="2880360"/>
            <a:ext cx="3051048" cy="77724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Scenario, roles, safety rules, assessment criteria — no surprises about how you're graded.</a:t>
            </a:r>
            <a:endParaRPr lang="en-US" sz="1000" dirty="0"/>
          </a:p>
        </p:txBody>
      </p:sp>
      <p:sp>
        <p:nvSpPr>
          <p:cNvPr id="12" name="Shape 9"/>
          <p:cNvSpPr/>
          <p:nvPr/>
        </p:nvSpPr>
        <p:spPr>
          <a:xfrm>
            <a:off x="4367784" y="1828800"/>
            <a:ext cx="3453384" cy="1874520"/>
          </a:xfrm>
          <a:prstGeom prst="roundRect">
            <a:avLst>
              <a:gd name="adj" fmla="val 4878"/>
            </a:avLst>
          </a:prstGeom>
          <a:solidFill>
            <a:srgbClr val="F3F4F5"/>
          </a:solidFill>
          <a:ln/>
        </p:spPr>
      </p:sp>
      <p:sp>
        <p:nvSpPr>
          <p:cNvPr id="13" name="Text 10"/>
          <p:cNvSpPr/>
          <p:nvPr/>
        </p:nvSpPr>
        <p:spPr>
          <a:xfrm>
            <a:off x="4568952" y="1993392"/>
            <a:ext cx="640080" cy="502920"/>
          </a:xfrm>
          <a:prstGeom prst="rect">
            <a:avLst/>
          </a:prstGeom>
          <a:noFill/>
          <a:ln/>
        </p:spPr>
        <p:txBody>
          <a:bodyPr wrap="square" lIns="0" tIns="0" rIns="0" bIns="0" rtlCol="0" anchor="ctr"/>
          <a:lstStyle/>
          <a:p>
            <a:pPr indent="0" marL="0">
              <a:buNone/>
            </a:pPr>
            <a:r>
              <a:rPr lang="en-US" sz="2400" b="1" dirty="0">
                <a:solidFill>
                  <a:srgbClr val="E8491D"/>
                </a:solidFill>
                <a:latin typeface="Arial" pitchFamily="34" charset="0"/>
                <a:ea typeface="Arial" pitchFamily="34" charset="-122"/>
                <a:cs typeface="Arial" pitchFamily="34" charset="-120"/>
              </a:rPr>
              <a:t>2</a:t>
            </a:r>
            <a:endParaRPr lang="en-US" sz="2400" dirty="0"/>
          </a:p>
        </p:txBody>
      </p:sp>
      <p:sp>
        <p:nvSpPr>
          <p:cNvPr id="14" name="Shape 11"/>
          <p:cNvSpPr/>
          <p:nvPr/>
        </p:nvSpPr>
        <p:spPr>
          <a:xfrm>
            <a:off x="7107936" y="2011680"/>
            <a:ext cx="475488" cy="475488"/>
          </a:xfrm>
          <a:prstGeom prst="ellipse">
            <a:avLst/>
          </a:prstGeom>
          <a:solidFill>
            <a:srgbClr val="E8491D"/>
          </a:solidFill>
          <a:ln/>
        </p:spPr>
      </p:sp>
      <p:pic>
        <p:nvPicPr>
          <p:cNvPr id="15" name="Image 1" descr="/tmp/claude-0/-home-user-My-Future-Idaes/0806094f-208a-506e-82b2-f78683d50c82/scratchpad/icons/FaUsers_white.png">    </p:cNvPr>
          <p:cNvPicPr>
            <a:picLocks noChangeAspect="1"/>
          </p:cNvPicPr>
          <p:nvPr/>
        </p:nvPicPr>
        <p:blipFill>
          <a:blip r:embed="rId2"/>
          <a:stretch>
            <a:fillRect/>
          </a:stretch>
        </p:blipFill>
        <p:spPr>
          <a:xfrm>
            <a:off x="7222053" y="2125797"/>
            <a:ext cx="247254" cy="247254"/>
          </a:xfrm>
          <a:prstGeom prst="rect">
            <a:avLst/>
          </a:prstGeom>
        </p:spPr>
      </p:pic>
      <p:sp>
        <p:nvSpPr>
          <p:cNvPr id="16" name="Text 12"/>
          <p:cNvSpPr/>
          <p:nvPr/>
        </p:nvSpPr>
        <p:spPr>
          <a:xfrm>
            <a:off x="4568952" y="2542032"/>
            <a:ext cx="3051048" cy="320040"/>
          </a:xfrm>
          <a:prstGeom prst="rect">
            <a:avLst/>
          </a:prstGeom>
          <a:noFill/>
          <a:ln/>
        </p:spPr>
        <p:txBody>
          <a:bodyPr wrap="square" lIns="0" tIns="0" rIns="0" bIns="0" rtlCol="0" anchor="ctr"/>
          <a:lstStyle/>
          <a:p>
            <a:pPr indent="0" marL="0">
              <a:buNone/>
            </a:pPr>
            <a:r>
              <a:rPr lang="en-US" sz="1350" b="1" spc="100" kern="0" dirty="0">
                <a:solidFill>
                  <a:srgbClr val="1A2027"/>
                </a:solidFill>
                <a:latin typeface="Arial" pitchFamily="34" charset="0"/>
                <a:ea typeface="Arial" pitchFamily="34" charset="-122"/>
                <a:cs typeface="Arial" pitchFamily="34" charset="-120"/>
              </a:rPr>
              <a:t>DEPLOY</a:t>
            </a:r>
            <a:endParaRPr lang="en-US" sz="1350" dirty="0"/>
          </a:p>
        </p:txBody>
      </p:sp>
      <p:sp>
        <p:nvSpPr>
          <p:cNvPr id="17" name="Text 13"/>
          <p:cNvSpPr/>
          <p:nvPr/>
        </p:nvSpPr>
        <p:spPr>
          <a:xfrm>
            <a:off x="4568952" y="2880360"/>
            <a:ext cx="3051048" cy="77724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Alarm sounds. Commander takes the scene; teams respond as tasked.</a:t>
            </a:r>
            <a:endParaRPr lang="en-US" sz="1000" dirty="0"/>
          </a:p>
        </p:txBody>
      </p:sp>
      <p:sp>
        <p:nvSpPr>
          <p:cNvPr id="18" name="Shape 14"/>
          <p:cNvSpPr/>
          <p:nvPr/>
        </p:nvSpPr>
        <p:spPr>
          <a:xfrm>
            <a:off x="8141208" y="1828800"/>
            <a:ext cx="3453384" cy="1874520"/>
          </a:xfrm>
          <a:prstGeom prst="roundRect">
            <a:avLst>
              <a:gd name="adj" fmla="val 4878"/>
            </a:avLst>
          </a:prstGeom>
          <a:solidFill>
            <a:srgbClr val="F3F4F5"/>
          </a:solidFill>
          <a:ln/>
        </p:spPr>
      </p:sp>
      <p:sp>
        <p:nvSpPr>
          <p:cNvPr id="19" name="Text 15"/>
          <p:cNvSpPr/>
          <p:nvPr/>
        </p:nvSpPr>
        <p:spPr>
          <a:xfrm>
            <a:off x="8342376" y="1993392"/>
            <a:ext cx="640080" cy="502920"/>
          </a:xfrm>
          <a:prstGeom prst="rect">
            <a:avLst/>
          </a:prstGeom>
          <a:noFill/>
          <a:ln/>
        </p:spPr>
        <p:txBody>
          <a:bodyPr wrap="square" lIns="0" tIns="0" rIns="0" bIns="0" rtlCol="0" anchor="ctr"/>
          <a:lstStyle/>
          <a:p>
            <a:pPr indent="0" marL="0">
              <a:buNone/>
            </a:pPr>
            <a:r>
              <a:rPr lang="en-US" sz="2400" b="1" dirty="0">
                <a:solidFill>
                  <a:srgbClr val="E8491D"/>
                </a:solidFill>
                <a:latin typeface="Arial" pitchFamily="34" charset="0"/>
                <a:ea typeface="Arial" pitchFamily="34" charset="-122"/>
                <a:cs typeface="Arial" pitchFamily="34" charset="-120"/>
              </a:rPr>
              <a:t>3</a:t>
            </a:r>
            <a:endParaRPr lang="en-US" sz="2400" dirty="0"/>
          </a:p>
        </p:txBody>
      </p:sp>
      <p:sp>
        <p:nvSpPr>
          <p:cNvPr id="20" name="Shape 16"/>
          <p:cNvSpPr/>
          <p:nvPr/>
        </p:nvSpPr>
        <p:spPr>
          <a:xfrm>
            <a:off x="10881360" y="2011680"/>
            <a:ext cx="475488" cy="475488"/>
          </a:xfrm>
          <a:prstGeom prst="ellipse">
            <a:avLst/>
          </a:prstGeom>
          <a:solidFill>
            <a:srgbClr val="E8491D"/>
          </a:solidFill>
          <a:ln/>
        </p:spPr>
      </p:sp>
      <p:pic>
        <p:nvPicPr>
          <p:cNvPr id="21" name="Image 2" descr="/tmp/claude-0/-home-user-My-Future-Idaes/0806094f-208a-506e-82b2-f78683d50c82/scratchpad/icons/FaAngleDoubleUp_white.png">    </p:cNvPr>
          <p:cNvPicPr>
            <a:picLocks noChangeAspect="1"/>
          </p:cNvPicPr>
          <p:nvPr/>
        </p:nvPicPr>
        <p:blipFill>
          <a:blip r:embed="rId3"/>
          <a:stretch>
            <a:fillRect/>
          </a:stretch>
        </p:blipFill>
        <p:spPr>
          <a:xfrm>
            <a:off x="10995477" y="2125797"/>
            <a:ext cx="247254" cy="247254"/>
          </a:xfrm>
          <a:prstGeom prst="rect">
            <a:avLst/>
          </a:prstGeom>
        </p:spPr>
      </p:pic>
      <p:sp>
        <p:nvSpPr>
          <p:cNvPr id="22" name="Text 17"/>
          <p:cNvSpPr/>
          <p:nvPr/>
        </p:nvSpPr>
        <p:spPr>
          <a:xfrm>
            <a:off x="8342376" y="2542032"/>
            <a:ext cx="3051048" cy="320040"/>
          </a:xfrm>
          <a:prstGeom prst="rect">
            <a:avLst/>
          </a:prstGeom>
          <a:noFill/>
          <a:ln/>
        </p:spPr>
        <p:txBody>
          <a:bodyPr wrap="square" lIns="0" tIns="0" rIns="0" bIns="0" rtlCol="0" anchor="ctr"/>
          <a:lstStyle/>
          <a:p>
            <a:pPr indent="0" marL="0">
              <a:buNone/>
            </a:pPr>
            <a:r>
              <a:rPr lang="en-US" sz="1350" b="1" spc="100" kern="0" dirty="0">
                <a:solidFill>
                  <a:srgbClr val="1A2027"/>
                </a:solidFill>
                <a:latin typeface="Arial" pitchFamily="34" charset="0"/>
                <a:ea typeface="Arial" pitchFamily="34" charset="-122"/>
                <a:cs typeface="Arial" pitchFamily="34" charset="-120"/>
              </a:rPr>
              <a:t>ESCALATE</a:t>
            </a:r>
            <a:endParaRPr lang="en-US" sz="1350" dirty="0"/>
          </a:p>
        </p:txBody>
      </p:sp>
      <p:sp>
        <p:nvSpPr>
          <p:cNvPr id="23" name="Text 18"/>
          <p:cNvSpPr/>
          <p:nvPr/>
        </p:nvSpPr>
        <p:spPr>
          <a:xfrm>
            <a:off x="8342376" y="2880360"/>
            <a:ext cx="3051048" cy="77724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Injects land: new hazards, failures, casualties. The plan must bend without breaking.</a:t>
            </a:r>
            <a:endParaRPr lang="en-US" sz="1000" dirty="0"/>
          </a:p>
        </p:txBody>
      </p:sp>
      <p:sp>
        <p:nvSpPr>
          <p:cNvPr id="24" name="Shape 19"/>
          <p:cNvSpPr/>
          <p:nvPr/>
        </p:nvSpPr>
        <p:spPr>
          <a:xfrm>
            <a:off x="594360" y="3931920"/>
            <a:ext cx="3453384" cy="1874520"/>
          </a:xfrm>
          <a:prstGeom prst="roundRect">
            <a:avLst>
              <a:gd name="adj" fmla="val 4878"/>
            </a:avLst>
          </a:prstGeom>
          <a:solidFill>
            <a:srgbClr val="F3F4F5"/>
          </a:solidFill>
          <a:ln/>
        </p:spPr>
      </p:sp>
      <p:sp>
        <p:nvSpPr>
          <p:cNvPr id="25" name="Text 20"/>
          <p:cNvSpPr/>
          <p:nvPr/>
        </p:nvSpPr>
        <p:spPr>
          <a:xfrm>
            <a:off x="795528" y="4096512"/>
            <a:ext cx="640080" cy="502920"/>
          </a:xfrm>
          <a:prstGeom prst="rect">
            <a:avLst/>
          </a:prstGeom>
          <a:noFill/>
          <a:ln/>
        </p:spPr>
        <p:txBody>
          <a:bodyPr wrap="square" lIns="0" tIns="0" rIns="0" bIns="0" rtlCol="0" anchor="ctr"/>
          <a:lstStyle/>
          <a:p>
            <a:pPr indent="0" marL="0">
              <a:buNone/>
            </a:pPr>
            <a:r>
              <a:rPr lang="en-US" sz="2400" b="1" dirty="0">
                <a:solidFill>
                  <a:srgbClr val="E8491D"/>
                </a:solidFill>
                <a:latin typeface="Arial" pitchFamily="34" charset="0"/>
                <a:ea typeface="Arial" pitchFamily="34" charset="-122"/>
                <a:cs typeface="Arial" pitchFamily="34" charset="-120"/>
              </a:rPr>
              <a:t>4</a:t>
            </a:r>
            <a:endParaRPr lang="en-US" sz="2400" dirty="0"/>
          </a:p>
        </p:txBody>
      </p:sp>
      <p:sp>
        <p:nvSpPr>
          <p:cNvPr id="26" name="Shape 21"/>
          <p:cNvSpPr/>
          <p:nvPr/>
        </p:nvSpPr>
        <p:spPr>
          <a:xfrm>
            <a:off x="3334512" y="4114800"/>
            <a:ext cx="475488" cy="475488"/>
          </a:xfrm>
          <a:prstGeom prst="ellipse">
            <a:avLst/>
          </a:prstGeom>
          <a:solidFill>
            <a:srgbClr val="E8491D"/>
          </a:solidFill>
          <a:ln/>
        </p:spPr>
      </p:sp>
      <p:pic>
        <p:nvPicPr>
          <p:cNvPr id="27" name="Image 3" descr="/tmp/claude-0/-home-user-My-Future-Idaes/0806094f-208a-506e-82b2-f78683d50c82/scratchpad/icons/FaSitemap_white.png">    </p:cNvPr>
          <p:cNvPicPr>
            <a:picLocks noChangeAspect="1"/>
          </p:cNvPicPr>
          <p:nvPr/>
        </p:nvPicPr>
        <p:blipFill>
          <a:blip r:embed="rId4"/>
          <a:stretch>
            <a:fillRect/>
          </a:stretch>
        </p:blipFill>
        <p:spPr>
          <a:xfrm>
            <a:off x="3448629" y="4228917"/>
            <a:ext cx="247254" cy="247254"/>
          </a:xfrm>
          <a:prstGeom prst="rect">
            <a:avLst/>
          </a:prstGeom>
        </p:spPr>
      </p:pic>
      <p:sp>
        <p:nvSpPr>
          <p:cNvPr id="28" name="Text 22"/>
          <p:cNvSpPr/>
          <p:nvPr/>
        </p:nvSpPr>
        <p:spPr>
          <a:xfrm>
            <a:off x="795528" y="4645152"/>
            <a:ext cx="3051048" cy="320040"/>
          </a:xfrm>
          <a:prstGeom prst="rect">
            <a:avLst/>
          </a:prstGeom>
          <a:noFill/>
          <a:ln/>
        </p:spPr>
        <p:txBody>
          <a:bodyPr wrap="square" lIns="0" tIns="0" rIns="0" bIns="0" rtlCol="0" anchor="ctr"/>
          <a:lstStyle/>
          <a:p>
            <a:pPr indent="0" marL="0">
              <a:buNone/>
            </a:pPr>
            <a:r>
              <a:rPr lang="en-US" sz="1350" b="1" spc="100" kern="0" dirty="0">
                <a:solidFill>
                  <a:srgbClr val="1A2027"/>
                </a:solidFill>
                <a:latin typeface="Arial" pitchFamily="34" charset="0"/>
                <a:ea typeface="Arial" pitchFamily="34" charset="-122"/>
                <a:cs typeface="Arial" pitchFamily="34" charset="-120"/>
              </a:rPr>
              <a:t>COMMAND</a:t>
            </a:r>
            <a:endParaRPr lang="en-US" sz="1350" dirty="0"/>
          </a:p>
        </p:txBody>
      </p:sp>
      <p:sp>
        <p:nvSpPr>
          <p:cNvPr id="29" name="Text 23"/>
          <p:cNvSpPr/>
          <p:nvPr/>
        </p:nvSpPr>
        <p:spPr>
          <a:xfrm>
            <a:off x="795528" y="4983480"/>
            <a:ext cx="3051048" cy="77724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Structure grows, SITREPs flow, accountability holds. Assessors track every order.</a:t>
            </a:r>
            <a:endParaRPr lang="en-US" sz="1000" dirty="0"/>
          </a:p>
        </p:txBody>
      </p:sp>
      <p:sp>
        <p:nvSpPr>
          <p:cNvPr id="30" name="Shape 24"/>
          <p:cNvSpPr/>
          <p:nvPr/>
        </p:nvSpPr>
        <p:spPr>
          <a:xfrm>
            <a:off x="4367784" y="3931920"/>
            <a:ext cx="3453384" cy="1874520"/>
          </a:xfrm>
          <a:prstGeom prst="roundRect">
            <a:avLst>
              <a:gd name="adj" fmla="val 4878"/>
            </a:avLst>
          </a:prstGeom>
          <a:solidFill>
            <a:srgbClr val="F3F4F5"/>
          </a:solidFill>
          <a:ln/>
        </p:spPr>
      </p:sp>
      <p:sp>
        <p:nvSpPr>
          <p:cNvPr id="31" name="Text 25"/>
          <p:cNvSpPr/>
          <p:nvPr/>
        </p:nvSpPr>
        <p:spPr>
          <a:xfrm>
            <a:off x="4568952" y="4096512"/>
            <a:ext cx="640080" cy="502920"/>
          </a:xfrm>
          <a:prstGeom prst="rect">
            <a:avLst/>
          </a:prstGeom>
          <a:noFill/>
          <a:ln/>
        </p:spPr>
        <p:txBody>
          <a:bodyPr wrap="square" lIns="0" tIns="0" rIns="0" bIns="0" rtlCol="0" anchor="ctr"/>
          <a:lstStyle/>
          <a:p>
            <a:pPr indent="0" marL="0">
              <a:buNone/>
            </a:pPr>
            <a:r>
              <a:rPr lang="en-US" sz="2400" b="1" dirty="0">
                <a:solidFill>
                  <a:srgbClr val="E8491D"/>
                </a:solidFill>
                <a:latin typeface="Arial" pitchFamily="34" charset="0"/>
                <a:ea typeface="Arial" pitchFamily="34" charset="-122"/>
                <a:cs typeface="Arial" pitchFamily="34" charset="-120"/>
              </a:rPr>
              <a:t>5</a:t>
            </a:r>
            <a:endParaRPr lang="en-US" sz="2400" dirty="0"/>
          </a:p>
        </p:txBody>
      </p:sp>
      <p:sp>
        <p:nvSpPr>
          <p:cNvPr id="32" name="Shape 26"/>
          <p:cNvSpPr/>
          <p:nvPr/>
        </p:nvSpPr>
        <p:spPr>
          <a:xfrm>
            <a:off x="7107936" y="4114800"/>
            <a:ext cx="475488" cy="475488"/>
          </a:xfrm>
          <a:prstGeom prst="ellipse">
            <a:avLst/>
          </a:prstGeom>
          <a:solidFill>
            <a:srgbClr val="E8491D"/>
          </a:solidFill>
          <a:ln/>
        </p:spPr>
      </p:sp>
      <p:pic>
        <p:nvPicPr>
          <p:cNvPr id="33" name="Image 4" descr="/tmp/claude-0/-home-user-My-Future-Idaes/0806094f-208a-506e-82b2-f78683d50c82/scratchpad/icons/FaFlagCheckered_white.png">    </p:cNvPr>
          <p:cNvPicPr>
            <a:picLocks noChangeAspect="1"/>
          </p:cNvPicPr>
          <p:nvPr/>
        </p:nvPicPr>
        <p:blipFill>
          <a:blip r:embed="rId5"/>
          <a:stretch>
            <a:fillRect/>
          </a:stretch>
        </p:blipFill>
        <p:spPr>
          <a:xfrm>
            <a:off x="7222053" y="4228917"/>
            <a:ext cx="247254" cy="247254"/>
          </a:xfrm>
          <a:prstGeom prst="rect">
            <a:avLst/>
          </a:prstGeom>
        </p:spPr>
      </p:pic>
      <p:sp>
        <p:nvSpPr>
          <p:cNvPr id="34" name="Text 27"/>
          <p:cNvSpPr/>
          <p:nvPr/>
        </p:nvSpPr>
        <p:spPr>
          <a:xfrm>
            <a:off x="4568952" y="4645152"/>
            <a:ext cx="3051048" cy="320040"/>
          </a:xfrm>
          <a:prstGeom prst="rect">
            <a:avLst/>
          </a:prstGeom>
          <a:noFill/>
          <a:ln/>
        </p:spPr>
        <p:txBody>
          <a:bodyPr wrap="square" lIns="0" tIns="0" rIns="0" bIns="0" rtlCol="0" anchor="ctr"/>
          <a:lstStyle/>
          <a:p>
            <a:pPr indent="0" marL="0">
              <a:buNone/>
            </a:pPr>
            <a:r>
              <a:rPr lang="en-US" sz="1350" b="1" spc="100" kern="0" dirty="0">
                <a:solidFill>
                  <a:srgbClr val="1A2027"/>
                </a:solidFill>
                <a:latin typeface="Arial" pitchFamily="34" charset="0"/>
                <a:ea typeface="Arial" pitchFamily="34" charset="-122"/>
                <a:cs typeface="Arial" pitchFamily="34" charset="-120"/>
              </a:rPr>
              <a:t>TERMINATE</a:t>
            </a:r>
            <a:endParaRPr lang="en-US" sz="1350" dirty="0"/>
          </a:p>
        </p:txBody>
      </p:sp>
      <p:sp>
        <p:nvSpPr>
          <p:cNvPr id="35" name="Text 28"/>
          <p:cNvSpPr/>
          <p:nvPr/>
        </p:nvSpPr>
        <p:spPr>
          <a:xfrm>
            <a:off x="4568952" y="4983480"/>
            <a:ext cx="3051048" cy="77724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Exercise director closes the scenario at the objective — or at a safety stop.</a:t>
            </a:r>
            <a:endParaRPr lang="en-US" sz="1000" dirty="0"/>
          </a:p>
        </p:txBody>
      </p:sp>
      <p:sp>
        <p:nvSpPr>
          <p:cNvPr id="36" name="Shape 29"/>
          <p:cNvSpPr/>
          <p:nvPr/>
        </p:nvSpPr>
        <p:spPr>
          <a:xfrm>
            <a:off x="8141208" y="3931920"/>
            <a:ext cx="3453384" cy="1874520"/>
          </a:xfrm>
          <a:prstGeom prst="roundRect">
            <a:avLst>
              <a:gd name="adj" fmla="val 4878"/>
            </a:avLst>
          </a:prstGeom>
          <a:solidFill>
            <a:srgbClr val="F3F4F5"/>
          </a:solidFill>
          <a:ln/>
        </p:spPr>
      </p:sp>
      <p:sp>
        <p:nvSpPr>
          <p:cNvPr id="37" name="Text 30"/>
          <p:cNvSpPr/>
          <p:nvPr/>
        </p:nvSpPr>
        <p:spPr>
          <a:xfrm>
            <a:off x="8342376" y="4096512"/>
            <a:ext cx="640080" cy="502920"/>
          </a:xfrm>
          <a:prstGeom prst="rect">
            <a:avLst/>
          </a:prstGeom>
          <a:noFill/>
          <a:ln/>
        </p:spPr>
        <p:txBody>
          <a:bodyPr wrap="square" lIns="0" tIns="0" rIns="0" bIns="0" rtlCol="0" anchor="ctr"/>
          <a:lstStyle/>
          <a:p>
            <a:pPr indent="0" marL="0">
              <a:buNone/>
            </a:pPr>
            <a:r>
              <a:rPr lang="en-US" sz="2400" b="1" dirty="0">
                <a:solidFill>
                  <a:srgbClr val="E8491D"/>
                </a:solidFill>
                <a:latin typeface="Arial" pitchFamily="34" charset="0"/>
                <a:ea typeface="Arial" pitchFamily="34" charset="-122"/>
                <a:cs typeface="Arial" pitchFamily="34" charset="-120"/>
              </a:rPr>
              <a:t>6</a:t>
            </a:r>
            <a:endParaRPr lang="en-US" sz="2400" dirty="0"/>
          </a:p>
        </p:txBody>
      </p:sp>
      <p:sp>
        <p:nvSpPr>
          <p:cNvPr id="38" name="Shape 31"/>
          <p:cNvSpPr/>
          <p:nvPr/>
        </p:nvSpPr>
        <p:spPr>
          <a:xfrm>
            <a:off x="10881360" y="4114800"/>
            <a:ext cx="475488" cy="475488"/>
          </a:xfrm>
          <a:prstGeom prst="ellipse">
            <a:avLst/>
          </a:prstGeom>
          <a:solidFill>
            <a:srgbClr val="E8491D"/>
          </a:solidFill>
          <a:ln/>
        </p:spPr>
      </p:sp>
      <p:pic>
        <p:nvPicPr>
          <p:cNvPr id="39" name="Image 5" descr="/tmp/claude-0/-home-user-My-Future-Idaes/0806094f-208a-506e-82b2-f78683d50c82/scratchpad/icons/FaUndo_white.png">    </p:cNvPr>
          <p:cNvPicPr>
            <a:picLocks noChangeAspect="1"/>
          </p:cNvPicPr>
          <p:nvPr/>
        </p:nvPicPr>
        <p:blipFill>
          <a:blip r:embed="rId6"/>
          <a:stretch>
            <a:fillRect/>
          </a:stretch>
        </p:blipFill>
        <p:spPr>
          <a:xfrm>
            <a:off x="10995477" y="4228917"/>
            <a:ext cx="247254" cy="247254"/>
          </a:xfrm>
          <a:prstGeom prst="rect">
            <a:avLst/>
          </a:prstGeom>
        </p:spPr>
      </p:pic>
      <p:sp>
        <p:nvSpPr>
          <p:cNvPr id="40" name="Text 32"/>
          <p:cNvSpPr/>
          <p:nvPr/>
        </p:nvSpPr>
        <p:spPr>
          <a:xfrm>
            <a:off x="8342376" y="4645152"/>
            <a:ext cx="3051048" cy="320040"/>
          </a:xfrm>
          <a:prstGeom prst="rect">
            <a:avLst/>
          </a:prstGeom>
          <a:noFill/>
          <a:ln/>
        </p:spPr>
        <p:txBody>
          <a:bodyPr wrap="square" lIns="0" tIns="0" rIns="0" bIns="0" rtlCol="0" anchor="ctr"/>
          <a:lstStyle/>
          <a:p>
            <a:pPr indent="0" marL="0">
              <a:buNone/>
            </a:pPr>
            <a:r>
              <a:rPr lang="en-US" sz="1350" b="1" spc="100" kern="0" dirty="0">
                <a:solidFill>
                  <a:srgbClr val="1A2027"/>
                </a:solidFill>
                <a:latin typeface="Arial" pitchFamily="34" charset="0"/>
                <a:ea typeface="Arial" pitchFamily="34" charset="-122"/>
                <a:cs typeface="Arial" pitchFamily="34" charset="-120"/>
              </a:rPr>
              <a:t>DEBRIEF</a:t>
            </a:r>
            <a:endParaRPr lang="en-US" sz="1350" dirty="0"/>
          </a:p>
        </p:txBody>
      </p:sp>
      <p:sp>
        <p:nvSpPr>
          <p:cNvPr id="41" name="Text 33"/>
          <p:cNvSpPr/>
          <p:nvPr/>
        </p:nvSpPr>
        <p:spPr>
          <a:xfrm>
            <a:off x="8342376" y="4983480"/>
            <a:ext cx="3051048" cy="777240"/>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Hot debrief in 10 minutes while memory is fresh: keep / change / never again.</a:t>
            </a:r>
            <a:endParaRPr lang="en-US" sz="10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69</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6</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What the assessors are watching</a:t>
            </a:r>
            <a:endParaRPr lang="en-US" sz="30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594360" y="1691640"/>
          <a:ext cx="11000232" cy="914400"/>
        </p:xfrm>
        <a:graphic>
          <a:graphicData uri="http://schemas.openxmlformats.org/drawingml/2006/table">
            <a:tbl>
              <a:tblPr/>
              <a:tblGrid>
                <a:gridCol w="2834640"/>
                <a:gridCol w="6976872"/>
                <a:gridCol w="1188720"/>
              </a:tblGrid>
              <a:tr h="502920">
                <a:tc>
                  <a:txBody>
                    <a:bodyPr/>
                    <a:lstStyle/>
                    <a:p>
                      <a:pPr indent="0" marL="0">
                        <a:buNone/>
                      </a:pPr>
                      <a:r>
                        <a:rPr lang="en-US" sz="1100" b="1" dirty="0">
                          <a:solidFill>
                            <a:srgbClr val="FFFFFF"/>
                          </a:solidFill>
                          <a:latin typeface="Arial" pitchFamily="34" charset="0"/>
                          <a:ea typeface="Arial" pitchFamily="34" charset="-122"/>
                          <a:cs typeface="Arial" pitchFamily="34" charset="-120"/>
                        </a:rPr>
                        <a:t>COMPETENCY</a:t>
                      </a:r>
                      <a:endParaRPr lang="en-US" sz="1100" dirty="0">
                        <a:latin typeface="Arial" charset="0"/>
                        <a:ea typeface="Arial" charset="0"/>
                        <a:cs typeface="Arial" charset="0"/>
                      </a:endParaRPr>
                    </a:p>
                  </a:txBody>
                  <a:tcPr marL="64008" marR="64008" marT="64008" marB="64008"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14181C"/>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WHAT “GOOD” LOOKS LIKE IN THE EXERCISE</a:t>
                      </a:r>
                      <a:endParaRPr lang="en-US" sz="1100" dirty="0">
                        <a:latin typeface="Arial" charset="0"/>
                        <a:ea typeface="Arial" charset="0"/>
                        <a:cs typeface="Arial" charset="0"/>
                      </a:endParaRPr>
                    </a:p>
                  </a:txBody>
                  <a:tcPr marL="64008" marR="64008" marT="64008" marB="64008"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14181C"/>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MODULE</a:t>
                      </a:r>
                      <a:endParaRPr lang="en-US" sz="1100" dirty="0">
                        <a:latin typeface="Arial" charset="0"/>
                        <a:ea typeface="Arial" charset="0"/>
                        <a:cs typeface="Arial" charset="0"/>
                      </a:endParaRPr>
                    </a:p>
                  </a:txBody>
                  <a:tcPr marL="64008" marR="64008" marT="64008" marB="64008"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14181C"/>
                    </a:solidFill>
                  </a:tcPr>
                </a:tc>
              </a:tr>
              <a:tr h="502920">
                <a:tc>
                  <a:txBody>
                    <a:bodyPr/>
                    <a:lstStyle/>
                    <a:p>
                      <a:pPr indent="0" marL="0">
                        <a:buNone/>
                      </a:pPr>
                      <a:r>
                        <a:rPr lang="en-US" sz="1100" b="1" dirty="0">
                          <a:solidFill>
                            <a:srgbClr val="C13415"/>
                          </a:solidFill>
                          <a:latin typeface="Arial" pitchFamily="34" charset="0"/>
                          <a:ea typeface="Arial" pitchFamily="34" charset="-122"/>
                          <a:cs typeface="Arial" pitchFamily="34" charset="-120"/>
                        </a:rPr>
                        <a:t>Command presence</a:t>
                      </a:r>
                      <a:endParaRPr lang="en-US" sz="1100" dirty="0">
                        <a:latin typeface="Arial" charset="0"/>
                        <a:ea typeface="Arial" charset="0"/>
                        <a:cs typeface="Arial" charset="0"/>
                      </a:endParaRPr>
                    </a:p>
                  </a:txBody>
                  <a:tcPr marL="64008" marR="64008" marT="64008" marB="64008"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050" dirty="0">
                          <a:solidFill>
                            <a:srgbClr val="1A2027"/>
                          </a:solidFill>
                          <a:latin typeface="Arial" pitchFamily="34" charset="0"/>
                          <a:ea typeface="Arial" pitchFamily="34" charset="-122"/>
                          <a:cs typeface="Arial" pitchFamily="34" charset="-120"/>
                        </a:rPr>
                        <a:t>Takes and holds command; visible, audible, calm under injects</a:t>
                      </a:r>
                      <a:endParaRPr lang="en-US" sz="1050" dirty="0">
                        <a:latin typeface="Arial" charset="0"/>
                        <a:ea typeface="Arial" charset="0"/>
                        <a:cs typeface="Arial" charset="0"/>
                      </a:endParaRPr>
                    </a:p>
                  </a:txBody>
                  <a:tcPr marL="64008" marR="64008" marT="64008" marB="64008"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5A646C"/>
                          </a:solidFill>
                          <a:latin typeface="Arial" pitchFamily="34" charset="0"/>
                          <a:ea typeface="Arial" pitchFamily="34" charset="-122"/>
                          <a:cs typeface="Arial" pitchFamily="34" charset="-120"/>
                        </a:rPr>
                        <a:t>M1</a:t>
                      </a:r>
                      <a:endParaRPr lang="en-US" sz="1050" dirty="0">
                        <a:latin typeface="Arial" charset="0"/>
                        <a:ea typeface="Arial" charset="0"/>
                        <a:cs typeface="Arial" charset="0"/>
                      </a:endParaRPr>
                    </a:p>
                  </a:txBody>
                  <a:tcPr marL="64008" marR="64008" marT="64008" marB="64008"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C13415"/>
                          </a:solidFill>
                          <a:latin typeface="Arial" pitchFamily="34" charset="0"/>
                          <a:ea typeface="Arial" pitchFamily="34" charset="-122"/>
                          <a:cs typeface="Arial" pitchFamily="34" charset="-120"/>
                        </a:rPr>
                        <a:t>Decision-making</a:t>
                      </a:r>
                      <a:endParaRPr lang="en-US" sz="1100" dirty="0">
                        <a:latin typeface="Arial" charset="0"/>
                        <a:ea typeface="Arial" charset="0"/>
                        <a:cs typeface="Arial" charset="0"/>
                      </a:endParaRPr>
                    </a:p>
                  </a:txBody>
                  <a:tcPr marL="64008" marR="64008" marT="64008" marB="64008"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indent="0" marL="0">
                        <a:buNone/>
                      </a:pPr>
                      <a:r>
                        <a:rPr lang="en-US" sz="1050" dirty="0">
                          <a:solidFill>
                            <a:srgbClr val="1A2027"/>
                          </a:solidFill>
                          <a:latin typeface="Arial" pitchFamily="34" charset="0"/>
                          <a:ea typeface="Arial" pitchFamily="34" charset="-122"/>
                          <a:cs typeface="Arial" pitchFamily="34" charset="-120"/>
                        </a:rPr>
                        <a:t>OODA tempo; 70% rule; decisions announced and revisited</a:t>
                      </a:r>
                      <a:endParaRPr lang="en-US" sz="1050" dirty="0">
                        <a:latin typeface="Arial" charset="0"/>
                        <a:ea typeface="Arial" charset="0"/>
                        <a:cs typeface="Arial" charset="0"/>
                      </a:endParaRPr>
                    </a:p>
                  </a:txBody>
                  <a:tcPr marL="64008" marR="64008" marT="64008" marB="64008"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algn="ctr" indent="0" marL="0">
                        <a:buNone/>
                      </a:pPr>
                      <a:r>
                        <a:rPr lang="en-US" sz="1050" dirty="0">
                          <a:solidFill>
                            <a:srgbClr val="5A646C"/>
                          </a:solidFill>
                          <a:latin typeface="Arial" pitchFamily="34" charset="0"/>
                          <a:ea typeface="Arial" pitchFamily="34" charset="-122"/>
                          <a:cs typeface="Arial" pitchFamily="34" charset="-120"/>
                        </a:rPr>
                        <a:t>M1</a:t>
                      </a:r>
                      <a:endParaRPr lang="en-US" sz="1050" dirty="0">
                        <a:latin typeface="Arial" charset="0"/>
                        <a:ea typeface="Arial" charset="0"/>
                        <a:cs typeface="Arial" charset="0"/>
                      </a:endParaRPr>
                    </a:p>
                  </a:txBody>
                  <a:tcPr marL="64008" marR="64008" marT="64008" marB="64008"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r>
              <a:tr h="502920">
                <a:tc>
                  <a:txBody>
                    <a:bodyPr/>
                    <a:lstStyle/>
                    <a:p>
                      <a:pPr indent="0" marL="0">
                        <a:buNone/>
                      </a:pPr>
                      <a:r>
                        <a:rPr lang="en-US" sz="1100" b="1" dirty="0">
                          <a:solidFill>
                            <a:srgbClr val="C13415"/>
                          </a:solidFill>
                          <a:latin typeface="Arial" pitchFamily="34" charset="0"/>
                          <a:ea typeface="Arial" pitchFamily="34" charset="-122"/>
                          <a:cs typeface="Arial" pitchFamily="34" charset="-120"/>
                        </a:rPr>
                        <a:t>Human factors leadership</a:t>
                      </a:r>
                      <a:endParaRPr lang="en-US" sz="1100" dirty="0">
                        <a:latin typeface="Arial" charset="0"/>
                        <a:ea typeface="Arial" charset="0"/>
                        <a:cs typeface="Arial" charset="0"/>
                      </a:endParaRPr>
                    </a:p>
                  </a:txBody>
                  <a:tcPr marL="64008" marR="64008" marT="64008" marB="64008"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050" dirty="0">
                          <a:solidFill>
                            <a:srgbClr val="1A2027"/>
                          </a:solidFill>
                          <a:latin typeface="Arial" pitchFamily="34" charset="0"/>
                          <a:ea typeface="Arial" pitchFamily="34" charset="-122"/>
                          <a:cs typeface="Arial" pitchFamily="34" charset="-120"/>
                        </a:rPr>
                        <a:t>Detects stress/panic; intervenes by name and task; enforces discipline</a:t>
                      </a:r>
                      <a:endParaRPr lang="en-US" sz="1050" dirty="0">
                        <a:latin typeface="Arial" charset="0"/>
                        <a:ea typeface="Arial" charset="0"/>
                        <a:cs typeface="Arial" charset="0"/>
                      </a:endParaRPr>
                    </a:p>
                  </a:txBody>
                  <a:tcPr marL="64008" marR="64008" marT="64008" marB="64008"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5A646C"/>
                          </a:solidFill>
                          <a:latin typeface="Arial" pitchFamily="34" charset="0"/>
                          <a:ea typeface="Arial" pitchFamily="34" charset="-122"/>
                          <a:cs typeface="Arial" pitchFamily="34" charset="-120"/>
                        </a:rPr>
                        <a:t>M2</a:t>
                      </a:r>
                      <a:endParaRPr lang="en-US" sz="1050" dirty="0">
                        <a:latin typeface="Arial" charset="0"/>
                        <a:ea typeface="Arial" charset="0"/>
                        <a:cs typeface="Arial" charset="0"/>
                      </a:endParaRPr>
                    </a:p>
                  </a:txBody>
                  <a:tcPr marL="64008" marR="64008" marT="64008" marB="64008"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C13415"/>
                          </a:solidFill>
                          <a:latin typeface="Arial" pitchFamily="34" charset="0"/>
                          <a:ea typeface="Arial" pitchFamily="34" charset="-122"/>
                          <a:cs typeface="Arial" pitchFamily="34" charset="-120"/>
                        </a:rPr>
                        <a:t>Tactical judgment</a:t>
                      </a:r>
                      <a:endParaRPr lang="en-US" sz="1100" dirty="0">
                        <a:latin typeface="Arial" charset="0"/>
                        <a:ea typeface="Arial" charset="0"/>
                        <a:cs typeface="Arial" charset="0"/>
                      </a:endParaRPr>
                    </a:p>
                  </a:txBody>
                  <a:tcPr marL="64008" marR="64008" marT="64008" marB="64008"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indent="0" marL="0">
                        <a:buNone/>
                      </a:pPr>
                      <a:r>
                        <a:rPr lang="en-US" sz="1050" dirty="0">
                          <a:solidFill>
                            <a:srgbClr val="1A2027"/>
                          </a:solidFill>
                          <a:latin typeface="Arial" pitchFamily="34" charset="0"/>
                          <a:ea typeface="Arial" pitchFamily="34" charset="-122"/>
                          <a:cs typeface="Arial" pitchFamily="34" charset="-120"/>
                        </a:rPr>
                        <a:t>Size-up quality; DRA; correct mode; resource logic</a:t>
                      </a:r>
                      <a:endParaRPr lang="en-US" sz="1050" dirty="0">
                        <a:latin typeface="Arial" charset="0"/>
                        <a:ea typeface="Arial" charset="0"/>
                        <a:cs typeface="Arial" charset="0"/>
                      </a:endParaRPr>
                    </a:p>
                  </a:txBody>
                  <a:tcPr marL="64008" marR="64008" marT="64008" marB="64008"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algn="ctr" indent="0" marL="0">
                        <a:buNone/>
                      </a:pPr>
                      <a:r>
                        <a:rPr lang="en-US" sz="1050" dirty="0">
                          <a:solidFill>
                            <a:srgbClr val="5A646C"/>
                          </a:solidFill>
                          <a:latin typeface="Arial" pitchFamily="34" charset="0"/>
                          <a:ea typeface="Arial" pitchFamily="34" charset="-122"/>
                          <a:cs typeface="Arial" pitchFamily="34" charset="-120"/>
                        </a:rPr>
                        <a:t>M3</a:t>
                      </a:r>
                      <a:endParaRPr lang="en-US" sz="1050" dirty="0">
                        <a:latin typeface="Arial" charset="0"/>
                        <a:ea typeface="Arial" charset="0"/>
                        <a:cs typeface="Arial" charset="0"/>
                      </a:endParaRPr>
                    </a:p>
                  </a:txBody>
                  <a:tcPr marL="64008" marR="64008" marT="64008" marB="64008"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r>
              <a:tr h="502920">
                <a:tc>
                  <a:txBody>
                    <a:bodyPr/>
                    <a:lstStyle/>
                    <a:p>
                      <a:pPr indent="0" marL="0">
                        <a:buNone/>
                      </a:pPr>
                      <a:r>
                        <a:rPr lang="en-US" sz="1100" b="1" dirty="0">
                          <a:solidFill>
                            <a:srgbClr val="C13415"/>
                          </a:solidFill>
                          <a:latin typeface="Arial" pitchFamily="34" charset="0"/>
                          <a:ea typeface="Arial" pitchFamily="34" charset="-122"/>
                          <a:cs typeface="Arial" pitchFamily="34" charset="-120"/>
                        </a:rPr>
                        <a:t>Communications</a:t>
                      </a:r>
                      <a:endParaRPr lang="en-US" sz="1100" dirty="0">
                        <a:latin typeface="Arial" charset="0"/>
                        <a:ea typeface="Arial" charset="0"/>
                        <a:cs typeface="Arial" charset="0"/>
                      </a:endParaRPr>
                    </a:p>
                  </a:txBody>
                  <a:tcPr marL="64008" marR="64008" marT="64008" marB="64008"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050" dirty="0">
                          <a:solidFill>
                            <a:srgbClr val="1A2027"/>
                          </a:solidFill>
                          <a:latin typeface="Arial" pitchFamily="34" charset="0"/>
                          <a:ea typeface="Arial" pitchFamily="34" charset="-122"/>
                          <a:cs typeface="Arial" pitchFamily="34" charset="-120"/>
                        </a:rPr>
                        <a:t>Closed loop; CAN SITREPs; radio discipline under load</a:t>
                      </a:r>
                      <a:endParaRPr lang="en-US" sz="1050" dirty="0">
                        <a:latin typeface="Arial" charset="0"/>
                        <a:ea typeface="Arial" charset="0"/>
                        <a:cs typeface="Arial" charset="0"/>
                      </a:endParaRPr>
                    </a:p>
                  </a:txBody>
                  <a:tcPr marL="64008" marR="64008" marT="64008" marB="64008"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5A646C"/>
                          </a:solidFill>
                          <a:latin typeface="Arial" pitchFamily="34" charset="0"/>
                          <a:ea typeface="Arial" pitchFamily="34" charset="-122"/>
                          <a:cs typeface="Arial" pitchFamily="34" charset="-120"/>
                        </a:rPr>
                        <a:t>M4</a:t>
                      </a:r>
                      <a:endParaRPr lang="en-US" sz="1050" dirty="0">
                        <a:latin typeface="Arial" charset="0"/>
                        <a:ea typeface="Arial" charset="0"/>
                        <a:cs typeface="Arial" charset="0"/>
                      </a:endParaRPr>
                    </a:p>
                  </a:txBody>
                  <a:tcPr marL="64008" marR="64008" marT="64008" marB="64008"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C13415"/>
                          </a:solidFill>
                          <a:latin typeface="Arial" pitchFamily="34" charset="0"/>
                          <a:ea typeface="Arial" pitchFamily="34" charset="-122"/>
                          <a:cs typeface="Arial" pitchFamily="34" charset="-120"/>
                        </a:rPr>
                        <a:t>Command &amp; control</a:t>
                      </a:r>
                      <a:endParaRPr lang="en-US" sz="1100" dirty="0">
                        <a:latin typeface="Arial" charset="0"/>
                        <a:ea typeface="Arial" charset="0"/>
                        <a:cs typeface="Arial" charset="0"/>
                      </a:endParaRPr>
                    </a:p>
                  </a:txBody>
                  <a:tcPr marL="64008" marR="64008" marT="64008" marB="64008"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indent="0" marL="0">
                        <a:buNone/>
                      </a:pPr>
                      <a:r>
                        <a:rPr lang="en-US" sz="1050" dirty="0">
                          <a:solidFill>
                            <a:srgbClr val="1A2027"/>
                          </a:solidFill>
                          <a:latin typeface="Arial" pitchFamily="34" charset="0"/>
                          <a:ea typeface="Arial" pitchFamily="34" charset="-122"/>
                          <a:cs typeface="Arial" pitchFamily="34" charset="-120"/>
                        </a:rPr>
                        <a:t>ICS structure; zones; accountability and PAR without gaps</a:t>
                      </a:r>
                      <a:endParaRPr lang="en-US" sz="1050" dirty="0">
                        <a:latin typeface="Arial" charset="0"/>
                        <a:ea typeface="Arial" charset="0"/>
                        <a:cs typeface="Arial" charset="0"/>
                      </a:endParaRPr>
                    </a:p>
                  </a:txBody>
                  <a:tcPr marL="64008" marR="64008" marT="64008" marB="64008"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algn="ctr" indent="0" marL="0">
                        <a:buNone/>
                      </a:pPr>
                      <a:r>
                        <a:rPr lang="en-US" sz="1050" dirty="0">
                          <a:solidFill>
                            <a:srgbClr val="5A646C"/>
                          </a:solidFill>
                          <a:latin typeface="Arial" pitchFamily="34" charset="0"/>
                          <a:ea typeface="Arial" pitchFamily="34" charset="-122"/>
                          <a:cs typeface="Arial" pitchFamily="34" charset="-120"/>
                        </a:rPr>
                        <a:t>M5</a:t>
                      </a:r>
                      <a:endParaRPr lang="en-US" sz="1050" dirty="0">
                        <a:latin typeface="Arial" charset="0"/>
                        <a:ea typeface="Arial" charset="0"/>
                        <a:cs typeface="Arial" charset="0"/>
                      </a:endParaRPr>
                    </a:p>
                  </a:txBody>
                  <a:tcPr marL="64008" marR="64008" marT="64008" marB="64008"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r>
              <a:tr h="502920">
                <a:tc>
                  <a:txBody>
                    <a:bodyPr/>
                    <a:lstStyle/>
                    <a:p>
                      <a:pPr indent="0" marL="0">
                        <a:buNone/>
                      </a:pPr>
                      <a:r>
                        <a:rPr lang="en-US" sz="1100" b="1" dirty="0">
                          <a:solidFill>
                            <a:srgbClr val="C13415"/>
                          </a:solidFill>
                          <a:latin typeface="Arial" pitchFamily="34" charset="0"/>
                          <a:ea typeface="Arial" pitchFamily="34" charset="-122"/>
                          <a:cs typeface="Arial" pitchFamily="34" charset="-120"/>
                        </a:rPr>
                        <a:t>Debrief contribution</a:t>
                      </a:r>
                      <a:endParaRPr lang="en-US" sz="1100" dirty="0">
                        <a:latin typeface="Arial" charset="0"/>
                        <a:ea typeface="Arial" charset="0"/>
                        <a:cs typeface="Arial" charset="0"/>
                      </a:endParaRPr>
                    </a:p>
                  </a:txBody>
                  <a:tcPr marL="64008" marR="64008" marT="64008" marB="64008"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050" dirty="0">
                          <a:solidFill>
                            <a:srgbClr val="1A2027"/>
                          </a:solidFill>
                          <a:latin typeface="Arial" pitchFamily="34" charset="0"/>
                          <a:ea typeface="Arial" pitchFamily="34" charset="-122"/>
                          <a:cs typeface="Arial" pitchFamily="34" charset="-120"/>
                        </a:rPr>
                        <a:t>Honest self-review; converts lessons into actions</a:t>
                      </a:r>
                      <a:endParaRPr lang="en-US" sz="1050" dirty="0">
                        <a:latin typeface="Arial" charset="0"/>
                        <a:ea typeface="Arial" charset="0"/>
                        <a:cs typeface="Arial" charset="0"/>
                      </a:endParaRPr>
                    </a:p>
                  </a:txBody>
                  <a:tcPr marL="64008" marR="64008" marT="64008" marB="64008"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5A646C"/>
                          </a:solidFill>
                          <a:latin typeface="Arial" pitchFamily="34" charset="0"/>
                          <a:ea typeface="Arial" pitchFamily="34" charset="-122"/>
                          <a:cs typeface="Arial" pitchFamily="34" charset="-120"/>
                        </a:rPr>
                        <a:t>M6</a:t>
                      </a:r>
                      <a:endParaRPr lang="en-US" sz="1050" dirty="0">
                        <a:latin typeface="Arial" charset="0"/>
                        <a:ea typeface="Arial" charset="0"/>
                        <a:cs typeface="Arial" charset="0"/>
                      </a:endParaRPr>
                    </a:p>
                  </a:txBody>
                  <a:tcPr marL="64008" marR="64008" marT="64008" marB="64008"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70</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6</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The debrief: where experience becomes skill</a:t>
            </a:r>
            <a:endParaRPr lang="en-US" sz="3000" dirty="0"/>
          </a:p>
        </p:txBody>
      </p:sp>
      <p:pic>
        <p:nvPicPr>
          <p:cNvPr id="6" name="Image 0" descr="/home/user/My-Future-Idaes/SANAD-Fire-Team-Leader-Course/assets/img/debrief.jpg">    </p:cNvPr>
          <p:cNvPicPr>
            <a:picLocks noChangeAspect="1"/>
          </p:cNvPicPr>
          <p:nvPr/>
        </p:nvPicPr>
        <p:blipFill>
          <a:blip r:embed="rId1"/>
          <a:srcRect l="0" r="0" t="0" b="0"/>
          <a:stretch/>
        </p:blipFill>
        <p:spPr>
          <a:xfrm>
            <a:off x="7040880" y="1645920"/>
            <a:ext cx="4572000" cy="2926080"/>
          </a:xfrm>
          <a:prstGeom prst="rect">
            <a:avLst/>
          </a:prstGeom>
        </p:spPr>
      </p:pic>
      <p:sp>
        <p:nvSpPr>
          <p:cNvPr id="7" name="Shape 4"/>
          <p:cNvSpPr/>
          <p:nvPr/>
        </p:nvSpPr>
        <p:spPr>
          <a:xfrm>
            <a:off x="594360" y="1783080"/>
            <a:ext cx="6080760" cy="1261872"/>
          </a:xfrm>
          <a:prstGeom prst="roundRect">
            <a:avLst>
              <a:gd name="adj" fmla="val 7246"/>
            </a:avLst>
          </a:prstGeom>
          <a:solidFill>
            <a:srgbClr val="F3F4F5"/>
          </a:solidFill>
          <a:ln/>
        </p:spPr>
      </p:sp>
      <p:sp>
        <p:nvSpPr>
          <p:cNvPr id="8" name="Shape 5"/>
          <p:cNvSpPr/>
          <p:nvPr/>
        </p:nvSpPr>
        <p:spPr>
          <a:xfrm>
            <a:off x="795528" y="1965960"/>
            <a:ext cx="475488" cy="475488"/>
          </a:xfrm>
          <a:prstGeom prst="ellipse">
            <a:avLst/>
          </a:prstGeom>
          <a:solidFill>
            <a:srgbClr val="E8491D"/>
          </a:solidFill>
          <a:ln/>
        </p:spPr>
      </p:sp>
      <p:pic>
        <p:nvPicPr>
          <p:cNvPr id="9" name="Image 1" descr="/tmp/claude-0/-home-user-My-Future-Idaes/0806094f-208a-506e-82b2-f78683d50c82/scratchpad/icons/FaFire_white.png">    </p:cNvPr>
          <p:cNvPicPr>
            <a:picLocks noChangeAspect="1"/>
          </p:cNvPicPr>
          <p:nvPr/>
        </p:nvPicPr>
        <p:blipFill>
          <a:blip r:embed="rId2"/>
          <a:stretch>
            <a:fillRect/>
          </a:stretch>
        </p:blipFill>
        <p:spPr>
          <a:xfrm>
            <a:off x="909645" y="2080077"/>
            <a:ext cx="247254" cy="247254"/>
          </a:xfrm>
          <a:prstGeom prst="rect">
            <a:avLst/>
          </a:prstGeom>
        </p:spPr>
      </p:pic>
      <p:sp>
        <p:nvSpPr>
          <p:cNvPr id="10" name="Text 6"/>
          <p:cNvSpPr/>
          <p:nvPr/>
        </p:nvSpPr>
        <p:spPr>
          <a:xfrm>
            <a:off x="1417320" y="1911096"/>
            <a:ext cx="5029200" cy="365760"/>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Hot debrief (on scene, 10 min)</a:t>
            </a:r>
            <a:endParaRPr lang="en-US" sz="1250" dirty="0"/>
          </a:p>
        </p:txBody>
      </p:sp>
      <p:sp>
        <p:nvSpPr>
          <p:cNvPr id="11" name="Text 7"/>
          <p:cNvSpPr/>
          <p:nvPr/>
        </p:nvSpPr>
        <p:spPr>
          <a:xfrm>
            <a:off x="1417320" y="2286000"/>
            <a:ext cx="5074920" cy="713232"/>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Immediately after termination, gear still on: what happened, what surprised us, any safety issues. Facts only.</a:t>
            </a:r>
            <a:endParaRPr lang="en-US" sz="1000" dirty="0"/>
          </a:p>
        </p:txBody>
      </p:sp>
      <p:sp>
        <p:nvSpPr>
          <p:cNvPr id="12" name="Shape 8"/>
          <p:cNvSpPr/>
          <p:nvPr/>
        </p:nvSpPr>
        <p:spPr>
          <a:xfrm>
            <a:off x="594360" y="3200400"/>
            <a:ext cx="6080760" cy="1261872"/>
          </a:xfrm>
          <a:prstGeom prst="roundRect">
            <a:avLst>
              <a:gd name="adj" fmla="val 7246"/>
            </a:avLst>
          </a:prstGeom>
          <a:solidFill>
            <a:srgbClr val="F3F4F5"/>
          </a:solidFill>
          <a:ln/>
        </p:spPr>
      </p:sp>
      <p:sp>
        <p:nvSpPr>
          <p:cNvPr id="13" name="Shape 9"/>
          <p:cNvSpPr/>
          <p:nvPr/>
        </p:nvSpPr>
        <p:spPr>
          <a:xfrm>
            <a:off x="795528" y="3383280"/>
            <a:ext cx="475488" cy="475488"/>
          </a:xfrm>
          <a:prstGeom prst="ellipse">
            <a:avLst/>
          </a:prstGeom>
          <a:solidFill>
            <a:srgbClr val="E8491D"/>
          </a:solidFill>
          <a:ln/>
        </p:spPr>
      </p:sp>
      <p:pic>
        <p:nvPicPr>
          <p:cNvPr id="14" name="Image 2" descr="/tmp/claude-0/-home-user-My-Future-Idaes/0806094f-208a-506e-82b2-f78683d50c82/scratchpad/icons/FaComments_white.png">    </p:cNvPr>
          <p:cNvPicPr>
            <a:picLocks noChangeAspect="1"/>
          </p:cNvPicPr>
          <p:nvPr/>
        </p:nvPicPr>
        <p:blipFill>
          <a:blip r:embed="rId3"/>
          <a:stretch>
            <a:fillRect/>
          </a:stretch>
        </p:blipFill>
        <p:spPr>
          <a:xfrm>
            <a:off x="909645" y="3497397"/>
            <a:ext cx="247254" cy="247254"/>
          </a:xfrm>
          <a:prstGeom prst="rect">
            <a:avLst/>
          </a:prstGeom>
        </p:spPr>
      </p:pic>
      <p:sp>
        <p:nvSpPr>
          <p:cNvPr id="15" name="Text 10"/>
          <p:cNvSpPr/>
          <p:nvPr/>
        </p:nvSpPr>
        <p:spPr>
          <a:xfrm>
            <a:off x="1417320" y="3328416"/>
            <a:ext cx="5029200" cy="365760"/>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Cold debrief (structured, 60 min)</a:t>
            </a:r>
            <a:endParaRPr lang="en-US" sz="1250" dirty="0"/>
          </a:p>
        </p:txBody>
      </p:sp>
      <p:sp>
        <p:nvSpPr>
          <p:cNvPr id="16" name="Text 11"/>
          <p:cNvSpPr/>
          <p:nvPr/>
        </p:nvSpPr>
        <p:spPr>
          <a:xfrm>
            <a:off x="1417320" y="3703320"/>
            <a:ext cx="5074920" cy="713232"/>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Timeline reconstruction, decision review at each gate, assessor observations, peer feedback — no blame, full honesty.</a:t>
            </a:r>
            <a:endParaRPr lang="en-US" sz="1000" dirty="0"/>
          </a:p>
        </p:txBody>
      </p:sp>
      <p:sp>
        <p:nvSpPr>
          <p:cNvPr id="17" name="Shape 12"/>
          <p:cNvSpPr/>
          <p:nvPr/>
        </p:nvSpPr>
        <p:spPr>
          <a:xfrm>
            <a:off x="594360" y="4617720"/>
            <a:ext cx="6080760" cy="1261872"/>
          </a:xfrm>
          <a:prstGeom prst="roundRect">
            <a:avLst>
              <a:gd name="adj" fmla="val 7246"/>
            </a:avLst>
          </a:prstGeom>
          <a:solidFill>
            <a:srgbClr val="F3F4F5"/>
          </a:solidFill>
          <a:ln/>
        </p:spPr>
      </p:sp>
      <p:sp>
        <p:nvSpPr>
          <p:cNvPr id="18" name="Shape 13"/>
          <p:cNvSpPr/>
          <p:nvPr/>
        </p:nvSpPr>
        <p:spPr>
          <a:xfrm>
            <a:off x="795528" y="4800600"/>
            <a:ext cx="475488" cy="475488"/>
          </a:xfrm>
          <a:prstGeom prst="ellipse">
            <a:avLst/>
          </a:prstGeom>
          <a:solidFill>
            <a:srgbClr val="E8491D"/>
          </a:solidFill>
          <a:ln/>
        </p:spPr>
      </p:sp>
      <p:pic>
        <p:nvPicPr>
          <p:cNvPr id="19" name="Image 3" descr="/tmp/claude-0/-home-user-My-Future-Idaes/0806094f-208a-506e-82b2-f78683d50c82/scratchpad/icons/FaChartLine_white.png">    </p:cNvPr>
          <p:cNvPicPr>
            <a:picLocks noChangeAspect="1"/>
          </p:cNvPicPr>
          <p:nvPr/>
        </p:nvPicPr>
        <p:blipFill>
          <a:blip r:embed="rId4"/>
          <a:stretch>
            <a:fillRect/>
          </a:stretch>
        </p:blipFill>
        <p:spPr>
          <a:xfrm>
            <a:off x="909645" y="4914717"/>
            <a:ext cx="247254" cy="247254"/>
          </a:xfrm>
          <a:prstGeom prst="rect">
            <a:avLst/>
          </a:prstGeom>
        </p:spPr>
      </p:pic>
      <p:sp>
        <p:nvSpPr>
          <p:cNvPr id="20" name="Text 14"/>
          <p:cNvSpPr/>
          <p:nvPr/>
        </p:nvSpPr>
        <p:spPr>
          <a:xfrm>
            <a:off x="1417320" y="4745736"/>
            <a:ext cx="5029200" cy="365760"/>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Lessons into actions</a:t>
            </a:r>
            <a:endParaRPr lang="en-US" sz="1250" dirty="0"/>
          </a:p>
        </p:txBody>
      </p:sp>
      <p:sp>
        <p:nvSpPr>
          <p:cNvPr id="21" name="Text 15"/>
          <p:cNvSpPr/>
          <p:nvPr/>
        </p:nvSpPr>
        <p:spPr>
          <a:xfrm>
            <a:off x="1417320" y="5120640"/>
            <a:ext cx="5074920" cy="713232"/>
          </a:xfrm>
          <a:prstGeom prst="rect">
            <a:avLst/>
          </a:prstGeom>
          <a:noFill/>
          <a:ln/>
        </p:spPr>
        <p:txBody>
          <a:bodyPr wrap="square" lIns="0" tIns="0" rIns="0" bIns="0" rtlCol="0" anchor="ctr"/>
          <a:lstStyle/>
          <a:p>
            <a:pPr indent="0" marL="0">
              <a:buNone/>
            </a:pPr>
            <a:r>
              <a:rPr lang="en-US" sz="1000" dirty="0">
                <a:solidFill>
                  <a:srgbClr val="5A646C"/>
                </a:solidFill>
                <a:latin typeface="Arial" pitchFamily="34" charset="0"/>
                <a:ea typeface="Arial" pitchFamily="34" charset="-122"/>
                <a:cs typeface="Arial" pitchFamily="34" charset="-120"/>
              </a:rPr>
              <a:t>Every finding becomes an owner + an action: a drill to run, an SOP to fix, a pre-plan to update on YOUR rig.</a:t>
            </a:r>
            <a:endParaRPr lang="en-US" sz="1000" dirty="0"/>
          </a:p>
        </p:txBody>
      </p:sp>
      <p:sp>
        <p:nvSpPr>
          <p:cNvPr id="22" name="Shape 16"/>
          <p:cNvSpPr/>
          <p:nvPr/>
        </p:nvSpPr>
        <p:spPr>
          <a:xfrm>
            <a:off x="7040880" y="4754880"/>
            <a:ext cx="4572000" cy="1325880"/>
          </a:xfrm>
          <a:prstGeom prst="roundRect">
            <a:avLst>
              <a:gd name="adj" fmla="val 6897"/>
            </a:avLst>
          </a:prstGeom>
          <a:solidFill>
            <a:srgbClr val="14181C"/>
          </a:solidFill>
          <a:ln/>
        </p:spPr>
      </p:sp>
      <p:sp>
        <p:nvSpPr>
          <p:cNvPr id="23" name="Text 17"/>
          <p:cNvSpPr/>
          <p:nvPr/>
        </p:nvSpPr>
        <p:spPr>
          <a:xfrm>
            <a:off x="7269480" y="4864608"/>
            <a:ext cx="4114800" cy="1097280"/>
          </a:xfrm>
          <a:prstGeom prst="rect">
            <a:avLst/>
          </a:prstGeom>
          <a:noFill/>
          <a:ln/>
        </p:spPr>
        <p:txBody>
          <a:bodyPr wrap="square" lIns="0" tIns="0" rIns="0" bIns="0" rtlCol="0" anchor="ctr"/>
          <a:lstStyle/>
          <a:p>
            <a:pPr indent="0" marL="0">
              <a:buNone/>
            </a:pPr>
            <a:r>
              <a:rPr lang="en-US" sz="1250" b="1" dirty="0">
                <a:solidFill>
                  <a:srgbClr val="F5A623"/>
                </a:solidFill>
                <a:latin typeface="Arial" pitchFamily="34" charset="0"/>
                <a:ea typeface="Arial" pitchFamily="34" charset="-122"/>
                <a:cs typeface="Arial" pitchFamily="34" charset="-120"/>
              </a:rPr>
              <a:t>Blame-free is not consequence-free.
</a:t>
            </a:r>
            <a:pPr indent="0" marL="0">
              <a:buNone/>
            </a:pPr>
            <a:r>
              <a:rPr lang="en-US" sz="1050" dirty="0">
                <a:solidFill>
                  <a:srgbClr val="D9DEE2"/>
                </a:solidFill>
                <a:latin typeface="Arial" pitchFamily="34" charset="0"/>
                <a:ea typeface="Arial" pitchFamily="34" charset="-122"/>
                <a:cs typeface="Arial" pitchFamily="34" charset="-120"/>
              </a:rPr>
              <a:t>We are ruthless about the decision and generous with the decider. That is how teams learn to tell the truth fast.</a:t>
            </a:r>
            <a:endParaRPr lang="en-US" sz="12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71</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MODULE 6</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Feedback that lands: the debrief skill</a:t>
            </a:r>
            <a:endParaRPr lang="en-US" sz="3000" dirty="0"/>
          </a:p>
        </p:txBody>
      </p:sp>
      <p:sp>
        <p:nvSpPr>
          <p:cNvPr id="6" name="Text 4"/>
          <p:cNvSpPr/>
          <p:nvPr/>
        </p:nvSpPr>
        <p:spPr>
          <a:xfrm>
            <a:off x="594360" y="1481328"/>
            <a:ext cx="10881360" cy="411480"/>
          </a:xfrm>
          <a:prstGeom prst="rect">
            <a:avLst/>
          </a:prstGeom>
          <a:noFill/>
          <a:ln/>
        </p:spPr>
        <p:txBody>
          <a:bodyPr wrap="square" lIns="0" tIns="0" rIns="0" bIns="0" rtlCol="0" anchor="ctr"/>
          <a:lstStyle/>
          <a:p>
            <a:pPr indent="0" marL="0">
              <a:buNone/>
            </a:pPr>
            <a:r>
              <a:rPr lang="en-US" sz="1350" i="1" dirty="0">
                <a:solidFill>
                  <a:srgbClr val="5A646C"/>
                </a:solidFill>
                <a:latin typeface="Arial" pitchFamily="34" charset="0"/>
                <a:ea typeface="Arial" pitchFamily="34" charset="-122"/>
                <a:cs typeface="Arial" pitchFamily="34" charset="-120"/>
              </a:rPr>
              <a:t>Day 3 runs on peer feedback. Deliver it so it builds leaders instead of walls:</a:t>
            </a:r>
            <a:endParaRPr lang="en-US" sz="1350" dirty="0"/>
          </a:p>
        </p:txBody>
      </p:sp>
      <p:sp>
        <p:nvSpPr>
          <p:cNvPr id="7" name="Shape 5"/>
          <p:cNvSpPr/>
          <p:nvPr/>
        </p:nvSpPr>
        <p:spPr>
          <a:xfrm>
            <a:off x="594360" y="2011680"/>
            <a:ext cx="3453384" cy="2880360"/>
          </a:xfrm>
          <a:prstGeom prst="roundRect">
            <a:avLst>
              <a:gd name="adj" fmla="val 3175"/>
            </a:avLst>
          </a:prstGeom>
          <a:solidFill>
            <a:srgbClr val="F3F4F5"/>
          </a:solidFill>
          <a:ln/>
        </p:spPr>
      </p:sp>
      <p:sp>
        <p:nvSpPr>
          <p:cNvPr id="8" name="Shape 6"/>
          <p:cNvSpPr/>
          <p:nvPr/>
        </p:nvSpPr>
        <p:spPr>
          <a:xfrm>
            <a:off x="822960" y="2240280"/>
            <a:ext cx="530352" cy="530352"/>
          </a:xfrm>
          <a:prstGeom prst="ellipse">
            <a:avLst/>
          </a:prstGeom>
          <a:solidFill>
            <a:srgbClr val="E8491D"/>
          </a:solidFill>
          <a:ln/>
        </p:spPr>
      </p:sp>
      <p:pic>
        <p:nvPicPr>
          <p:cNvPr id="9" name="Image 0" descr="/tmp/claude-0/-home-user-My-Future-Idaes/0806094f-208a-506e-82b2-f78683d50c82/scratchpad/icons/FaEye_white.png">    </p:cNvPr>
          <p:cNvPicPr>
            <a:picLocks noChangeAspect="1"/>
          </p:cNvPicPr>
          <p:nvPr/>
        </p:nvPicPr>
        <p:blipFill>
          <a:blip r:embed="rId1"/>
          <a:stretch>
            <a:fillRect/>
          </a:stretch>
        </p:blipFill>
        <p:spPr>
          <a:xfrm>
            <a:off x="950244" y="2367564"/>
            <a:ext cx="275783" cy="275783"/>
          </a:xfrm>
          <a:prstGeom prst="rect">
            <a:avLst/>
          </a:prstGeom>
        </p:spPr>
      </p:pic>
      <p:sp>
        <p:nvSpPr>
          <p:cNvPr id="10" name="Text 7"/>
          <p:cNvSpPr/>
          <p:nvPr/>
        </p:nvSpPr>
        <p:spPr>
          <a:xfrm>
            <a:off x="1508760" y="2286000"/>
            <a:ext cx="2356104" cy="457200"/>
          </a:xfrm>
          <a:prstGeom prst="rect">
            <a:avLst/>
          </a:prstGeom>
          <a:noFill/>
          <a:ln/>
        </p:spPr>
        <p:txBody>
          <a:bodyPr wrap="square" lIns="0" tIns="0" rIns="0" bIns="0" rtlCol="0" anchor="ctr"/>
          <a:lstStyle/>
          <a:p>
            <a:pPr indent="0" marL="0">
              <a:buNone/>
            </a:pPr>
            <a:r>
              <a:rPr lang="en-US" sz="1400" b="1" spc="150" kern="0" dirty="0">
                <a:solidFill>
                  <a:srgbClr val="1A2027"/>
                </a:solidFill>
                <a:latin typeface="Arial" pitchFamily="34" charset="0"/>
                <a:ea typeface="Arial" pitchFamily="34" charset="-122"/>
                <a:cs typeface="Arial" pitchFamily="34" charset="-120"/>
              </a:rPr>
              <a:t>OBSERVED</a:t>
            </a:r>
            <a:endParaRPr lang="en-US" sz="1400" dirty="0"/>
          </a:p>
        </p:txBody>
      </p:sp>
      <p:sp>
        <p:nvSpPr>
          <p:cNvPr id="11" name="Text 8"/>
          <p:cNvSpPr/>
          <p:nvPr/>
        </p:nvSpPr>
        <p:spPr>
          <a:xfrm>
            <a:off x="822960" y="2971800"/>
            <a:ext cx="2996184" cy="1783080"/>
          </a:xfrm>
          <a:prstGeom prst="rect">
            <a:avLst/>
          </a:prstGeom>
          <a:noFill/>
          <a:ln/>
        </p:spPr>
        <p:txBody>
          <a:bodyPr wrap="square" lIns="0" tIns="0" rIns="0" bIns="0" rtlCol="0" anchor="ctr"/>
          <a:lstStyle/>
          <a:p>
            <a:pPr indent="0" marL="0">
              <a:buNone/>
            </a:pPr>
            <a:r>
              <a:rPr lang="en-US" sz="1100" dirty="0">
                <a:solidFill>
                  <a:srgbClr val="5A646C"/>
                </a:solidFill>
                <a:latin typeface="Arial" pitchFamily="34" charset="0"/>
                <a:ea typeface="Arial" pitchFamily="34" charset="-122"/>
                <a:cs typeface="Arial" pitchFamily="34" charset="-120"/>
              </a:rPr>
              <a:t>Start with what you saw or heard — verbatim, no interpretation. “At 10:14 the mode changed with no radio announcement.”</a:t>
            </a:r>
            <a:endParaRPr lang="en-US" sz="1100" dirty="0"/>
          </a:p>
        </p:txBody>
      </p:sp>
      <p:sp>
        <p:nvSpPr>
          <p:cNvPr id="12" name="Text 9"/>
          <p:cNvSpPr/>
          <p:nvPr/>
        </p:nvSpPr>
        <p:spPr>
          <a:xfrm>
            <a:off x="4029456" y="3108960"/>
            <a:ext cx="365760" cy="548640"/>
          </a:xfrm>
          <a:prstGeom prst="rect">
            <a:avLst/>
          </a:prstGeom>
          <a:noFill/>
          <a:ln/>
        </p:spPr>
        <p:txBody>
          <a:bodyPr wrap="square" lIns="0" tIns="0" rIns="0" bIns="0" rtlCol="0" anchor="ctr"/>
          <a:lstStyle/>
          <a:p>
            <a:pPr algn="ctr" indent="0" marL="0">
              <a:buNone/>
            </a:pPr>
            <a:r>
              <a:rPr lang="en-US" sz="2200" b="1" dirty="0">
                <a:solidFill>
                  <a:srgbClr val="E8491D"/>
                </a:solidFill>
                <a:latin typeface="Arial" pitchFamily="34" charset="0"/>
                <a:ea typeface="Arial" pitchFamily="34" charset="-122"/>
                <a:cs typeface="Arial" pitchFamily="34" charset="-120"/>
              </a:rPr>
              <a:t>→</a:t>
            </a:r>
            <a:endParaRPr lang="en-US" sz="2200" dirty="0"/>
          </a:p>
        </p:txBody>
      </p:sp>
      <p:sp>
        <p:nvSpPr>
          <p:cNvPr id="13" name="Shape 10"/>
          <p:cNvSpPr/>
          <p:nvPr/>
        </p:nvSpPr>
        <p:spPr>
          <a:xfrm>
            <a:off x="4367784" y="2011680"/>
            <a:ext cx="3453384" cy="2880360"/>
          </a:xfrm>
          <a:prstGeom prst="roundRect">
            <a:avLst>
              <a:gd name="adj" fmla="val 3175"/>
            </a:avLst>
          </a:prstGeom>
          <a:solidFill>
            <a:srgbClr val="F3F4F5"/>
          </a:solidFill>
          <a:ln/>
        </p:spPr>
      </p:sp>
      <p:sp>
        <p:nvSpPr>
          <p:cNvPr id="14" name="Shape 11"/>
          <p:cNvSpPr/>
          <p:nvPr/>
        </p:nvSpPr>
        <p:spPr>
          <a:xfrm>
            <a:off x="4596384" y="2240280"/>
            <a:ext cx="530352" cy="530352"/>
          </a:xfrm>
          <a:prstGeom prst="ellipse">
            <a:avLst/>
          </a:prstGeom>
          <a:solidFill>
            <a:srgbClr val="E8491D"/>
          </a:solidFill>
          <a:ln/>
        </p:spPr>
      </p:sp>
      <p:pic>
        <p:nvPicPr>
          <p:cNvPr id="15" name="Image 1" descr="/tmp/claude-0/-home-user-My-Future-Idaes/0806094f-208a-506e-82b2-f78683d50c82/scratchpad/icons/FaBolt_white.png">    </p:cNvPr>
          <p:cNvPicPr>
            <a:picLocks noChangeAspect="1"/>
          </p:cNvPicPr>
          <p:nvPr/>
        </p:nvPicPr>
        <p:blipFill>
          <a:blip r:embed="rId2"/>
          <a:stretch>
            <a:fillRect/>
          </a:stretch>
        </p:blipFill>
        <p:spPr>
          <a:xfrm>
            <a:off x="4723668" y="2367564"/>
            <a:ext cx="275783" cy="275783"/>
          </a:xfrm>
          <a:prstGeom prst="rect">
            <a:avLst/>
          </a:prstGeom>
        </p:spPr>
      </p:pic>
      <p:sp>
        <p:nvSpPr>
          <p:cNvPr id="16" name="Text 12"/>
          <p:cNvSpPr/>
          <p:nvPr/>
        </p:nvSpPr>
        <p:spPr>
          <a:xfrm>
            <a:off x="5282184" y="2286000"/>
            <a:ext cx="2356104" cy="457200"/>
          </a:xfrm>
          <a:prstGeom prst="rect">
            <a:avLst/>
          </a:prstGeom>
          <a:noFill/>
          <a:ln/>
        </p:spPr>
        <p:txBody>
          <a:bodyPr wrap="square" lIns="0" tIns="0" rIns="0" bIns="0" rtlCol="0" anchor="ctr"/>
          <a:lstStyle/>
          <a:p>
            <a:pPr indent="0" marL="0">
              <a:buNone/>
            </a:pPr>
            <a:r>
              <a:rPr lang="en-US" sz="1400" b="1" spc="150" kern="0" dirty="0">
                <a:solidFill>
                  <a:srgbClr val="1A2027"/>
                </a:solidFill>
                <a:latin typeface="Arial" pitchFamily="34" charset="0"/>
                <a:ea typeface="Arial" pitchFamily="34" charset="-122"/>
                <a:cs typeface="Arial" pitchFamily="34" charset="-120"/>
              </a:rPr>
              <a:t>IMPACT</a:t>
            </a:r>
            <a:endParaRPr lang="en-US" sz="1400" dirty="0"/>
          </a:p>
        </p:txBody>
      </p:sp>
      <p:sp>
        <p:nvSpPr>
          <p:cNvPr id="17" name="Text 13"/>
          <p:cNvSpPr/>
          <p:nvPr/>
        </p:nvSpPr>
        <p:spPr>
          <a:xfrm>
            <a:off x="4596384" y="2971800"/>
            <a:ext cx="2996184" cy="1783080"/>
          </a:xfrm>
          <a:prstGeom prst="rect">
            <a:avLst/>
          </a:prstGeom>
          <a:noFill/>
          <a:ln/>
        </p:spPr>
        <p:txBody>
          <a:bodyPr wrap="square" lIns="0" tIns="0" rIns="0" bIns="0" rtlCol="0" anchor="ctr"/>
          <a:lstStyle/>
          <a:p>
            <a:pPr indent="0" marL="0">
              <a:buNone/>
            </a:pPr>
            <a:r>
              <a:rPr lang="en-US" sz="1100" dirty="0">
                <a:solidFill>
                  <a:srgbClr val="5A646C"/>
                </a:solidFill>
                <a:latin typeface="Arial" pitchFamily="34" charset="0"/>
                <a:ea typeface="Arial" pitchFamily="34" charset="-122"/>
                <a:cs typeface="Arial" pitchFamily="34" charset="-120"/>
              </a:rPr>
              <a:t>State the consequence, factually. “Attack sector kept advancing into what had become a defensive fire.”</a:t>
            </a:r>
            <a:endParaRPr lang="en-US" sz="1100" dirty="0"/>
          </a:p>
        </p:txBody>
      </p:sp>
      <p:sp>
        <p:nvSpPr>
          <p:cNvPr id="18" name="Text 14"/>
          <p:cNvSpPr/>
          <p:nvPr/>
        </p:nvSpPr>
        <p:spPr>
          <a:xfrm>
            <a:off x="7802880" y="3108960"/>
            <a:ext cx="365760" cy="548640"/>
          </a:xfrm>
          <a:prstGeom prst="rect">
            <a:avLst/>
          </a:prstGeom>
          <a:noFill/>
          <a:ln/>
        </p:spPr>
        <p:txBody>
          <a:bodyPr wrap="square" lIns="0" tIns="0" rIns="0" bIns="0" rtlCol="0" anchor="ctr"/>
          <a:lstStyle/>
          <a:p>
            <a:pPr algn="ctr" indent="0" marL="0">
              <a:buNone/>
            </a:pPr>
            <a:r>
              <a:rPr lang="en-US" sz="2200" b="1" dirty="0">
                <a:solidFill>
                  <a:srgbClr val="E8491D"/>
                </a:solidFill>
                <a:latin typeface="Arial" pitchFamily="34" charset="0"/>
                <a:ea typeface="Arial" pitchFamily="34" charset="-122"/>
                <a:cs typeface="Arial" pitchFamily="34" charset="-120"/>
              </a:rPr>
              <a:t>→</a:t>
            </a:r>
            <a:endParaRPr lang="en-US" sz="2200" dirty="0"/>
          </a:p>
        </p:txBody>
      </p:sp>
      <p:sp>
        <p:nvSpPr>
          <p:cNvPr id="19" name="Shape 15"/>
          <p:cNvSpPr/>
          <p:nvPr/>
        </p:nvSpPr>
        <p:spPr>
          <a:xfrm>
            <a:off x="8141208" y="2011680"/>
            <a:ext cx="3453384" cy="2880360"/>
          </a:xfrm>
          <a:prstGeom prst="roundRect">
            <a:avLst>
              <a:gd name="adj" fmla="val 3175"/>
            </a:avLst>
          </a:prstGeom>
          <a:solidFill>
            <a:srgbClr val="F3F4F5"/>
          </a:solidFill>
          <a:ln/>
        </p:spPr>
      </p:sp>
      <p:sp>
        <p:nvSpPr>
          <p:cNvPr id="20" name="Shape 16"/>
          <p:cNvSpPr/>
          <p:nvPr/>
        </p:nvSpPr>
        <p:spPr>
          <a:xfrm>
            <a:off x="8369808" y="2240280"/>
            <a:ext cx="530352" cy="530352"/>
          </a:xfrm>
          <a:prstGeom prst="ellipse">
            <a:avLst/>
          </a:prstGeom>
          <a:solidFill>
            <a:srgbClr val="E8491D"/>
          </a:solidFill>
          <a:ln/>
        </p:spPr>
      </p:sp>
      <p:pic>
        <p:nvPicPr>
          <p:cNvPr id="21" name="Image 2" descr="/tmp/claude-0/-home-user-My-Future-Idaes/0806094f-208a-506e-82b2-f78683d50c82/scratchpad/icons/FaRegLightbulb_white.png">    </p:cNvPr>
          <p:cNvPicPr>
            <a:picLocks noChangeAspect="1"/>
          </p:cNvPicPr>
          <p:nvPr/>
        </p:nvPicPr>
        <p:blipFill>
          <a:blip r:embed="rId3"/>
          <a:stretch>
            <a:fillRect/>
          </a:stretch>
        </p:blipFill>
        <p:spPr>
          <a:xfrm>
            <a:off x="8497092" y="2367564"/>
            <a:ext cx="275783" cy="275783"/>
          </a:xfrm>
          <a:prstGeom prst="rect">
            <a:avLst/>
          </a:prstGeom>
        </p:spPr>
      </p:pic>
      <p:sp>
        <p:nvSpPr>
          <p:cNvPr id="22" name="Text 17"/>
          <p:cNvSpPr/>
          <p:nvPr/>
        </p:nvSpPr>
        <p:spPr>
          <a:xfrm>
            <a:off x="9055608" y="2286000"/>
            <a:ext cx="2356104" cy="457200"/>
          </a:xfrm>
          <a:prstGeom prst="rect">
            <a:avLst/>
          </a:prstGeom>
          <a:noFill/>
          <a:ln/>
        </p:spPr>
        <p:txBody>
          <a:bodyPr wrap="square" lIns="0" tIns="0" rIns="0" bIns="0" rtlCol="0" anchor="ctr"/>
          <a:lstStyle/>
          <a:p>
            <a:pPr indent="0" marL="0">
              <a:buNone/>
            </a:pPr>
            <a:r>
              <a:rPr lang="en-US" sz="1400" b="1" spc="150" kern="0" dirty="0">
                <a:solidFill>
                  <a:srgbClr val="1A2027"/>
                </a:solidFill>
                <a:latin typeface="Arial" pitchFamily="34" charset="0"/>
                <a:ea typeface="Arial" pitchFamily="34" charset="-122"/>
                <a:cs typeface="Arial" pitchFamily="34" charset="-120"/>
              </a:rPr>
              <a:t>NEXT TIME</a:t>
            </a:r>
            <a:endParaRPr lang="en-US" sz="1400" dirty="0"/>
          </a:p>
        </p:txBody>
      </p:sp>
      <p:sp>
        <p:nvSpPr>
          <p:cNvPr id="23" name="Text 18"/>
          <p:cNvSpPr/>
          <p:nvPr/>
        </p:nvSpPr>
        <p:spPr>
          <a:xfrm>
            <a:off x="8369808" y="2971800"/>
            <a:ext cx="2996184" cy="1783080"/>
          </a:xfrm>
          <a:prstGeom prst="rect">
            <a:avLst/>
          </a:prstGeom>
          <a:noFill/>
          <a:ln/>
        </p:spPr>
        <p:txBody>
          <a:bodyPr wrap="square" lIns="0" tIns="0" rIns="0" bIns="0" rtlCol="0" anchor="ctr"/>
          <a:lstStyle/>
          <a:p>
            <a:pPr indent="0" marL="0">
              <a:buNone/>
            </a:pPr>
            <a:r>
              <a:rPr lang="en-US" sz="1100" dirty="0">
                <a:solidFill>
                  <a:srgbClr val="5A646C"/>
                </a:solidFill>
                <a:latin typeface="Arial" pitchFamily="34" charset="0"/>
                <a:ea typeface="Arial" pitchFamily="34" charset="-122"/>
                <a:cs typeface="Arial" pitchFamily="34" charset="-120"/>
              </a:rPr>
              <a:t>One concrete alternative, offered — not imposed. “Announce the mode on all-call, then confirm by sector.”</a:t>
            </a:r>
            <a:endParaRPr lang="en-US" sz="1100" dirty="0"/>
          </a:p>
        </p:txBody>
      </p:sp>
      <p:sp>
        <p:nvSpPr>
          <p:cNvPr id="24" name="Shape 19"/>
          <p:cNvSpPr/>
          <p:nvPr/>
        </p:nvSpPr>
        <p:spPr>
          <a:xfrm>
            <a:off x="594360" y="5257800"/>
            <a:ext cx="11000232" cy="914400"/>
          </a:xfrm>
          <a:prstGeom prst="roundRect">
            <a:avLst>
              <a:gd name="adj" fmla="val 10000"/>
            </a:avLst>
          </a:prstGeom>
          <a:solidFill>
            <a:srgbClr val="14181C"/>
          </a:solidFill>
          <a:ln/>
        </p:spPr>
      </p:sp>
      <p:sp>
        <p:nvSpPr>
          <p:cNvPr id="25" name="Text 20"/>
          <p:cNvSpPr/>
          <p:nvPr/>
        </p:nvSpPr>
        <p:spPr>
          <a:xfrm>
            <a:off x="868680" y="5257800"/>
            <a:ext cx="10360152" cy="914400"/>
          </a:xfrm>
          <a:prstGeom prst="rect">
            <a:avLst/>
          </a:prstGeom>
          <a:noFill/>
          <a:ln/>
        </p:spPr>
        <p:txBody>
          <a:bodyPr wrap="square" lIns="0" tIns="0" rIns="0" bIns="0" rtlCol="0" anchor="ctr"/>
          <a:lstStyle/>
          <a:p>
            <a:pPr indent="0" marL="0">
              <a:buNone/>
            </a:pPr>
            <a:r>
              <a:rPr lang="en-US" sz="1200" b="1" dirty="0">
                <a:solidFill>
                  <a:srgbClr val="F5A623"/>
                </a:solidFill>
                <a:latin typeface="Arial" pitchFamily="34" charset="0"/>
                <a:ea typeface="Arial" pitchFamily="34" charset="-122"/>
                <a:cs typeface="Arial" pitchFamily="34" charset="-120"/>
              </a:rPr>
              <a:t>Receiving feedback is also scored:  </a:t>
            </a:r>
            <a:pPr indent="0" marL="0">
              <a:buNone/>
            </a:pPr>
            <a:r>
              <a:rPr lang="en-US" sz="1200" dirty="0">
                <a:solidFill>
                  <a:srgbClr val="FFFFFF"/>
                </a:solidFill>
                <a:latin typeface="Arial" pitchFamily="34" charset="0"/>
                <a:ea typeface="Arial" pitchFamily="34" charset="-122"/>
                <a:cs typeface="Arial" pitchFamily="34" charset="-120"/>
              </a:rPr>
              <a:t>listen fully, ask one clarifying question, say thank you. Defending kills the debrief — and the defender learns nothing.</a:t>
            </a:r>
            <a:endParaRPr lang="en-US" sz="12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72</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DAY 3</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Final assessment &amp; competency validation</a:t>
            </a:r>
            <a:endParaRPr lang="en-US" sz="3000" dirty="0"/>
          </a:p>
        </p:txBody>
      </p:sp>
      <p:sp>
        <p:nvSpPr>
          <p:cNvPr id="6" name="Shape 4"/>
          <p:cNvSpPr/>
          <p:nvPr/>
        </p:nvSpPr>
        <p:spPr>
          <a:xfrm>
            <a:off x="594360" y="1783080"/>
            <a:ext cx="3453384" cy="2514600"/>
          </a:xfrm>
          <a:prstGeom prst="roundRect">
            <a:avLst>
              <a:gd name="adj" fmla="val 3636"/>
            </a:avLst>
          </a:prstGeom>
          <a:solidFill>
            <a:srgbClr val="F3F4F5"/>
          </a:solidFill>
          <a:ln/>
        </p:spPr>
      </p:sp>
      <p:sp>
        <p:nvSpPr>
          <p:cNvPr id="7" name="Text 5"/>
          <p:cNvSpPr/>
          <p:nvPr/>
        </p:nvSpPr>
        <p:spPr>
          <a:xfrm>
            <a:off x="822960" y="1965960"/>
            <a:ext cx="2996184" cy="685800"/>
          </a:xfrm>
          <a:prstGeom prst="rect">
            <a:avLst/>
          </a:prstGeom>
          <a:noFill/>
          <a:ln/>
        </p:spPr>
        <p:txBody>
          <a:bodyPr wrap="square" lIns="0" tIns="0" rIns="0" bIns="0" rtlCol="0" anchor="ctr"/>
          <a:lstStyle/>
          <a:p>
            <a:pPr indent="0" marL="0">
              <a:buNone/>
            </a:pPr>
            <a:r>
              <a:rPr lang="en-US" sz="3600" b="1" dirty="0">
                <a:solidFill>
                  <a:srgbClr val="E8491D"/>
                </a:solidFill>
                <a:latin typeface="Arial" pitchFamily="34" charset="0"/>
                <a:ea typeface="Arial" pitchFamily="34" charset="-122"/>
                <a:cs typeface="Arial" pitchFamily="34" charset="-120"/>
              </a:rPr>
              <a:t>40%</a:t>
            </a:r>
            <a:endParaRPr lang="en-US" sz="3600" dirty="0"/>
          </a:p>
        </p:txBody>
      </p:sp>
      <p:sp>
        <p:nvSpPr>
          <p:cNvPr id="8" name="Text 6"/>
          <p:cNvSpPr/>
          <p:nvPr/>
        </p:nvSpPr>
        <p:spPr>
          <a:xfrm>
            <a:off x="822960" y="2697480"/>
            <a:ext cx="2996184" cy="365760"/>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Leadership performance</a:t>
            </a:r>
            <a:endParaRPr lang="en-US" sz="1400" dirty="0"/>
          </a:p>
        </p:txBody>
      </p:sp>
      <p:sp>
        <p:nvSpPr>
          <p:cNvPr id="9" name="Text 7"/>
          <p:cNvSpPr/>
          <p:nvPr/>
        </p:nvSpPr>
        <p:spPr>
          <a:xfrm>
            <a:off x="822960" y="3108960"/>
            <a:ext cx="2996184" cy="109728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Assessor scoring across both simulation rounds: command, decisions, human-factors leadership.</a:t>
            </a:r>
            <a:endParaRPr lang="en-US" sz="1050" dirty="0"/>
          </a:p>
        </p:txBody>
      </p:sp>
      <p:sp>
        <p:nvSpPr>
          <p:cNvPr id="10" name="Shape 8"/>
          <p:cNvSpPr/>
          <p:nvPr/>
        </p:nvSpPr>
        <p:spPr>
          <a:xfrm>
            <a:off x="4367784" y="1783080"/>
            <a:ext cx="3453384" cy="2514600"/>
          </a:xfrm>
          <a:prstGeom prst="roundRect">
            <a:avLst>
              <a:gd name="adj" fmla="val 3636"/>
            </a:avLst>
          </a:prstGeom>
          <a:solidFill>
            <a:srgbClr val="F3F4F5"/>
          </a:solidFill>
          <a:ln/>
        </p:spPr>
      </p:sp>
      <p:sp>
        <p:nvSpPr>
          <p:cNvPr id="11" name="Text 9"/>
          <p:cNvSpPr/>
          <p:nvPr/>
        </p:nvSpPr>
        <p:spPr>
          <a:xfrm>
            <a:off x="4596384" y="1965960"/>
            <a:ext cx="2996184" cy="685800"/>
          </a:xfrm>
          <a:prstGeom prst="rect">
            <a:avLst/>
          </a:prstGeom>
          <a:noFill/>
          <a:ln/>
        </p:spPr>
        <p:txBody>
          <a:bodyPr wrap="square" lIns="0" tIns="0" rIns="0" bIns="0" rtlCol="0" anchor="ctr"/>
          <a:lstStyle/>
          <a:p>
            <a:pPr indent="0" marL="0">
              <a:buNone/>
            </a:pPr>
            <a:r>
              <a:rPr lang="en-US" sz="3600" b="1" dirty="0">
                <a:solidFill>
                  <a:srgbClr val="E8491D"/>
                </a:solidFill>
                <a:latin typeface="Arial" pitchFamily="34" charset="0"/>
                <a:ea typeface="Arial" pitchFamily="34" charset="-122"/>
                <a:cs typeface="Arial" pitchFamily="34" charset="-120"/>
              </a:rPr>
              <a:t>40%</a:t>
            </a:r>
            <a:endParaRPr lang="en-US" sz="3600" dirty="0"/>
          </a:p>
        </p:txBody>
      </p:sp>
      <p:sp>
        <p:nvSpPr>
          <p:cNvPr id="12" name="Text 10"/>
          <p:cNvSpPr/>
          <p:nvPr/>
        </p:nvSpPr>
        <p:spPr>
          <a:xfrm>
            <a:off x="4596384" y="2697480"/>
            <a:ext cx="2996184" cy="365760"/>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Scenario assessments</a:t>
            </a:r>
            <a:endParaRPr lang="en-US" sz="1400" dirty="0"/>
          </a:p>
        </p:txBody>
      </p:sp>
      <p:sp>
        <p:nvSpPr>
          <p:cNvPr id="13" name="Text 11"/>
          <p:cNvSpPr/>
          <p:nvPr/>
        </p:nvSpPr>
        <p:spPr>
          <a:xfrm>
            <a:off x="4596384" y="3108960"/>
            <a:ext cx="2996184" cy="109728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Graded practical blocks from all three days — tactics, communications, incident command.</a:t>
            </a:r>
            <a:endParaRPr lang="en-US" sz="1050" dirty="0"/>
          </a:p>
        </p:txBody>
      </p:sp>
      <p:sp>
        <p:nvSpPr>
          <p:cNvPr id="14" name="Shape 12"/>
          <p:cNvSpPr/>
          <p:nvPr/>
        </p:nvSpPr>
        <p:spPr>
          <a:xfrm>
            <a:off x="8141208" y="1783080"/>
            <a:ext cx="3453384" cy="2514600"/>
          </a:xfrm>
          <a:prstGeom prst="roundRect">
            <a:avLst>
              <a:gd name="adj" fmla="val 3636"/>
            </a:avLst>
          </a:prstGeom>
          <a:solidFill>
            <a:srgbClr val="F3F4F5"/>
          </a:solidFill>
          <a:ln/>
        </p:spPr>
      </p:sp>
      <p:sp>
        <p:nvSpPr>
          <p:cNvPr id="15" name="Text 13"/>
          <p:cNvSpPr/>
          <p:nvPr/>
        </p:nvSpPr>
        <p:spPr>
          <a:xfrm>
            <a:off x="8369808" y="1965960"/>
            <a:ext cx="2996184" cy="685800"/>
          </a:xfrm>
          <a:prstGeom prst="rect">
            <a:avLst/>
          </a:prstGeom>
          <a:noFill/>
          <a:ln/>
        </p:spPr>
        <p:txBody>
          <a:bodyPr wrap="square" lIns="0" tIns="0" rIns="0" bIns="0" rtlCol="0" anchor="ctr"/>
          <a:lstStyle/>
          <a:p>
            <a:pPr indent="0" marL="0">
              <a:buNone/>
            </a:pPr>
            <a:r>
              <a:rPr lang="en-US" sz="3600" b="1" dirty="0">
                <a:solidFill>
                  <a:srgbClr val="E8491D"/>
                </a:solidFill>
                <a:latin typeface="Arial" pitchFamily="34" charset="0"/>
                <a:ea typeface="Arial" pitchFamily="34" charset="-122"/>
                <a:cs typeface="Arial" pitchFamily="34" charset="-120"/>
              </a:rPr>
              <a:t>20%</a:t>
            </a:r>
            <a:endParaRPr lang="en-US" sz="3600" dirty="0"/>
          </a:p>
        </p:txBody>
      </p:sp>
      <p:sp>
        <p:nvSpPr>
          <p:cNvPr id="16" name="Text 14"/>
          <p:cNvSpPr/>
          <p:nvPr/>
        </p:nvSpPr>
        <p:spPr>
          <a:xfrm>
            <a:off x="8369808" y="2697480"/>
            <a:ext cx="2996184" cy="365760"/>
          </a:xfrm>
          <a:prstGeom prst="rect">
            <a:avLst/>
          </a:prstGeom>
          <a:noFill/>
          <a:ln/>
        </p:spPr>
        <p:txBody>
          <a:bodyPr wrap="square" lIns="0" tIns="0" rIns="0" bIns="0" rtlCol="0" anchor="ctr"/>
          <a:lstStyle/>
          <a:p>
            <a:pPr indent="0" marL="0">
              <a:buNone/>
            </a:pPr>
            <a:r>
              <a:rPr lang="en-US" sz="1400" b="1" dirty="0">
                <a:solidFill>
                  <a:srgbClr val="1A2027"/>
                </a:solidFill>
                <a:latin typeface="Arial" pitchFamily="34" charset="0"/>
                <a:ea typeface="Arial" pitchFamily="34" charset="-122"/>
                <a:cs typeface="Arial" pitchFamily="34" charset="-120"/>
              </a:rPr>
              <a:t>Knowledge check</a:t>
            </a:r>
            <a:endParaRPr lang="en-US" sz="1400" dirty="0"/>
          </a:p>
        </p:txBody>
      </p:sp>
      <p:sp>
        <p:nvSpPr>
          <p:cNvPr id="17" name="Text 15"/>
          <p:cNvSpPr/>
          <p:nvPr/>
        </p:nvSpPr>
        <p:spPr>
          <a:xfrm>
            <a:off x="8369808" y="3108960"/>
            <a:ext cx="2996184" cy="109728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Short written/oral validation of the frameworks: size-up, DRA, CAN, ICS, accountability.</a:t>
            </a:r>
            <a:endParaRPr lang="en-US" sz="1050" dirty="0"/>
          </a:p>
        </p:txBody>
      </p:sp>
      <p:sp>
        <p:nvSpPr>
          <p:cNvPr id="18" name="Shape 16"/>
          <p:cNvSpPr/>
          <p:nvPr/>
        </p:nvSpPr>
        <p:spPr>
          <a:xfrm>
            <a:off x="594360" y="4617720"/>
            <a:ext cx="11000232" cy="1463040"/>
          </a:xfrm>
          <a:prstGeom prst="roundRect">
            <a:avLst>
              <a:gd name="adj" fmla="val 6250"/>
            </a:avLst>
          </a:prstGeom>
          <a:solidFill>
            <a:srgbClr val="14181C"/>
          </a:solidFill>
          <a:ln/>
        </p:spPr>
      </p:sp>
      <p:sp>
        <p:nvSpPr>
          <p:cNvPr id="19" name="Text 17"/>
          <p:cNvSpPr/>
          <p:nvPr/>
        </p:nvSpPr>
        <p:spPr>
          <a:xfrm>
            <a:off x="868680" y="4800600"/>
            <a:ext cx="2743200" cy="274320"/>
          </a:xfrm>
          <a:prstGeom prst="rect">
            <a:avLst/>
          </a:prstGeom>
          <a:noFill/>
          <a:ln/>
        </p:spPr>
        <p:txBody>
          <a:bodyPr wrap="square" lIns="0" tIns="0" rIns="0" bIns="0" rtlCol="0" anchor="ctr"/>
          <a:lstStyle/>
          <a:p>
            <a:pPr indent="0" marL="0">
              <a:buNone/>
            </a:pPr>
            <a:r>
              <a:rPr lang="en-US" sz="1150" b="1" spc="200" kern="0" dirty="0">
                <a:solidFill>
                  <a:srgbClr val="F5A623"/>
                </a:solidFill>
                <a:latin typeface="Arial" pitchFamily="34" charset="0"/>
                <a:ea typeface="Arial" pitchFamily="34" charset="-122"/>
                <a:cs typeface="Arial" pitchFamily="34" charset="-120"/>
              </a:rPr>
              <a:t>TO PASS</a:t>
            </a:r>
            <a:endParaRPr lang="en-US" sz="1150" dirty="0"/>
          </a:p>
        </p:txBody>
      </p:sp>
      <p:sp>
        <p:nvSpPr>
          <p:cNvPr id="20" name="Text 18"/>
          <p:cNvSpPr/>
          <p:nvPr/>
        </p:nvSpPr>
        <p:spPr>
          <a:xfrm>
            <a:off x="868680" y="5120640"/>
            <a:ext cx="10360152" cy="914400"/>
          </a:xfrm>
          <a:prstGeom prst="rect">
            <a:avLst/>
          </a:prstGeom>
          <a:noFill/>
          <a:ln/>
        </p:spPr>
        <p:txBody>
          <a:bodyPr wrap="square" rtlCol="0" anchor="ctr"/>
          <a:lstStyle/>
          <a:p>
            <a:pPr marL="177800" indent="-177800">
              <a:spcAft>
                <a:spcPts val="600"/>
              </a:spcAft>
              <a:buSzPct val="100000"/>
              <a:buChar char="•"/>
            </a:pPr>
            <a:r>
              <a:rPr lang="en-US" sz="1150" dirty="0">
                <a:solidFill>
                  <a:srgbClr val="D9DEE2"/>
                </a:solidFill>
                <a:latin typeface="Arial" pitchFamily="34" charset="0"/>
                <a:ea typeface="Arial" pitchFamily="34" charset="-122"/>
                <a:cs typeface="Arial" pitchFamily="34" charset="-120"/>
              </a:rPr>
              <a:t>Overall score ≥ 80% with no critical-competency failure (safety violation, lost accountability, abandoned command)</a:t>
            </a:r>
            <a:endParaRPr lang="en-US" sz="1150" dirty="0"/>
          </a:p>
          <a:p>
            <a:pPr marL="177800" indent="-177800">
              <a:spcAft>
                <a:spcPts val="600"/>
              </a:spcAft>
              <a:buSzPct val="100000"/>
              <a:buChar char="•"/>
            </a:pPr>
            <a:r>
              <a:rPr lang="en-US" sz="1150" dirty="0">
                <a:solidFill>
                  <a:srgbClr val="D9DEE2"/>
                </a:solidFill>
                <a:latin typeface="Arial" pitchFamily="34" charset="0"/>
                <a:ea typeface="Arial" pitchFamily="34" charset="-122"/>
                <a:cs typeface="Arial" pitchFamily="34" charset="-120"/>
              </a:rPr>
              <a:t>Full attendance and participation in every practical block</a:t>
            </a:r>
            <a:endParaRPr lang="en-US" sz="1150" dirty="0"/>
          </a:p>
          <a:p>
            <a:pPr marL="177800" indent="-177800">
              <a:spcAft>
                <a:spcPts val="600"/>
              </a:spcAft>
              <a:buSzPct val="100000"/>
              <a:buChar char="•"/>
            </a:pPr>
            <a:r>
              <a:rPr lang="en-US" sz="1150" dirty="0">
                <a:solidFill>
                  <a:srgbClr val="D9DEE2"/>
                </a:solidFill>
                <a:latin typeface="Arial" pitchFamily="34" charset="0"/>
                <a:ea typeface="Arial" pitchFamily="34" charset="-122"/>
                <a:cs typeface="Arial" pitchFamily="34" charset="-120"/>
              </a:rPr>
              <a:t>Unsuccessful candidates receive a development plan and one re-assessment pathway</a:t>
            </a:r>
            <a:endParaRPr lang="en-US" sz="11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73</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DAY 3</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Knowledge check: how ready are you?</a:t>
            </a:r>
            <a:endParaRPr lang="en-US" sz="3000" dirty="0"/>
          </a:p>
        </p:txBody>
      </p:sp>
      <p:sp>
        <p:nvSpPr>
          <p:cNvPr id="6" name="Text 4"/>
          <p:cNvSpPr/>
          <p:nvPr/>
        </p:nvSpPr>
        <p:spPr>
          <a:xfrm>
            <a:off x="594360" y="1481328"/>
            <a:ext cx="10881360" cy="411480"/>
          </a:xfrm>
          <a:prstGeom prst="rect">
            <a:avLst/>
          </a:prstGeom>
          <a:noFill/>
          <a:ln/>
        </p:spPr>
        <p:txBody>
          <a:bodyPr wrap="square" lIns="0" tIns="0" rIns="0" bIns="0" rtlCol="0" anchor="ctr"/>
          <a:lstStyle/>
          <a:p>
            <a:pPr indent="0" marL="0">
              <a:buNone/>
            </a:pPr>
            <a:r>
              <a:rPr lang="en-US" sz="1350" i="1" dirty="0">
                <a:solidFill>
                  <a:srgbClr val="5A646C"/>
                </a:solidFill>
                <a:latin typeface="Arial" pitchFamily="34" charset="0"/>
                <a:ea typeface="Arial" pitchFamily="34" charset="-122"/>
                <a:cs typeface="Arial" pitchFamily="34" charset="-120"/>
              </a:rPr>
              <a:t>Sample of the style — short, applied, no trick questions. Answer from doctrine, in your own words:</a:t>
            </a:r>
            <a:endParaRPr lang="en-US" sz="1350" dirty="0"/>
          </a:p>
        </p:txBody>
      </p:sp>
      <p:sp>
        <p:nvSpPr>
          <p:cNvPr id="7" name="Shape 5"/>
          <p:cNvSpPr/>
          <p:nvPr/>
        </p:nvSpPr>
        <p:spPr>
          <a:xfrm>
            <a:off x="594360" y="2057400"/>
            <a:ext cx="11000232" cy="658368"/>
          </a:xfrm>
          <a:prstGeom prst="roundRect">
            <a:avLst>
              <a:gd name="adj" fmla="val 11111"/>
            </a:avLst>
          </a:prstGeom>
          <a:solidFill>
            <a:srgbClr val="FAFBFB"/>
          </a:solidFill>
          <a:ln w="6350">
            <a:solidFill>
              <a:srgbClr val="E2E5E8"/>
            </a:solidFill>
            <a:prstDash val="solid"/>
          </a:ln>
        </p:spPr>
      </p:sp>
      <p:sp>
        <p:nvSpPr>
          <p:cNvPr id="8" name="Text 6"/>
          <p:cNvSpPr/>
          <p:nvPr/>
        </p:nvSpPr>
        <p:spPr>
          <a:xfrm>
            <a:off x="822960" y="2057400"/>
            <a:ext cx="640080" cy="658368"/>
          </a:xfrm>
          <a:prstGeom prst="rect">
            <a:avLst/>
          </a:prstGeom>
          <a:noFill/>
          <a:ln/>
        </p:spPr>
        <p:txBody>
          <a:bodyPr wrap="square" lIns="0" tIns="0" rIns="0" bIns="0" rtlCol="0" anchor="ctr"/>
          <a:lstStyle/>
          <a:p>
            <a:pPr indent="0" marL="0">
              <a:buNone/>
            </a:pPr>
            <a:r>
              <a:rPr lang="en-US" sz="1400" b="1" dirty="0">
                <a:solidFill>
                  <a:srgbClr val="E8491D"/>
                </a:solidFill>
                <a:latin typeface="Arial" pitchFamily="34" charset="0"/>
                <a:ea typeface="Arial" pitchFamily="34" charset="-122"/>
                <a:cs typeface="Arial" pitchFamily="34" charset="-120"/>
              </a:rPr>
              <a:t>Q1</a:t>
            </a:r>
            <a:endParaRPr lang="en-US" sz="1400" dirty="0"/>
          </a:p>
        </p:txBody>
      </p:sp>
      <p:sp>
        <p:nvSpPr>
          <p:cNvPr id="9" name="Text 7"/>
          <p:cNvSpPr/>
          <p:nvPr/>
        </p:nvSpPr>
        <p:spPr>
          <a:xfrm>
            <a:off x="1554480" y="2057400"/>
            <a:ext cx="9765792" cy="658368"/>
          </a:xfrm>
          <a:prstGeom prst="rect">
            <a:avLst/>
          </a:prstGeom>
          <a:noFill/>
          <a:ln/>
        </p:spPr>
        <p:txBody>
          <a:bodyPr wrap="square" lIns="0" tIns="0" rIns="0" bIns="0" rtlCol="0" anchor="ctr"/>
          <a:lstStyle/>
          <a:p>
            <a:pPr indent="0" marL="0">
              <a:buNone/>
            </a:pPr>
            <a:r>
              <a:rPr lang="en-US" sz="1200" dirty="0">
                <a:solidFill>
                  <a:srgbClr val="1A2027"/>
                </a:solidFill>
                <a:latin typeface="Arial" pitchFamily="34" charset="0"/>
                <a:ea typeface="Arial" pitchFamily="34" charset="-122"/>
                <a:cs typeface="Arial" pitchFamily="34" charset="-120"/>
              </a:rPr>
              <a:t>Name the five actions of the first 60 seconds — in order.</a:t>
            </a:r>
            <a:endParaRPr lang="en-US" sz="1200" dirty="0"/>
          </a:p>
        </p:txBody>
      </p:sp>
      <p:sp>
        <p:nvSpPr>
          <p:cNvPr id="10" name="Shape 8"/>
          <p:cNvSpPr/>
          <p:nvPr/>
        </p:nvSpPr>
        <p:spPr>
          <a:xfrm>
            <a:off x="594360" y="2834640"/>
            <a:ext cx="11000232" cy="658368"/>
          </a:xfrm>
          <a:prstGeom prst="roundRect">
            <a:avLst>
              <a:gd name="adj" fmla="val 11111"/>
            </a:avLst>
          </a:prstGeom>
          <a:solidFill>
            <a:srgbClr val="F3F4F5"/>
          </a:solidFill>
          <a:ln w="6350">
            <a:solidFill>
              <a:srgbClr val="E2E5E8"/>
            </a:solidFill>
            <a:prstDash val="solid"/>
          </a:ln>
        </p:spPr>
      </p:sp>
      <p:sp>
        <p:nvSpPr>
          <p:cNvPr id="11" name="Text 9"/>
          <p:cNvSpPr/>
          <p:nvPr/>
        </p:nvSpPr>
        <p:spPr>
          <a:xfrm>
            <a:off x="822960" y="2834640"/>
            <a:ext cx="640080" cy="658368"/>
          </a:xfrm>
          <a:prstGeom prst="rect">
            <a:avLst/>
          </a:prstGeom>
          <a:noFill/>
          <a:ln/>
        </p:spPr>
        <p:txBody>
          <a:bodyPr wrap="square" lIns="0" tIns="0" rIns="0" bIns="0" rtlCol="0" anchor="ctr"/>
          <a:lstStyle/>
          <a:p>
            <a:pPr indent="0" marL="0">
              <a:buNone/>
            </a:pPr>
            <a:r>
              <a:rPr lang="en-US" sz="1400" b="1" dirty="0">
                <a:solidFill>
                  <a:srgbClr val="E8491D"/>
                </a:solidFill>
                <a:latin typeface="Arial" pitchFamily="34" charset="0"/>
                <a:ea typeface="Arial" pitchFamily="34" charset="-122"/>
                <a:cs typeface="Arial" pitchFamily="34" charset="-120"/>
              </a:rPr>
              <a:t>Q2</a:t>
            </a:r>
            <a:endParaRPr lang="en-US" sz="1400" dirty="0"/>
          </a:p>
        </p:txBody>
      </p:sp>
      <p:sp>
        <p:nvSpPr>
          <p:cNvPr id="12" name="Text 10"/>
          <p:cNvSpPr/>
          <p:nvPr/>
        </p:nvSpPr>
        <p:spPr>
          <a:xfrm>
            <a:off x="1554480" y="2834640"/>
            <a:ext cx="9765792" cy="658368"/>
          </a:xfrm>
          <a:prstGeom prst="rect">
            <a:avLst/>
          </a:prstGeom>
          <a:noFill/>
          <a:ln/>
        </p:spPr>
        <p:txBody>
          <a:bodyPr wrap="square" lIns="0" tIns="0" rIns="0" bIns="0" rtlCol="0" anchor="ctr"/>
          <a:lstStyle/>
          <a:p>
            <a:pPr indent="0" marL="0">
              <a:buNone/>
            </a:pPr>
            <a:r>
              <a:rPr lang="en-US" sz="1200" dirty="0">
                <a:solidFill>
                  <a:srgbClr val="1A2027"/>
                </a:solidFill>
                <a:latin typeface="Arial" pitchFamily="34" charset="0"/>
                <a:ea typeface="Arial" pitchFamily="34" charset="-122"/>
                <a:cs typeface="Arial" pitchFamily="34" charset="-120"/>
              </a:rPr>
              <a:t>Your CAN report for a shaker-area fire with two lines deployed: give all three parts in 20 seconds.</a:t>
            </a:r>
            <a:endParaRPr lang="en-US" sz="1200" dirty="0"/>
          </a:p>
        </p:txBody>
      </p:sp>
      <p:sp>
        <p:nvSpPr>
          <p:cNvPr id="13" name="Shape 11"/>
          <p:cNvSpPr/>
          <p:nvPr/>
        </p:nvSpPr>
        <p:spPr>
          <a:xfrm>
            <a:off x="594360" y="3611880"/>
            <a:ext cx="11000232" cy="658368"/>
          </a:xfrm>
          <a:prstGeom prst="roundRect">
            <a:avLst>
              <a:gd name="adj" fmla="val 11111"/>
            </a:avLst>
          </a:prstGeom>
          <a:solidFill>
            <a:srgbClr val="FAFBFB"/>
          </a:solidFill>
          <a:ln w="6350">
            <a:solidFill>
              <a:srgbClr val="E2E5E8"/>
            </a:solidFill>
            <a:prstDash val="solid"/>
          </a:ln>
        </p:spPr>
      </p:sp>
      <p:sp>
        <p:nvSpPr>
          <p:cNvPr id="14" name="Text 12"/>
          <p:cNvSpPr/>
          <p:nvPr/>
        </p:nvSpPr>
        <p:spPr>
          <a:xfrm>
            <a:off x="822960" y="3611880"/>
            <a:ext cx="640080" cy="658368"/>
          </a:xfrm>
          <a:prstGeom prst="rect">
            <a:avLst/>
          </a:prstGeom>
          <a:noFill/>
          <a:ln/>
        </p:spPr>
        <p:txBody>
          <a:bodyPr wrap="square" lIns="0" tIns="0" rIns="0" bIns="0" rtlCol="0" anchor="ctr"/>
          <a:lstStyle/>
          <a:p>
            <a:pPr indent="0" marL="0">
              <a:buNone/>
            </a:pPr>
            <a:r>
              <a:rPr lang="en-US" sz="1400" b="1" dirty="0">
                <a:solidFill>
                  <a:srgbClr val="E8491D"/>
                </a:solidFill>
                <a:latin typeface="Arial" pitchFamily="34" charset="0"/>
                <a:ea typeface="Arial" pitchFamily="34" charset="-122"/>
                <a:cs typeface="Arial" pitchFamily="34" charset="-120"/>
              </a:rPr>
              <a:t>Q3</a:t>
            </a:r>
            <a:endParaRPr lang="en-US" sz="1400" dirty="0"/>
          </a:p>
        </p:txBody>
      </p:sp>
      <p:sp>
        <p:nvSpPr>
          <p:cNvPr id="15" name="Text 13"/>
          <p:cNvSpPr/>
          <p:nvPr/>
        </p:nvSpPr>
        <p:spPr>
          <a:xfrm>
            <a:off x="1554480" y="3611880"/>
            <a:ext cx="9765792" cy="658368"/>
          </a:xfrm>
          <a:prstGeom prst="rect">
            <a:avLst/>
          </a:prstGeom>
          <a:noFill/>
          <a:ln/>
        </p:spPr>
        <p:txBody>
          <a:bodyPr wrap="square" lIns="0" tIns="0" rIns="0" bIns="0" rtlCol="0" anchor="ctr"/>
          <a:lstStyle/>
          <a:p>
            <a:pPr indent="0" marL="0">
              <a:buNone/>
            </a:pPr>
            <a:r>
              <a:rPr lang="en-US" sz="1200" dirty="0">
                <a:solidFill>
                  <a:srgbClr val="1A2027"/>
                </a:solidFill>
                <a:latin typeface="Arial" pitchFamily="34" charset="0"/>
                <a:ea typeface="Arial" pitchFamily="34" charset="-122"/>
                <a:cs typeface="Arial" pitchFamily="34" charset="-120"/>
              </a:rPr>
              <a:t>Which risk-philosophy line covers cooling an exposed, evacuated storage container — and what does it permit?</a:t>
            </a:r>
            <a:endParaRPr lang="en-US" sz="1200" dirty="0"/>
          </a:p>
        </p:txBody>
      </p:sp>
      <p:sp>
        <p:nvSpPr>
          <p:cNvPr id="16" name="Shape 14"/>
          <p:cNvSpPr/>
          <p:nvPr/>
        </p:nvSpPr>
        <p:spPr>
          <a:xfrm>
            <a:off x="594360" y="4389120"/>
            <a:ext cx="11000232" cy="658368"/>
          </a:xfrm>
          <a:prstGeom prst="roundRect">
            <a:avLst>
              <a:gd name="adj" fmla="val 11111"/>
            </a:avLst>
          </a:prstGeom>
          <a:solidFill>
            <a:srgbClr val="F3F4F5"/>
          </a:solidFill>
          <a:ln w="6350">
            <a:solidFill>
              <a:srgbClr val="E2E5E8"/>
            </a:solidFill>
            <a:prstDash val="solid"/>
          </a:ln>
        </p:spPr>
      </p:sp>
      <p:sp>
        <p:nvSpPr>
          <p:cNvPr id="17" name="Text 15"/>
          <p:cNvSpPr/>
          <p:nvPr/>
        </p:nvSpPr>
        <p:spPr>
          <a:xfrm>
            <a:off x="822960" y="4389120"/>
            <a:ext cx="640080" cy="658368"/>
          </a:xfrm>
          <a:prstGeom prst="rect">
            <a:avLst/>
          </a:prstGeom>
          <a:noFill/>
          <a:ln/>
        </p:spPr>
        <p:txBody>
          <a:bodyPr wrap="square" lIns="0" tIns="0" rIns="0" bIns="0" rtlCol="0" anchor="ctr"/>
          <a:lstStyle/>
          <a:p>
            <a:pPr indent="0" marL="0">
              <a:buNone/>
            </a:pPr>
            <a:r>
              <a:rPr lang="en-US" sz="1400" b="1" dirty="0">
                <a:solidFill>
                  <a:srgbClr val="E8491D"/>
                </a:solidFill>
                <a:latin typeface="Arial" pitchFamily="34" charset="0"/>
                <a:ea typeface="Arial" pitchFamily="34" charset="-122"/>
                <a:cs typeface="Arial" pitchFamily="34" charset="-120"/>
              </a:rPr>
              <a:t>Q4</a:t>
            </a:r>
            <a:endParaRPr lang="en-US" sz="1400" dirty="0"/>
          </a:p>
        </p:txBody>
      </p:sp>
      <p:sp>
        <p:nvSpPr>
          <p:cNvPr id="18" name="Text 16"/>
          <p:cNvSpPr/>
          <p:nvPr/>
        </p:nvSpPr>
        <p:spPr>
          <a:xfrm>
            <a:off x="1554480" y="4389120"/>
            <a:ext cx="9765792" cy="658368"/>
          </a:xfrm>
          <a:prstGeom prst="rect">
            <a:avLst/>
          </a:prstGeom>
          <a:noFill/>
          <a:ln/>
        </p:spPr>
        <p:txBody>
          <a:bodyPr wrap="square" lIns="0" tIns="0" rIns="0" bIns="0" rtlCol="0" anchor="ctr"/>
          <a:lstStyle/>
          <a:p>
            <a:pPr indent="0" marL="0">
              <a:buNone/>
            </a:pPr>
            <a:r>
              <a:rPr lang="en-US" sz="1200" dirty="0">
                <a:solidFill>
                  <a:srgbClr val="1A2027"/>
                </a:solidFill>
                <a:latin typeface="Arial" pitchFamily="34" charset="0"/>
                <a:ea typeface="Arial" pitchFamily="34" charset="-122"/>
                <a:cs typeface="Arial" pitchFamily="34" charset="-120"/>
              </a:rPr>
              <a:t>You hear MAYDAY. What are your first three actions as incident commander?</a:t>
            </a:r>
            <a:endParaRPr lang="en-US" sz="1200" dirty="0"/>
          </a:p>
        </p:txBody>
      </p:sp>
      <p:sp>
        <p:nvSpPr>
          <p:cNvPr id="19" name="Shape 17"/>
          <p:cNvSpPr/>
          <p:nvPr/>
        </p:nvSpPr>
        <p:spPr>
          <a:xfrm>
            <a:off x="594360" y="5166360"/>
            <a:ext cx="11000232" cy="658368"/>
          </a:xfrm>
          <a:prstGeom prst="roundRect">
            <a:avLst>
              <a:gd name="adj" fmla="val 11111"/>
            </a:avLst>
          </a:prstGeom>
          <a:solidFill>
            <a:srgbClr val="FAFBFB"/>
          </a:solidFill>
          <a:ln w="6350">
            <a:solidFill>
              <a:srgbClr val="E2E5E8"/>
            </a:solidFill>
            <a:prstDash val="solid"/>
          </a:ln>
        </p:spPr>
      </p:sp>
      <p:sp>
        <p:nvSpPr>
          <p:cNvPr id="20" name="Text 18"/>
          <p:cNvSpPr/>
          <p:nvPr/>
        </p:nvSpPr>
        <p:spPr>
          <a:xfrm>
            <a:off x="822960" y="5166360"/>
            <a:ext cx="640080" cy="658368"/>
          </a:xfrm>
          <a:prstGeom prst="rect">
            <a:avLst/>
          </a:prstGeom>
          <a:noFill/>
          <a:ln/>
        </p:spPr>
        <p:txBody>
          <a:bodyPr wrap="square" lIns="0" tIns="0" rIns="0" bIns="0" rtlCol="0" anchor="ctr"/>
          <a:lstStyle/>
          <a:p>
            <a:pPr indent="0" marL="0">
              <a:buNone/>
            </a:pPr>
            <a:r>
              <a:rPr lang="en-US" sz="1400" b="1" dirty="0">
                <a:solidFill>
                  <a:srgbClr val="E8491D"/>
                </a:solidFill>
                <a:latin typeface="Arial" pitchFamily="34" charset="0"/>
                <a:ea typeface="Arial" pitchFamily="34" charset="-122"/>
                <a:cs typeface="Arial" pitchFamily="34" charset="-120"/>
              </a:rPr>
              <a:t>Q5</a:t>
            </a:r>
            <a:endParaRPr lang="en-US" sz="1400" dirty="0"/>
          </a:p>
        </p:txBody>
      </p:sp>
      <p:sp>
        <p:nvSpPr>
          <p:cNvPr id="21" name="Text 19"/>
          <p:cNvSpPr/>
          <p:nvPr/>
        </p:nvSpPr>
        <p:spPr>
          <a:xfrm>
            <a:off x="1554480" y="5166360"/>
            <a:ext cx="9765792" cy="658368"/>
          </a:xfrm>
          <a:prstGeom prst="rect">
            <a:avLst/>
          </a:prstGeom>
          <a:noFill/>
          <a:ln/>
        </p:spPr>
        <p:txBody>
          <a:bodyPr wrap="square" lIns="0" tIns="0" rIns="0" bIns="0" rtlCol="0" anchor="ctr"/>
          <a:lstStyle/>
          <a:p>
            <a:pPr indent="0" marL="0">
              <a:buNone/>
            </a:pPr>
            <a:r>
              <a:rPr lang="en-US" sz="1200" dirty="0">
                <a:solidFill>
                  <a:srgbClr val="1A2027"/>
                </a:solidFill>
                <a:latin typeface="Arial" pitchFamily="34" charset="0"/>
                <a:ea typeface="Arial" pitchFamily="34" charset="-122"/>
                <a:cs typeface="Arial" pitchFamily="34" charset="-120"/>
              </a:rPr>
              <a:t>The wind shifts 180° during a defensive fuel fire. What moves, and what do you announce?</a:t>
            </a:r>
            <a:endParaRPr lang="en-US" sz="1200" dirty="0"/>
          </a:p>
        </p:txBody>
      </p:sp>
      <p:sp>
        <p:nvSpPr>
          <p:cNvPr id="22" name="Text 20"/>
          <p:cNvSpPr/>
          <p:nvPr/>
        </p:nvSpPr>
        <p:spPr>
          <a:xfrm>
            <a:off x="594360" y="5989320"/>
            <a:ext cx="11000232" cy="411480"/>
          </a:xfrm>
          <a:prstGeom prst="rect">
            <a:avLst/>
          </a:prstGeom>
          <a:noFill/>
          <a:ln/>
        </p:spPr>
        <p:txBody>
          <a:bodyPr wrap="square" lIns="0" tIns="0" rIns="0" bIns="0" rtlCol="0" anchor="ctr"/>
          <a:lstStyle/>
          <a:p>
            <a:pPr indent="0" marL="0">
              <a:buNone/>
            </a:pPr>
            <a:r>
              <a:rPr lang="en-US" sz="1150" b="1" dirty="0">
                <a:solidFill>
                  <a:srgbClr val="C13415"/>
                </a:solidFill>
                <a:latin typeface="Arial" pitchFamily="34" charset="0"/>
                <a:ea typeface="Arial" pitchFamily="34" charset="-122"/>
                <a:cs typeface="Arial" pitchFamily="34" charset="-120"/>
              </a:rPr>
              <a:t>Format:  </a:t>
            </a:r>
            <a:pPr indent="0" marL="0">
              <a:buNone/>
            </a:pPr>
            <a:r>
              <a:rPr lang="en-US" sz="1150" dirty="0">
                <a:solidFill>
                  <a:srgbClr val="5A646C"/>
                </a:solidFill>
                <a:latin typeface="Arial" pitchFamily="34" charset="0"/>
                <a:ea typeface="Arial" pitchFamily="34" charset="-122"/>
                <a:cs typeface="Arial" pitchFamily="34" charset="-120"/>
              </a:rPr>
              <a:t>written + oral, 30 minutes, doctrine from Modules 1–6 only. If you led the simulations well, you already know every answer.</a:t>
            </a:r>
            <a:endParaRPr lang="en-US" sz="11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74</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DAY 3</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Certification: what you leave with</a:t>
            </a:r>
            <a:endParaRPr lang="en-US" sz="3000" dirty="0"/>
          </a:p>
        </p:txBody>
      </p:sp>
      <p:pic>
        <p:nvPicPr>
          <p:cNvPr id="6" name="Image 0" descr="/home/user/My-Future-Idaes/SANAD-Fire-Team-Leader-Course/assets/img/debrief.jpg">    </p:cNvPr>
          <p:cNvPicPr>
            <a:picLocks noChangeAspect="1"/>
          </p:cNvPicPr>
          <p:nvPr/>
        </p:nvPicPr>
        <p:blipFill>
          <a:blip r:embed="rId1"/>
          <a:srcRect l="0" r="0" t="0" b="0"/>
          <a:stretch/>
        </p:blipFill>
        <p:spPr>
          <a:xfrm>
            <a:off x="594360" y="1737360"/>
            <a:ext cx="5120640" cy="3108960"/>
          </a:xfrm>
          <a:prstGeom prst="rect">
            <a:avLst/>
          </a:prstGeom>
        </p:spPr>
      </p:pic>
      <p:sp>
        <p:nvSpPr>
          <p:cNvPr id="7" name="Shape 4"/>
          <p:cNvSpPr/>
          <p:nvPr/>
        </p:nvSpPr>
        <p:spPr>
          <a:xfrm>
            <a:off x="5989320" y="1783080"/>
            <a:ext cx="502920" cy="502920"/>
          </a:xfrm>
          <a:prstGeom prst="ellipse">
            <a:avLst/>
          </a:prstGeom>
          <a:solidFill>
            <a:srgbClr val="E8491D"/>
          </a:solidFill>
          <a:ln/>
        </p:spPr>
      </p:sp>
      <p:pic>
        <p:nvPicPr>
          <p:cNvPr id="8" name="Image 1" descr="/tmp/claude-0/-home-user-My-Future-Idaes/0806094f-208a-506e-82b2-f78683d50c82/scratchpad/icons/FaAward_white.png">    </p:cNvPr>
          <p:cNvPicPr>
            <a:picLocks noChangeAspect="1"/>
          </p:cNvPicPr>
          <p:nvPr/>
        </p:nvPicPr>
        <p:blipFill>
          <a:blip r:embed="rId2"/>
          <a:stretch>
            <a:fillRect/>
          </a:stretch>
        </p:blipFill>
        <p:spPr>
          <a:xfrm>
            <a:off x="6110021" y="1903781"/>
            <a:ext cx="261518" cy="261518"/>
          </a:xfrm>
          <a:prstGeom prst="rect">
            <a:avLst/>
          </a:prstGeom>
        </p:spPr>
      </p:pic>
      <p:sp>
        <p:nvSpPr>
          <p:cNvPr id="9" name="Text 5"/>
          <p:cNvSpPr/>
          <p:nvPr/>
        </p:nvSpPr>
        <p:spPr>
          <a:xfrm>
            <a:off x="6675120" y="1737360"/>
            <a:ext cx="4937760" cy="1051560"/>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Certificate of Competency — Fire Fighting Team Leader
</a:t>
            </a:r>
            <a:pPr indent="0" marL="0">
              <a:buNone/>
            </a:pPr>
            <a:r>
              <a:rPr lang="en-US" sz="1050" dirty="0">
                <a:solidFill>
                  <a:srgbClr val="5A646C"/>
                </a:solidFill>
                <a:latin typeface="Arial" pitchFamily="34" charset="0"/>
                <a:ea typeface="Arial" pitchFamily="34" charset="-122"/>
                <a:cs typeface="Arial" pitchFamily="34" charset="-120"/>
              </a:rPr>
              <a:t>Issued by NEFT Energies, ISO &amp; TVTC approved training institution.</a:t>
            </a:r>
            <a:endParaRPr lang="en-US" sz="1250" dirty="0"/>
          </a:p>
        </p:txBody>
      </p:sp>
      <p:sp>
        <p:nvSpPr>
          <p:cNvPr id="10" name="Shape 6"/>
          <p:cNvSpPr/>
          <p:nvPr/>
        </p:nvSpPr>
        <p:spPr>
          <a:xfrm>
            <a:off x="5989320" y="2898648"/>
            <a:ext cx="502920" cy="502920"/>
          </a:xfrm>
          <a:prstGeom prst="ellipse">
            <a:avLst/>
          </a:prstGeom>
          <a:solidFill>
            <a:srgbClr val="E8491D"/>
          </a:solidFill>
          <a:ln/>
        </p:spPr>
      </p:sp>
      <p:pic>
        <p:nvPicPr>
          <p:cNvPr id="11" name="Image 2" descr="/tmp/claude-0/-home-user-My-Future-Idaes/0806094f-208a-506e-82b2-f78683d50c82/scratchpad/icons/FaClipboardCheck_white.png">    </p:cNvPr>
          <p:cNvPicPr>
            <a:picLocks noChangeAspect="1"/>
          </p:cNvPicPr>
          <p:nvPr/>
        </p:nvPicPr>
        <p:blipFill>
          <a:blip r:embed="rId3"/>
          <a:stretch>
            <a:fillRect/>
          </a:stretch>
        </p:blipFill>
        <p:spPr>
          <a:xfrm>
            <a:off x="6110021" y="3019349"/>
            <a:ext cx="261518" cy="261518"/>
          </a:xfrm>
          <a:prstGeom prst="rect">
            <a:avLst/>
          </a:prstGeom>
        </p:spPr>
      </p:pic>
      <p:sp>
        <p:nvSpPr>
          <p:cNvPr id="12" name="Text 7"/>
          <p:cNvSpPr/>
          <p:nvPr/>
        </p:nvSpPr>
        <p:spPr>
          <a:xfrm>
            <a:off x="6675120" y="2852928"/>
            <a:ext cx="4937760" cy="1051560"/>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Individual competency report
</a:t>
            </a:r>
            <a:pPr indent="0" marL="0">
              <a:buNone/>
            </a:pPr>
            <a:r>
              <a:rPr lang="en-US" sz="1050" dirty="0">
                <a:solidFill>
                  <a:srgbClr val="5A646C"/>
                </a:solidFill>
                <a:latin typeface="Arial" pitchFamily="34" charset="0"/>
                <a:ea typeface="Arial" pitchFamily="34" charset="-122"/>
                <a:cs typeface="Arial" pitchFamily="34" charset="-120"/>
              </a:rPr>
              <a:t>Strengths, development areas and assessor commentary — usable in SANAD's competency management system.</a:t>
            </a:r>
            <a:endParaRPr lang="en-US" sz="1250" dirty="0"/>
          </a:p>
        </p:txBody>
      </p:sp>
      <p:sp>
        <p:nvSpPr>
          <p:cNvPr id="13" name="Shape 8"/>
          <p:cNvSpPr/>
          <p:nvPr/>
        </p:nvSpPr>
        <p:spPr>
          <a:xfrm>
            <a:off x="5989320" y="4014216"/>
            <a:ext cx="502920" cy="502920"/>
          </a:xfrm>
          <a:prstGeom prst="ellipse">
            <a:avLst/>
          </a:prstGeom>
          <a:solidFill>
            <a:srgbClr val="E8491D"/>
          </a:solidFill>
          <a:ln/>
        </p:spPr>
      </p:sp>
      <p:pic>
        <p:nvPicPr>
          <p:cNvPr id="14" name="Image 3" descr="/tmp/claude-0/-home-user-My-Future-Idaes/0806094f-208a-506e-82b2-f78683d50c82/scratchpad/icons/FaBookOpen_white.png">    </p:cNvPr>
          <p:cNvPicPr>
            <a:picLocks noChangeAspect="1"/>
          </p:cNvPicPr>
          <p:nvPr/>
        </p:nvPicPr>
        <p:blipFill>
          <a:blip r:embed="rId4"/>
          <a:stretch>
            <a:fillRect/>
          </a:stretch>
        </p:blipFill>
        <p:spPr>
          <a:xfrm>
            <a:off x="6110021" y="4134917"/>
            <a:ext cx="261518" cy="261518"/>
          </a:xfrm>
          <a:prstGeom prst="rect">
            <a:avLst/>
          </a:prstGeom>
        </p:spPr>
      </p:pic>
      <p:sp>
        <p:nvSpPr>
          <p:cNvPr id="15" name="Text 9"/>
          <p:cNvSpPr/>
          <p:nvPr/>
        </p:nvSpPr>
        <p:spPr>
          <a:xfrm>
            <a:off x="6675120" y="3968496"/>
            <a:ext cx="4937760" cy="1051560"/>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Leader's field pack
</a:t>
            </a:r>
            <a:pPr indent="0" marL="0">
              <a:buNone/>
            </a:pPr>
            <a:r>
              <a:rPr lang="en-US" sz="1050" dirty="0">
                <a:solidFill>
                  <a:srgbClr val="5A646C"/>
                </a:solidFill>
                <a:latin typeface="Arial" pitchFamily="34" charset="0"/>
                <a:ea typeface="Arial" pitchFamily="34" charset="-122"/>
                <a:cs typeface="Arial" pitchFamily="34" charset="-120"/>
              </a:rPr>
              <a:t>Size-up card, CAN SITREP card, DRA loop, handover script and accountability checklists — pocket-sized for the rig.</a:t>
            </a:r>
            <a:endParaRPr lang="en-US" sz="1250" dirty="0"/>
          </a:p>
        </p:txBody>
      </p:sp>
      <p:sp>
        <p:nvSpPr>
          <p:cNvPr id="16" name="Shape 10"/>
          <p:cNvSpPr/>
          <p:nvPr/>
        </p:nvSpPr>
        <p:spPr>
          <a:xfrm>
            <a:off x="5989320" y="5129784"/>
            <a:ext cx="502920" cy="502920"/>
          </a:xfrm>
          <a:prstGeom prst="ellipse">
            <a:avLst/>
          </a:prstGeom>
          <a:solidFill>
            <a:srgbClr val="E8491D"/>
          </a:solidFill>
          <a:ln/>
        </p:spPr>
      </p:sp>
      <p:pic>
        <p:nvPicPr>
          <p:cNvPr id="17" name="Image 4" descr="/tmp/claude-0/-home-user-My-Future-Idaes/0806094f-208a-506e-82b2-f78683d50c82/scratchpad/icons/FaSyncAlt_white.png">    </p:cNvPr>
          <p:cNvPicPr>
            <a:picLocks noChangeAspect="1"/>
          </p:cNvPicPr>
          <p:nvPr/>
        </p:nvPicPr>
        <p:blipFill>
          <a:blip r:embed="rId5"/>
          <a:stretch>
            <a:fillRect/>
          </a:stretch>
        </p:blipFill>
        <p:spPr>
          <a:xfrm>
            <a:off x="6110021" y="5250485"/>
            <a:ext cx="261518" cy="261518"/>
          </a:xfrm>
          <a:prstGeom prst="rect">
            <a:avLst/>
          </a:prstGeom>
        </p:spPr>
      </p:pic>
      <p:sp>
        <p:nvSpPr>
          <p:cNvPr id="18" name="Text 11"/>
          <p:cNvSpPr/>
          <p:nvPr/>
        </p:nvSpPr>
        <p:spPr>
          <a:xfrm>
            <a:off x="6675120" y="5084064"/>
            <a:ext cx="4937760" cy="1051560"/>
          </a:xfrm>
          <a:prstGeom prst="rect">
            <a:avLst/>
          </a:prstGeom>
          <a:noFill/>
          <a:ln/>
        </p:spPr>
        <p:txBody>
          <a:bodyPr wrap="square" lIns="0" tIns="0" rIns="0" bIns="0" rtlCol="0" anchor="ctr"/>
          <a:lstStyle/>
          <a:p>
            <a:pPr indent="0" marL="0">
              <a:buNone/>
            </a:pPr>
            <a:r>
              <a:rPr lang="en-US" sz="1250" b="1" dirty="0">
                <a:solidFill>
                  <a:srgbClr val="1A2027"/>
                </a:solidFill>
                <a:latin typeface="Arial" pitchFamily="34" charset="0"/>
                <a:ea typeface="Arial" pitchFamily="34" charset="-122"/>
                <a:cs typeface="Arial" pitchFamily="34" charset="-120"/>
              </a:rPr>
              <a:t>Refresher pathway
</a:t>
            </a:r>
            <a:pPr indent="0" marL="0">
              <a:buNone/>
            </a:pPr>
            <a:r>
              <a:rPr lang="en-US" sz="1050" dirty="0">
                <a:solidFill>
                  <a:srgbClr val="5A646C"/>
                </a:solidFill>
                <a:latin typeface="Arial" pitchFamily="34" charset="0"/>
                <a:ea typeface="Arial" pitchFamily="34" charset="-122"/>
                <a:cs typeface="Arial" pitchFamily="34" charset="-120"/>
              </a:rPr>
              <a:t>Recommended refresher and drill program to keep the capability alive between emergencies.</a:t>
            </a:r>
            <a:endParaRPr lang="en-US" sz="1250" dirty="0"/>
          </a:p>
        </p:txBody>
      </p:sp>
      <p:sp>
        <p:nvSpPr>
          <p:cNvPr id="19" name="Text 12"/>
          <p:cNvSpPr/>
          <p:nvPr/>
        </p:nvSpPr>
        <p:spPr>
          <a:xfrm>
            <a:off x="594360" y="5074920"/>
            <a:ext cx="5120640" cy="822960"/>
          </a:xfrm>
          <a:prstGeom prst="rect">
            <a:avLst/>
          </a:prstGeom>
          <a:noFill/>
          <a:ln/>
        </p:spPr>
        <p:txBody>
          <a:bodyPr wrap="square" lIns="0" tIns="0" rIns="0" bIns="0" rtlCol="0" anchor="ctr"/>
          <a:lstStyle/>
          <a:p>
            <a:pPr indent="0" marL="0">
              <a:buNone/>
            </a:pPr>
            <a:r>
              <a:rPr lang="en-US" sz="1100" b="1" dirty="0">
                <a:solidFill>
                  <a:srgbClr val="C13415"/>
                </a:solidFill>
                <a:latin typeface="Arial" pitchFamily="34" charset="0"/>
                <a:ea typeface="Arial" pitchFamily="34" charset="-122"/>
                <a:cs typeface="Arial" pitchFamily="34" charset="-120"/>
              </a:rPr>
              <a:t>Accreditation footprint:  </a:t>
            </a:r>
            <a:pPr indent="0" marL="0">
              <a:buNone/>
            </a:pPr>
            <a:r>
              <a:rPr lang="en-US" sz="1100" dirty="0">
                <a:solidFill>
                  <a:srgbClr val="5A646C"/>
                </a:solidFill>
                <a:latin typeface="Arial" pitchFamily="34" charset="0"/>
                <a:ea typeface="Arial" pitchFamily="34" charset="-122"/>
                <a:cs typeface="Arial" pitchFamily="34" charset="-120"/>
              </a:rPr>
              <a:t>NEFT Energies is recognized by IADC, OPITO, LEEA, CIEH, DROPS, NFPA, IASP, IPAF, NEBOSH and IOSH.</a:t>
            </a:r>
            <a:endParaRPr lang="en-US" sz="11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75</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AFTER THE COURSE</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Back on the rig: the 30-day command plan</a:t>
            </a:r>
            <a:endParaRPr lang="en-US" sz="3000" dirty="0"/>
          </a:p>
        </p:txBody>
      </p:sp>
      <p:sp>
        <p:nvSpPr>
          <p:cNvPr id="6" name="Shape 4"/>
          <p:cNvSpPr/>
          <p:nvPr/>
        </p:nvSpPr>
        <p:spPr>
          <a:xfrm>
            <a:off x="594360" y="1828800"/>
            <a:ext cx="2544318" cy="3108960"/>
          </a:xfrm>
          <a:prstGeom prst="roundRect">
            <a:avLst>
              <a:gd name="adj" fmla="val 3594"/>
            </a:avLst>
          </a:prstGeom>
          <a:solidFill>
            <a:srgbClr val="F3F4F5"/>
          </a:solidFill>
          <a:ln/>
        </p:spPr>
      </p:sp>
      <p:sp>
        <p:nvSpPr>
          <p:cNvPr id="7" name="Text 5"/>
          <p:cNvSpPr/>
          <p:nvPr/>
        </p:nvSpPr>
        <p:spPr>
          <a:xfrm>
            <a:off x="795528" y="2011680"/>
            <a:ext cx="2141982" cy="292608"/>
          </a:xfrm>
          <a:prstGeom prst="rect">
            <a:avLst/>
          </a:prstGeom>
          <a:noFill/>
          <a:ln/>
        </p:spPr>
        <p:txBody>
          <a:bodyPr wrap="square" lIns="0" tIns="0" rIns="0" bIns="0" rtlCol="0" anchor="ctr"/>
          <a:lstStyle/>
          <a:p>
            <a:pPr indent="0" marL="0">
              <a:buNone/>
            </a:pPr>
            <a:r>
              <a:rPr lang="en-US" sz="1150" b="1" spc="150" kern="0" dirty="0">
                <a:solidFill>
                  <a:srgbClr val="E8491D"/>
                </a:solidFill>
                <a:latin typeface="Arial" pitchFamily="34" charset="0"/>
                <a:ea typeface="Arial" pitchFamily="34" charset="-122"/>
                <a:cs typeface="Arial" pitchFamily="34" charset="-120"/>
              </a:rPr>
              <a:t>WEEK 1</a:t>
            </a:r>
            <a:endParaRPr lang="en-US" sz="1150" dirty="0"/>
          </a:p>
        </p:txBody>
      </p:sp>
      <p:sp>
        <p:nvSpPr>
          <p:cNvPr id="8" name="Text 6"/>
          <p:cNvSpPr/>
          <p:nvPr/>
        </p:nvSpPr>
        <p:spPr>
          <a:xfrm>
            <a:off x="795528" y="2331720"/>
            <a:ext cx="2141982" cy="566928"/>
          </a:xfrm>
          <a:prstGeom prst="rect">
            <a:avLst/>
          </a:prstGeom>
          <a:noFill/>
          <a:ln/>
        </p:spPr>
        <p:txBody>
          <a:bodyPr wrap="square" lIns="0" tIns="0" rIns="0" bIns="0" rtlCol="0" anchor="ctr"/>
          <a:lstStyle/>
          <a:p>
            <a:pPr indent="0" marL="0">
              <a:buNone/>
            </a:pPr>
            <a:r>
              <a:rPr lang="en-US" sz="1350" b="1" dirty="0">
                <a:solidFill>
                  <a:srgbClr val="1A2027"/>
                </a:solidFill>
                <a:latin typeface="Arial" pitchFamily="34" charset="0"/>
                <a:ea typeface="Arial" pitchFamily="34" charset="-122"/>
                <a:cs typeface="Arial" pitchFamily="34" charset="-120"/>
              </a:rPr>
              <a:t>Walk your ground</a:t>
            </a:r>
            <a:endParaRPr lang="en-US" sz="1350" dirty="0"/>
          </a:p>
        </p:txBody>
      </p:sp>
      <p:sp>
        <p:nvSpPr>
          <p:cNvPr id="9" name="Text 7"/>
          <p:cNvSpPr/>
          <p:nvPr/>
        </p:nvSpPr>
        <p:spPr>
          <a:xfrm>
            <a:off x="795528" y="2944368"/>
            <a:ext cx="2141982" cy="182880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Re-do the size-up of your own rig: hazards, water points, muster, ICP location. Brief your crew on what you found.</a:t>
            </a:r>
            <a:endParaRPr lang="en-US" sz="1050" dirty="0"/>
          </a:p>
        </p:txBody>
      </p:sp>
      <p:sp>
        <p:nvSpPr>
          <p:cNvPr id="10" name="Text 8"/>
          <p:cNvSpPr/>
          <p:nvPr/>
        </p:nvSpPr>
        <p:spPr>
          <a:xfrm>
            <a:off x="3092958" y="3063240"/>
            <a:ext cx="365760" cy="548640"/>
          </a:xfrm>
          <a:prstGeom prst="rect">
            <a:avLst/>
          </a:prstGeom>
          <a:noFill/>
          <a:ln/>
        </p:spPr>
        <p:txBody>
          <a:bodyPr wrap="square" lIns="0" tIns="0" rIns="0" bIns="0" rtlCol="0" anchor="ctr"/>
          <a:lstStyle/>
          <a:p>
            <a:pPr algn="ctr" indent="0" marL="0">
              <a:buNone/>
            </a:pPr>
            <a:r>
              <a:rPr lang="en-US" sz="2000" b="1" dirty="0">
                <a:solidFill>
                  <a:srgbClr val="E8491D"/>
                </a:solidFill>
                <a:latin typeface="Arial" pitchFamily="34" charset="0"/>
                <a:ea typeface="Arial" pitchFamily="34" charset="-122"/>
                <a:cs typeface="Arial" pitchFamily="34" charset="-120"/>
              </a:rPr>
              <a:t>→</a:t>
            </a:r>
            <a:endParaRPr lang="en-US" sz="2000" dirty="0"/>
          </a:p>
        </p:txBody>
      </p:sp>
      <p:sp>
        <p:nvSpPr>
          <p:cNvPr id="11" name="Shape 9"/>
          <p:cNvSpPr/>
          <p:nvPr/>
        </p:nvSpPr>
        <p:spPr>
          <a:xfrm>
            <a:off x="3412998" y="1828800"/>
            <a:ext cx="2544318" cy="3108960"/>
          </a:xfrm>
          <a:prstGeom prst="roundRect">
            <a:avLst>
              <a:gd name="adj" fmla="val 3594"/>
            </a:avLst>
          </a:prstGeom>
          <a:solidFill>
            <a:srgbClr val="F3F4F5"/>
          </a:solidFill>
          <a:ln/>
        </p:spPr>
      </p:sp>
      <p:sp>
        <p:nvSpPr>
          <p:cNvPr id="12" name="Text 10"/>
          <p:cNvSpPr/>
          <p:nvPr/>
        </p:nvSpPr>
        <p:spPr>
          <a:xfrm>
            <a:off x="3614166" y="2011680"/>
            <a:ext cx="2141982" cy="292608"/>
          </a:xfrm>
          <a:prstGeom prst="rect">
            <a:avLst/>
          </a:prstGeom>
          <a:noFill/>
          <a:ln/>
        </p:spPr>
        <p:txBody>
          <a:bodyPr wrap="square" lIns="0" tIns="0" rIns="0" bIns="0" rtlCol="0" anchor="ctr"/>
          <a:lstStyle/>
          <a:p>
            <a:pPr indent="0" marL="0">
              <a:buNone/>
            </a:pPr>
            <a:r>
              <a:rPr lang="en-US" sz="1150" b="1" spc="150" kern="0" dirty="0">
                <a:solidFill>
                  <a:srgbClr val="E8491D"/>
                </a:solidFill>
                <a:latin typeface="Arial" pitchFamily="34" charset="0"/>
                <a:ea typeface="Arial" pitchFamily="34" charset="-122"/>
                <a:cs typeface="Arial" pitchFamily="34" charset="-120"/>
              </a:rPr>
              <a:t>WEEK 2</a:t>
            </a:r>
            <a:endParaRPr lang="en-US" sz="1150" dirty="0"/>
          </a:p>
        </p:txBody>
      </p:sp>
      <p:sp>
        <p:nvSpPr>
          <p:cNvPr id="13" name="Text 11"/>
          <p:cNvSpPr/>
          <p:nvPr/>
        </p:nvSpPr>
        <p:spPr>
          <a:xfrm>
            <a:off x="3614166" y="2331720"/>
            <a:ext cx="2141982" cy="566928"/>
          </a:xfrm>
          <a:prstGeom prst="rect">
            <a:avLst/>
          </a:prstGeom>
          <a:noFill/>
          <a:ln/>
        </p:spPr>
        <p:txBody>
          <a:bodyPr wrap="square" lIns="0" tIns="0" rIns="0" bIns="0" rtlCol="0" anchor="ctr"/>
          <a:lstStyle/>
          <a:p>
            <a:pPr indent="0" marL="0">
              <a:buNone/>
            </a:pPr>
            <a:r>
              <a:rPr lang="en-US" sz="1350" b="1" dirty="0">
                <a:solidFill>
                  <a:srgbClr val="1A2027"/>
                </a:solidFill>
                <a:latin typeface="Arial" pitchFamily="34" charset="0"/>
                <a:ea typeface="Arial" pitchFamily="34" charset="-122"/>
                <a:cs typeface="Arial" pitchFamily="34" charset="-120"/>
              </a:rPr>
              <a:t>Drill the first 60 seconds</a:t>
            </a:r>
            <a:endParaRPr lang="en-US" sz="1350" dirty="0"/>
          </a:p>
        </p:txBody>
      </p:sp>
      <p:sp>
        <p:nvSpPr>
          <p:cNvPr id="14" name="Text 12"/>
          <p:cNvSpPr/>
          <p:nvPr/>
        </p:nvSpPr>
        <p:spPr>
          <a:xfrm>
            <a:off x="3614166" y="2944368"/>
            <a:ext cx="2141982" cy="182880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Run the five-step drill with your shift — twice. Time it. Fix what stumbles.</a:t>
            </a:r>
            <a:endParaRPr lang="en-US" sz="1050" dirty="0"/>
          </a:p>
        </p:txBody>
      </p:sp>
      <p:sp>
        <p:nvSpPr>
          <p:cNvPr id="15" name="Text 13"/>
          <p:cNvSpPr/>
          <p:nvPr/>
        </p:nvSpPr>
        <p:spPr>
          <a:xfrm>
            <a:off x="5911596" y="3063240"/>
            <a:ext cx="365760" cy="548640"/>
          </a:xfrm>
          <a:prstGeom prst="rect">
            <a:avLst/>
          </a:prstGeom>
          <a:noFill/>
          <a:ln/>
        </p:spPr>
        <p:txBody>
          <a:bodyPr wrap="square" lIns="0" tIns="0" rIns="0" bIns="0" rtlCol="0" anchor="ctr"/>
          <a:lstStyle/>
          <a:p>
            <a:pPr algn="ctr" indent="0" marL="0">
              <a:buNone/>
            </a:pPr>
            <a:r>
              <a:rPr lang="en-US" sz="2000" b="1" dirty="0">
                <a:solidFill>
                  <a:srgbClr val="E8491D"/>
                </a:solidFill>
                <a:latin typeface="Arial" pitchFamily="34" charset="0"/>
                <a:ea typeface="Arial" pitchFamily="34" charset="-122"/>
                <a:cs typeface="Arial" pitchFamily="34" charset="-120"/>
              </a:rPr>
              <a:t>→</a:t>
            </a:r>
            <a:endParaRPr lang="en-US" sz="2000" dirty="0"/>
          </a:p>
        </p:txBody>
      </p:sp>
      <p:sp>
        <p:nvSpPr>
          <p:cNvPr id="16" name="Shape 14"/>
          <p:cNvSpPr/>
          <p:nvPr/>
        </p:nvSpPr>
        <p:spPr>
          <a:xfrm>
            <a:off x="6231636" y="1828800"/>
            <a:ext cx="2544318" cy="3108960"/>
          </a:xfrm>
          <a:prstGeom prst="roundRect">
            <a:avLst>
              <a:gd name="adj" fmla="val 3594"/>
            </a:avLst>
          </a:prstGeom>
          <a:solidFill>
            <a:srgbClr val="F3F4F5"/>
          </a:solidFill>
          <a:ln/>
        </p:spPr>
      </p:sp>
      <p:sp>
        <p:nvSpPr>
          <p:cNvPr id="17" name="Text 15"/>
          <p:cNvSpPr/>
          <p:nvPr/>
        </p:nvSpPr>
        <p:spPr>
          <a:xfrm>
            <a:off x="6432804" y="2011680"/>
            <a:ext cx="2141982" cy="292608"/>
          </a:xfrm>
          <a:prstGeom prst="rect">
            <a:avLst/>
          </a:prstGeom>
          <a:noFill/>
          <a:ln/>
        </p:spPr>
        <p:txBody>
          <a:bodyPr wrap="square" lIns="0" tIns="0" rIns="0" bIns="0" rtlCol="0" anchor="ctr"/>
          <a:lstStyle/>
          <a:p>
            <a:pPr indent="0" marL="0">
              <a:buNone/>
            </a:pPr>
            <a:r>
              <a:rPr lang="en-US" sz="1150" b="1" spc="150" kern="0" dirty="0">
                <a:solidFill>
                  <a:srgbClr val="E8491D"/>
                </a:solidFill>
                <a:latin typeface="Arial" pitchFamily="34" charset="0"/>
                <a:ea typeface="Arial" pitchFamily="34" charset="-122"/>
                <a:cs typeface="Arial" pitchFamily="34" charset="-120"/>
              </a:rPr>
              <a:t>WEEK 3</a:t>
            </a:r>
            <a:endParaRPr lang="en-US" sz="1150" dirty="0"/>
          </a:p>
        </p:txBody>
      </p:sp>
      <p:sp>
        <p:nvSpPr>
          <p:cNvPr id="18" name="Text 16"/>
          <p:cNvSpPr/>
          <p:nvPr/>
        </p:nvSpPr>
        <p:spPr>
          <a:xfrm>
            <a:off x="6432804" y="2331720"/>
            <a:ext cx="2141982" cy="566928"/>
          </a:xfrm>
          <a:prstGeom prst="rect">
            <a:avLst/>
          </a:prstGeom>
          <a:noFill/>
          <a:ln/>
        </p:spPr>
        <p:txBody>
          <a:bodyPr wrap="square" lIns="0" tIns="0" rIns="0" bIns="0" rtlCol="0" anchor="ctr"/>
          <a:lstStyle/>
          <a:p>
            <a:pPr indent="0" marL="0">
              <a:buNone/>
            </a:pPr>
            <a:r>
              <a:rPr lang="en-US" sz="1350" b="1" dirty="0">
                <a:solidFill>
                  <a:srgbClr val="1A2027"/>
                </a:solidFill>
                <a:latin typeface="Arial" pitchFamily="34" charset="0"/>
                <a:ea typeface="Arial" pitchFamily="34" charset="-122"/>
                <a:cs typeface="Arial" pitchFamily="34" charset="-120"/>
              </a:rPr>
              <a:t>Test communications</a:t>
            </a:r>
            <a:endParaRPr lang="en-US" sz="1350" dirty="0"/>
          </a:p>
        </p:txBody>
      </p:sp>
      <p:sp>
        <p:nvSpPr>
          <p:cNvPr id="19" name="Text 17"/>
          <p:cNvSpPr/>
          <p:nvPr/>
        </p:nvSpPr>
        <p:spPr>
          <a:xfrm>
            <a:off x="6432804" y="2944368"/>
            <a:ext cx="2141982" cy="1828800"/>
          </a:xfrm>
          <a:prstGeom prst="rect">
            <a:avLst/>
          </a:prstGeom>
          <a:noFill/>
          <a:ln/>
        </p:spPr>
        <p:txBody>
          <a:bodyPr wrap="square" lIns="0" tIns="0" rIns="0" bIns="0" rtlCol="0" anchor="ctr"/>
          <a:lstStyle/>
          <a:p>
            <a:pPr indent="0" marL="0">
              <a:buNone/>
            </a:pPr>
            <a:r>
              <a:rPr lang="en-US" sz="1050" dirty="0">
                <a:solidFill>
                  <a:srgbClr val="5A646C"/>
                </a:solidFill>
                <a:latin typeface="Arial" pitchFamily="34" charset="0"/>
                <a:ea typeface="Arial" pitchFamily="34" charset="-122"/>
                <a:cs typeface="Arial" pitchFamily="34" charset="-120"/>
              </a:rPr>
              <a:t>Run a radio-discipline drill and a degraded-comms fallback. Issue the CAN card to every team member.</a:t>
            </a:r>
            <a:endParaRPr lang="en-US" sz="1050" dirty="0"/>
          </a:p>
        </p:txBody>
      </p:sp>
      <p:sp>
        <p:nvSpPr>
          <p:cNvPr id="20" name="Text 18"/>
          <p:cNvSpPr/>
          <p:nvPr/>
        </p:nvSpPr>
        <p:spPr>
          <a:xfrm>
            <a:off x="8730234" y="3063240"/>
            <a:ext cx="365760" cy="548640"/>
          </a:xfrm>
          <a:prstGeom prst="rect">
            <a:avLst/>
          </a:prstGeom>
          <a:noFill/>
          <a:ln/>
        </p:spPr>
        <p:txBody>
          <a:bodyPr wrap="square" lIns="0" tIns="0" rIns="0" bIns="0" rtlCol="0" anchor="ctr"/>
          <a:lstStyle/>
          <a:p>
            <a:pPr algn="ctr" indent="0" marL="0">
              <a:buNone/>
            </a:pPr>
            <a:r>
              <a:rPr lang="en-US" sz="2000" b="1" dirty="0">
                <a:solidFill>
                  <a:srgbClr val="E8491D"/>
                </a:solidFill>
                <a:latin typeface="Arial" pitchFamily="34" charset="0"/>
                <a:ea typeface="Arial" pitchFamily="34" charset="-122"/>
                <a:cs typeface="Arial" pitchFamily="34" charset="-120"/>
              </a:rPr>
              <a:t>→</a:t>
            </a:r>
            <a:endParaRPr lang="en-US" sz="2000" dirty="0"/>
          </a:p>
        </p:txBody>
      </p:sp>
      <p:sp>
        <p:nvSpPr>
          <p:cNvPr id="21" name="Shape 19"/>
          <p:cNvSpPr/>
          <p:nvPr/>
        </p:nvSpPr>
        <p:spPr>
          <a:xfrm>
            <a:off x="9050274" y="1828800"/>
            <a:ext cx="2544318" cy="3108960"/>
          </a:xfrm>
          <a:prstGeom prst="roundRect">
            <a:avLst>
              <a:gd name="adj" fmla="val 3594"/>
            </a:avLst>
          </a:prstGeom>
          <a:solidFill>
            <a:srgbClr val="14181C"/>
          </a:solidFill>
          <a:ln/>
        </p:spPr>
      </p:sp>
      <p:sp>
        <p:nvSpPr>
          <p:cNvPr id="22" name="Text 20"/>
          <p:cNvSpPr/>
          <p:nvPr/>
        </p:nvSpPr>
        <p:spPr>
          <a:xfrm>
            <a:off x="9251442" y="2011680"/>
            <a:ext cx="2141982" cy="292608"/>
          </a:xfrm>
          <a:prstGeom prst="rect">
            <a:avLst/>
          </a:prstGeom>
          <a:noFill/>
          <a:ln/>
        </p:spPr>
        <p:txBody>
          <a:bodyPr wrap="square" lIns="0" tIns="0" rIns="0" bIns="0" rtlCol="0" anchor="ctr"/>
          <a:lstStyle/>
          <a:p>
            <a:pPr indent="0" marL="0">
              <a:buNone/>
            </a:pPr>
            <a:r>
              <a:rPr lang="en-US" sz="1150" b="1" spc="150" kern="0" dirty="0">
                <a:solidFill>
                  <a:srgbClr val="E8491D"/>
                </a:solidFill>
                <a:latin typeface="Arial" pitchFamily="34" charset="0"/>
                <a:ea typeface="Arial" pitchFamily="34" charset="-122"/>
                <a:cs typeface="Arial" pitchFamily="34" charset="-120"/>
              </a:rPr>
              <a:t>WEEK 4</a:t>
            </a:r>
            <a:endParaRPr lang="en-US" sz="1150" dirty="0"/>
          </a:p>
        </p:txBody>
      </p:sp>
      <p:sp>
        <p:nvSpPr>
          <p:cNvPr id="23" name="Text 21"/>
          <p:cNvSpPr/>
          <p:nvPr/>
        </p:nvSpPr>
        <p:spPr>
          <a:xfrm>
            <a:off x="9251442" y="2331720"/>
            <a:ext cx="2141982" cy="566928"/>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Simulate &amp; report</a:t>
            </a:r>
            <a:endParaRPr lang="en-US" sz="1350" dirty="0"/>
          </a:p>
        </p:txBody>
      </p:sp>
      <p:sp>
        <p:nvSpPr>
          <p:cNvPr id="24" name="Text 22"/>
          <p:cNvSpPr/>
          <p:nvPr/>
        </p:nvSpPr>
        <p:spPr>
          <a:xfrm>
            <a:off x="9251442" y="2944368"/>
            <a:ext cx="2141982" cy="1828800"/>
          </a:xfrm>
          <a:prstGeom prst="rect">
            <a:avLst/>
          </a:prstGeom>
          <a:noFill/>
          <a:ln/>
        </p:spPr>
        <p:txBody>
          <a:bodyPr wrap="square" lIns="0" tIns="0" rIns="0" bIns="0" rtlCol="0" anchor="ctr"/>
          <a:lstStyle/>
          <a:p>
            <a:pPr indent="0" marL="0">
              <a:buNone/>
            </a:pPr>
            <a:r>
              <a:rPr lang="en-US" sz="1050" dirty="0">
                <a:solidFill>
                  <a:srgbClr val="9AA5AD"/>
                </a:solidFill>
                <a:latin typeface="Arial" pitchFamily="34" charset="0"/>
                <a:ea typeface="Arial" pitchFamily="34" charset="-122"/>
                <a:cs typeface="Arial" pitchFamily="34" charset="-120"/>
              </a:rPr>
              <a:t>Lead one tabletop scenario with your crew. Send the lessons-learned summary to your HSE leadership.</a:t>
            </a:r>
            <a:endParaRPr lang="en-US" sz="1050" dirty="0"/>
          </a:p>
        </p:txBody>
      </p:sp>
      <p:sp>
        <p:nvSpPr>
          <p:cNvPr id="25" name="Text 23"/>
          <p:cNvSpPr/>
          <p:nvPr/>
        </p:nvSpPr>
        <p:spPr>
          <a:xfrm>
            <a:off x="594360" y="5257800"/>
            <a:ext cx="11000232" cy="502920"/>
          </a:xfrm>
          <a:prstGeom prst="rect">
            <a:avLst/>
          </a:prstGeom>
          <a:noFill/>
          <a:ln/>
        </p:spPr>
        <p:txBody>
          <a:bodyPr wrap="square" lIns="0" tIns="0" rIns="0" bIns="0" rtlCol="0" anchor="ctr"/>
          <a:lstStyle/>
          <a:p>
            <a:pPr indent="0" marL="0">
              <a:buNone/>
            </a:pPr>
            <a:r>
              <a:rPr lang="en-US" sz="1250" b="1" dirty="0">
                <a:solidFill>
                  <a:srgbClr val="C13415"/>
                </a:solidFill>
                <a:latin typeface="Arial" pitchFamily="34" charset="0"/>
                <a:ea typeface="Arial" pitchFamily="34" charset="-122"/>
                <a:cs typeface="Arial" pitchFamily="34" charset="-120"/>
              </a:rPr>
              <a:t>Capability decays without repetition.  </a:t>
            </a:r>
            <a:pPr indent="0" marL="0">
              <a:buNone/>
            </a:pPr>
            <a:r>
              <a:rPr lang="en-US" sz="1250" dirty="0">
                <a:solidFill>
                  <a:srgbClr val="5A646C"/>
                </a:solidFill>
                <a:latin typeface="Arial" pitchFamily="34" charset="0"/>
                <a:ea typeface="Arial" pitchFamily="34" charset="-122"/>
                <a:cs typeface="Arial" pitchFamily="34" charset="-120"/>
              </a:rPr>
              <a:t>The certificate proves what you could do on Day 3 — the 30-day plan proves what your rig can do on day 33.</a:t>
            </a:r>
            <a:endParaRPr lang="en-US" sz="12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5A646C"/>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5A646C"/>
                </a:solidFill>
                <a:latin typeface="Arial" pitchFamily="34" charset="0"/>
                <a:ea typeface="Arial" pitchFamily="34" charset="-122"/>
                <a:cs typeface="Arial" pitchFamily="34" charset="-120"/>
              </a:rPr>
              <a:t>76</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AFTER THE COURSE</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1A2027"/>
                </a:solidFill>
                <a:latin typeface="Arial" pitchFamily="34" charset="0"/>
                <a:ea typeface="Arial" pitchFamily="34" charset="-122"/>
                <a:cs typeface="Arial" pitchFamily="34" charset="-120"/>
              </a:rPr>
              <a:t>Keeping it alive: the annual drill rhythm</a:t>
            </a:r>
            <a:endParaRPr lang="en-US" sz="3000" dirty="0"/>
          </a:p>
        </p:txBody>
      </p:sp>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594360" y="1691640"/>
          <a:ext cx="11000232" cy="914400"/>
        </p:xfrm>
        <a:graphic>
          <a:graphicData uri="http://schemas.openxmlformats.org/drawingml/2006/table">
            <a:tbl>
              <a:tblPr/>
              <a:tblGrid>
                <a:gridCol w="1737360"/>
                <a:gridCol w="3291840"/>
                <a:gridCol w="5971032"/>
              </a:tblGrid>
              <a:tr h="566928">
                <a:tc>
                  <a:txBody>
                    <a:bodyPr/>
                    <a:lstStyle/>
                    <a:p>
                      <a:pPr indent="0" marL="0">
                        <a:buNone/>
                      </a:pPr>
                      <a:r>
                        <a:rPr lang="en-US" sz="1100" b="1" dirty="0">
                          <a:solidFill>
                            <a:srgbClr val="FFFFFF"/>
                          </a:solidFill>
                          <a:latin typeface="Arial" pitchFamily="34" charset="0"/>
                          <a:ea typeface="Arial" pitchFamily="34" charset="-122"/>
                          <a:cs typeface="Arial" pitchFamily="34" charset="-120"/>
                        </a:rPr>
                        <a:t>RHYTHM</a:t>
                      </a:r>
                      <a:endParaRPr lang="en-US" sz="110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14181C"/>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FORMAT</a:t>
                      </a:r>
                      <a:endParaRPr lang="en-US" sz="110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14181C"/>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FOCUS</a:t>
                      </a:r>
                      <a:endParaRPr lang="en-US" sz="110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14181C"/>
                    </a:solidFill>
                  </a:tcPr>
                </a:tc>
              </a:tr>
              <a:tr h="566928">
                <a:tc>
                  <a:txBody>
                    <a:bodyPr/>
                    <a:lstStyle/>
                    <a:p>
                      <a:pPr indent="0" marL="0">
                        <a:buNone/>
                      </a:pPr>
                      <a:r>
                        <a:rPr lang="en-US" sz="1200" b="1" dirty="0">
                          <a:solidFill>
                            <a:srgbClr val="E8491D"/>
                          </a:solidFill>
                          <a:latin typeface="Arial" pitchFamily="34" charset="0"/>
                          <a:ea typeface="Arial" pitchFamily="34" charset="-122"/>
                          <a:cs typeface="Arial" pitchFamily="34" charset="-120"/>
                        </a:rPr>
                        <a:t>Weekly</a:t>
                      </a:r>
                      <a:endParaRPr lang="en-US" sz="120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100" b="1" dirty="0">
                          <a:solidFill>
                            <a:srgbClr val="1A2027"/>
                          </a:solidFill>
                          <a:latin typeface="Arial" pitchFamily="34" charset="0"/>
                          <a:ea typeface="Arial" pitchFamily="34" charset="-122"/>
                          <a:cs typeface="Arial" pitchFamily="34" charset="-120"/>
                        </a:rPr>
                        <a:t>One-skill micro-drill (15 min)</a:t>
                      </a:r>
                      <a:endParaRPr lang="en-US" sz="110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050" dirty="0">
                          <a:solidFill>
                            <a:srgbClr val="5A646C"/>
                          </a:solidFill>
                          <a:latin typeface="Arial" pitchFamily="34" charset="0"/>
                          <a:ea typeface="Arial" pitchFamily="34" charset="-122"/>
                          <a:cs typeface="Arial" pitchFamily="34" charset="-120"/>
                        </a:rPr>
                        <a:t>Hose deployment, BA donning, first-60-seconds — one skill, timed, debriefed in two sentences.</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E8491D"/>
                          </a:solidFill>
                          <a:latin typeface="Arial" pitchFamily="34" charset="0"/>
                          <a:ea typeface="Arial" pitchFamily="34" charset="-122"/>
                          <a:cs typeface="Arial" pitchFamily="34" charset="-120"/>
                        </a:rPr>
                        <a:t>Monthly</a:t>
                      </a:r>
                      <a:endParaRPr lang="en-US" sz="120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indent="0" marL="0">
                        <a:buNone/>
                      </a:pPr>
                      <a:r>
                        <a:rPr lang="en-US" sz="1100" b="1" dirty="0">
                          <a:solidFill>
                            <a:srgbClr val="1A2027"/>
                          </a:solidFill>
                          <a:latin typeface="Arial" pitchFamily="34" charset="0"/>
                          <a:ea typeface="Arial" pitchFamily="34" charset="-122"/>
                          <a:cs typeface="Arial" pitchFamily="34" charset="-120"/>
                        </a:rPr>
                        <a:t>Team evolution (45 min)</a:t>
                      </a:r>
                      <a:endParaRPr lang="en-US" sz="110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indent="0" marL="0">
                        <a:buNone/>
                      </a:pPr>
                      <a:r>
                        <a:rPr lang="en-US" sz="1050" dirty="0">
                          <a:solidFill>
                            <a:srgbClr val="5A646C"/>
                          </a:solidFill>
                          <a:latin typeface="Arial" pitchFamily="34" charset="0"/>
                          <a:ea typeface="Arial" pitchFamily="34" charset="-122"/>
                          <a:cs typeface="Arial" pitchFamily="34" charset="-120"/>
                        </a:rPr>
                        <a:t>Full fire team against one pre-plan scenario. Rotate the leader every month — depth beats dependence.</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r>
              <a:tr h="566928">
                <a:tc>
                  <a:txBody>
                    <a:bodyPr/>
                    <a:lstStyle/>
                    <a:p>
                      <a:pPr indent="0" marL="0">
                        <a:buNone/>
                      </a:pPr>
                      <a:r>
                        <a:rPr lang="en-US" sz="1200" b="1" dirty="0">
                          <a:solidFill>
                            <a:srgbClr val="E8491D"/>
                          </a:solidFill>
                          <a:latin typeface="Arial" pitchFamily="34" charset="0"/>
                          <a:ea typeface="Arial" pitchFamily="34" charset="-122"/>
                          <a:cs typeface="Arial" pitchFamily="34" charset="-120"/>
                        </a:rPr>
                        <a:t>Quarterly</a:t>
                      </a:r>
                      <a:endParaRPr lang="en-US" sz="120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100" b="1" dirty="0">
                          <a:solidFill>
                            <a:srgbClr val="1A2027"/>
                          </a:solidFill>
                          <a:latin typeface="Arial" pitchFamily="34" charset="0"/>
                          <a:ea typeface="Arial" pitchFamily="34" charset="-122"/>
                          <a:cs typeface="Arial" pitchFamily="34" charset="-120"/>
                        </a:rPr>
                        <a:t>Integrated exercise</a:t>
                      </a:r>
                      <a:endParaRPr lang="en-US" sz="110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c>
                  <a:txBody>
                    <a:bodyPr/>
                    <a:lstStyle/>
                    <a:p>
                      <a:pPr indent="0" marL="0">
                        <a:buNone/>
                      </a:pPr>
                      <a:r>
                        <a:rPr lang="en-US" sz="1050" dirty="0">
                          <a:solidFill>
                            <a:srgbClr val="5A646C"/>
                          </a:solidFill>
                          <a:latin typeface="Arial" pitchFamily="34" charset="0"/>
                          <a:ea typeface="Arial" pitchFamily="34" charset="-122"/>
                          <a:cs typeface="Arial" pitchFamily="34" charset="-120"/>
                        </a:rPr>
                        <a:t>Fire + muster + rig ERP interfaces. Walk one pre-fire plan on the ground and update what moved.</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E8491D"/>
                          </a:solidFill>
                          <a:latin typeface="Arial" pitchFamily="34" charset="0"/>
                          <a:ea typeface="Arial" pitchFamily="34" charset="-122"/>
                          <a:cs typeface="Arial" pitchFamily="34" charset="-120"/>
                        </a:rPr>
                        <a:t>Annually</a:t>
                      </a:r>
                      <a:endParaRPr lang="en-US" sz="120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indent="0" marL="0">
                        <a:buNone/>
                      </a:pPr>
                      <a:r>
                        <a:rPr lang="en-US" sz="1100" b="1" dirty="0">
                          <a:solidFill>
                            <a:srgbClr val="1A2027"/>
                          </a:solidFill>
                          <a:latin typeface="Arial" pitchFamily="34" charset="0"/>
                          <a:ea typeface="Arial" pitchFamily="34" charset="-122"/>
                          <a:cs typeface="Arial" pitchFamily="34" charset="-120"/>
                        </a:rPr>
                        <a:t>Full-scale with external interfaces</a:t>
                      </a:r>
                      <a:endParaRPr lang="en-US" sz="110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c>
                  <a:txBody>
                    <a:bodyPr/>
                    <a:lstStyle/>
                    <a:p>
                      <a:pPr indent="0" marL="0">
                        <a:buNone/>
                      </a:pPr>
                      <a:r>
                        <a:rPr lang="en-US" sz="1050" dirty="0">
                          <a:solidFill>
                            <a:srgbClr val="5A646C"/>
                          </a:solidFill>
                          <a:latin typeface="Arial" pitchFamily="34" charset="0"/>
                          <a:ea typeface="Arial" pitchFamily="34" charset="-122"/>
                          <a:cs typeface="Arial" pitchFamily="34" charset="-120"/>
                        </a:rPr>
                        <a:t>SANAD ERT and, where arranged, Saudi Aramco Fire Protection — the complete escalation chain, tested for real.</a:t>
                      </a:r>
                      <a:endParaRPr lang="en-US" sz="1050" dirty="0">
                        <a:latin typeface="Arial" charset="0"/>
                        <a:ea typeface="Arial" charset="0"/>
                        <a:cs typeface="Arial" charset="0"/>
                      </a:endParaRPr>
                    </a:p>
                  </a:txBody>
                  <a:tcPr marL="54864" marR="54864" marT="54864" marB="54864" anchor="ctr">
                    <a:lnL w="6350" cap="flat" cmpd="sng" algn="ctr">
                      <a:solidFill>
                        <a:srgbClr val="E2E5E8"/>
                      </a:solidFill>
                      <a:prstDash val="solid"/>
                      <a:round/>
                      <a:headEnd type="none" w="med" len="med"/>
                      <a:tailEnd type="none" w="med" len="med"/>
                    </a:lnL>
                    <a:lnR w="6350" cap="flat" cmpd="sng" algn="ctr">
                      <a:solidFill>
                        <a:srgbClr val="E2E5E8"/>
                      </a:solidFill>
                      <a:prstDash val="solid"/>
                      <a:round/>
                      <a:headEnd type="none" w="med" len="med"/>
                      <a:tailEnd type="none" w="med" len="med"/>
                    </a:lnR>
                    <a:lnT w="6350" cap="flat" cmpd="sng" algn="ctr">
                      <a:solidFill>
                        <a:srgbClr val="E2E5E8"/>
                      </a:solidFill>
                      <a:prstDash val="solid"/>
                      <a:round/>
                      <a:headEnd type="none" w="med" len="med"/>
                      <a:tailEnd type="none" w="med" len="med"/>
                    </a:lnT>
                    <a:lnB w="6350" cap="flat" cmpd="sng" algn="ctr">
                      <a:solidFill>
                        <a:srgbClr val="E2E5E8"/>
                      </a:solidFill>
                      <a:prstDash val="solid"/>
                      <a:round/>
                      <a:headEnd type="none" w="med" len="med"/>
                      <a:tailEnd type="none" w="med" len="med"/>
                    </a:lnB>
                    <a:solidFill>
                      <a:srgbClr val="F3F4F5"/>
                    </a:solidFill>
                  </a:tcPr>
                </a:tc>
              </a:tr>
            </a:tbl>
          </a:graphicData>
        </a:graphic>
      </p:graphicFrame>
      <p:sp>
        <p:nvSpPr>
          <p:cNvPr id="7" name="Shape 4"/>
          <p:cNvSpPr/>
          <p:nvPr/>
        </p:nvSpPr>
        <p:spPr>
          <a:xfrm>
            <a:off x="594360" y="5532120"/>
            <a:ext cx="11000232" cy="731520"/>
          </a:xfrm>
          <a:prstGeom prst="roundRect">
            <a:avLst>
              <a:gd name="adj" fmla="val 12500"/>
            </a:avLst>
          </a:prstGeom>
          <a:solidFill>
            <a:srgbClr val="14181C"/>
          </a:solidFill>
          <a:ln/>
        </p:spPr>
      </p:sp>
      <p:sp>
        <p:nvSpPr>
          <p:cNvPr id="8" name="Text 5"/>
          <p:cNvSpPr/>
          <p:nvPr/>
        </p:nvSpPr>
        <p:spPr>
          <a:xfrm>
            <a:off x="868680" y="5532120"/>
            <a:ext cx="10451592" cy="731520"/>
          </a:xfrm>
          <a:prstGeom prst="rect">
            <a:avLst/>
          </a:prstGeom>
          <a:noFill/>
          <a:ln/>
        </p:spPr>
        <p:txBody>
          <a:bodyPr wrap="square" lIns="0" tIns="0" rIns="0" bIns="0" rtlCol="0" anchor="ctr"/>
          <a:lstStyle/>
          <a:p>
            <a:pPr indent="0" marL="0">
              <a:buNone/>
            </a:pPr>
            <a:r>
              <a:rPr lang="en-US" sz="1250" b="1" dirty="0">
                <a:solidFill>
                  <a:srgbClr val="F5A623"/>
                </a:solidFill>
                <a:latin typeface="Arial" pitchFamily="34" charset="0"/>
                <a:ea typeface="Arial" pitchFamily="34" charset="-122"/>
                <a:cs typeface="Arial" pitchFamily="34" charset="-120"/>
              </a:rPr>
              <a:t>Fifteen minutes a week beats three days a year.  </a:t>
            </a:r>
            <a:pPr indent="0" marL="0">
              <a:buNone/>
            </a:pPr>
            <a:r>
              <a:rPr lang="en-US" sz="1250" dirty="0">
                <a:solidFill>
                  <a:srgbClr val="FFFFFF"/>
                </a:solidFill>
                <a:latin typeface="Arial" pitchFamily="34" charset="0"/>
                <a:ea typeface="Arial" pitchFamily="34" charset="-122"/>
                <a:cs typeface="Arial" pitchFamily="34" charset="-120"/>
              </a:rPr>
              <a:t>Rhythm is what turns this course from an event into a capability your rig owns.</a:t>
            </a:r>
            <a:endParaRPr lang="en-US" sz="12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14181C"/>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9AA5AD"/>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9AA5AD"/>
                </a:solidFill>
                <a:latin typeface="Arial" pitchFamily="34" charset="0"/>
                <a:ea typeface="Arial" pitchFamily="34" charset="-122"/>
                <a:cs typeface="Arial" pitchFamily="34" charset="-120"/>
              </a:rPr>
              <a:t>77</a:t>
            </a:r>
            <a:endParaRPr lang="en-US" sz="850" dirty="0"/>
          </a:p>
        </p:txBody>
      </p:sp>
      <p:sp>
        <p:nvSpPr>
          <p:cNvPr id="4" name="Text 2"/>
          <p:cNvSpPr/>
          <p:nvPr/>
        </p:nvSpPr>
        <p:spPr>
          <a:xfrm>
            <a:off x="594360" y="384048"/>
            <a:ext cx="11000232" cy="274320"/>
          </a:xfrm>
          <a:prstGeom prst="rect">
            <a:avLst/>
          </a:prstGeom>
          <a:noFill/>
          <a:ln/>
        </p:spPr>
        <p:txBody>
          <a:bodyPr wrap="square" lIns="0" tIns="0" rIns="0" bIns="0" rtlCol="0" anchor="ctr"/>
          <a:lstStyle/>
          <a:p>
            <a:pPr indent="0" marL="0">
              <a:buNone/>
            </a:pPr>
            <a:r>
              <a:rPr lang="en-US" sz="1200" b="1" spc="300" kern="0" dirty="0">
                <a:solidFill>
                  <a:srgbClr val="E8491D"/>
                </a:solidFill>
                <a:latin typeface="Arial" pitchFamily="34" charset="0"/>
                <a:ea typeface="Arial" pitchFamily="34" charset="-122"/>
                <a:cs typeface="Arial" pitchFamily="34" charset="-120"/>
              </a:rPr>
              <a:t>COURSE SUMMARY</a:t>
            </a:r>
            <a:endParaRPr lang="en-US" sz="1200" dirty="0"/>
          </a:p>
        </p:txBody>
      </p:sp>
      <p:sp>
        <p:nvSpPr>
          <p:cNvPr id="5" name="Text 3"/>
          <p:cNvSpPr/>
          <p:nvPr/>
        </p:nvSpPr>
        <p:spPr>
          <a:xfrm>
            <a:off x="594360" y="658368"/>
            <a:ext cx="11000232" cy="6858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The Fire Team Leader's creed</a:t>
            </a:r>
            <a:endParaRPr lang="en-US" sz="3000" dirty="0"/>
          </a:p>
        </p:txBody>
      </p:sp>
      <p:sp>
        <p:nvSpPr>
          <p:cNvPr id="6" name="Text 4"/>
          <p:cNvSpPr/>
          <p:nvPr/>
        </p:nvSpPr>
        <p:spPr>
          <a:xfrm>
            <a:off x="594360" y="1783080"/>
            <a:ext cx="594360" cy="822960"/>
          </a:xfrm>
          <a:prstGeom prst="rect">
            <a:avLst/>
          </a:prstGeom>
          <a:noFill/>
          <a:ln/>
        </p:spPr>
        <p:txBody>
          <a:bodyPr wrap="square" lIns="0" tIns="0" rIns="0" bIns="0" rtlCol="0" anchor="ctr"/>
          <a:lstStyle/>
          <a:p>
            <a:pPr indent="0" marL="0">
              <a:buNone/>
            </a:pPr>
            <a:r>
              <a:rPr lang="en-US" sz="2000" b="1" dirty="0">
                <a:solidFill>
                  <a:srgbClr val="E8491D"/>
                </a:solidFill>
                <a:latin typeface="Arial" pitchFamily="34" charset="0"/>
                <a:ea typeface="Arial" pitchFamily="34" charset="-122"/>
                <a:cs typeface="Arial" pitchFamily="34" charset="-120"/>
              </a:rPr>
              <a:t>01</a:t>
            </a:r>
            <a:endParaRPr lang="en-US" sz="2000" dirty="0"/>
          </a:p>
        </p:txBody>
      </p:sp>
      <p:sp>
        <p:nvSpPr>
          <p:cNvPr id="7" name="Text 5"/>
          <p:cNvSpPr/>
          <p:nvPr/>
        </p:nvSpPr>
        <p:spPr>
          <a:xfrm>
            <a:off x="1252728" y="1783080"/>
            <a:ext cx="4608576" cy="82296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I take command out loud — the scene will never wonder who leads it.</a:t>
            </a:r>
            <a:endParaRPr lang="en-US" sz="1250" dirty="0"/>
          </a:p>
        </p:txBody>
      </p:sp>
      <p:sp>
        <p:nvSpPr>
          <p:cNvPr id="8" name="Text 6"/>
          <p:cNvSpPr/>
          <p:nvPr/>
        </p:nvSpPr>
        <p:spPr>
          <a:xfrm>
            <a:off x="6300216" y="1783080"/>
            <a:ext cx="594360" cy="822960"/>
          </a:xfrm>
          <a:prstGeom prst="rect">
            <a:avLst/>
          </a:prstGeom>
          <a:noFill/>
          <a:ln/>
        </p:spPr>
        <p:txBody>
          <a:bodyPr wrap="square" lIns="0" tIns="0" rIns="0" bIns="0" rtlCol="0" anchor="ctr"/>
          <a:lstStyle/>
          <a:p>
            <a:pPr indent="0" marL="0">
              <a:buNone/>
            </a:pPr>
            <a:r>
              <a:rPr lang="en-US" sz="2000" b="1" dirty="0">
                <a:solidFill>
                  <a:srgbClr val="E8491D"/>
                </a:solidFill>
                <a:latin typeface="Arial" pitchFamily="34" charset="0"/>
                <a:ea typeface="Arial" pitchFamily="34" charset="-122"/>
                <a:cs typeface="Arial" pitchFamily="34" charset="-120"/>
              </a:rPr>
              <a:t>02</a:t>
            </a:r>
            <a:endParaRPr lang="en-US" sz="2000" dirty="0"/>
          </a:p>
        </p:txBody>
      </p:sp>
      <p:sp>
        <p:nvSpPr>
          <p:cNvPr id="9" name="Text 7"/>
          <p:cNvSpPr/>
          <p:nvPr/>
        </p:nvSpPr>
        <p:spPr>
          <a:xfrm>
            <a:off x="6958584" y="1783080"/>
            <a:ext cx="4608576" cy="82296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I decide at 70% and correct at full speed.</a:t>
            </a:r>
            <a:endParaRPr lang="en-US" sz="1250" dirty="0"/>
          </a:p>
        </p:txBody>
      </p:sp>
      <p:sp>
        <p:nvSpPr>
          <p:cNvPr id="10" name="Text 8"/>
          <p:cNvSpPr/>
          <p:nvPr/>
        </p:nvSpPr>
        <p:spPr>
          <a:xfrm>
            <a:off x="594360" y="2807208"/>
            <a:ext cx="594360" cy="822960"/>
          </a:xfrm>
          <a:prstGeom prst="rect">
            <a:avLst/>
          </a:prstGeom>
          <a:noFill/>
          <a:ln/>
        </p:spPr>
        <p:txBody>
          <a:bodyPr wrap="square" lIns="0" tIns="0" rIns="0" bIns="0" rtlCol="0" anchor="ctr"/>
          <a:lstStyle/>
          <a:p>
            <a:pPr indent="0" marL="0">
              <a:buNone/>
            </a:pPr>
            <a:r>
              <a:rPr lang="en-US" sz="2000" b="1" dirty="0">
                <a:solidFill>
                  <a:srgbClr val="E8491D"/>
                </a:solidFill>
                <a:latin typeface="Arial" pitchFamily="34" charset="0"/>
                <a:ea typeface="Arial" pitchFamily="34" charset="-122"/>
                <a:cs typeface="Arial" pitchFamily="34" charset="-120"/>
              </a:rPr>
              <a:t>03</a:t>
            </a:r>
            <a:endParaRPr lang="en-US" sz="2000" dirty="0"/>
          </a:p>
        </p:txBody>
      </p:sp>
      <p:sp>
        <p:nvSpPr>
          <p:cNvPr id="11" name="Text 9"/>
          <p:cNvSpPr/>
          <p:nvPr/>
        </p:nvSpPr>
        <p:spPr>
          <a:xfrm>
            <a:off x="1252728" y="2807208"/>
            <a:ext cx="4608576" cy="82296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I read my people as closely as I read the fire.</a:t>
            </a:r>
            <a:endParaRPr lang="en-US" sz="1250" dirty="0"/>
          </a:p>
        </p:txBody>
      </p:sp>
      <p:sp>
        <p:nvSpPr>
          <p:cNvPr id="12" name="Text 10"/>
          <p:cNvSpPr/>
          <p:nvPr/>
        </p:nvSpPr>
        <p:spPr>
          <a:xfrm>
            <a:off x="6300216" y="2807208"/>
            <a:ext cx="594360" cy="822960"/>
          </a:xfrm>
          <a:prstGeom prst="rect">
            <a:avLst/>
          </a:prstGeom>
          <a:noFill/>
          <a:ln/>
        </p:spPr>
        <p:txBody>
          <a:bodyPr wrap="square" lIns="0" tIns="0" rIns="0" bIns="0" rtlCol="0" anchor="ctr"/>
          <a:lstStyle/>
          <a:p>
            <a:pPr indent="0" marL="0">
              <a:buNone/>
            </a:pPr>
            <a:r>
              <a:rPr lang="en-US" sz="2000" b="1" dirty="0">
                <a:solidFill>
                  <a:srgbClr val="E8491D"/>
                </a:solidFill>
                <a:latin typeface="Arial" pitchFamily="34" charset="0"/>
                <a:ea typeface="Arial" pitchFamily="34" charset="-122"/>
                <a:cs typeface="Arial" pitchFamily="34" charset="-120"/>
              </a:rPr>
              <a:t>04</a:t>
            </a:r>
            <a:endParaRPr lang="en-US" sz="2000" dirty="0"/>
          </a:p>
        </p:txBody>
      </p:sp>
      <p:sp>
        <p:nvSpPr>
          <p:cNvPr id="13" name="Text 11"/>
          <p:cNvSpPr/>
          <p:nvPr/>
        </p:nvSpPr>
        <p:spPr>
          <a:xfrm>
            <a:off x="6958584" y="2807208"/>
            <a:ext cx="4608576" cy="82296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I choose the mode, announce it, and own what it costs.</a:t>
            </a:r>
            <a:endParaRPr lang="en-US" sz="1250" dirty="0"/>
          </a:p>
        </p:txBody>
      </p:sp>
      <p:sp>
        <p:nvSpPr>
          <p:cNvPr id="14" name="Text 12"/>
          <p:cNvSpPr/>
          <p:nvPr/>
        </p:nvSpPr>
        <p:spPr>
          <a:xfrm>
            <a:off x="594360" y="3831336"/>
            <a:ext cx="594360" cy="822960"/>
          </a:xfrm>
          <a:prstGeom prst="rect">
            <a:avLst/>
          </a:prstGeom>
          <a:noFill/>
          <a:ln/>
        </p:spPr>
        <p:txBody>
          <a:bodyPr wrap="square" lIns="0" tIns="0" rIns="0" bIns="0" rtlCol="0" anchor="ctr"/>
          <a:lstStyle/>
          <a:p>
            <a:pPr indent="0" marL="0">
              <a:buNone/>
            </a:pPr>
            <a:r>
              <a:rPr lang="en-US" sz="2000" b="1" dirty="0">
                <a:solidFill>
                  <a:srgbClr val="E8491D"/>
                </a:solidFill>
                <a:latin typeface="Arial" pitchFamily="34" charset="0"/>
                <a:ea typeface="Arial" pitchFamily="34" charset="-122"/>
                <a:cs typeface="Arial" pitchFamily="34" charset="-120"/>
              </a:rPr>
              <a:t>05</a:t>
            </a:r>
            <a:endParaRPr lang="en-US" sz="2000" dirty="0"/>
          </a:p>
        </p:txBody>
      </p:sp>
      <p:sp>
        <p:nvSpPr>
          <p:cNvPr id="15" name="Text 13"/>
          <p:cNvSpPr/>
          <p:nvPr/>
        </p:nvSpPr>
        <p:spPr>
          <a:xfrm>
            <a:off x="1252728" y="3831336"/>
            <a:ext cx="4608576" cy="82296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My communication is short, closed-loop, and calm.</a:t>
            </a:r>
            <a:endParaRPr lang="en-US" sz="1250" dirty="0"/>
          </a:p>
        </p:txBody>
      </p:sp>
      <p:sp>
        <p:nvSpPr>
          <p:cNvPr id="16" name="Text 14"/>
          <p:cNvSpPr/>
          <p:nvPr/>
        </p:nvSpPr>
        <p:spPr>
          <a:xfrm>
            <a:off x="6300216" y="3831336"/>
            <a:ext cx="594360" cy="822960"/>
          </a:xfrm>
          <a:prstGeom prst="rect">
            <a:avLst/>
          </a:prstGeom>
          <a:noFill/>
          <a:ln/>
        </p:spPr>
        <p:txBody>
          <a:bodyPr wrap="square" lIns="0" tIns="0" rIns="0" bIns="0" rtlCol="0" anchor="ctr"/>
          <a:lstStyle/>
          <a:p>
            <a:pPr indent="0" marL="0">
              <a:buNone/>
            </a:pPr>
            <a:r>
              <a:rPr lang="en-US" sz="2000" b="1" dirty="0">
                <a:solidFill>
                  <a:srgbClr val="E8491D"/>
                </a:solidFill>
                <a:latin typeface="Arial" pitchFamily="34" charset="0"/>
                <a:ea typeface="Arial" pitchFamily="34" charset="-122"/>
                <a:cs typeface="Arial" pitchFamily="34" charset="-120"/>
              </a:rPr>
              <a:t>06</a:t>
            </a:r>
            <a:endParaRPr lang="en-US" sz="2000" dirty="0"/>
          </a:p>
        </p:txBody>
      </p:sp>
      <p:sp>
        <p:nvSpPr>
          <p:cNvPr id="17" name="Text 15"/>
          <p:cNvSpPr/>
          <p:nvPr/>
        </p:nvSpPr>
        <p:spPr>
          <a:xfrm>
            <a:off x="6958584" y="3831336"/>
            <a:ext cx="4608576" cy="82296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I always know where every one of my people is.</a:t>
            </a:r>
            <a:endParaRPr lang="en-US" sz="1250" dirty="0"/>
          </a:p>
        </p:txBody>
      </p:sp>
      <p:sp>
        <p:nvSpPr>
          <p:cNvPr id="18" name="Text 16"/>
          <p:cNvSpPr/>
          <p:nvPr/>
        </p:nvSpPr>
        <p:spPr>
          <a:xfrm>
            <a:off x="594360" y="4855464"/>
            <a:ext cx="594360" cy="822960"/>
          </a:xfrm>
          <a:prstGeom prst="rect">
            <a:avLst/>
          </a:prstGeom>
          <a:noFill/>
          <a:ln/>
        </p:spPr>
        <p:txBody>
          <a:bodyPr wrap="square" lIns="0" tIns="0" rIns="0" bIns="0" rtlCol="0" anchor="ctr"/>
          <a:lstStyle/>
          <a:p>
            <a:pPr indent="0" marL="0">
              <a:buNone/>
            </a:pPr>
            <a:r>
              <a:rPr lang="en-US" sz="2000" b="1" dirty="0">
                <a:solidFill>
                  <a:srgbClr val="E8491D"/>
                </a:solidFill>
                <a:latin typeface="Arial" pitchFamily="34" charset="0"/>
                <a:ea typeface="Arial" pitchFamily="34" charset="-122"/>
                <a:cs typeface="Arial" pitchFamily="34" charset="-120"/>
              </a:rPr>
              <a:t>07</a:t>
            </a:r>
            <a:endParaRPr lang="en-US" sz="2000" dirty="0"/>
          </a:p>
        </p:txBody>
      </p:sp>
      <p:sp>
        <p:nvSpPr>
          <p:cNvPr id="19" name="Text 17"/>
          <p:cNvSpPr/>
          <p:nvPr/>
        </p:nvSpPr>
        <p:spPr>
          <a:xfrm>
            <a:off x="1252728" y="4855464"/>
            <a:ext cx="4608576" cy="82296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I risk a lot to save a life, and nothing for what is already lost.</a:t>
            </a:r>
            <a:endParaRPr lang="en-US" sz="1250" dirty="0"/>
          </a:p>
        </p:txBody>
      </p:sp>
      <p:sp>
        <p:nvSpPr>
          <p:cNvPr id="20" name="Text 18"/>
          <p:cNvSpPr/>
          <p:nvPr/>
        </p:nvSpPr>
        <p:spPr>
          <a:xfrm>
            <a:off x="6300216" y="4855464"/>
            <a:ext cx="594360" cy="822960"/>
          </a:xfrm>
          <a:prstGeom prst="rect">
            <a:avLst/>
          </a:prstGeom>
          <a:noFill/>
          <a:ln/>
        </p:spPr>
        <p:txBody>
          <a:bodyPr wrap="square" lIns="0" tIns="0" rIns="0" bIns="0" rtlCol="0" anchor="ctr"/>
          <a:lstStyle/>
          <a:p>
            <a:pPr indent="0" marL="0">
              <a:buNone/>
            </a:pPr>
            <a:r>
              <a:rPr lang="en-US" sz="2000" b="1" dirty="0">
                <a:solidFill>
                  <a:srgbClr val="E8491D"/>
                </a:solidFill>
                <a:latin typeface="Arial" pitchFamily="34" charset="0"/>
                <a:ea typeface="Arial" pitchFamily="34" charset="-122"/>
                <a:cs typeface="Arial" pitchFamily="34" charset="-120"/>
              </a:rPr>
              <a:t>08</a:t>
            </a:r>
            <a:endParaRPr lang="en-US" sz="2000" dirty="0"/>
          </a:p>
        </p:txBody>
      </p:sp>
      <p:sp>
        <p:nvSpPr>
          <p:cNvPr id="21" name="Text 19"/>
          <p:cNvSpPr/>
          <p:nvPr/>
        </p:nvSpPr>
        <p:spPr>
          <a:xfrm>
            <a:off x="6958584" y="4855464"/>
            <a:ext cx="4608576" cy="82296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After every incident I tell the truth fast — that is how my team gets better.</a:t>
            </a:r>
            <a:endParaRPr lang="en-US" sz="12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14181C"/>
        </a:solidFill>
      </p:bgPr>
    </p:bg>
    <p:spTree>
      <p:nvGrpSpPr>
        <p:cNvPr id="1" name=""/>
        <p:cNvGrpSpPr/>
        <p:nvPr/>
      </p:nvGrpSpPr>
      <p:grpSpPr>
        <a:xfrm>
          <a:off x="0" y="0"/>
          <a:ext cx="0" cy="0"/>
          <a:chOff x="0" y="0"/>
          <a:chExt cx="0" cy="0"/>
        </a:xfrm>
      </p:grpSpPr>
      <p:sp>
        <p:nvSpPr>
          <p:cNvPr id="2" name="Text 0"/>
          <p:cNvSpPr/>
          <p:nvPr/>
        </p:nvSpPr>
        <p:spPr>
          <a:xfrm>
            <a:off x="594360" y="6473952"/>
            <a:ext cx="4114800" cy="274320"/>
          </a:xfrm>
          <a:prstGeom prst="rect">
            <a:avLst/>
          </a:prstGeom>
          <a:noFill/>
          <a:ln/>
        </p:spPr>
        <p:txBody>
          <a:bodyPr wrap="square" lIns="0" tIns="0" rIns="0" bIns="0" rtlCol="0" anchor="ctr"/>
          <a:lstStyle/>
          <a:p>
            <a:pPr algn="l" indent="0" marL="0">
              <a:buNone/>
            </a:pPr>
            <a:r>
              <a:rPr lang="en-US" sz="850" spc="200" kern="0" dirty="0">
                <a:solidFill>
                  <a:srgbClr val="9AA5AD"/>
                </a:solidFill>
                <a:latin typeface="Arial" pitchFamily="34" charset="0"/>
                <a:ea typeface="Arial" pitchFamily="34" charset="-122"/>
                <a:cs typeface="Arial" pitchFamily="34" charset="-120"/>
              </a:rPr>
              <a:t>SANAD  |  FIRE FIGHTING TEAM LEADER</a:t>
            </a:r>
            <a:endParaRPr lang="en-US" sz="850" dirty="0"/>
          </a:p>
        </p:txBody>
      </p:sp>
      <p:sp>
        <p:nvSpPr>
          <p:cNvPr id="3" name="Text 1"/>
          <p:cNvSpPr/>
          <p:nvPr/>
        </p:nvSpPr>
        <p:spPr>
          <a:xfrm>
            <a:off x="10863072" y="6473952"/>
            <a:ext cx="731520" cy="274320"/>
          </a:xfrm>
          <a:prstGeom prst="rect">
            <a:avLst/>
          </a:prstGeom>
          <a:noFill/>
          <a:ln/>
        </p:spPr>
        <p:txBody>
          <a:bodyPr wrap="square" lIns="0" tIns="0" rIns="0" bIns="0" rtlCol="0" anchor="ctr"/>
          <a:lstStyle/>
          <a:p>
            <a:pPr algn="r" indent="0" marL="0">
              <a:buNone/>
            </a:pPr>
            <a:r>
              <a:rPr lang="en-US" sz="850" dirty="0">
                <a:solidFill>
                  <a:srgbClr val="9AA5AD"/>
                </a:solidFill>
                <a:latin typeface="Arial" pitchFamily="34" charset="0"/>
                <a:ea typeface="Arial" pitchFamily="34" charset="-122"/>
                <a:cs typeface="Arial" pitchFamily="34" charset="-120"/>
              </a:rPr>
              <a:t>78</a:t>
            </a:r>
            <a:endParaRPr lang="en-US" sz="850" dirty="0"/>
          </a:p>
        </p:txBody>
      </p:sp>
      <p:pic>
        <p:nvPicPr>
          <p:cNvPr id="4" name="Image 0" descr="/home/user/My-Future-Idaes/SANAD-Fire-Team-Leader-Course/assets/img/debrief.jpg">    </p:cNvPr>
          <p:cNvPicPr>
            <a:picLocks noChangeAspect="1"/>
          </p:cNvPicPr>
          <p:nvPr/>
        </p:nvPicPr>
        <p:blipFill>
          <a:blip r:embed="rId1"/>
          <a:srcRect l="0" r="0" t="0" b="0"/>
          <a:stretch/>
        </p:blipFill>
        <p:spPr>
          <a:xfrm>
            <a:off x="0" y="0"/>
            <a:ext cx="12188952" cy="6858000"/>
          </a:xfrm>
          <a:prstGeom prst="rect">
            <a:avLst/>
          </a:prstGeom>
        </p:spPr>
      </p:pic>
      <p:sp>
        <p:nvSpPr>
          <p:cNvPr id="5" name="Shape 2"/>
          <p:cNvSpPr/>
          <p:nvPr/>
        </p:nvSpPr>
        <p:spPr>
          <a:xfrm>
            <a:off x="0" y="0"/>
            <a:ext cx="12188952" cy="6858000"/>
          </a:xfrm>
          <a:prstGeom prst="rect">
            <a:avLst/>
          </a:prstGeom>
          <a:solidFill>
            <a:srgbClr val="14181C">
              <a:alpha val="55000"/>
            </a:srgbClr>
          </a:solidFill>
          <a:ln/>
        </p:spPr>
      </p:sp>
      <p:sp>
        <p:nvSpPr>
          <p:cNvPr id="6" name="Text 3"/>
          <p:cNvSpPr/>
          <p:nvPr/>
        </p:nvSpPr>
        <p:spPr>
          <a:xfrm>
            <a:off x="594360" y="2103120"/>
            <a:ext cx="11000232" cy="164592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Arial" pitchFamily="34" charset="0"/>
                <a:ea typeface="Arial" pitchFamily="34" charset="-122"/>
                <a:cs typeface="Arial" pitchFamily="34" charset="-120"/>
              </a:rPr>
              <a:t>COMMAND IS EARNED</a:t>
            </a:r>
            <a:endParaRPr lang="en-US" sz="4000" dirty="0"/>
          </a:p>
          <a:p>
            <a:pPr indent="0" marL="0">
              <a:lnSpc>
                <a:spcPts val="4600"/>
              </a:lnSpc>
              <a:buNone/>
            </a:pPr>
            <a:r>
              <a:rPr lang="en-US" sz="4000" b="1" dirty="0">
                <a:solidFill>
                  <a:srgbClr val="FFFFFF"/>
                </a:solidFill>
                <a:latin typeface="Arial" pitchFamily="34" charset="0"/>
                <a:ea typeface="Arial" pitchFamily="34" charset="-122"/>
                <a:cs typeface="Arial" pitchFamily="34" charset="-120"/>
              </a:rPr>
              <a:t>BEFORE THE ALARM SOUNDS.</a:t>
            </a:r>
            <a:endParaRPr lang="en-US" sz="4000" dirty="0"/>
          </a:p>
        </p:txBody>
      </p:sp>
      <p:sp>
        <p:nvSpPr>
          <p:cNvPr id="7" name="Text 4"/>
          <p:cNvSpPr/>
          <p:nvPr/>
        </p:nvSpPr>
        <p:spPr>
          <a:xfrm>
            <a:off x="594360" y="3840480"/>
            <a:ext cx="11000232" cy="457200"/>
          </a:xfrm>
          <a:prstGeom prst="rect">
            <a:avLst/>
          </a:prstGeom>
          <a:noFill/>
          <a:ln/>
        </p:spPr>
        <p:txBody>
          <a:bodyPr wrap="square" lIns="0" tIns="0" rIns="0" bIns="0" rtlCol="0" anchor="ctr"/>
          <a:lstStyle/>
          <a:p>
            <a:pPr indent="0" marL="0">
              <a:buNone/>
            </a:pPr>
            <a:r>
              <a:rPr lang="en-US" sz="1600" dirty="0">
                <a:solidFill>
                  <a:srgbClr val="E8EBED"/>
                </a:solidFill>
                <a:latin typeface="Arial" pitchFamily="34" charset="0"/>
                <a:ea typeface="Arial" pitchFamily="34" charset="-122"/>
                <a:cs typeface="Arial" pitchFamily="34" charset="-120"/>
              </a:rPr>
              <a:t>Thank you — and lead safely.</a:t>
            </a:r>
            <a:endParaRPr lang="en-US" sz="1600" dirty="0"/>
          </a:p>
        </p:txBody>
      </p:sp>
      <p:sp>
        <p:nvSpPr>
          <p:cNvPr id="8" name="Shape 5"/>
          <p:cNvSpPr/>
          <p:nvPr/>
        </p:nvSpPr>
        <p:spPr>
          <a:xfrm>
            <a:off x="594360" y="4892040"/>
            <a:ext cx="6949440" cy="1188720"/>
          </a:xfrm>
          <a:prstGeom prst="roundRect">
            <a:avLst>
              <a:gd name="adj" fmla="val 7692"/>
            </a:avLst>
          </a:prstGeom>
          <a:solidFill>
            <a:srgbClr val="14181C">
              <a:alpha val="80000"/>
            </a:srgbClr>
          </a:solidFill>
          <a:ln/>
        </p:spPr>
      </p:sp>
      <p:sp>
        <p:nvSpPr>
          <p:cNvPr id="9" name="Text 6"/>
          <p:cNvSpPr/>
          <p:nvPr/>
        </p:nvSpPr>
        <p:spPr>
          <a:xfrm>
            <a:off x="868680" y="4983480"/>
            <a:ext cx="6492240" cy="1005840"/>
          </a:xfrm>
          <a:prstGeom prst="rect">
            <a:avLst/>
          </a:prstGeom>
          <a:noFill/>
          <a:ln/>
        </p:spPr>
        <p:txBody>
          <a:bodyPr wrap="square" lIns="0" tIns="0" rIns="0" bIns="0" rtlCol="0" anchor="ctr"/>
          <a:lstStyle/>
          <a:p>
            <a:pPr indent="0" marL="0">
              <a:lnSpc>
                <a:spcPts val="1800"/>
              </a:lnSpc>
              <a:buNone/>
            </a:pPr>
            <a:r>
              <a:rPr lang="en-US" sz="1200" b="1" dirty="0">
                <a:solidFill>
                  <a:srgbClr val="F5A623"/>
                </a:solidFill>
                <a:latin typeface="Arial" pitchFamily="34" charset="0"/>
                <a:ea typeface="Arial" pitchFamily="34" charset="-122"/>
                <a:cs typeface="Arial" pitchFamily="34" charset="-120"/>
              </a:rPr>
              <a:t>NEFT ENERGIES  •  Technical Proposal NERFQ26-5018
</a:t>
            </a:r>
            <a:pPr indent="0" marL="0">
              <a:lnSpc>
                <a:spcPts val="1800"/>
              </a:lnSpc>
              <a:buNone/>
            </a:pPr>
            <a:r>
              <a:rPr lang="en-US" sz="1100" dirty="0">
                <a:solidFill>
                  <a:srgbClr val="E8EBED"/>
                </a:solidFill>
                <a:latin typeface="Arial" pitchFamily="34" charset="0"/>
                <a:ea typeface="Arial" pitchFamily="34" charset="-122"/>
                <a:cs typeface="Arial" pitchFamily="34" charset="-120"/>
              </a:rPr>
              <a:t>Mohamed Gamal — Regional Operations Manager   |   M: +966 55 518 8213   |   E: m.gamal@neftenergies.com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78</Slides>
  <Notes>78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78</vt:i4>
      </vt:variant>
    </vt:vector>
  </HeadingPairs>
  <TitlesOfParts>
    <vt:vector size="8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vector>
  </TitlesOfParts>
  <Company>NEFT Energies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SANAD Fire Fighting Team Leader — 3-Day Course</dc:title>
  <dc:subject>PptxGenJS Presentation</dc:subject>
  <dc:creator>NEFT Energies</dc:creator>
  <cp:lastModifiedBy>NEFT Energies</cp:lastModifiedBy>
  <cp:revision>1</cp:revision>
  <dcterms:created xsi:type="dcterms:W3CDTF">2026-07-30T14:22:53Z</dcterms:created>
  <dcterms:modified xsi:type="dcterms:W3CDTF">2026-07-30T14:22:53Z</dcterms:modified>
</cp:coreProperties>
</file>