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group. This course was built from the NEFT Energies technical proposal NERFQ26-5018 for SANAD. Emphasize: this is a leadership course, not a basic firefighting course — every participant already fights fire; here they learn to command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tone: this is not a compliance course. Ask the room: who here has seen a real fire on a rig? Let one or two answer. The gap between a near-miss and a disaster is almost always leadership in the first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map these four duties onto SANAD's own emergency response plan and the rig org chart. Who currently does each on the participants' rigs? Where are the gaps?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each hazard against the participants' actual rigs. Ask: where is your SCR room? Where does mud gas vent? How far is the camp from the wellhead? Day 3 scenarios draw directly from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teaching point: the mode is a command decision, announced on the radio, logged with time. Changing mode without announcing it is how crews end up inside a collapse zone.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note for instructors: a dedicated exercise safety officer with stop authority is present throughout; all pyrotechnics/smoke are controlled by the training ground team, never by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creed aloud together before certificates are handed out. Corny? Maybe. Memorable? Absolutely — and memorable is what survives contact with a real fire.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1.png"/><Relationship Id="rId3" Type="http://schemas.openxmlformats.org/officeDocument/2006/relationships/image" Target="../media/image-44-1.png"/><Relationship Id="rId4" Type="http://schemas.openxmlformats.org/officeDocument/2006/relationships/image" Target="../media/image-44-1.png"/><Relationship Id="rId5" Type="http://schemas.openxmlformats.org/officeDocument/2006/relationships/image" Target="../media/image-44-1.png"/><Relationship Id="rId6" Type="http://schemas.openxmlformats.org/officeDocument/2006/relationships/image" Target="../media/image-44-1.png"/><Relationship Id="rId7" Type="http://schemas.openxmlformats.org/officeDocument/2006/relationships/image" Target="../media/image-44-1.png"/><Relationship Id="rId8" Type="http://schemas.openxmlformats.org/officeDocument/2006/relationships/image" Target="../media/image-44-1.png"/><Relationship Id="rId9" Type="http://schemas.openxmlformats.org/officeDocument/2006/relationships/image" Target="../media/image-44-1.png"/><Relationship Id="rId10" Type="http://schemas.openxmlformats.org/officeDocument/2006/relationships/image" Target="../media/image-44-1.png"/><Relationship Id="rId11" Type="http://schemas.openxmlformats.org/officeDocument/2006/relationships/image" Target="../media/image-44-1.png"/><Relationship Id="rId12" Type="http://schemas.openxmlformats.org/officeDocument/2006/relationships/image" Target="../media/image-44-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5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-Future-Idaes/SANAD-Fire-Team-Leader-Course/assets/img/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81C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749040"/>
            <a:ext cx="12188952" cy="3108960"/>
          </a:xfrm>
          <a:prstGeom prst="rect">
            <a:avLst/>
          </a:prstGeom>
          <a:solidFill>
            <a:srgbClr val="14181C">
              <a:alpha val="7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94360" y="3310128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NEFT ENERGIES  ×  SANAD  •  ADVANCED SUPERVISORY PROGRAM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3611880"/>
            <a:ext cx="11000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FIGHTING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594360" y="54406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Under Fire — a 3-day leadership course for the people who take charge when a drilling rig burns.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6053328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DAYS</a:t>
            </a:r>
            <a:pPr indent="0" marL="0">
              <a:buNone/>
            </a:pPr>
            <a:r>
              <a:rPr lang="en-US" sz="1200" spc="150" kern="0" dirty="0">
                <a:solidFill>
                  <a:srgbClr val="C9C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SUPERVISORY / ADVANCED   •   60–65% PRACTICAL   •   DRILLING OPERATIONS, SAUDI ARABIA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IS FOR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SANAD's front line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crews operate drilling and workover rigs across the Kingdom for Saudi Aramco — often hours away from the nearest municipal fire station. </a:t>
            </a:r>
            <a:pPr indent="0" marL="0">
              <a:buNone/>
            </a:pPr>
            <a:r>
              <a:rPr lang="en-US" sz="145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fire breaks out, the rig's own fire team IS the fire department.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5852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Fire Team Leaders and Supervisors on SANAD rigs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Saudi Aramco contractor emergency-response expectations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content drawn from real drilling-rig fire risks — not generic buildings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by NEFT Energies: ISO &amp; TVTC approved, accredited by IADC, OPITO, NFPA, NEBOSH and IOSH</a:t>
            </a:r>
            <a:endParaRPr lang="en-US" sz="1350" dirty="0"/>
          </a:p>
        </p:txBody>
      </p:sp>
      <p:pic>
        <p:nvPicPr>
          <p:cNvPr id="8" name="Image 0" descr="/home/user/My-Future-Idaes/SANAD-Fire-Team-Leader-Course/assets/img/day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2280" y="1554480"/>
            <a:ext cx="480060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12280" y="4416552"/>
            <a:ext cx="4800600" cy="384048"/>
          </a:xfrm>
          <a:prstGeom prst="rect">
            <a:avLst/>
          </a:prstGeom>
          <a:solidFill>
            <a:srgbClr val="14181C">
              <a:alpha val="7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922008" y="4416552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brief at first light — leadership starts before the alarm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" y="5074920"/>
            <a:ext cx="2544318" cy="1234440"/>
          </a:xfrm>
          <a:prstGeom prst="roundRect">
            <a:avLst>
              <a:gd name="adj" fmla="val 5926"/>
            </a:avLst>
          </a:prstGeom>
          <a:solidFill>
            <a:srgbClr val="F3F4F5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5193792"/>
            <a:ext cx="21785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77240" y="5779008"/>
            <a:ext cx="2178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of intensive training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12998" y="5074920"/>
            <a:ext cx="2544318" cy="1234440"/>
          </a:xfrm>
          <a:prstGeom prst="roundRect">
            <a:avLst>
              <a:gd name="adj" fmla="val 5926"/>
            </a:avLst>
          </a:prstGeom>
          <a:solidFill>
            <a:srgbClr val="F3F4F5"/>
          </a:solidFill>
          <a:ln/>
        </p:spPr>
      </p:sp>
      <p:sp>
        <p:nvSpPr>
          <p:cNvPr id="15" name="Text 12"/>
          <p:cNvSpPr/>
          <p:nvPr/>
        </p:nvSpPr>
        <p:spPr>
          <a:xfrm>
            <a:off x="3595878" y="5193792"/>
            <a:ext cx="21785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595878" y="5779008"/>
            <a:ext cx="2178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modules, leadership-first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31636" y="5074920"/>
            <a:ext cx="2544318" cy="1234440"/>
          </a:xfrm>
          <a:prstGeom prst="roundRect">
            <a:avLst>
              <a:gd name="adj" fmla="val 5926"/>
            </a:avLst>
          </a:prstGeom>
          <a:solidFill>
            <a:srgbClr val="F3F4F5"/>
          </a:solidFill>
          <a:ln/>
        </p:spPr>
      </p:sp>
      <p:sp>
        <p:nvSpPr>
          <p:cNvPr id="18" name="Text 15"/>
          <p:cNvSpPr/>
          <p:nvPr/>
        </p:nvSpPr>
        <p:spPr>
          <a:xfrm>
            <a:off x="6414516" y="5193792"/>
            <a:ext cx="21785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414516" y="5779008"/>
            <a:ext cx="2178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practical delivery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050274" y="5074920"/>
            <a:ext cx="2544318" cy="1234440"/>
          </a:xfrm>
          <a:prstGeom prst="roundRect">
            <a:avLst>
              <a:gd name="adj" fmla="val 5926"/>
            </a:avLst>
          </a:prstGeom>
          <a:solidFill>
            <a:srgbClr val="F3F4F5"/>
          </a:solidFill>
          <a:ln/>
        </p:spPr>
      </p:sp>
      <p:sp>
        <p:nvSpPr>
          <p:cNvPr id="21" name="Text 18"/>
          <p:cNvSpPr/>
          <p:nvPr/>
        </p:nvSpPr>
        <p:spPr>
          <a:xfrm>
            <a:off x="9233154" y="5193792"/>
            <a:ext cx="21785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9233154" y="5779008"/>
            <a:ext cx="2178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scenario-based assessment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pic>
        <p:nvPicPr>
          <p:cNvPr id="4" name="Image 0" descr="/home/user/My-Future-Idaes/SANAD-Fire-Team-Leader-Course/assets/img/flam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14181C">
              <a:alpha val="2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COURSE EXISTS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8686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five minutes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the outcome.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" y="2468880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rig fire near fuel, mud gas or the wellhead can escalate from incident to catastrophe in minutes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desert sites mean no cavalry — the on-site team leader owns the response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Saudi Aramco holds contractors to the highest emergency-readiness standard in the region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can be replaced. Trained, led, disciplined people are what save lives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4360" y="5074920"/>
            <a:ext cx="1755648" cy="1234440"/>
          </a:xfrm>
          <a:prstGeom prst="roundRect">
            <a:avLst>
              <a:gd name="adj" fmla="val 5926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175504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31520" y="568756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that decides escalation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32888" y="5074920"/>
            <a:ext cx="1755648" cy="1234440"/>
          </a:xfrm>
          <a:prstGeom prst="roundRect">
            <a:avLst>
              <a:gd name="adj" fmla="val 5926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70048" y="5175504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leader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670048" y="568756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the tempo for every crew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471416" y="5074920"/>
            <a:ext cx="1755648" cy="1234440"/>
          </a:xfrm>
          <a:prstGeom prst="roundRect">
            <a:avLst>
              <a:gd name="adj" fmla="val 5926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08576" y="5175504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4608576" y="568756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acceptable loss of life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NEFT 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fire course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fire training teaches hands. This course trains the head that commands them — then proves it under realistic pressure.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240280"/>
            <a:ext cx="2510028" cy="3657600"/>
          </a:xfrm>
          <a:prstGeom prst="roundRect">
            <a:avLst>
              <a:gd name="adj" fmla="val 3643"/>
            </a:avLst>
          </a:prstGeom>
          <a:solidFill>
            <a:srgbClr val="F3F4F5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514600"/>
            <a:ext cx="603504" cy="60350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9" name="Image 0" descr="/tmp/claude-0/-home-user-My-Future-Idaes/0806094f-208a-506e-82b2-f78683d50c82/scratchpad/icons/FaChe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2659441"/>
            <a:ext cx="313822" cy="31382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291840"/>
            <a:ext cx="2052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first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22960" y="3913632"/>
            <a:ext cx="20528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presence, decision-making and authority under pressure — the core of every module, not an afterthought.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4428" y="2240280"/>
            <a:ext cx="2510028" cy="3657600"/>
          </a:xfrm>
          <a:prstGeom prst="roundRect">
            <a:avLst>
              <a:gd name="adj" fmla="val 3643"/>
            </a:avLst>
          </a:prstGeom>
          <a:solidFill>
            <a:srgbClr val="F3F4F5"/>
          </a:solidFill>
          <a:ln/>
        </p:spPr>
      </p:sp>
      <p:sp>
        <p:nvSpPr>
          <p:cNvPr id="13" name="Shape 10"/>
          <p:cNvSpPr/>
          <p:nvPr/>
        </p:nvSpPr>
        <p:spPr>
          <a:xfrm>
            <a:off x="3653028" y="2514600"/>
            <a:ext cx="603504" cy="60350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4" name="Image 1" descr="/tmp/claude-0/-home-user-My-Future-Idaes/0806094f-208a-506e-82b2-f78683d50c82/scratchpad/icons/FaFi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869" y="2659441"/>
            <a:ext cx="313822" cy="31382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3028" y="3291840"/>
            <a:ext cx="2052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fire realism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653028" y="3913632"/>
            <a:ext cx="20528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Drills and simulations mirror drilling-rig fires: fuel, wellhead, mud gas, H2S — the fires SANAD crews could actually face.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54496" y="2240280"/>
            <a:ext cx="2510028" cy="3657600"/>
          </a:xfrm>
          <a:prstGeom prst="roundRect">
            <a:avLst>
              <a:gd name="adj" fmla="val 3643"/>
            </a:avLst>
          </a:prstGeom>
          <a:solidFill>
            <a:srgbClr val="F3F4F5"/>
          </a:solidFill>
          <a:ln/>
        </p:spPr>
      </p:sp>
      <p:sp>
        <p:nvSpPr>
          <p:cNvPr id="18" name="Shape 14"/>
          <p:cNvSpPr/>
          <p:nvPr/>
        </p:nvSpPr>
        <p:spPr>
          <a:xfrm>
            <a:off x="6483096" y="2514600"/>
            <a:ext cx="603504" cy="60350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9" name="Image 2" descr="/tmp/claude-0/-home-user-My-Future-Idaes/0806094f-208a-506e-82b2-f78683d50c82/scratchpad/icons/Fa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937" y="2659441"/>
            <a:ext cx="313822" cy="31382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83096" y="3291840"/>
            <a:ext cx="2052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factors built in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483096" y="3913632"/>
            <a:ext cx="20528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Stress, panic, fear and discipline are trained deliberately — because people, not pumps, fail first.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84564" y="2240280"/>
            <a:ext cx="2510028" cy="3657600"/>
          </a:xfrm>
          <a:prstGeom prst="roundRect">
            <a:avLst>
              <a:gd name="adj" fmla="val 3643"/>
            </a:avLst>
          </a:prstGeom>
          <a:solidFill>
            <a:srgbClr val="F3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9313164" y="2514600"/>
            <a:ext cx="603504" cy="60350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4" name="Image 3" descr="/tmp/claude-0/-home-user-My-Future-Idaes/0806094f-208a-506e-82b2-f78683d50c82/scratchpad/icons/FaStopwat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005" y="2659441"/>
            <a:ext cx="313822" cy="31382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13164" y="3291840"/>
            <a:ext cx="2052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60–65% practical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9313164" y="3913632"/>
            <a:ext cx="20528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 course is spent doing: role-plays, tactical drills, command simulations and a full-scale evaluated exercise.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COURSE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be able to…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7" name="Image 0" descr="/tmp/claude-0/-home-user-My-Future-Idaes/0806094f-208a-506e-82b2-f78683d50c82/scratchpad/icons/Fa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255" y="1905975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07592" y="17099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firefighting teams effectively — on shift, on scene, under fire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0" name="Image 1" descr="/tmp/claude-0/-home-user-My-Future-Idaes/0806094f-208a-506e-82b2-f78683d50c82/scratchpad/icons/Fa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815" y="1905975"/>
            <a:ext cx="266273" cy="2662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31152" y="17099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dynamic risk assessments as conditions change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" y="2862072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3" name="Image 2" descr="/tmp/claude-0/-home-user-My-Future-Idaes/0806094f-208a-506e-82b2-f78683d50c82/scratchpad/icons/Fa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55" y="2984967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07592" y="2788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sound decisions under time pressure and uncertainty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17920" y="2862072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6" name="Image 3" descr="/tmp/claude-0/-home-user-My-Future-Idaes/0806094f-208a-506e-82b2-f78683d50c82/scratchpad/icons/FaHeartbea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815" y="2984967"/>
            <a:ext cx="266273" cy="26627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31152" y="2788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team behavior, stress and performance in crisis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94360" y="3941064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9" name="Image 4" descr="/tmp/claude-0/-home-user-My-Future-Idaes/0806094f-208a-506e-82b2-f78683d50c82/scratchpad/icons/FaMapMarkedA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255" y="4063959"/>
            <a:ext cx="266273" cy="26627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07592" y="386791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structured emergency response strategies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217920" y="3941064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2" name="Image 5" descr="/tmp/claude-0/-home-user-My-Future-Idaes/0806094f-208a-506e-82b2-f78683d50c82/scratchpad/icons/FaSitema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815" y="4063959"/>
            <a:ext cx="266273" cy="26627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931152" y="386791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incident command and multi-team coordination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594360" y="5020056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5" name="Image 6" descr="/tmp/claude-0/-home-user-My-Future-Idaes/0806094f-208a-506e-82b2-f78683d50c82/scratchpad/icons/FaUndo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255" y="5142951"/>
            <a:ext cx="266273" cy="266273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307592" y="494690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post-incident reviews that make the team better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217920" y="4946904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4181C"/>
          </a:solidFill>
          <a:ln/>
        </p:spPr>
      </p:sp>
      <p:sp>
        <p:nvSpPr>
          <p:cNvPr id="28" name="Text 19"/>
          <p:cNvSpPr/>
          <p:nvPr/>
        </p:nvSpPr>
        <p:spPr>
          <a:xfrm>
            <a:off x="6446520" y="4946904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Validated, not assumed: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objective is tested in scenario on Day 3.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days. Three gears.</a:t>
            </a:r>
            <a:endParaRPr lang="en-US" sz="3000" dirty="0"/>
          </a:p>
        </p:txBody>
      </p:sp>
      <p:pic>
        <p:nvPicPr>
          <p:cNvPr id="6" name="Image 0" descr="/home/user/My-Future-Idaes/SANAD-Fire-Team-Leader-Course/assets/img/day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783080"/>
            <a:ext cx="3422904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3611880"/>
            <a:ext cx="3422904" cy="2377440"/>
          </a:xfrm>
          <a:prstGeom prst="rect">
            <a:avLst/>
          </a:prstGeom>
          <a:solidFill>
            <a:srgbClr val="F3F4F5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767328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— LEAD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059936"/>
            <a:ext cx="2965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Leader Under Pressure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466344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of emergency leadership and the human factors that make or break a team.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557784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1–2</a:t>
            </a:r>
            <a:endParaRPr lang="en-US" sz="1050" dirty="0"/>
          </a:p>
        </p:txBody>
      </p:sp>
      <p:pic>
        <p:nvPicPr>
          <p:cNvPr id="12" name="Image 1" descr="/home/user/My-Future-Idaes/SANAD-Fire-Team-Leader-Course/assets/img/day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3024" y="1783080"/>
            <a:ext cx="3422904" cy="1828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83024" y="3611880"/>
            <a:ext cx="3422904" cy="2377440"/>
          </a:xfrm>
          <a:prstGeom prst="rect">
            <a:avLst/>
          </a:prstGeom>
          <a:solidFill>
            <a:srgbClr val="F3F4F5"/>
          </a:solidFill>
          <a:ln/>
        </p:spPr>
      </p:sp>
      <p:sp>
        <p:nvSpPr>
          <p:cNvPr id="14" name="Text 10"/>
          <p:cNvSpPr/>
          <p:nvPr/>
        </p:nvSpPr>
        <p:spPr>
          <a:xfrm>
            <a:off x="4611624" y="3767328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COMMAND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11624" y="4059936"/>
            <a:ext cx="2965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Tactics, Coordination, Control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11624" y="466344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fire response, communication discipline and structured incident command.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11624" y="557784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3–5</a:t>
            </a:r>
            <a:endParaRPr lang="en-US" sz="1050" dirty="0"/>
          </a:p>
        </p:txBody>
      </p:sp>
      <p:pic>
        <p:nvPicPr>
          <p:cNvPr id="18" name="Image 2" descr="/home/user/My-Future-Idaes/SANAD-Fire-Team-Leader-Course/assets/img/day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71688" y="1783080"/>
            <a:ext cx="3422904" cy="18288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71688" y="3611880"/>
            <a:ext cx="3422904" cy="237744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20" name="Text 15"/>
          <p:cNvSpPr/>
          <p:nvPr/>
        </p:nvSpPr>
        <p:spPr>
          <a:xfrm>
            <a:off x="8400288" y="3767328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— PROVE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400288" y="4059936"/>
            <a:ext cx="2965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Full-Scale Simulation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400288" y="466344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multi-risk scenarios, evaluated in real time. Certification is earned here.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400288" y="557784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+ Assessment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modules, one mission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5317236" cy="1298448"/>
          </a:xfrm>
          <a:prstGeom prst="roundRect">
            <a:avLst>
              <a:gd name="adj" fmla="val 5634"/>
            </a:avLst>
          </a:prstGeom>
          <a:solidFill>
            <a:srgbClr val="F3F4F5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938528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645920" y="1883664"/>
            <a:ext cx="31683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in Emergency Response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45920" y="2450592"/>
            <a:ext cx="31683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presence, styles, decisions under uncertainty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05756" y="18836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7356" y="1737360"/>
            <a:ext cx="5317236" cy="1298448"/>
          </a:xfrm>
          <a:prstGeom prst="roundRect">
            <a:avLst>
              <a:gd name="adj" fmla="val 5634"/>
            </a:avLst>
          </a:prstGeom>
          <a:solidFill>
            <a:srgbClr val="F3F4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78524" y="1938528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328916" y="1883664"/>
            <a:ext cx="31683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Factors &amp; Behavioral Leadership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28916" y="2450592"/>
            <a:ext cx="31683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Stress, panic, discipline, unsafe-act prevention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588752" y="18836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218688"/>
            <a:ext cx="5317236" cy="1298448"/>
          </a:xfrm>
          <a:prstGeom prst="roundRect">
            <a:avLst>
              <a:gd name="adj" fmla="val 5634"/>
            </a:avLst>
          </a:prstGeom>
          <a:solidFill>
            <a:srgbClr val="F3F4F5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3419856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645920" y="3364992"/>
            <a:ext cx="31683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Fire Response &amp; Scene Management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45920" y="3931920"/>
            <a:ext cx="31683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strategies, size-up, risk-based decisions, resources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05756" y="33649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7356" y="3218688"/>
            <a:ext cx="5317236" cy="1298448"/>
          </a:xfrm>
          <a:prstGeom prst="roundRect">
            <a:avLst>
              <a:gd name="adj" fmla="val 5634"/>
            </a:avLst>
          </a:prstGeom>
          <a:solidFill>
            <a:srgbClr val="F3F4F5"/>
          </a:solidFill>
          <a:ln/>
        </p:spPr>
      </p:sp>
      <p:sp>
        <p:nvSpPr>
          <p:cNvPr id="22" name="Text 20"/>
          <p:cNvSpPr/>
          <p:nvPr/>
        </p:nvSpPr>
        <p:spPr>
          <a:xfrm>
            <a:off x="6478524" y="3419856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328916" y="3364992"/>
            <a:ext cx="31683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&amp; Command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28916" y="3931920"/>
            <a:ext cx="31683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Protocols, multi-team coordination, control in escalation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588752" y="33649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4700016"/>
            <a:ext cx="5317236" cy="1298448"/>
          </a:xfrm>
          <a:prstGeom prst="roundRect">
            <a:avLst>
              <a:gd name="adj" fmla="val 5634"/>
            </a:avLst>
          </a:prstGeom>
          <a:solidFill>
            <a:srgbClr val="F3F4F5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" y="4901184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1645920" y="4846320"/>
            <a:ext cx="31683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 &amp; Emergency Control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645920" y="5413248"/>
            <a:ext cx="31683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principles, control zones, escalation, accountability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05756" y="4846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7356" y="4700016"/>
            <a:ext cx="5317236" cy="1298448"/>
          </a:xfrm>
          <a:prstGeom prst="roundRect">
            <a:avLst>
              <a:gd name="adj" fmla="val 5634"/>
            </a:avLst>
          </a:prstGeom>
          <a:solidFill>
            <a:srgbClr val="F3F4F5"/>
          </a:solidFill>
          <a:ln/>
        </p:spPr>
      </p:sp>
      <p:sp>
        <p:nvSpPr>
          <p:cNvPr id="32" name="Text 30"/>
          <p:cNvSpPr/>
          <p:nvPr/>
        </p:nvSpPr>
        <p:spPr>
          <a:xfrm>
            <a:off x="6478524" y="4901184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7328916" y="4846320"/>
            <a:ext cx="31683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Full-Scale Simulation &amp; Evaluation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328916" y="5413248"/>
            <a:ext cx="31683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scenarios, real-time evaluation, structured debrief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588752" y="4846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WILL BE MEASURED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&amp; certification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3453384" cy="2880360"/>
          </a:xfrm>
          <a:prstGeom prst="roundRect">
            <a:avLst>
              <a:gd name="adj" fmla="val 3175"/>
            </a:avLst>
          </a:prstGeom>
          <a:solidFill>
            <a:srgbClr val="F3F4F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8" name="Image 0" descr="/tmp/claude-0/-home-user-My-Future-Idaes/0806094f-208a-506e-82b2-f78683d50c82/scratchpad/icons/Fa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14335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697480"/>
            <a:ext cx="2996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performance evaluation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2996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assessor observation across all practical work — command presence, decisions, control of the team.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431596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Throughout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67784" y="1783080"/>
            <a:ext cx="3453384" cy="2880360"/>
          </a:xfrm>
          <a:prstGeom prst="roundRect">
            <a:avLst>
              <a:gd name="adj" fmla="val 3175"/>
            </a:avLst>
          </a:prstGeom>
          <a:solidFill>
            <a:srgbClr val="F3F4F5"/>
          </a:solidFill>
          <a:ln/>
        </p:spPr>
      </p:sp>
      <p:sp>
        <p:nvSpPr>
          <p:cNvPr id="13" name="Shape 10"/>
          <p:cNvSpPr/>
          <p:nvPr/>
        </p:nvSpPr>
        <p:spPr>
          <a:xfrm>
            <a:off x="4596384" y="201168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4" name="Image 1" descr="/tmp/claude-0/-home-user-My-Future-Idaes/0806094f-208a-506e-82b2-f78683d50c82/scratchpad/icons/FaFi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058" y="214335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6384" y="2697480"/>
            <a:ext cx="2996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Scenario-based assessments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96384" y="3383280"/>
            <a:ext cx="2996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performance in tactical drills, command simulations and the Day 3 full-scale exercise.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96384" y="431596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2–3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41208" y="1783080"/>
            <a:ext cx="3453384" cy="2880360"/>
          </a:xfrm>
          <a:prstGeom prst="roundRect">
            <a:avLst>
              <a:gd name="adj" fmla="val 3175"/>
            </a:avLst>
          </a:prstGeom>
          <a:solidFill>
            <a:srgbClr val="F3F4F5"/>
          </a:solidFill>
          <a:ln/>
        </p:spPr>
      </p:sp>
      <p:sp>
        <p:nvSpPr>
          <p:cNvPr id="19" name="Shape 15"/>
          <p:cNvSpPr/>
          <p:nvPr/>
        </p:nvSpPr>
        <p:spPr>
          <a:xfrm>
            <a:off x="8369808" y="201168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0" name="Image 2" descr="/tmp/claude-0/-home-user-My-Future-Idaes/0806094f-208a-506e-82b2-f78683d50c82/scratchpad/icons/FaClipboard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482" y="214335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69808" y="2697480"/>
            <a:ext cx="2996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competency validation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369808" y="3383280"/>
            <a:ext cx="2996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sign-off against the Fire Team Leader competency profile, plus knowledge check.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369808" y="431596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94360" y="4983480"/>
            <a:ext cx="11000232" cy="1143000"/>
          </a:xfrm>
          <a:prstGeom prst="roundRect">
            <a:avLst>
              <a:gd name="adj" fmla="val 6400"/>
            </a:avLst>
          </a:prstGeom>
          <a:solidFill>
            <a:srgbClr val="14181C"/>
          </a:solidFill>
          <a:ln/>
        </p:spPr>
      </p:sp>
      <p:sp>
        <p:nvSpPr>
          <p:cNvPr id="25" name="Shape 20"/>
          <p:cNvSpPr/>
          <p:nvPr/>
        </p:nvSpPr>
        <p:spPr>
          <a:xfrm>
            <a:off x="868680" y="525780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6" name="Image 3" descr="/tmp/claude-0/-home-user-My-Future-Idaes/0806094f-208a-506e-82b2-f78683d50c82/scratchpad/icons/FaAward_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400446"/>
            <a:ext cx="309067" cy="30906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91640" y="5074920"/>
            <a:ext cx="9628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of Competency — Fire Fighting Team Leader.  </a:t>
            </a:r>
            <a:pPr indent="0" marL="0">
              <a:buNone/>
            </a:pPr>
            <a:r>
              <a:rPr lang="en-US" sz="12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by NEFT Energies (ISO &amp; TVTC approved; accreditations include IADC, OPITO, NFPA, NEBOSH, IOSH) upon successful validation.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pic>
        <p:nvPicPr>
          <p:cNvPr id="4" name="Image 0" descr="/home/user/My-Future-Idaes/SANAD-Fire-Team-Leader-Course/assets/img/day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14181C">
              <a:alpha val="8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OF 3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169164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LEAD.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Leader Under Pressure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94360" y="32918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of emergency leadership — and the human factors that decide whether a team performs or panics.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379976"/>
            <a:ext cx="274320" cy="27432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— Leadership in Emergency Response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4946904"/>
            <a:ext cx="274320" cy="27432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864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Human Factors &amp; Behavioral Leadership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" y="5513832"/>
            <a:ext cx="274320" cy="27432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54315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Role-plays, decision drills, behavioral simulations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— LEAD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of the day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023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616952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07:30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Registration, safety briefing &amp; course opening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08:00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Expectations, introductions &amp; pre-course assessment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08:30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1 — The role of the Fire Team Leader on a SANAD rig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1 — Command presence, leadership styles, decision-making under uncertainty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11:30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Leadership role-play scenarios &amp; time-pressure decision drills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49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12:30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Lunch &amp; prayer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2 — Stress and human performance in emergencies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2 — Managing panic and fear; behavioral control &amp; discipline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15:15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leadership simulations &amp; team performance exercises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49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1 debrief, takeaways &amp; evening assignment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pic>
        <p:nvPicPr>
          <p:cNvPr id="4" name="Image 0" descr="/home/user/My-Future-Idaes/SANAD-Fire-Team-Leader-Course/assets/img/day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0"/>
            <a:ext cx="514807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0"/>
            <a:ext cx="5148072" cy="6858000"/>
          </a:xfrm>
          <a:prstGeom prst="rect">
            <a:avLst/>
          </a:prstGeom>
          <a:solidFill>
            <a:srgbClr val="14181C">
              <a:alpha val="2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594360" y="265176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in</a:t>
            </a:r>
            <a:endParaRPr lang="en-US" sz="3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Response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594360" y="384048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— </a:t>
            </a:r>
            <a:pPr indent="0" marL="0">
              <a:buNone/>
            </a:pPr>
            <a:r>
              <a:rPr lang="en-US" sz="13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leadership capability under pressure.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4828032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of the Fire Team Leader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49040" y="4828032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3" name="Text 10"/>
          <p:cNvSpPr/>
          <p:nvPr/>
        </p:nvSpPr>
        <p:spPr>
          <a:xfrm>
            <a:off x="4041648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presence &amp; authority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4360" y="548640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5" name="Text 12"/>
          <p:cNvSpPr/>
          <p:nvPr/>
        </p:nvSpPr>
        <p:spPr>
          <a:xfrm>
            <a:off x="886968" y="5367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styles in emergencies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749040" y="548640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7" name="Text 14"/>
          <p:cNvSpPr/>
          <p:nvPr/>
        </p:nvSpPr>
        <p:spPr>
          <a:xfrm>
            <a:off x="4041648" y="5367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in uncertain conditions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080760" y="777240"/>
            <a:ext cx="640080" cy="640080"/>
          </a:xfrm>
          <a:prstGeom prst="ellipse">
            <a:avLst/>
          </a:prstGeom>
          <a:solidFill>
            <a:srgbClr val="1F262C"/>
          </a:solidFill>
          <a:ln/>
        </p:spPr>
      </p:sp>
      <p:pic>
        <p:nvPicPr>
          <p:cNvPr id="19" name="Image 1" descr="/tmp/claude-0/-home-user-My-Future-Idaes/0806094f-208a-506e-82b2-f78683d50c82/scratchpad/icons/FaChess_fl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379" y="930859"/>
            <a:ext cx="332842" cy="3328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Fire Team Leader on a SANAD rig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the pivot between the alarm and the outcome. Four things are yours and no one else's: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F3F4F5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3172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9" name="Image 0" descr="/tmp/claude-0/-home-user-My-Future-Idaes/0806094f-208a-506e-82b2-f78683d50c82/scratchpad/icons/FaBe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46339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304288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first response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554480" y="2724912"/>
            <a:ext cx="40827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command at the scene, confirm the alarm, declare the incident level and set the initial plan before it sets itself.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77356" y="210312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F3F4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505956" y="233172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4" name="Image 1" descr="/tmp/claude-0/-home-user-My-Future-Idaes/0806094f-208a-506e-82b2-f78683d50c82/scratchpad/icons/Fa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630" y="246339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37476" y="2304288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for people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237476" y="2724912"/>
            <a:ext cx="40827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Muster, headcount, missing-person confirmation. People first, then exposures, then the fire.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4360" y="406908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F3F4F5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9" name="Image 2" descr="/tmp/claude-0/-home-user-My-Future-Idaes/0806094f-208a-506e-82b2-f78683d50c82/scratchpad/icons/Fa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42935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270248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upward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554480" y="4690872"/>
            <a:ext cx="40827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the rig manager / toolpusher and the emergency response plan with clear, timed situation reports.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77356" y="406908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F3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505956" y="429768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4" name="Image 3" descr="/tmp/claude-0/-home-user-My-Future-Idaes/0806094f-208a-506e-82b2-f78683d50c82/scratchpad/icons/FaPeopleArrow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630" y="442935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37476" y="4270248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over cleanly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237476" y="4690872"/>
            <a:ext cx="40827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Saudi Aramco Fire Protection or Civil Defense arrives, brief and transfer command like a professional.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presence: look, sound, act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3453384" cy="3291840"/>
          </a:xfrm>
          <a:prstGeom prst="roundRect">
            <a:avLst>
              <a:gd name="adj" fmla="val 2778"/>
            </a:avLst>
          </a:prstGeom>
          <a:solidFill>
            <a:srgbClr val="F3F4F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01952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8" name="Image 0" descr="/tmp/claude-0/-home-user-My-Future-Idaes/0806094f-208a-506e-82b2-f78683d50c82/scratchpad/icons/Fa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33626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938528"/>
            <a:ext cx="2356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in command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2651760"/>
            <a:ext cx="299618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where you can see the scene and be seen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Still, deliberate movement — no running, no flapping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PPE immaculate; you are the standard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67784" y="1691640"/>
            <a:ext cx="3453384" cy="3291840"/>
          </a:xfrm>
          <a:prstGeom prst="roundRect">
            <a:avLst>
              <a:gd name="adj" fmla="val 2778"/>
            </a:avLst>
          </a:prstGeom>
          <a:solidFill>
            <a:srgbClr val="14181C"/>
          </a:solidFill>
          <a:ln/>
        </p:spPr>
      </p:sp>
      <p:sp>
        <p:nvSpPr>
          <p:cNvPr id="12" name="Shape 9"/>
          <p:cNvSpPr/>
          <p:nvPr/>
        </p:nvSpPr>
        <p:spPr>
          <a:xfrm>
            <a:off x="4596384" y="1901952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3" name="Image 1" descr="/tmp/claude-0/-home-user-My-Future-Idaes/0806094f-208a-506e-82b2-f78683d50c82/scratchpad/icons/FaMicropho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058" y="2033626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2184" y="1938528"/>
            <a:ext cx="2356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in command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96384" y="2651760"/>
            <a:ext cx="299618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Lower, slower, louder than the chaos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imperative sentences: name → task → confirm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shouting matches — repeat once, then act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41208" y="1691640"/>
            <a:ext cx="3453384" cy="3291840"/>
          </a:xfrm>
          <a:prstGeom prst="roundRect">
            <a:avLst>
              <a:gd name="adj" fmla="val 2778"/>
            </a:avLst>
          </a:prstGeom>
          <a:solidFill>
            <a:srgbClr val="F3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8369808" y="1901952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8" name="Image 2" descr="/tmp/claude-0/-home-user-My-Future-Idaes/0806094f-208a-506e-82b2-f78683d50c82/scratchpad/icons/Fa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482" y="2033626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55608" y="1938528"/>
            <a:ext cx="2356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in command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69808" y="2651760"/>
            <a:ext cx="299618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visibly; broadcast the plan early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tasks, not lectures — one task per person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unsafe behavior instantly, every time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94360" y="5257800"/>
            <a:ext cx="11000232" cy="960120"/>
          </a:xfrm>
          <a:prstGeom prst="roundRect">
            <a:avLst>
              <a:gd name="adj" fmla="val 7619"/>
            </a:avLst>
          </a:prstGeom>
          <a:solidFill>
            <a:srgbClr val="F3F4F5"/>
          </a:solidFill>
          <a:ln/>
        </p:spPr>
      </p:sp>
      <p:sp>
        <p:nvSpPr>
          <p:cNvPr id="22" name="Text 17"/>
          <p:cNvSpPr/>
          <p:nvPr/>
        </p:nvSpPr>
        <p:spPr>
          <a:xfrm>
            <a:off x="868680" y="525780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13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team does not follow the plan. The team follows the calmest person who has one.”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styles — and when to switch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10002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3502152"/>
                <a:gridCol w="2103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WORKS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WHEN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 OF THUMB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49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DIRECTIVE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 decides, team executes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fire, casualties, seconds matter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under fire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49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CONSULTATIVE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 decides after quick input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scene, specialist knowledge on the team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minutes allow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49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DELEGATIVE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 assigns outcomes, not steps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Trained sub-teams, parallel tasks, long incidents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endurance phases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480560"/>
            <a:ext cx="11000232" cy="1554480"/>
          </a:xfrm>
          <a:prstGeom prst="roundRect">
            <a:avLst>
              <a:gd name="adj" fmla="val 5882"/>
            </a:avLst>
          </a:prstGeom>
          <a:solidFill>
            <a:srgbClr val="14181C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484632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9" name="Image 0" descr="/tmp/claude-0/-home-user-My-Future-Idaes/0806094f-208a-506e-82b2-f78683d50c82/scratchpad/icons/FaExclamationTriangle_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499993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4617720"/>
            <a:ext cx="9537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emergency default is DIRECTIVE.
</a:t>
            </a:r>
            <a:pPr indent="0" marL="0">
              <a:buNone/>
            </a:pPr>
            <a:r>
              <a:rPr lang="en-US" sz="120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 is a luxury of time. When the scene is dynamic, decide, direct, and adjust. You can apologize for tone later — you cannot apologize for hesitation.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Deciding in the fog: the OODA loop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2395728" cy="2103120"/>
          </a:xfrm>
          <a:prstGeom prst="roundRect">
            <a:avLst>
              <a:gd name="adj" fmla="val 4348"/>
            </a:avLst>
          </a:prstGeom>
          <a:solidFill>
            <a:srgbClr val="F3F4F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898648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actually happening? Smoke, wind, people, sounds — raw facts, not assumptions.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08376" y="2651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493008" y="1874520"/>
            <a:ext cx="2395728" cy="2103120"/>
          </a:xfrm>
          <a:prstGeom prst="roundRect">
            <a:avLst>
              <a:gd name="adj" fmla="val 4348"/>
            </a:avLst>
          </a:prstGeom>
          <a:solidFill>
            <a:srgbClr val="F3F4F5"/>
          </a:solidFill>
          <a:ln/>
        </p:spPr>
      </p:sp>
      <p:sp>
        <p:nvSpPr>
          <p:cNvPr id="12" name="Text 10"/>
          <p:cNvSpPr/>
          <p:nvPr/>
        </p:nvSpPr>
        <p:spPr>
          <a:xfrm>
            <a:off x="3675888" y="2011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75888" y="256032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75888" y="2898648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mean here? Match the picture against known rig fire patterns.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07024" y="2651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91656" y="1874520"/>
            <a:ext cx="2395728" cy="2103120"/>
          </a:xfrm>
          <a:prstGeom prst="roundRect">
            <a:avLst>
              <a:gd name="adj" fmla="val 4348"/>
            </a:avLst>
          </a:prstGeom>
          <a:solidFill>
            <a:srgbClr val="F3F4F5"/>
          </a:solidFill>
          <a:ln/>
        </p:spPr>
      </p:sp>
      <p:sp>
        <p:nvSpPr>
          <p:cNvPr id="17" name="Text 15"/>
          <p:cNvSpPr/>
          <p:nvPr/>
        </p:nvSpPr>
        <p:spPr>
          <a:xfrm>
            <a:off x="6574536" y="2011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74536" y="256032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74536" y="2898648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best available option — not the perfect one.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05672" y="2651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290304" y="1874520"/>
            <a:ext cx="2395728" cy="2103120"/>
          </a:xfrm>
          <a:prstGeom prst="roundRect">
            <a:avLst>
              <a:gd name="adj" fmla="val 4348"/>
            </a:avLst>
          </a:prstGeom>
          <a:solidFill>
            <a:srgbClr val="F3F4F5"/>
          </a:solidFill>
          <a:ln/>
        </p:spPr>
      </p:sp>
      <p:sp>
        <p:nvSpPr>
          <p:cNvPr id="22" name="Text 20"/>
          <p:cNvSpPr/>
          <p:nvPr/>
        </p:nvSpPr>
        <p:spPr>
          <a:xfrm>
            <a:off x="9473184" y="2011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473184" y="256032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73184" y="2898648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hard, watch the result, and loop again.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4434840"/>
            <a:ext cx="5317236" cy="1645920"/>
          </a:xfrm>
          <a:prstGeom prst="roundRect">
            <a:avLst>
              <a:gd name="adj" fmla="val 5556"/>
            </a:avLst>
          </a:prstGeom>
          <a:solidFill>
            <a:srgbClr val="14181C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572000"/>
            <a:ext cx="47685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70% rule.
</a:t>
            </a:r>
            <a:pPr indent="0" marL="0">
              <a:buNone/>
            </a:pPr>
            <a:r>
              <a:rPr lang="en-US" sz="11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decision executed now beats a perfect decision executed too late. Act when you have ~70% of the information — the loop will correct the rest.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277356" y="4434840"/>
            <a:ext cx="5317236" cy="1645920"/>
          </a:xfrm>
          <a:prstGeom prst="roundRect">
            <a:avLst>
              <a:gd name="adj" fmla="val 5556"/>
            </a:avLst>
          </a:prstGeom>
          <a:solidFill>
            <a:srgbClr val="F3F4F5"/>
          </a:solidFill>
          <a:ln/>
        </p:spPr>
      </p:sp>
      <p:sp>
        <p:nvSpPr>
          <p:cNvPr id="28" name="Text 26"/>
          <p:cNvSpPr/>
          <p:nvPr/>
        </p:nvSpPr>
        <p:spPr>
          <a:xfrm>
            <a:off x="6551676" y="4572000"/>
            <a:ext cx="47685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3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beats analysis.
</a:t>
            </a:r>
            <a:pPr indent="0" marL="0">
              <a:buNone/>
            </a:pPr>
            <a:r>
              <a:rPr lang="en-US" sz="11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Experienced leaders don't compare options — they recognize patterns. That is why this course drills scenarios: we are building your pattern library.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60 seconds of command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moment the alarm sounds, five actions — in order, every time: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1980590" cy="3017520"/>
          </a:xfrm>
          <a:prstGeom prst="roundRect">
            <a:avLst>
              <a:gd name="adj" fmla="val 4617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861718" y="2331720"/>
            <a:ext cx="502920" cy="50292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0" name="Image 0" descr="/tmp/claude-0/-home-user-My-Future-Idaes/0806094f-208a-506e-82b2-f78683d50c82/scratchpad/icons/Fa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2419" y="2452421"/>
            <a:ext cx="261518" cy="26151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8952" y="3063240"/>
            <a:ext cx="16514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58952" y="3474720"/>
            <a:ext cx="16514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seconds of disciplined looking: what, where, who, wind.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849270" y="2148840"/>
            <a:ext cx="1980590" cy="3017520"/>
          </a:xfrm>
          <a:prstGeom prst="roundRect">
            <a:avLst>
              <a:gd name="adj" fmla="val 4617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13862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116629" y="2331720"/>
            <a:ext cx="502920" cy="50292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6" name="Image 1" descr="/tmp/claude-0/-home-user-My-Future-Idaes/0806094f-208a-506e-82b2-f78683d50c82/scratchpad/icons/FaBullhor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330" y="2452421"/>
            <a:ext cx="261518" cy="26151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13862" y="3063240"/>
            <a:ext cx="16514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013862" y="3474720"/>
            <a:ext cx="16514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is [name], I have command.” Confirm alarm level.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104181" y="2148840"/>
            <a:ext cx="1980590" cy="3017520"/>
          </a:xfrm>
          <a:prstGeom prst="roundRect">
            <a:avLst>
              <a:gd name="adj" fmla="val 4617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268773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Shape 17"/>
          <p:cNvSpPr/>
          <p:nvPr/>
        </p:nvSpPr>
        <p:spPr>
          <a:xfrm>
            <a:off x="6371539" y="2331720"/>
            <a:ext cx="502920" cy="50292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2" name="Image 2" descr="/tmp/claude-0/-home-user-My-Future-Idaes/0806094f-208a-506e-82b2-f78683d50c82/scratchpad/icons/Fa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452421"/>
            <a:ext cx="261518" cy="26151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68773" y="3063240"/>
            <a:ext cx="16514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268773" y="3474720"/>
            <a:ext cx="16514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tasks out: hose team, muster check, isolation.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359091" y="2148840"/>
            <a:ext cx="1980590" cy="3017520"/>
          </a:xfrm>
          <a:prstGeom prst="roundRect">
            <a:avLst>
              <a:gd name="adj" fmla="val 4617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523683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Shape 22"/>
          <p:cNvSpPr/>
          <p:nvPr/>
        </p:nvSpPr>
        <p:spPr>
          <a:xfrm>
            <a:off x="8626450" y="2331720"/>
            <a:ext cx="502920" cy="50292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8" name="Image 3" descr="/tmp/claude-0/-home-user-My-Future-Idaes/0806094f-208a-506e-82b2-f78683d50c82/scratchpad/icons/FaBroadcastTow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7150" y="2452421"/>
            <a:ext cx="261518" cy="26151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23683" y="3063240"/>
            <a:ext cx="16514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523683" y="3474720"/>
            <a:ext cx="16514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SITREP up to rig management — 20 seconds, structured.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9614002" y="2148840"/>
            <a:ext cx="1980590" cy="3017520"/>
          </a:xfrm>
          <a:prstGeom prst="roundRect">
            <a:avLst>
              <a:gd name="adj" fmla="val 4617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778594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33" name="Shape 27"/>
          <p:cNvSpPr/>
          <p:nvPr/>
        </p:nvSpPr>
        <p:spPr>
          <a:xfrm>
            <a:off x="10881360" y="2331720"/>
            <a:ext cx="502920" cy="50292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34" name="Image 4" descr="/tmp/claude-0/-home-user-My-Future-Idaes/0806094f-208a-506e-82b2-f78683d50c82/scratchpad/icons/FaSyncA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2061" y="2452421"/>
            <a:ext cx="261518" cy="26151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778594" y="3063240"/>
            <a:ext cx="16514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REASSESS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9778594" y="3474720"/>
            <a:ext cx="16514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Loop. Conditions changed the moment you started.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594360" y="5486400"/>
            <a:ext cx="1100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target:  </a:t>
            </a:r>
            <a:pPr indent="0" marL="0">
              <a:buNone/>
            </a:pPr>
            <a:r>
              <a:rPr lang="en-US" sz="12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five, out loud, inside 60 seconds — under a stopwatch, in front of the class. You will run this drill until it is reflex.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— PRACTICAL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when the clock is hostile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445752" y="43891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491D"/>
          </a:solidFill>
          <a:ln/>
        </p:spPr>
      </p:sp>
      <p:sp>
        <p:nvSpPr>
          <p:cNvPr id="7" name="Text 5"/>
          <p:cNvSpPr/>
          <p:nvPr/>
        </p:nvSpPr>
        <p:spPr>
          <a:xfrm>
            <a:off x="9445752" y="4389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BLOCK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Instructor-led pressure labs. Every participant leads at least twice; every performance is peer-reviewed.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3F4F5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1" name="Image 0" descr="/tmp/claude-0/-home-user-My-Future-Idaes/0806094f-208a-506e-82b2-f78683d50c82/scratchpad/icons/Fa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554834"/>
            <a:ext cx="285293" cy="28529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108960"/>
            <a:ext cx="299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role-plays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3749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command of a staged rig incident: confused crew, conflicting reports, one radio. Lead the first five minutes.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67784" y="219456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3F4F5"/>
          </a:solidFill>
          <a:ln/>
        </p:spPr>
      </p:sp>
      <p:sp>
        <p:nvSpPr>
          <p:cNvPr id="15" name="Shape 12"/>
          <p:cNvSpPr/>
          <p:nvPr/>
        </p:nvSpPr>
        <p:spPr>
          <a:xfrm>
            <a:off x="4596384" y="242316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6" name="Image 1" descr="/tmp/claude-0/-home-user-My-Future-Idaes/0806094f-208a-506e-82b2-f78683d50c82/scratchpad/icons/FaStopwat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058" y="2554834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96384" y="3108960"/>
            <a:ext cx="299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60-second decision drills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96384" y="3749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cards, stopwatch running: assess, declare, deploy, communicate, reassess — graded on order and clarity.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41208" y="219456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3F4F5"/>
          </a:solidFill>
          <a:ln/>
        </p:spPr>
      </p:sp>
      <p:sp>
        <p:nvSpPr>
          <p:cNvPr id="20" name="Shape 16"/>
          <p:cNvSpPr/>
          <p:nvPr/>
        </p:nvSpPr>
        <p:spPr>
          <a:xfrm>
            <a:off x="8369808" y="242316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1" name="Image 2" descr="/tmp/claude-0/-home-user-My-Future-Idaes/0806094f-208a-506e-82b2-f78683d50c82/scratchpad/icons/FaComment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482" y="2554834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69808" y="3108960"/>
            <a:ext cx="299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Hot-seat challenge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369808" y="3749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 injects complications mid-scenario. Hold command, re-plan aloud, keep the team moving.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94360" y="5623560"/>
            <a:ext cx="11000232" cy="658368"/>
          </a:xfrm>
          <a:prstGeom prst="roundRect">
            <a:avLst>
              <a:gd name="adj" fmla="val 11111"/>
            </a:avLst>
          </a:prstGeom>
          <a:solidFill>
            <a:srgbClr val="14181C"/>
          </a:solidFill>
          <a:ln/>
        </p:spPr>
      </p:sp>
      <p:sp>
        <p:nvSpPr>
          <p:cNvPr id="25" name="Text 20"/>
          <p:cNvSpPr/>
          <p:nvPr/>
        </p:nvSpPr>
        <p:spPr>
          <a:xfrm>
            <a:off x="822960" y="5623560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ASSESSED: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declaration, task clarity, decision speed and composure — assessor scored against the Module 1 rubric.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  <p:pic>
        <p:nvPicPr>
          <p:cNvPr id="4" name="Image 0" descr="/home/user/My-Future-Idaes/SANAD-Fire-Team-Leader-Course/assets/img/scb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0"/>
            <a:ext cx="514807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0"/>
            <a:ext cx="5148072" cy="6858000"/>
          </a:xfrm>
          <a:prstGeom prst="rect">
            <a:avLst/>
          </a:prstGeom>
          <a:solidFill>
            <a:srgbClr val="14181C">
              <a:alpha val="2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594360" y="265176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Factors &amp;</a:t>
            </a:r>
            <a:endParaRPr lang="en-US" sz="3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Leadership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594360" y="384048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— </a:t>
            </a:r>
            <a:pPr indent="0" marL="0">
              <a:buNone/>
            </a:pPr>
            <a:r>
              <a:rPr lang="en-US" sz="13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team behavior and performance when fear enters the scene.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4828032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impact on performance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49040" y="4828032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3" name="Text 10"/>
          <p:cNvSpPr/>
          <p:nvPr/>
        </p:nvSpPr>
        <p:spPr>
          <a:xfrm>
            <a:off x="4041648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panic and fear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4360" y="548640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5" name="Text 12"/>
          <p:cNvSpPr/>
          <p:nvPr/>
        </p:nvSpPr>
        <p:spPr>
          <a:xfrm>
            <a:off x="886968" y="5367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control &amp; discipline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749040" y="548640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7" name="Text 14"/>
          <p:cNvSpPr/>
          <p:nvPr/>
        </p:nvSpPr>
        <p:spPr>
          <a:xfrm>
            <a:off x="4041648" y="5367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unsafe actions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080760" y="777240"/>
            <a:ext cx="640080" cy="640080"/>
          </a:xfrm>
          <a:prstGeom prst="ellipse">
            <a:avLst/>
          </a:prstGeom>
          <a:solidFill>
            <a:srgbClr val="1F262C"/>
          </a:solidFill>
          <a:ln/>
        </p:spPr>
      </p:sp>
      <p:pic>
        <p:nvPicPr>
          <p:cNvPr id="19" name="Image 1" descr="/tmp/claude-0/-home-user-My-Future-Idaes/0806094f-208a-506e-82b2-f78683d50c82/scratchpad/icons/FaBrain_fl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379" y="930859"/>
            <a:ext cx="332842" cy="33284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stress does to a firefighter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acute stress the body optimizes for running — not for fine skills, hearing or judgment. Leaders must expect and counter these effects: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212848"/>
            <a:ext cx="3453384" cy="1755648"/>
          </a:xfrm>
          <a:prstGeom prst="roundRect">
            <a:avLst>
              <a:gd name="adj" fmla="val 5208"/>
            </a:avLst>
          </a:prstGeom>
          <a:solidFill>
            <a:srgbClr val="F3F4F5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2414016"/>
            <a:ext cx="475488" cy="475488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9" name="Image 0" descr="/tmp/claude-0/-home-user-My-Future-Idaes/0806094f-208a-506e-82b2-f78683d50c82/scratchpad/icons/Fa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645" y="2528133"/>
            <a:ext cx="247254" cy="24725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99032" y="2395728"/>
            <a:ext cx="2493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Tunnel vision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" y="2990088"/>
            <a:ext cx="3051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Peripheral awareness collapses onto the flame. Counter: leader scans; “eyes up” calls.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67784" y="2212848"/>
            <a:ext cx="3453384" cy="1755648"/>
          </a:xfrm>
          <a:prstGeom prst="roundRect">
            <a:avLst>
              <a:gd name="adj" fmla="val 5208"/>
            </a:avLst>
          </a:prstGeom>
          <a:solidFill>
            <a:srgbClr val="F3F4F5"/>
          </a:solidFill>
          <a:ln/>
        </p:spPr>
      </p:sp>
      <p:sp>
        <p:nvSpPr>
          <p:cNvPr id="13" name="Shape 10"/>
          <p:cNvSpPr/>
          <p:nvPr/>
        </p:nvSpPr>
        <p:spPr>
          <a:xfrm>
            <a:off x="4568952" y="2414016"/>
            <a:ext cx="475488" cy="475488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4" name="Image 1" descr="/tmp/claude-0/-home-user-My-Future-Idaes/0806094f-208a-506e-82b2-f78683d50c82/scratchpad/icons/FaBel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069" y="2528133"/>
            <a:ext cx="247254" cy="24725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72456" y="2395728"/>
            <a:ext cx="2493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Auditory exclusion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68952" y="2990088"/>
            <a:ext cx="3051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calls and shouts go unheard. Counter: closed-loop comms, physical touch, face checks.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141208" y="2212848"/>
            <a:ext cx="3453384" cy="1755648"/>
          </a:xfrm>
          <a:prstGeom prst="roundRect">
            <a:avLst>
              <a:gd name="adj" fmla="val 5208"/>
            </a:avLst>
          </a:prstGeom>
          <a:solidFill>
            <a:srgbClr val="F3F4F5"/>
          </a:solidFill>
          <a:ln/>
        </p:spPr>
      </p:sp>
      <p:sp>
        <p:nvSpPr>
          <p:cNvPr id="18" name="Shape 14"/>
          <p:cNvSpPr/>
          <p:nvPr/>
        </p:nvSpPr>
        <p:spPr>
          <a:xfrm>
            <a:off x="8342376" y="2414016"/>
            <a:ext cx="475488" cy="475488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9" name="Image 2" descr="/tmp/claude-0/-home-user-My-Future-Idaes/0806094f-208a-506e-82b2-f78683d50c82/scratchpad/icons/FaHandPap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493" y="2528133"/>
            <a:ext cx="247254" cy="24725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45880" y="2395728"/>
            <a:ext cx="2493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degradation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42376" y="2990088"/>
            <a:ext cx="3051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skills (couplings, valves, BA checks) fail first. Counter: over-train basics; buddy checks.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94360" y="4151376"/>
            <a:ext cx="3453384" cy="1755648"/>
          </a:xfrm>
          <a:prstGeom prst="roundRect">
            <a:avLst>
              <a:gd name="adj" fmla="val 5208"/>
            </a:avLst>
          </a:prstGeom>
          <a:solidFill>
            <a:srgbClr val="F3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795528" y="4352544"/>
            <a:ext cx="475488" cy="475488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4" name="Image 3" descr="/tmp/claude-0/-home-user-My-Future-Idaes/0806094f-208a-506e-82b2-f78683d50c82/scratchpad/icons/FaHourglassHalf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45" y="4466661"/>
            <a:ext cx="247254" cy="24725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99032" y="4334256"/>
            <a:ext cx="2493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distortion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95528" y="4928616"/>
            <a:ext cx="3051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 feel like minutes; estimates go wrong. Counter: leader owns the clock and calls elapsed time.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367784" y="4151376"/>
            <a:ext cx="3453384" cy="1755648"/>
          </a:xfrm>
          <a:prstGeom prst="roundRect">
            <a:avLst>
              <a:gd name="adj" fmla="val 5208"/>
            </a:avLst>
          </a:prstGeom>
          <a:solidFill>
            <a:srgbClr val="F3F4F5"/>
          </a:solidFill>
          <a:ln/>
        </p:spPr>
      </p:sp>
      <p:sp>
        <p:nvSpPr>
          <p:cNvPr id="28" name="Shape 22"/>
          <p:cNvSpPr/>
          <p:nvPr/>
        </p:nvSpPr>
        <p:spPr>
          <a:xfrm>
            <a:off x="4568952" y="4352544"/>
            <a:ext cx="475488" cy="475488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9" name="Image 4" descr="/tmp/claude-0/-home-user-My-Future-Idaes/0806094f-208a-506e-82b2-f78683d50c82/scratchpad/icons/FaBra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069" y="4466661"/>
            <a:ext cx="247254" cy="24725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72456" y="4334256"/>
            <a:ext cx="2493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narrowing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68952" y="4928616"/>
            <a:ext cx="3051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obvious options are seen. Counter: leader forced to verbalize plan B out loud.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8141208" y="4151376"/>
            <a:ext cx="3453384" cy="1755648"/>
          </a:xfrm>
          <a:prstGeom prst="roundRect">
            <a:avLst>
              <a:gd name="adj" fmla="val 5208"/>
            </a:avLst>
          </a:prstGeom>
          <a:solidFill>
            <a:srgbClr val="F3F4F5"/>
          </a:solidFill>
          <a:ln/>
        </p:spPr>
      </p:sp>
      <p:sp>
        <p:nvSpPr>
          <p:cNvPr id="33" name="Shape 26"/>
          <p:cNvSpPr/>
          <p:nvPr/>
        </p:nvSpPr>
        <p:spPr>
          <a:xfrm>
            <a:off x="8342376" y="4352544"/>
            <a:ext cx="475488" cy="475488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34" name="Image 5" descr="/tmp/claude-0/-home-user-My-Future-Idaes/0806094f-208a-506e-82b2-f78683d50c82/scratchpad/icons/FaHeartbea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6493" y="4466661"/>
            <a:ext cx="247254" cy="24725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945880" y="4334256"/>
            <a:ext cx="2493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Physiological load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8342376" y="4928616"/>
            <a:ext cx="3051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&gt;150 bpm degrades everything above. Counter: tactical breathing, rotation, hydration.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pic>
        <p:nvPicPr>
          <p:cNvPr id="4" name="Image 0" descr="/home/user/My-Future-Idaes/SANAD-Fire-Team-Leader-Course/assets/img/scb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39496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14181C">
              <a:alpha val="3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60720" y="74980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panic and fear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76072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SIGNS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60720" y="1783080"/>
            <a:ext cx="5806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Freezing or repetitive, useless movement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Shouting, cross-talk, abandoning assigned tasks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Fixation on one victim / one task while the scene moves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withdrawal — the most dangerous sign of all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THE RESPONSE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60720" y="3931920"/>
            <a:ext cx="2743200" cy="987552"/>
          </a:xfrm>
          <a:prstGeom prst="roundRect">
            <a:avLst>
              <a:gd name="adj" fmla="val 7407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&amp; claim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897880" y="42793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their name. Eye contact. “Ahmed. Look at me. You're with me.”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732520" y="3931920"/>
            <a:ext cx="2743200" cy="987552"/>
          </a:xfrm>
          <a:prstGeom prst="roundRect">
            <a:avLst>
              <a:gd name="adj" fmla="val 7407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0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869680" y="42793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Panic cannot survive a concrete task. Give one, simple and physical.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60720" y="5047488"/>
            <a:ext cx="2743200" cy="987552"/>
          </a:xfrm>
          <a:prstGeom prst="roundRect">
            <a:avLst>
              <a:gd name="adj" fmla="val 7407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97880" y="5120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up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897880" y="5394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works alone. Pair the shaken with the steady.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732520" y="5047488"/>
            <a:ext cx="2743200" cy="987552"/>
          </a:xfrm>
          <a:prstGeom prst="roundRect">
            <a:avLst>
              <a:gd name="adj" fmla="val 7407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69680" y="5120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Breathe &amp; reset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869680" y="5394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breathing: in 4 – hold 4 – out 4. Ten seconds buys back the brain.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Discipline: preventing the unsafe act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emergency injuries are not caused by the fire — they are caused by what someone did in front of it. Four behaviors, zero tolerance: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212848"/>
            <a:ext cx="5317236" cy="1691640"/>
          </a:xfrm>
          <a:prstGeom prst="roundRect">
            <a:avLst>
              <a:gd name="adj" fmla="val 5405"/>
            </a:avLst>
          </a:prstGeom>
          <a:solidFill>
            <a:srgbClr val="F3F4F5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441448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9" name="Image 0" descr="/tmp/claude-0/-home-user-My-Future-Idaes/0806094f-208a-506e-82b2-f78683d50c82/scratchpad/icons/Fa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244" y="2568732"/>
            <a:ext cx="275783" cy="27578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27048" y="2414016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freelancing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27048" y="2816352"/>
            <a:ext cx="4128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self-assigned tasks. Every action flows from the leader's plan — heroics off-plan get people killed.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77356" y="2212848"/>
            <a:ext cx="5317236" cy="1691640"/>
          </a:xfrm>
          <a:prstGeom prst="roundRect">
            <a:avLst>
              <a:gd name="adj" fmla="val 5405"/>
            </a:avLst>
          </a:prstGeom>
          <a:solidFill>
            <a:srgbClr val="F3F4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505956" y="2441448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4" name="Image 1" descr="/tmp/claude-0/-home-user-My-Future-Idaes/0806094f-208a-506e-82b2-f78683d50c82/scratchpad/icons/Fa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240" y="2568732"/>
            <a:ext cx="275783" cy="27578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10044" y="2414016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Buddy integrity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210044" y="2816352"/>
            <a:ext cx="4128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of two, always in contact. Separation is an emergency in itself and is reported instantly.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4360" y="4087368"/>
            <a:ext cx="5317236" cy="1691640"/>
          </a:xfrm>
          <a:prstGeom prst="roundRect">
            <a:avLst>
              <a:gd name="adj" fmla="val 5405"/>
            </a:avLst>
          </a:prstGeom>
          <a:solidFill>
            <a:srgbClr val="F3F4F5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4315968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9" name="Image 2" descr="/tmp/claude-0/-home-user-My-Future-Idaes/0806094f-208a-506e-82b2-f78683d50c82/scratchpad/icons/FaShieldA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44" y="4443252"/>
            <a:ext cx="275783" cy="27578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27048" y="4288536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PPE is non-negotiable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527048" y="4690872"/>
            <a:ext cx="4128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protective ensemble and BA discipline enforced by the leader — no exceptions for “just a quick look.”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77356" y="4087368"/>
            <a:ext cx="5317236" cy="1691640"/>
          </a:xfrm>
          <a:prstGeom prst="roundRect">
            <a:avLst>
              <a:gd name="adj" fmla="val 5405"/>
            </a:avLst>
          </a:prstGeom>
          <a:solidFill>
            <a:srgbClr val="F3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505956" y="4315968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4" name="Image 3" descr="/tmp/claude-0/-home-user-My-Future-Idaes/0806094f-208a-506e-82b2-f78683d50c82/scratchpad/icons/FaHandPap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240" y="4443252"/>
            <a:ext cx="275783" cy="27578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10044" y="4288536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authority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210044" y="4690872"/>
            <a:ext cx="4128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call STOP on an unsafe act. The leader backs every legitimate stop, publicly, every time.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94360" y="594360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3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truth:  </a:t>
            </a:r>
            <a:pPr indent="0" marL="0">
              <a:buNone/>
            </a:pPr>
            <a:r>
              <a:rPr lang="en-US" sz="12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you walk past is the standard you accept. Discipline is maintained in the drills, not discovered in the fire.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PRACTICAL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leadership simulations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445752" y="43891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491D"/>
          </a:solidFill>
          <a:ln/>
        </p:spPr>
      </p:sp>
      <p:sp>
        <p:nvSpPr>
          <p:cNvPr id="7" name="Text 5"/>
          <p:cNvSpPr/>
          <p:nvPr/>
        </p:nvSpPr>
        <p:spPr>
          <a:xfrm>
            <a:off x="9445752" y="4389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BLOCK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is injected deliberately — noise, smoke machines, conflicting orders, a “panicking” role-player — and the leader must manage the humans first.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3F4F5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1" name="Image 0" descr="/tmp/claude-0/-home-user-My-Future-Idaes/0806094f-208a-506e-82b2-f78683d50c82/scratchpad/icons/FaHeartb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554834"/>
            <a:ext cx="285293" cy="28529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108960"/>
            <a:ext cx="299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Panic management scenario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3749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crew member (actor) panics mid-drill. Recognize, isolate, re-task and reintegrate — without losing the fireground.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67784" y="219456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3F4F5"/>
          </a:solidFill>
          <a:ln/>
        </p:spPr>
      </p:sp>
      <p:sp>
        <p:nvSpPr>
          <p:cNvPr id="15" name="Shape 12"/>
          <p:cNvSpPr/>
          <p:nvPr/>
        </p:nvSpPr>
        <p:spPr>
          <a:xfrm>
            <a:off x="4596384" y="242316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6" name="Image 1" descr="/tmp/claude-0/-home-user-My-Future-Idaes/0806094f-208a-506e-82b2-f78683d50c82/scratchpad/icons/Fa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058" y="2554834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96384" y="3108960"/>
            <a:ext cx="299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performance lab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96384" y="3749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 degraded team: fatigue, miscommunication, a silent withdrawer. Restore output within the exercise window.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41208" y="219456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3F4F5"/>
          </a:solidFill>
          <a:ln/>
        </p:spPr>
      </p:sp>
      <p:sp>
        <p:nvSpPr>
          <p:cNvPr id="20" name="Shape 16"/>
          <p:cNvSpPr/>
          <p:nvPr/>
        </p:nvSpPr>
        <p:spPr>
          <a:xfrm>
            <a:off x="8369808" y="242316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1" name="Image 2" descr="/tmp/claude-0/-home-user-My-Future-Idaes/0806094f-208a-506e-82b2-f78683d50c82/scratchpad/icons/FaHandPap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482" y="2554834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69808" y="3108960"/>
            <a:ext cx="299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moments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369808" y="3749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Scripted unsafe acts appear during tasks. Spot them, stop them, correct them — firmly and without humiliation.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94360" y="5623560"/>
            <a:ext cx="11000232" cy="658368"/>
          </a:xfrm>
          <a:prstGeom prst="roundRect">
            <a:avLst>
              <a:gd name="adj" fmla="val 11111"/>
            </a:avLst>
          </a:prstGeom>
          <a:solidFill>
            <a:srgbClr val="14181C"/>
          </a:solidFill>
          <a:ln/>
        </p:spPr>
      </p:sp>
      <p:sp>
        <p:nvSpPr>
          <p:cNvPr id="25" name="Text 20"/>
          <p:cNvSpPr/>
          <p:nvPr/>
        </p:nvSpPr>
        <p:spPr>
          <a:xfrm>
            <a:off x="822960" y="5623560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ASSESSED: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speed, intervention quality and whether the team's performance recovers — Module 2 rubric.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DAY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take to bed tonight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3453384" cy="2651760"/>
          </a:xfrm>
          <a:prstGeom prst="roundRect">
            <a:avLst>
              <a:gd name="adj" fmla="val 3448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385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is declared, not assumed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255264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scene has a leader the moment you say so — and not one second before.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67784" y="1783080"/>
            <a:ext cx="3453384" cy="2651760"/>
          </a:xfrm>
          <a:prstGeom prst="roundRect">
            <a:avLst>
              <a:gd name="adj" fmla="val 3448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6384" y="19385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96384" y="2542032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Directive is the emergency default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6384" y="3255264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at 70%, broadcast the plan, loop the OODA. Hesitation is the only unforgivable error.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41208" y="1783080"/>
            <a:ext cx="3453384" cy="2651760"/>
          </a:xfrm>
          <a:prstGeom prst="roundRect">
            <a:avLst>
              <a:gd name="adj" fmla="val 3448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9808" y="19385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69808" y="2542032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fail before pumps 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9808" y="3255264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 tunnel vision, panic and freelancing — and lead them out of it by name and by task.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800600"/>
            <a:ext cx="11000232" cy="1234440"/>
          </a:xfrm>
          <a:prstGeom prst="roundRect">
            <a:avLst>
              <a:gd name="adj" fmla="val 7407"/>
            </a:avLst>
          </a:prstGeom>
          <a:solidFill>
            <a:srgbClr val="F5A623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5120640"/>
            <a:ext cx="594360" cy="594360"/>
          </a:xfrm>
          <a:prstGeom prst="ellipse">
            <a:avLst/>
          </a:prstGeom>
          <a:solidFill>
            <a:srgbClr val="14181C"/>
          </a:solidFill>
          <a:ln/>
        </p:spPr>
      </p:sp>
      <p:pic>
        <p:nvPicPr>
          <p:cNvPr id="20" name="Image 0" descr="/tmp/claude-0/-home-user-My-Future-Idaes/0806094f-208a-506e-82b2-f78683d50c82/scratchpad/icons/FaBookOpen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5263286"/>
            <a:ext cx="309067" cy="30906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91640" y="4892040"/>
            <a:ext cx="9537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 assignment:  </a:t>
            </a:r>
            <a:pPr indent="0" marL="0">
              <a:buNone/>
            </a:pPr>
            <a:r>
              <a:rPr lang="en-US" sz="1250" dirty="0">
                <a:solidFill>
                  <a:srgbClr val="14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the first-60-seconds plan for YOUR rig's worst credible fire. Name the first three orders you would give and to whom. You will brief it to the class at 07:30.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50" dirty="0"/>
          </a:p>
        </p:txBody>
      </p:sp>
      <p:pic>
        <p:nvPicPr>
          <p:cNvPr id="4" name="Image 0" descr="/home/user/My-Future-Idaes/SANAD-Fire-Team-Leader-Course/assets/img/day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14181C">
              <a:alpha val="8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OF 3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169164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COMMAND.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Tactics, Coordination, Control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94360" y="32918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leading a crew to commanding an incident: attack strategy, communications discipline and structured emergency control.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379976"/>
            <a:ext cx="274320" cy="27432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Tactical Fire Response &amp; Scene Management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4946904"/>
            <a:ext cx="274320" cy="27432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864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Communication &amp; Command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" y="5513832"/>
            <a:ext cx="274320" cy="27432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54315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Incident Command &amp; Emergency Control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COMMAND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of the day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023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616952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07:30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Recap: participants brief their first-60-seconds plans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49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08:00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3 — Fire hazards of the drilling rig; fire behavior essentials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3 — Scene size-up and dynamic risk assessment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Tactical drills: attack lines, scenario planning, team deployment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49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12:00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Lunch &amp; prayer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4 — Communication protocols &amp; multi-team coordination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Communication drills under pressure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49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5 — Incident command, control zones, escalation, accountability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15:45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 command simulation &amp; multi-hazard tabletop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49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2 debrief &amp; takeaways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50" dirty="0"/>
          </a:p>
        </p:txBody>
      </p:sp>
      <p:pic>
        <p:nvPicPr>
          <p:cNvPr id="4" name="Image 0" descr="/home/user/My-Future-Idaes/SANAD-Fire-Team-Leader-Course/assets/img/day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0"/>
            <a:ext cx="514807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0"/>
            <a:ext cx="5148072" cy="6858000"/>
          </a:xfrm>
          <a:prstGeom prst="rect">
            <a:avLst/>
          </a:prstGeom>
          <a:solidFill>
            <a:srgbClr val="14181C">
              <a:alpha val="2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594360" y="265176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Fire Response</a:t>
            </a:r>
            <a:endParaRPr lang="en-US" sz="3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Scene Management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594360" y="384048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— </a:t>
            </a:r>
            <a:pPr indent="0" marL="0">
              <a:buNone/>
            </a:pPr>
            <a:r>
              <a:rPr lang="en-US" sz="13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operational control of a live fire scene.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4828032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attack strategies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49040" y="4828032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3" name="Text 10"/>
          <p:cNvSpPr/>
          <p:nvPr/>
        </p:nvSpPr>
        <p:spPr>
          <a:xfrm>
            <a:off x="4041648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size-up &amp; hazard assessment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4360" y="548640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5" name="Text 12"/>
          <p:cNvSpPr/>
          <p:nvPr/>
        </p:nvSpPr>
        <p:spPr>
          <a:xfrm>
            <a:off x="886968" y="5367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Risk-based decision-making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749040" y="548640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7" name="Text 14"/>
          <p:cNvSpPr/>
          <p:nvPr/>
        </p:nvSpPr>
        <p:spPr>
          <a:xfrm>
            <a:off x="4041648" y="5367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 &amp; deployment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080760" y="777240"/>
            <a:ext cx="640080" cy="640080"/>
          </a:xfrm>
          <a:prstGeom prst="ellipse">
            <a:avLst/>
          </a:prstGeom>
          <a:solidFill>
            <a:srgbClr val="1F262C"/>
          </a:solidFill>
          <a:ln/>
        </p:spPr>
      </p:sp>
      <p:pic>
        <p:nvPicPr>
          <p:cNvPr id="19" name="Image 1" descr="/tmp/claude-0/-home-user-My-Future-Idaes/0806094f-208a-506e-82b2-f78683d50c82/scratchpad/icons/FaCrosshairs_fl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379" y="930859"/>
            <a:ext cx="332842" cy="33284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enemy: fire on a drilling rig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938528"/>
            <a:ext cx="493776" cy="493776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8" name="Image 0" descr="/tmp/claude-0/-home-user-My-Future-Idaes/0806094f-208a-506e-82b2-f78683d50c82/scratchpad/icons/FaOilCa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034" y="2057034"/>
            <a:ext cx="256764" cy="2567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920240"/>
            <a:ext cx="2447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Wellhead &amp; well control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5528" y="2542032"/>
            <a:ext cx="3051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Kicks and blowouts feeding ignition — the catastrophic case. Fire response and well control must speak with one voice.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67784" y="173736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12" name="Shape 9"/>
          <p:cNvSpPr/>
          <p:nvPr/>
        </p:nvSpPr>
        <p:spPr>
          <a:xfrm>
            <a:off x="4568952" y="1938528"/>
            <a:ext cx="493776" cy="493776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3" name="Image 1" descr="/tmp/claude-0/-home-user-My-Future-Idaes/0806094f-208a-506e-82b2-f78683d50c82/scratchpad/icons/FaGasPum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458" y="2057034"/>
            <a:ext cx="256764" cy="2567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0744" y="1920240"/>
            <a:ext cx="2447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&amp; fuel storage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68952" y="2542032"/>
            <a:ext cx="3051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Generators, day tanks, refueling ops. Class B pool and spray fires with fast spread across containments.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41208" y="173736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8342376" y="1938528"/>
            <a:ext cx="493776" cy="493776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8" name="Image 2" descr="/tmp/claude-0/-home-user-My-Future-Idaes/0806094f-208a-506e-82b2-f78683d50c82/scratchpad/icons/FaWin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882" y="2057034"/>
            <a:ext cx="256764" cy="2567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4168" y="1920240"/>
            <a:ext cx="2447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 gas &amp; shakers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342376" y="2542032"/>
            <a:ext cx="3051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breaking out of returns at shakers and pits — flammable atmospheres where nobody sees a “fuel.”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94360" y="388620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22" name="Shape 17"/>
          <p:cNvSpPr/>
          <p:nvPr/>
        </p:nvSpPr>
        <p:spPr>
          <a:xfrm>
            <a:off x="795528" y="4087368"/>
            <a:ext cx="493776" cy="493776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3" name="Image 3" descr="/tmp/claude-0/-home-user-My-Future-Idaes/0806094f-208a-506e-82b2-f78683d50c82/scratchpad/icons/FaBo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034" y="4205874"/>
            <a:ext cx="256764" cy="2567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069080"/>
            <a:ext cx="2447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&amp; SCR house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95528" y="4690872"/>
            <a:ext cx="3051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Energized switchgear and VFD/SCR rooms. De-energize first; wrong media turns rescuer into casualty.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367784" y="388620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27" name="Shape 21"/>
          <p:cNvSpPr/>
          <p:nvPr/>
        </p:nvSpPr>
        <p:spPr>
          <a:xfrm>
            <a:off x="4568952" y="4087368"/>
            <a:ext cx="493776" cy="493776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8" name="Image 4" descr="/tmp/claude-0/-home-user-My-Future-Idaes/0806094f-208a-506e-82b2-f78683d50c82/scratchpad/icons/Fa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458" y="4205874"/>
            <a:ext cx="256764" cy="25676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90744" y="4069080"/>
            <a:ext cx="2447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 &amp; accommodation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68952" y="4690872"/>
            <a:ext cx="3051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Sleeping quarters, kitchens, laundry — the highest life risk on site, especially at night.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141208" y="388620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32" name="Shape 25"/>
          <p:cNvSpPr/>
          <p:nvPr/>
        </p:nvSpPr>
        <p:spPr>
          <a:xfrm>
            <a:off x="8342376" y="4087368"/>
            <a:ext cx="493776" cy="493776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33" name="Image 5" descr="/tmp/claude-0/-home-user-My-Future-Idaes/0806094f-208a-506e-82b2-f78683d50c82/scratchpad/icons/FaExclamationTriang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0882" y="4205874"/>
            <a:ext cx="256764" cy="25676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64168" y="4069080"/>
            <a:ext cx="2447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H2S conversion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8342376" y="4690872"/>
            <a:ext cx="3051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fire in a sour environment is a HAZMAT event too: gas monitoring, wind, and muster discipline rule the scene.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50" dirty="0"/>
          </a:p>
        </p:txBody>
      </p:sp>
      <p:pic>
        <p:nvPicPr>
          <p:cNvPr id="4" name="Image 0" descr="/home/user/My-Future-Idaes/SANAD-Fire-Team-Leader-Course/assets/img/flam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75488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4181C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120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120640" y="7498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behavior, leader's cut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120640" y="137160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the tetrahedron — heat, fuel, oxygen, chain reaction. The leader's job is choosing which leg to break, with what, and accepting what that choice costs.</a:t>
            </a:r>
            <a:endParaRPr lang="en-US" sz="12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2331720"/>
          <a:ext cx="6473952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377440"/>
                <a:gridCol w="1737360"/>
                <a:gridCol w="167335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RIG SOURCE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LEADER'S WATCH-OUT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2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9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Ordinary solids (camp, stores)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9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Water / foam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5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 re-ignition &amp; overhaul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9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Flammable liquids &amp; gas (diesel, mud, well fluids)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9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Foam / DCP; isolate fuel first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5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extinguish gas without isolation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9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Energized electrical (SCR, switchgear)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9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CO2 / DCP after de-energizing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5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isolation — then it's class A/B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D/K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9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Metals / kitchen media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9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 agents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5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media makes it worse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120640" y="5577840"/>
            <a:ext cx="6446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BLEVE / boilover / flashover:  </a:t>
            </a:r>
            <a:pPr indent="0" marL="0">
              <a:buNone/>
            </a:pPr>
            <a:r>
              <a:rPr lang="en-US" sz="11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escalation monsters. If you cannot cool it, isolate it — and if you cannot isolate it, clear people and go defensive.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size-up: the 30-second read</a:t>
            </a:r>
            <a:endParaRPr lang="en-US" sz="3000" dirty="0"/>
          </a:p>
        </p:txBody>
      </p:sp>
      <p:pic>
        <p:nvPicPr>
          <p:cNvPr id="6" name="Image 0" descr="/home/user/My-Future-Idaes/SANAD-Fire-Team-Leader-Course/assets/img/sizeu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600200"/>
            <a:ext cx="457200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5544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questions, answered out loud, before the first order: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2084832"/>
            <a:ext cx="457200" cy="45720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52728" y="20116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burning — and what feeds it?
</a:t>
            </a:r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quantity, class, energy sources still live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2871216"/>
            <a:ext cx="457200" cy="45720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52728" y="279806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will it go next?
</a:t>
            </a:r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Wind, exposures, drainage, escalation paths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4360" y="3657600"/>
            <a:ext cx="457200" cy="45720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52728" y="358444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at risk?
</a:t>
            </a:r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persons, muster status, trapped or injured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" y="4443984"/>
            <a:ext cx="457200" cy="45720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52728" y="437083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I have?
</a:t>
            </a:r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water, foam, apparatus — now and in 10 minutes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94360" y="5230368"/>
            <a:ext cx="457200" cy="45720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52728" y="515721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go catastrophically wrong?
</a:t>
            </a:r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BLEVE, well control loss, H2S, structural collapse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040880" y="484632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14181C"/>
          </a:solidFill>
          <a:ln/>
        </p:spPr>
      </p:sp>
      <p:sp>
        <p:nvSpPr>
          <p:cNvPr id="24" name="Text 21"/>
          <p:cNvSpPr/>
          <p:nvPr/>
        </p:nvSpPr>
        <p:spPr>
          <a:xfrm>
            <a:off x="7269480" y="4956048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Size-up never ends.
</a:t>
            </a:r>
            <a:pPr indent="0" marL="0">
              <a:buNone/>
            </a:pPr>
            <a:r>
              <a:rPr lang="en-US" sz="10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restarts every time the wind shifts, a report lands, or a crew moves. The leader who stops reading the scene is now managing a memory.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risk assessment on the move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2487168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65960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8" name="Image 0" descr="/tmp/claude-0/-home-user-My-Future-Idaes/0806094f-208a-506e-82b2-f78683d50c82/scratchpad/icons/Fa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2088855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0116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26060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Hazards as they emerge — not as the pre-plan imagined them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32048" y="1783080"/>
            <a:ext cx="2487168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12" name="Shape 9"/>
          <p:cNvSpPr/>
          <p:nvPr/>
        </p:nvSpPr>
        <p:spPr>
          <a:xfrm>
            <a:off x="3660648" y="1965960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3" name="Image 1" descr="/tmp/claude-0/-home-user-My-Future-Idaes/0806094f-208a-506e-82b2-f78683d50c82/scratchpad/icons/FaBalanceSca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543" y="2088855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00728" y="20116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60648" y="26060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exposed, how severely, how likely, how fast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69736" y="1783080"/>
            <a:ext cx="2487168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498336" y="1965960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8" name="Image 2" descr="/tmp/claude-0/-home-user-My-Future-Idaes/0806094f-208a-506e-82b2-f78683d50c82/scratchpad/icons/FaShieldA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231" y="2088855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8416" y="20116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98336" y="26060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Eliminate, isolate, protect — or withdraw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107424" y="1783080"/>
            <a:ext cx="2487168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22" name="Shape 17"/>
          <p:cNvSpPr/>
          <p:nvPr/>
        </p:nvSpPr>
        <p:spPr>
          <a:xfrm>
            <a:off x="9336024" y="1965960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3" name="Image 3" descr="/tmp/claude-0/-home-user-My-Future-Idaes/0806094f-208a-506e-82b2-f78683d50c82/scratchpad/icons/FaSyncA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919" y="2088855"/>
            <a:ext cx="266273" cy="2662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976104" y="20116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336024" y="26060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Re-read the scene; every change restarts the loop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94360" y="4114800"/>
            <a:ext cx="11000232" cy="1920240"/>
          </a:xfrm>
          <a:prstGeom prst="roundRect">
            <a:avLst>
              <a:gd name="adj" fmla="val 4762"/>
            </a:avLst>
          </a:prstGeom>
          <a:solidFill>
            <a:srgbClr val="14181C"/>
          </a:solidFill>
          <a:ln/>
        </p:spPr>
      </p:sp>
      <p:sp>
        <p:nvSpPr>
          <p:cNvPr id="27" name="Text 21"/>
          <p:cNvSpPr/>
          <p:nvPr/>
        </p:nvSpPr>
        <p:spPr>
          <a:xfrm>
            <a:off x="914400" y="431596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 PHILOSOPHY EVERY ORDER MUST PASS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914400" y="46634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risk a lot, within a plan, to save a life.
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risk a little, with control, to save property.
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risk nothing for what is already lost.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attack: offensive, defensive, transitional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3453384" cy="4251960"/>
          </a:xfrm>
          <a:prstGeom prst="roundRect">
            <a:avLst>
              <a:gd name="adj" fmla="val 2648"/>
            </a:avLst>
          </a:prstGeom>
          <a:solidFill>
            <a:srgbClr val="F3F4F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38528"/>
            <a:ext cx="2996184" cy="502920"/>
          </a:xfrm>
          <a:prstGeom prst="roundRect">
            <a:avLst>
              <a:gd name="adj" fmla="val 49091"/>
            </a:avLst>
          </a:prstGeom>
          <a:solidFill>
            <a:srgbClr val="E8491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3852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OFFENSIVE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Crews advance to extinguish at the seat.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299618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risk demands it, or fire is small and resourced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Requires: trained crews, water/foam secured, escape routes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 stays out of the hose stream — commanding, not nozzling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7784" y="1737360"/>
            <a:ext cx="3453384" cy="4251960"/>
          </a:xfrm>
          <a:prstGeom prst="roundRect">
            <a:avLst>
              <a:gd name="adj" fmla="val 2648"/>
            </a:avLst>
          </a:prstGeom>
          <a:solidFill>
            <a:srgbClr val="F3F4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96384" y="1938528"/>
            <a:ext cx="2996184" cy="502920"/>
          </a:xfrm>
          <a:prstGeom prst="roundRect">
            <a:avLst>
              <a:gd name="adj" fmla="val 49091"/>
            </a:avLst>
          </a:prstGeom>
          <a:solidFill>
            <a:srgbClr val="14181C"/>
          </a:solidFill>
          <a:ln/>
        </p:spPr>
      </p:sp>
      <p:sp>
        <p:nvSpPr>
          <p:cNvPr id="13" name="Text 11"/>
          <p:cNvSpPr/>
          <p:nvPr/>
        </p:nvSpPr>
        <p:spPr>
          <a:xfrm>
            <a:off x="4596384" y="193852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96384" y="26060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exposures; let the fire consume what's lost.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96384" y="3337560"/>
            <a:ext cx="299618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risk, BLEVE potential, or resources insufficient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 exposures, isolate fuel, hold the perimeter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Declaring defensive is command courage — not defeat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41208" y="1737360"/>
            <a:ext cx="3453384" cy="4251960"/>
          </a:xfrm>
          <a:prstGeom prst="roundRect">
            <a:avLst>
              <a:gd name="adj" fmla="val 2648"/>
            </a:avLst>
          </a:prstGeom>
          <a:solidFill>
            <a:srgbClr val="F3F4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9808" y="1938528"/>
            <a:ext cx="2996184" cy="502920"/>
          </a:xfrm>
          <a:prstGeom prst="roundRect">
            <a:avLst>
              <a:gd name="adj" fmla="val 49091"/>
            </a:avLst>
          </a:prstGeom>
          <a:solidFill>
            <a:srgbClr val="C13415"/>
          </a:solidFill>
          <a:ln/>
        </p:spPr>
      </p:sp>
      <p:sp>
        <p:nvSpPr>
          <p:cNvPr id="18" name="Text 16"/>
          <p:cNvSpPr/>
          <p:nvPr/>
        </p:nvSpPr>
        <p:spPr>
          <a:xfrm>
            <a:off x="8369808" y="193852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69808" y="26060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exterior knockdown, then re-decide.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69808" y="3337560"/>
            <a:ext cx="299618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 time while size-up completes or resources arrive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let “transitional” become “undecided”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 the mode — every crew must know which fight this is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allocation: never run out mid-fight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17236" cy="1737360"/>
          </a:xfrm>
          <a:prstGeom prst="roundRect">
            <a:avLst>
              <a:gd name="adj" fmla="val 5263"/>
            </a:avLst>
          </a:prstGeom>
          <a:solidFill>
            <a:srgbClr val="F3F4F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11680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8" name="Image 0" descr="/tmp/claude-0/-home-user-My-Future-Idaes/0806094f-208a-506e-82b2-f78683d50c82/scratchpad/icons/Fa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244" y="2138964"/>
            <a:ext cx="275783" cy="2757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200253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27048" y="2404872"/>
            <a:ext cx="4128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rotation before exhaustion; reserve team held back; BA wearers tracked by cylinder time, not by feel.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77356" y="1783080"/>
            <a:ext cx="5317236" cy="1737360"/>
          </a:xfrm>
          <a:prstGeom prst="roundRect">
            <a:avLst>
              <a:gd name="adj" fmla="val 5263"/>
            </a:avLst>
          </a:prstGeom>
          <a:solidFill>
            <a:srgbClr val="F3F4F5"/>
          </a:solidFill>
          <a:ln/>
        </p:spPr>
      </p:sp>
      <p:sp>
        <p:nvSpPr>
          <p:cNvPr id="12" name="Shape 9"/>
          <p:cNvSpPr/>
          <p:nvPr/>
        </p:nvSpPr>
        <p:spPr>
          <a:xfrm>
            <a:off x="6505956" y="2011680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3" name="Image 1" descr="/tmp/claude-0/-home-user-My-Future-Idaes/0806094f-208a-506e-82b2-f78683d50c82/scratchpad/icons/FaWa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240" y="2138964"/>
            <a:ext cx="275783" cy="2757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10044" y="200253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&amp; foam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210044" y="2404872"/>
            <a:ext cx="4128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supply before committing lines. Foam is finite — calculate application rate vs. stock before the attack, not during.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4360" y="3703320"/>
            <a:ext cx="5317236" cy="1737360"/>
          </a:xfrm>
          <a:prstGeom prst="roundRect">
            <a:avLst>
              <a:gd name="adj" fmla="val 5263"/>
            </a:avLst>
          </a:prstGeom>
          <a:solidFill>
            <a:srgbClr val="F3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3931920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8" name="Image 2" descr="/tmp/claude-0/-home-user-My-Future-Idaes/0806094f-208a-506e-82b2-f78683d50c82/scratchpad/icons/FaFi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44" y="4059204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27048" y="392277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Apparatus &amp; equipment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527048" y="4325112"/>
            <a:ext cx="4128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Pumps, monitors, extinguishers staged and crewed. One line held in reserve is worth two in the fight.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77356" y="3703320"/>
            <a:ext cx="5317236" cy="1737360"/>
          </a:xfrm>
          <a:prstGeom prst="roundRect">
            <a:avLst>
              <a:gd name="adj" fmla="val 5263"/>
            </a:avLst>
          </a:prstGeom>
          <a:solidFill>
            <a:srgbClr val="F3F4F5"/>
          </a:solidFill>
          <a:ln/>
        </p:spPr>
      </p:sp>
      <p:sp>
        <p:nvSpPr>
          <p:cNvPr id="22" name="Shape 17"/>
          <p:cNvSpPr/>
          <p:nvPr/>
        </p:nvSpPr>
        <p:spPr>
          <a:xfrm>
            <a:off x="6505956" y="3931920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3" name="Image 3" descr="/tmp/claude-0/-home-user-My-Future-Idaes/0806094f-208a-506e-82b2-f78683d50c82/scratchpad/icons/FaFirstAi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240" y="4059204"/>
            <a:ext cx="275783" cy="27578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10044" y="392277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logistics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210044" y="4325112"/>
            <a:ext cx="4128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Rehab point, hydration, first aid at the warm zone edge. A casualty among responders doubles your incident.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94360" y="5623560"/>
            <a:ext cx="11000232" cy="658368"/>
          </a:xfrm>
          <a:prstGeom prst="roundRect">
            <a:avLst>
              <a:gd name="adj" fmla="val 11111"/>
            </a:avLst>
          </a:prstGeom>
          <a:solidFill>
            <a:srgbClr val="14181C"/>
          </a:solidFill>
          <a:ln/>
        </p:spPr>
      </p:sp>
      <p:sp>
        <p:nvSpPr>
          <p:cNvPr id="27" name="Text 21"/>
          <p:cNvSpPr/>
          <p:nvPr/>
        </p:nvSpPr>
        <p:spPr>
          <a:xfrm>
            <a:off x="822960" y="5623560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principle: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+ location + objective + comms check — every team, every move. “Go help over there” is not an order.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PRACTICAL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drills: command the fireground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445752" y="43891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491D"/>
          </a:solidFill>
          <a:ln/>
        </p:spPr>
      </p:sp>
      <p:sp>
        <p:nvSpPr>
          <p:cNvPr id="7" name="Text 5"/>
          <p:cNvSpPr/>
          <p:nvPr/>
        </p:nvSpPr>
        <p:spPr>
          <a:xfrm>
            <a:off x="9445752" y="4389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BLOCK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exercises on the training ground. Leaders rotate through command of each evolution.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3F4F5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1" name="Image 0" descr="/tmp/claude-0/-home-user-My-Future-Idaes/0806094f-208a-506e-82b2-f78683d50c82/scratchpad/icons/FaCrosshai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554834"/>
            <a:ext cx="285293" cy="28529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108960"/>
            <a:ext cx="299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line evolutions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3749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Deploy, advance and rotate hose teams against a live training fire — leader controls mode, tempo and safety.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67784" y="219456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3F4F5"/>
          </a:solidFill>
          <a:ln/>
        </p:spPr>
      </p:sp>
      <p:sp>
        <p:nvSpPr>
          <p:cNvPr id="15" name="Shape 12"/>
          <p:cNvSpPr/>
          <p:nvPr/>
        </p:nvSpPr>
        <p:spPr>
          <a:xfrm>
            <a:off x="4596384" y="242316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6" name="Image 1" descr="/tmp/claude-0/-home-user-My-Future-Idaes/0806094f-208a-506e-82b2-f78683d50c82/scratchpad/icons/FaMapMarkedA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058" y="2554834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96384" y="3108960"/>
            <a:ext cx="299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response planning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96384" y="3749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rig plot plan and a scenario card, build and brief a complete attack plan in 10 minutes.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41208" y="219456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3F4F5"/>
          </a:solidFill>
          <a:ln/>
        </p:spPr>
      </p:sp>
      <p:sp>
        <p:nvSpPr>
          <p:cNvPr id="20" name="Shape 16"/>
          <p:cNvSpPr/>
          <p:nvPr/>
        </p:nvSpPr>
        <p:spPr>
          <a:xfrm>
            <a:off x="8369808" y="242316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1" name="Image 2" descr="/tmp/claude-0/-home-user-My-Future-Idaes/0806094f-208a-506e-82b2-f78683d50c82/scratchpad/icons/Fa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482" y="2554834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69808" y="3108960"/>
            <a:ext cx="299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deployment exercise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369808" y="3749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simultaneous taskings with limited crews — allocate, sequence, hold a reserve, adjust as injects land.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94360" y="5623560"/>
            <a:ext cx="11000232" cy="658368"/>
          </a:xfrm>
          <a:prstGeom prst="roundRect">
            <a:avLst>
              <a:gd name="adj" fmla="val 11111"/>
            </a:avLst>
          </a:prstGeom>
          <a:solidFill>
            <a:srgbClr val="14181C"/>
          </a:solidFill>
          <a:ln/>
        </p:spPr>
      </p:sp>
      <p:sp>
        <p:nvSpPr>
          <p:cNvPr id="25" name="Text 20"/>
          <p:cNvSpPr/>
          <p:nvPr/>
        </p:nvSpPr>
        <p:spPr>
          <a:xfrm>
            <a:off x="822960" y="5623560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ASSESSED: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selection and announcement, resource logic, and whether the plan survives first contact — Module 3 rubric.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50" dirty="0"/>
          </a:p>
        </p:txBody>
      </p:sp>
      <p:pic>
        <p:nvPicPr>
          <p:cNvPr id="4" name="Image 0" descr="/home/user/My-Future-Idaes/SANAD-Fire-Team-Leader-Course/assets/img/rad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0"/>
            <a:ext cx="514807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0"/>
            <a:ext cx="5148072" cy="6858000"/>
          </a:xfrm>
          <a:prstGeom prst="rect">
            <a:avLst/>
          </a:prstGeom>
          <a:solidFill>
            <a:srgbClr val="14181C">
              <a:alpha val="2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594360" y="265176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3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Command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594360" y="384048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— </a:t>
            </a:r>
            <a:pPr indent="0" marL="0">
              <a:buNone/>
            </a:pPr>
            <a:r>
              <a:rPr lang="en-US" sz="13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effective coordination and control when the noise starts.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4828032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protocols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49040" y="4828032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3" name="Text 10"/>
          <p:cNvSpPr/>
          <p:nvPr/>
        </p:nvSpPr>
        <p:spPr>
          <a:xfrm>
            <a:off x="4041648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Multi-team coordination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4360" y="548640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5" name="Text 12"/>
          <p:cNvSpPr/>
          <p:nvPr/>
        </p:nvSpPr>
        <p:spPr>
          <a:xfrm>
            <a:off x="886968" y="5367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structure &amp; reporting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749040" y="548640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7" name="Text 14"/>
          <p:cNvSpPr/>
          <p:nvPr/>
        </p:nvSpPr>
        <p:spPr>
          <a:xfrm>
            <a:off x="4041648" y="5367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during escalation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080760" y="777240"/>
            <a:ext cx="640080" cy="640080"/>
          </a:xfrm>
          <a:prstGeom prst="ellipse">
            <a:avLst/>
          </a:prstGeom>
          <a:solidFill>
            <a:srgbClr val="1F262C"/>
          </a:solidFill>
          <a:ln/>
        </p:spPr>
      </p:sp>
      <p:pic>
        <p:nvPicPr>
          <p:cNvPr id="19" name="Image 1" descr="/tmp/claude-0/-home-user-My-Future-Idaes/0806094f-208a-506e-82b2-f78683d50c82/scratchpad/icons/FaBroadcastTower_fl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379" y="930859"/>
            <a:ext cx="332842" cy="33284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discipline: closed loop or open disaster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4181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
</a:t>
            </a:r>
            <a:pPr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3F4F5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8288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
</a:t>
            </a:r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short, structured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806440" y="182880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4181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8288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READBACK
</a:t>
            </a:r>
            <a:pPr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 repeats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412480" y="182880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3F4F5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18288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
</a:t>
            </a:r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“Correct — go”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108960"/>
            <a:ext cx="6400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net, one speaker at a time — the leader enforces radio silence for priority traffic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Names, not “hey you”: task follows identity, identity follows task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phrases: MAYDAY (life threat), URGENT (scene change), PRIORITY (command traffic)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radio? Runner, hand signals, air horn withdrawal signal — brief the fallback BEFORE the incident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69480" y="3108960"/>
            <a:ext cx="4343400" cy="2743200"/>
          </a:xfrm>
          <a:prstGeom prst="roundRect">
            <a:avLst>
              <a:gd name="adj" fmla="val 3333"/>
            </a:avLst>
          </a:prstGeom>
          <a:solidFill>
            <a:srgbClr val="14181C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3310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20-SECOND SITREP (C.A.N.)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98080" y="3657600"/>
            <a:ext cx="3931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CONDITIONS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“Diesel fire, day tank area, wind from north, spreading east.”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ACTIONS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“Two foam lines in defensive mode, fuel isolated, muster complete.”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— NEEDS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“Request Aramco Fire Protection, medic standby, more foam stock.”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Coordinating many teams without losing one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F3F4F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11680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8" name="Image 0" descr="/tmp/claude-0/-home-user-My-Future-Idaes/0806094f-208a-506e-82b2-f78683d50c82/scratchpad/icons/FaLayer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244" y="2138964"/>
            <a:ext cx="275783" cy="2757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2002536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Sectorize the scene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27048" y="2404872"/>
            <a:ext cx="41285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the fireground into named sectors (Attack, Exposure, Water, Medical). One officer per sector, one voice per sector.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77356" y="178308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F3F4F5"/>
          </a:solidFill>
          <a:ln/>
        </p:spPr>
      </p:sp>
      <p:sp>
        <p:nvSpPr>
          <p:cNvPr id="12" name="Shape 9"/>
          <p:cNvSpPr/>
          <p:nvPr/>
        </p:nvSpPr>
        <p:spPr>
          <a:xfrm>
            <a:off x="6505956" y="2011680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3" name="Image 1" descr="/tmp/claude-0/-home-user-My-Future-Idaes/0806094f-208a-506e-82b2-f78683d50c82/scratchpad/icons/FaListO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240" y="2138964"/>
            <a:ext cx="275783" cy="2757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10044" y="2002536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 of control 1:5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210044" y="2404872"/>
            <a:ext cx="41285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leader directs more than ~5 units. Beyond that, appoint sector officers — or lose the picture.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4360" y="374904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F3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3977640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8" name="Image 2" descr="/tmp/claude-0/-home-user-My-Future-Idaes/0806094f-208a-506e-82b2-f78683d50c82/scratchpad/icons/FaComment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44" y="4104924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27048" y="3968496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operating picture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527048" y="4370832"/>
            <a:ext cx="41285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hears mode changes, hazard warnings and withdrawal orders. Critical info is broadcast, not whispered.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77356" y="374904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F3F4F5"/>
          </a:solidFill>
          <a:ln/>
        </p:spPr>
      </p:sp>
      <p:sp>
        <p:nvSpPr>
          <p:cNvPr id="22" name="Shape 17"/>
          <p:cNvSpPr/>
          <p:nvPr/>
        </p:nvSpPr>
        <p:spPr>
          <a:xfrm>
            <a:off x="6505956" y="3977640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3" name="Image 3" descr="/tmp/claude-0/-home-user-My-Future-Idaes/0806094f-208a-506e-82b2-f78683d50c82/scratchpad/icons/FaCompres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240" y="4104924"/>
            <a:ext cx="275783" cy="27578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10044" y="3968496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Deconflict movement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210044" y="4370832"/>
            <a:ext cx="41285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Hose streams vs. electricity, crews vs. vehicle paths, opposing nozzles: the leader owns the geometry of the scene.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94360" y="58064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3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warning signs:  </a:t>
            </a:r>
            <a:pPr indent="0" marL="0">
              <a:buNone/>
            </a:pPr>
            <a:r>
              <a:rPr lang="en-US" sz="12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radio traffic, unanswered calls, crews improvising, conflicting reports. Any two together = pull back, regroup, re-command.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PRACTICAL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drills under pressure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445752" y="43891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491D"/>
          </a:solidFill>
          <a:ln/>
        </p:spPr>
      </p:sp>
      <p:sp>
        <p:nvSpPr>
          <p:cNvPr id="7" name="Text 5"/>
          <p:cNvSpPr/>
          <p:nvPr/>
        </p:nvSpPr>
        <p:spPr>
          <a:xfrm>
            <a:off x="9445752" y="4389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BLOCK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Noise, blackout masks and jammed frequencies. If your communication survives here, it will survive a fireground.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3F4F5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1" name="Image 0" descr="/tmp/claude-0/-home-user-My-Future-Idaes/0806094f-208a-506e-82b2-f78683d50c82/scratchpad/icons/FaBroadcastTow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554834"/>
            <a:ext cx="285293" cy="28529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108960"/>
            <a:ext cx="299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Radio-only command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3749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 deployment you cannot see — sector officers report by radio; you command through the CAN structure alone.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67784" y="219456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3F4F5"/>
          </a:solidFill>
          <a:ln/>
        </p:spPr>
      </p:sp>
      <p:sp>
        <p:nvSpPr>
          <p:cNvPr id="15" name="Shape 12"/>
          <p:cNvSpPr/>
          <p:nvPr/>
        </p:nvSpPr>
        <p:spPr>
          <a:xfrm>
            <a:off x="4596384" y="242316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6" name="Image 1" descr="/tmp/claude-0/-home-user-My-Future-Idaes/0806094f-208a-506e-82b2-f78683d50c82/scratchpad/icons/FaComment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058" y="2554834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96384" y="3108960"/>
            <a:ext cx="299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 comms inject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96384" y="3749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Mid-exercise the radio “fails.” Switch to runners and signals without losing crew accountability.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41208" y="219456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3F4F5"/>
          </a:solidFill>
          <a:ln/>
        </p:spPr>
      </p:sp>
      <p:sp>
        <p:nvSpPr>
          <p:cNvPr id="20" name="Shape 16"/>
          <p:cNvSpPr/>
          <p:nvPr/>
        </p:nvSpPr>
        <p:spPr>
          <a:xfrm>
            <a:off x="8369808" y="242316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1" name="Image 2" descr="/tmp/claude-0/-home-user-My-Future-Idaes/0806094f-208a-506e-82b2-f78683d50c82/scratchpad/icons/FaBullhor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482" y="2554834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69808" y="3108960"/>
            <a:ext cx="299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SITREP gauntlet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369808" y="3749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20-second CAN reports up the chain while the scene changes every 60 seconds. Scored for structure and brevity.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94360" y="5623560"/>
            <a:ext cx="11000232" cy="658368"/>
          </a:xfrm>
          <a:prstGeom prst="roundRect">
            <a:avLst>
              <a:gd name="adj" fmla="val 11111"/>
            </a:avLst>
          </a:prstGeom>
          <a:solidFill>
            <a:srgbClr val="14181C"/>
          </a:solidFill>
          <a:ln/>
        </p:spPr>
      </p:sp>
      <p:sp>
        <p:nvSpPr>
          <p:cNvPr id="25" name="Text 20"/>
          <p:cNvSpPr/>
          <p:nvPr/>
        </p:nvSpPr>
        <p:spPr>
          <a:xfrm>
            <a:off x="822960" y="5623560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ASSESSED: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compliance, SITREP quality and whether every team can state its task at any freeze point — Module 4 rubric.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50" dirty="0"/>
          </a:p>
        </p:txBody>
      </p:sp>
      <p:pic>
        <p:nvPicPr>
          <p:cNvPr id="4" name="Image 0" descr="/home/user/My-Future-Idaes/SANAD-Fire-Team-Leader-Course/assets/img/ic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0"/>
            <a:ext cx="514807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0"/>
            <a:ext cx="5148072" cy="6858000"/>
          </a:xfrm>
          <a:prstGeom prst="rect">
            <a:avLst/>
          </a:prstGeom>
          <a:solidFill>
            <a:srgbClr val="14181C">
              <a:alpha val="2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594360" y="265176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 &amp;</a:t>
            </a:r>
            <a:endParaRPr lang="en-US" sz="3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Control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594360" y="384048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— </a:t>
            </a:r>
            <a:pPr indent="0" marL="0">
              <a:buNone/>
            </a:pPr>
            <a:r>
              <a:rPr lang="en-US" sz="13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structured command systems to control the whole emergency.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4828032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 principles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49040" y="4828032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3" name="Text 10"/>
          <p:cNvSpPr/>
          <p:nvPr/>
        </p:nvSpPr>
        <p:spPr>
          <a:xfrm>
            <a:off x="4041648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zones &amp; structure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4360" y="548640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5" name="Text 12"/>
          <p:cNvSpPr/>
          <p:nvPr/>
        </p:nvSpPr>
        <p:spPr>
          <a:xfrm>
            <a:off x="886968" y="5367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management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749040" y="548640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7" name="Text 14"/>
          <p:cNvSpPr/>
          <p:nvPr/>
        </p:nvSpPr>
        <p:spPr>
          <a:xfrm>
            <a:off x="4041648" y="5367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systems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080760" y="777240"/>
            <a:ext cx="640080" cy="640080"/>
          </a:xfrm>
          <a:prstGeom prst="ellipse">
            <a:avLst/>
          </a:prstGeom>
          <a:solidFill>
            <a:srgbClr val="1F262C"/>
          </a:solidFill>
          <a:ln/>
        </p:spPr>
      </p:sp>
      <p:pic>
        <p:nvPicPr>
          <p:cNvPr id="19" name="Image 1" descr="/tmp/claude-0/-home-user-My-Future-Idaes/0806094f-208a-506e-82b2-f78683d50c82/scratchpad/icons/FaSitemap_fl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379" y="930859"/>
            <a:ext cx="332842" cy="33284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command: structure beats chaos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2544318" cy="2468880"/>
          </a:xfrm>
          <a:prstGeom prst="roundRect">
            <a:avLst>
              <a:gd name="adj" fmla="val 3704"/>
            </a:avLst>
          </a:prstGeom>
          <a:solidFill>
            <a:srgbClr val="F3F4F5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993392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8" name="Image 0" descr="/tmp/claude-0/-home-user-My-Future-Idaes/0806094f-208a-506e-82b2-f78683d50c82/scratchpad/icons/FaUser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423" y="211628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" y="2651760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of command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5528" y="3246120"/>
            <a:ext cx="21419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 answers to exactly one leader. Two bosses on one crew is zero bosses.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12998" y="1783080"/>
            <a:ext cx="2544318" cy="2468880"/>
          </a:xfrm>
          <a:prstGeom prst="roundRect">
            <a:avLst>
              <a:gd name="adj" fmla="val 3704"/>
            </a:avLst>
          </a:prstGeom>
          <a:solidFill>
            <a:srgbClr val="F3F4F5"/>
          </a:solidFill>
          <a:ln/>
        </p:spPr>
      </p:sp>
      <p:sp>
        <p:nvSpPr>
          <p:cNvPr id="12" name="Shape 9"/>
          <p:cNvSpPr/>
          <p:nvPr/>
        </p:nvSpPr>
        <p:spPr>
          <a:xfrm>
            <a:off x="3614166" y="1993392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3" name="Image 1" descr="/tmp/claude-0/-home-user-My-Future-Idaes/0806094f-208a-506e-82b2-f78683d50c82/scratchpad/icons/FaListO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061" y="2116287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4166" y="2651760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Manageable span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614166" y="3246120"/>
            <a:ext cx="21419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 5 reporting units per leader. Grow the structure, not the span.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31636" y="1783080"/>
            <a:ext cx="2544318" cy="2468880"/>
          </a:xfrm>
          <a:prstGeom prst="roundRect">
            <a:avLst>
              <a:gd name="adj" fmla="val 3704"/>
            </a:avLst>
          </a:prstGeom>
          <a:solidFill>
            <a:srgbClr val="F3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432804" y="1993392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8" name="Image 2" descr="/tmp/claude-0/-home-user-My-Future-Idaes/0806094f-208a-506e-82b2-f78683d50c82/scratchpad/icons/FaCrosshai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699" y="2116287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32804" y="2651760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Objectives-driven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32804" y="3246120"/>
            <a:ext cx="21419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sets clear incident objectives; sectors turn them into tasks; crews execute.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050274" y="1783080"/>
            <a:ext cx="2544318" cy="2468880"/>
          </a:xfrm>
          <a:prstGeom prst="roundRect">
            <a:avLst>
              <a:gd name="adj" fmla="val 3704"/>
            </a:avLst>
          </a:prstGeom>
          <a:solidFill>
            <a:srgbClr val="F3F4F5"/>
          </a:solidFill>
          <a:ln/>
        </p:spPr>
      </p:sp>
      <p:sp>
        <p:nvSpPr>
          <p:cNvPr id="22" name="Shape 17"/>
          <p:cNvSpPr/>
          <p:nvPr/>
        </p:nvSpPr>
        <p:spPr>
          <a:xfrm>
            <a:off x="9251442" y="1993392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3" name="Image 3" descr="/tmp/claude-0/-home-user-My-Future-Idaes/0806094f-208a-506e-82b2-f78683d50c82/scratchpad/icons/FaLayerGrou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337" y="2116287"/>
            <a:ext cx="266273" cy="2662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51442" y="2651760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expansion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251442" y="3246120"/>
            <a:ext cx="21419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starts small and grows with the incident — same structure at every size.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94360" y="4572000"/>
            <a:ext cx="11000232" cy="1508760"/>
          </a:xfrm>
          <a:prstGeom prst="roundRect">
            <a:avLst>
              <a:gd name="adj" fmla="val 6061"/>
            </a:avLst>
          </a:prstGeom>
          <a:solidFill>
            <a:srgbClr val="14181C"/>
          </a:solidFill>
          <a:ln/>
        </p:spPr>
      </p:sp>
      <p:sp>
        <p:nvSpPr>
          <p:cNvPr id="27" name="Text 21"/>
          <p:cNvSpPr/>
          <p:nvPr/>
        </p:nvSpPr>
        <p:spPr>
          <a:xfrm>
            <a:off x="868680" y="47365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 INCIDENT COMMAND — TYPICAL FIRST STRUCTURE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868680" y="507492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E8491D"/>
          </a:solidFill>
          <a:ln w="6350">
            <a:solidFill>
              <a:srgbClr val="39434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68680" y="5074920"/>
            <a:ext cx="195681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On-Scene Commander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(Fire Team Leader)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026664" y="507492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1F262C"/>
          </a:solidFill>
          <a:ln w="6350">
            <a:solidFill>
              <a:srgbClr val="39434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026664" y="5074920"/>
            <a:ext cx="195681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Sector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5184648" y="507492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1F262C"/>
          </a:solidFill>
          <a:ln w="6350">
            <a:solidFill>
              <a:srgbClr val="39434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184648" y="5074920"/>
            <a:ext cx="195681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/ Water Sector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7342632" y="507492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1F262C"/>
          </a:solidFill>
          <a:ln w="6350">
            <a:solidFill>
              <a:srgbClr val="39434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342632" y="5074920"/>
            <a:ext cx="195681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Muster &amp; Accountability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9500616" y="507492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1F262C"/>
          </a:solidFill>
          <a:ln w="6350">
            <a:solidFill>
              <a:srgbClr val="39434B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500616" y="5074920"/>
            <a:ext cx="195681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/ Rehab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zones: geography of survival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03520" cy="3931920"/>
          </a:xfrm>
          <a:prstGeom prst="ellipse">
            <a:avLst/>
          </a:prstGeom>
          <a:solidFill>
            <a:srgbClr val="DCE3E8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2468880"/>
            <a:ext cx="3749040" cy="2743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3063240"/>
            <a:ext cx="2194560" cy="155448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5420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9385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178308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F3F4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812280" y="2167128"/>
            <a:ext cx="457200" cy="45720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4" name="Text 12"/>
          <p:cNvSpPr/>
          <p:nvPr/>
        </p:nvSpPr>
        <p:spPr>
          <a:xfrm>
            <a:off x="7452360" y="1892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ZONE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52360" y="221284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danger area. Full PPE + BA, tracked entry only, minimum crews, maximum discipline.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0" y="320040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F3F4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812280" y="3584448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3310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ZONE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52360" y="363016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ring: entry control, BA staging, decon, equipment pool. Controlled access only.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0" y="461772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F3F4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5001768"/>
            <a:ext cx="457200" cy="457200"/>
          </a:xfrm>
          <a:prstGeom prst="ellipse">
            <a:avLst/>
          </a:prstGeom>
          <a:solidFill>
            <a:srgbClr val="5A646C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0" y="47274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ZONE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504748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post, muster points, medical, staging — always upwind, uphill, out of the escalation path.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0" y="6035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3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 placement rule:  </a:t>
            </a:r>
            <a:pPr indent="0" marL="0">
              <a:buNone/>
            </a:pPr>
            <a:r>
              <a:rPr lang="en-US" sz="11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upwind, sight of the scene, escape route behind you.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Escalation: growing the response without losing 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2544318" cy="2743200"/>
          </a:xfrm>
          <a:prstGeom prst="roundRect">
            <a:avLst>
              <a:gd name="adj" fmla="val 3594"/>
            </a:avLst>
          </a:prstGeom>
          <a:solidFill>
            <a:srgbClr val="14181C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938528"/>
            <a:ext cx="2141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2231136"/>
            <a:ext cx="2141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 fire team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2852928"/>
            <a:ext cx="214198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response — your team, your command, first 15 minutes decide everything.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83814" y="28803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12998" y="1783080"/>
            <a:ext cx="2544318" cy="2743200"/>
          </a:xfrm>
          <a:prstGeom prst="roundRect">
            <a:avLst>
              <a:gd name="adj" fmla="val 3594"/>
            </a:avLst>
          </a:prstGeom>
          <a:solidFill>
            <a:srgbClr val="F3F4F5"/>
          </a:solidFill>
          <a:ln/>
        </p:spPr>
      </p:sp>
      <p:sp>
        <p:nvSpPr>
          <p:cNvPr id="12" name="Text 10"/>
          <p:cNvSpPr/>
          <p:nvPr/>
        </p:nvSpPr>
        <p:spPr>
          <a:xfrm>
            <a:off x="3614166" y="1938528"/>
            <a:ext cx="2141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4166" y="2231136"/>
            <a:ext cx="2141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emergency response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4166" y="2852928"/>
            <a:ext cx="214198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ERP activates: management notification, mutual aid, logistics, next-of-kin readiness.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02452" y="28803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1636" y="1783080"/>
            <a:ext cx="2544318" cy="2743200"/>
          </a:xfrm>
          <a:prstGeom prst="roundRect">
            <a:avLst>
              <a:gd name="adj" fmla="val 3594"/>
            </a:avLst>
          </a:prstGeom>
          <a:solidFill>
            <a:srgbClr val="F3F4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32804" y="1938528"/>
            <a:ext cx="2141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32804" y="2231136"/>
            <a:ext cx="2141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Saudi Aramco Fire Protection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32804" y="2852928"/>
            <a:ext cx="214198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industrial fire response. Structured handover: SITREP, actions taken, hazards, resources.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21090" y="28803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50274" y="1783080"/>
            <a:ext cx="2544318" cy="2743200"/>
          </a:xfrm>
          <a:prstGeom prst="roundRect">
            <a:avLst>
              <a:gd name="adj" fmla="val 3594"/>
            </a:avLst>
          </a:prstGeom>
          <a:solidFill>
            <a:srgbClr val="F3F4F5"/>
          </a:solidFill>
          <a:ln/>
        </p:spPr>
      </p:sp>
      <p:sp>
        <p:nvSpPr>
          <p:cNvPr id="22" name="Text 20"/>
          <p:cNvSpPr/>
          <p:nvPr/>
        </p:nvSpPr>
        <p:spPr>
          <a:xfrm>
            <a:off x="9251442" y="1938528"/>
            <a:ext cx="2141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51442" y="2231136"/>
            <a:ext cx="2141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Defense &amp; mutual aid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51442" y="2852928"/>
            <a:ext cx="214198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incident. Unified command; rig leader becomes the site knowledge authority.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4892040"/>
            <a:ext cx="11000232" cy="1188720"/>
          </a:xfrm>
          <a:prstGeom prst="roundRect">
            <a:avLst>
              <a:gd name="adj" fmla="val 7692"/>
            </a:avLst>
          </a:prstGeom>
          <a:solidFill>
            <a:srgbClr val="F3F4F5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" y="5166360"/>
            <a:ext cx="594360" cy="59436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7" name="Image 0" descr="/tmp/claude-0/-home-user-My-Future-Idaes/0806094f-208a-506e-82b2-f78683d50c82/scratchpad/icons/FaPeopleArrow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5309006"/>
            <a:ext cx="309067" cy="309067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691640" y="4983480"/>
            <a:ext cx="9537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professional handover (60 seconds):  </a:t>
            </a:r>
            <a:pPr indent="0" marL="0">
              <a:buNone/>
            </a:pPr>
            <a:r>
              <a:rPr lang="en-US" sz="12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am [name], on-scene commander. Situation. Actions taken. People status. Hazards. Resources deployed. What I need from you.” Then: “Do you accept command?” — and log the time.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Accountability: everyone, everywhere, always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F3F4F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11680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8" name="Image 0" descr="/tmp/claude-0/-home-user-My-Future-Idaes/0806094f-208a-506e-82b2-f78683d50c82/scratchpad/icons/FaTask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244" y="2138964"/>
            <a:ext cx="275783" cy="2757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2002536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control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27048" y="2404872"/>
            <a:ext cx="41285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entry-control officer logs every hot-zone entry: names, task, cylinder pressure, time in / time due out.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77356" y="178308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F3F4F5"/>
          </a:solidFill>
          <a:ln/>
        </p:spPr>
      </p:sp>
      <p:sp>
        <p:nvSpPr>
          <p:cNvPr id="12" name="Shape 9"/>
          <p:cNvSpPr/>
          <p:nvPr/>
        </p:nvSpPr>
        <p:spPr>
          <a:xfrm>
            <a:off x="6505956" y="2011680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3" name="Image 1" descr="/tmp/claude-0/-home-user-My-Future-Idaes/0806094f-208a-506e-82b2-f78683d50c82/scratchpad/icons/Fa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240" y="2138964"/>
            <a:ext cx="275783" cy="2757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10044" y="2002536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checks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210044" y="2404872"/>
            <a:ext cx="41285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Personnel Accountability Report on the clock (every 10–15 min) and at every event: mode change, collapse, mayday.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4360" y="374904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F3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3977640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8" name="Image 2" descr="/tmp/claude-0/-home-user-My-Future-Idaes/0806094f-208a-506e-82b2-f78683d50c82/scratchpad/icons/FaLayerGro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44" y="4104924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27048" y="3968496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T-card / tag system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527048" y="4370832"/>
            <a:ext cx="41285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tags or T-cards track every crew's location and task — survives radio failure and battery death.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77356" y="3749040"/>
            <a:ext cx="5317236" cy="1783080"/>
          </a:xfrm>
          <a:prstGeom prst="roundRect">
            <a:avLst>
              <a:gd name="adj" fmla="val 5128"/>
            </a:avLst>
          </a:prstGeom>
          <a:solidFill>
            <a:srgbClr val="F3F4F5"/>
          </a:solidFill>
          <a:ln/>
        </p:spPr>
      </p:sp>
      <p:sp>
        <p:nvSpPr>
          <p:cNvPr id="22" name="Shape 17"/>
          <p:cNvSpPr/>
          <p:nvPr/>
        </p:nvSpPr>
        <p:spPr>
          <a:xfrm>
            <a:off x="6505956" y="3977640"/>
            <a:ext cx="530352" cy="530352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3" name="Image 3" descr="/tmp/claude-0/-home-user-My-Future-Idaes/0806094f-208a-506e-82b2-f78683d50c82/scratchpad/icons/FaBel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240" y="4104924"/>
            <a:ext cx="275783" cy="27578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10044" y="3968496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withdrawal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210044" y="4370832"/>
            <a:ext cx="41285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unmistakable signal (air horn blasts / radio call) = everyone out, muster, immediate PAR. Drilled until instant.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94360" y="58064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3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you must always answer in 30 seconds:  </a:t>
            </a:r>
            <a:pPr indent="0" marL="0">
              <a:buNone/>
            </a:pPr>
            <a:r>
              <a:rPr lang="en-US" sz="12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are all of your people right now?” If you can't, stop the fireground until you can.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PRACTICAL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 simulations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445752" y="43891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491D"/>
          </a:solidFill>
          <a:ln/>
        </p:spPr>
      </p:sp>
      <p:sp>
        <p:nvSpPr>
          <p:cNvPr id="7" name="Text 5"/>
          <p:cNvSpPr/>
          <p:nvPr/>
        </p:nvSpPr>
        <p:spPr>
          <a:xfrm>
            <a:off x="9445752" y="4389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BLOCK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Tabletop-to-field command labs run against the clock, with assessors tracking every order.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3F4F5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1" name="Image 0" descr="/tmp/claude-0/-home-user-My-Future-Idaes/0806094f-208a-506e-82b2-f78683d50c82/scratchpad/icons/Fa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554834"/>
            <a:ext cx="285293" cy="28529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108960"/>
            <a:ext cx="299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post exercise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3749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 ICP for a simulated rig fire: build the structure, set objectives, manage sector reports and SITREPs upward.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67784" y="219456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3F4F5"/>
          </a:solidFill>
          <a:ln/>
        </p:spPr>
      </p:sp>
      <p:sp>
        <p:nvSpPr>
          <p:cNvPr id="15" name="Shape 12"/>
          <p:cNvSpPr/>
          <p:nvPr/>
        </p:nvSpPr>
        <p:spPr>
          <a:xfrm>
            <a:off x="4596384" y="242316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6" name="Image 1" descr="/tmp/claude-0/-home-user-My-Future-Idaes/0806094f-208a-506e-82b2-f78683d50c82/scratchpad/icons/FaExclamationTriang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058" y="2554834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96384" y="3108960"/>
            <a:ext cx="299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Multi-hazard scenario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96384" y="3749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+ H2S alarm + missing person, simultaneously. Prioritize, structure, and keep accountability intact.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41208" y="219456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3F4F5"/>
          </a:solidFill>
          <a:ln/>
        </p:spPr>
      </p:sp>
      <p:sp>
        <p:nvSpPr>
          <p:cNvPr id="20" name="Shape 16"/>
          <p:cNvSpPr/>
          <p:nvPr/>
        </p:nvSpPr>
        <p:spPr>
          <a:xfrm>
            <a:off x="8369808" y="2423160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1" name="Image 2" descr="/tmp/claude-0/-home-user-My-Future-Idaes/0806094f-208a-506e-82b2-f78683d50c82/scratchpad/icons/FaPeopleArrow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482" y="2554834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69808" y="3108960"/>
            <a:ext cx="2996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handover gauntlet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369808" y="3749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transfers mid-incident — brief the incoming commander in 60 seconds without losing the scene.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94360" y="5623560"/>
            <a:ext cx="11000232" cy="658368"/>
          </a:xfrm>
          <a:prstGeom prst="roundRect">
            <a:avLst>
              <a:gd name="adj" fmla="val 11111"/>
            </a:avLst>
          </a:prstGeom>
          <a:solidFill>
            <a:srgbClr val="14181C"/>
          </a:solidFill>
          <a:ln/>
        </p:spPr>
      </p:sp>
      <p:sp>
        <p:nvSpPr>
          <p:cNvPr id="25" name="Text 20"/>
          <p:cNvSpPr/>
          <p:nvPr/>
        </p:nvSpPr>
        <p:spPr>
          <a:xfrm>
            <a:off x="822960" y="5623560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ASSESSED: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structure, zone discipline, PAR integrity and handover quality — Module 5 rubric.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DAY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commander's checklist you now own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3453384" cy="3657600"/>
          </a:xfrm>
          <a:prstGeom prst="roundRect">
            <a:avLst>
              <a:gd name="adj" fmla="val 2648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</a:t>
            </a:r>
            <a:endParaRPr lang="en-US" sz="1300" dirty="0"/>
          </a:p>
        </p:txBody>
      </p:sp>
      <p:pic>
        <p:nvPicPr>
          <p:cNvPr id="8" name="Image 0" descr="/tmp/claude-0/-home-user-My-Future-Idaes/0806094f-208a-506e-82b2-f78683d50c82/scratchpad/icons/FaCheckCircle_fl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5059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61288" y="2423160"/>
            <a:ext cx="2676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Size-up in 30 seconds, out loud</a:t>
            </a:r>
            <a:endParaRPr lang="en-US" sz="1050" dirty="0"/>
          </a:p>
        </p:txBody>
      </p:sp>
      <p:pic>
        <p:nvPicPr>
          <p:cNvPr id="10" name="Image 1" descr="/tmp/claude-0/-home-user-My-Future-Idaes/0806094f-208a-506e-82b2-f78683d50c82/scratchpad/icons/FaCheckCircle_fl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004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61288" y="3172968"/>
            <a:ext cx="2676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 loop running continuously</a:t>
            </a:r>
            <a:endParaRPr lang="en-US" sz="1050" dirty="0"/>
          </a:p>
        </p:txBody>
      </p:sp>
      <p:pic>
        <p:nvPicPr>
          <p:cNvPr id="12" name="Image 2" descr="/tmp/claude-0/-home-user-My-Future-Idaes/0806094f-208a-506e-82b2-f78683d50c82/scratchpad/icons/FaCheckCircle_fla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5020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61288" y="3922776"/>
            <a:ext cx="2676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declared: offensive / defensive / transitional</a:t>
            </a:r>
            <a:endParaRPr lang="en-US" sz="1050" dirty="0"/>
          </a:p>
        </p:txBody>
      </p:sp>
      <p:pic>
        <p:nvPicPr>
          <p:cNvPr id="14" name="Image 3" descr="/tmp/claude-0/-home-user-My-Future-Idaes/0806094f-208a-506e-82b2-f78683d50c82/scratchpad/icons/FaCheckCircle_fla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700016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61288" y="4672584"/>
            <a:ext cx="2676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resources protected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367784" y="1783080"/>
            <a:ext cx="3453384" cy="3657600"/>
          </a:xfrm>
          <a:prstGeom prst="roundRect">
            <a:avLst>
              <a:gd name="adj" fmla="val 2648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596384" y="196596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300" dirty="0"/>
          </a:p>
        </p:txBody>
      </p:sp>
      <p:pic>
        <p:nvPicPr>
          <p:cNvPr id="18" name="Image 4" descr="/tmp/claude-0/-home-user-My-Future-Idaes/0806094f-208a-506e-82b2-f78683d50c82/scratchpad/icons/FaCheckCircle_fla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384" y="2450592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34712" y="2423160"/>
            <a:ext cx="2676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on every order</a:t>
            </a:r>
            <a:endParaRPr lang="en-US" sz="1050" dirty="0"/>
          </a:p>
        </p:txBody>
      </p:sp>
      <p:pic>
        <p:nvPicPr>
          <p:cNvPr id="20" name="Image 5" descr="/tmp/claude-0/-home-user-My-Future-Idaes/0806094f-208a-506e-82b2-f78683d50c82/scratchpad/icons/FaCheckCircle_fla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6384" y="3200400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34712" y="3172968"/>
            <a:ext cx="2676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SITREPs — 20 seconds, structured</a:t>
            </a:r>
            <a:endParaRPr lang="en-US" sz="1050" dirty="0"/>
          </a:p>
        </p:txBody>
      </p:sp>
      <p:pic>
        <p:nvPicPr>
          <p:cNvPr id="22" name="Image 6" descr="/tmp/claude-0/-home-user-My-Future-Idaes/0806094f-208a-506e-82b2-f78683d50c82/scratchpad/icons/FaCheckCircle_flam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6384" y="3950208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934712" y="3922776"/>
            <a:ext cx="2676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officers, span of control 1:5</a:t>
            </a:r>
            <a:endParaRPr lang="en-US" sz="1050" dirty="0"/>
          </a:p>
        </p:txBody>
      </p:sp>
      <p:pic>
        <p:nvPicPr>
          <p:cNvPr id="24" name="Image 7" descr="/tmp/claude-0/-home-user-My-Future-Idaes/0806094f-208a-506e-82b2-f78683d50c82/scratchpad/icons/FaCheckCircle_flam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6384" y="4700016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934712" y="4672584"/>
            <a:ext cx="2676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comms briefed in advance</a:t>
            </a:r>
            <a:endParaRPr lang="en-US" sz="1050" dirty="0"/>
          </a:p>
        </p:txBody>
      </p:sp>
      <p:sp>
        <p:nvSpPr>
          <p:cNvPr id="26" name="Shape 16"/>
          <p:cNvSpPr/>
          <p:nvPr/>
        </p:nvSpPr>
        <p:spPr>
          <a:xfrm>
            <a:off x="8141208" y="1783080"/>
            <a:ext cx="3453384" cy="3657600"/>
          </a:xfrm>
          <a:prstGeom prst="roundRect">
            <a:avLst>
              <a:gd name="adj" fmla="val 2648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8369808" y="196596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&amp; CONTROL</a:t>
            </a:r>
            <a:endParaRPr lang="en-US" sz="1300" dirty="0"/>
          </a:p>
        </p:txBody>
      </p:sp>
      <p:pic>
        <p:nvPicPr>
          <p:cNvPr id="28" name="Image 8" descr="/tmp/claude-0/-home-user-My-Future-Idaes/0806094f-208a-506e-82b2-f78683d50c82/scratchpad/icons/FaCheckCircle_flam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9808" y="2450592"/>
            <a:ext cx="237744" cy="237744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708136" y="2423160"/>
            <a:ext cx="2676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structure grown to fit the incident</a:t>
            </a:r>
            <a:endParaRPr lang="en-US" sz="1050" dirty="0"/>
          </a:p>
        </p:txBody>
      </p:sp>
      <p:pic>
        <p:nvPicPr>
          <p:cNvPr id="30" name="Image 9" descr="/tmp/claude-0/-home-user-My-Future-Idaes/0806094f-208a-506e-82b2-f78683d50c82/scratchpad/icons/FaCheckCircle_flam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9808" y="3200400"/>
            <a:ext cx="237744" cy="237744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8708136" y="3172968"/>
            <a:ext cx="2676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/ warm / cold zones enforced</a:t>
            </a:r>
            <a:endParaRPr lang="en-US" sz="1050" dirty="0"/>
          </a:p>
        </p:txBody>
      </p:sp>
      <p:pic>
        <p:nvPicPr>
          <p:cNvPr id="32" name="Image 10" descr="/tmp/claude-0/-home-user-My-Future-Idaes/0806094f-208a-506e-82b2-f78683d50c82/scratchpad/icons/FaCheckCircle_flam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9808" y="3950208"/>
            <a:ext cx="237744" cy="237744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8708136" y="3922776"/>
            <a:ext cx="2676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control + PAR without gaps</a:t>
            </a:r>
            <a:endParaRPr lang="en-US" sz="1050" dirty="0"/>
          </a:p>
        </p:txBody>
      </p:sp>
      <p:pic>
        <p:nvPicPr>
          <p:cNvPr id="34" name="Image 11" descr="/tmp/claude-0/-home-user-My-Future-Idaes/0806094f-208a-506e-82b2-f78683d50c82/scratchpad/icons/FaCheckCircle_flam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9808" y="4700016"/>
            <a:ext cx="237744" cy="237744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8708136" y="4672584"/>
            <a:ext cx="2676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tiers and handover ready</a:t>
            </a:r>
            <a:endParaRPr lang="en-US" sz="1050" dirty="0"/>
          </a:p>
        </p:txBody>
      </p:sp>
      <p:sp>
        <p:nvSpPr>
          <p:cNvPr id="36" name="Text 22"/>
          <p:cNvSpPr/>
          <p:nvPr/>
        </p:nvSpPr>
        <p:spPr>
          <a:xfrm>
            <a:off x="594360" y="571500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 there are no slides. Tomorrow you command.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50" dirty="0"/>
          </a:p>
        </p:txBody>
      </p:sp>
      <p:pic>
        <p:nvPicPr>
          <p:cNvPr id="4" name="Image 0" descr="/home/user/My-Future-Idaes/SANAD-Fire-Team-Leader-Course/assets/img/day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14181C">
              <a:alpha val="8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OF 3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169164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PROVE.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Full-Scale Simulation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94360" y="32918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from Days 1 and 2 — under pressure, in real time, evaluated. This is where certification is earned.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379976"/>
            <a:ext cx="274320" cy="27432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Full-Scale Leadership Simulation &amp; Evaluation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4946904"/>
            <a:ext cx="274320" cy="27432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864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decision-making evaluation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" y="5513832"/>
            <a:ext cx="274320" cy="27432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54315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assessment, validation &amp; certification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— PROVE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of the day</a:t>
            </a:r>
            <a:endParaRPr lang="en-US" sz="3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023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616952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07:30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Readiness check, safety briefing &amp; assessment rules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08:00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6 — Scenario brief, team assignments, command rotations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08:45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Full-scale simulation round 1 — rig fire with casualty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49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 + hot debrief of round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49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Full-scale simulation round 2 — escalating multi-risk emergency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49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12:30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Lunch &amp; prayer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debrief &amp; lessons-learned workshop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49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assessment — leadership performance evaluation &amp; knowledge check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49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15:30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Individual competency validation &amp; feedback interviews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49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Certification &amp; course closing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850" dirty="0"/>
          </a:p>
        </p:txBody>
      </p:sp>
      <p:pic>
        <p:nvPicPr>
          <p:cNvPr id="4" name="Image 0" descr="/home/user/My-Future-Idaes/SANAD-Fire-Team-Leader-Course/assets/img/day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0"/>
            <a:ext cx="514807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0"/>
            <a:ext cx="5148072" cy="6858000"/>
          </a:xfrm>
          <a:prstGeom prst="rect">
            <a:avLst/>
          </a:prstGeom>
          <a:solidFill>
            <a:srgbClr val="14181C">
              <a:alpha val="2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594360" y="265176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Full-Scale Simulation</a:t>
            </a:r>
            <a:endParaRPr lang="en-US" sz="3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Evaluation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594360" y="384048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— </a:t>
            </a:r>
            <a:pPr indent="0" marL="0">
              <a:buNone/>
            </a:pPr>
            <a:r>
              <a:rPr lang="en-US" sz="13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leadership capability in realistic, complex scenarios.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4828032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emergency scenarios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49040" y="4828032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3" name="Text 10"/>
          <p:cNvSpPr/>
          <p:nvPr/>
        </p:nvSpPr>
        <p:spPr>
          <a:xfrm>
            <a:off x="4041648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Multi-risk environments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4360" y="548640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5" name="Text 12"/>
          <p:cNvSpPr/>
          <p:nvPr/>
        </p:nvSpPr>
        <p:spPr>
          <a:xfrm>
            <a:off x="886968" y="5367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vs. urgency decisions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749040" y="548640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7" name="Text 14"/>
          <p:cNvSpPr/>
          <p:nvPr/>
        </p:nvSpPr>
        <p:spPr>
          <a:xfrm>
            <a:off x="4041648" y="5367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Post-incident review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080760" y="777240"/>
            <a:ext cx="640080" cy="640080"/>
          </a:xfrm>
          <a:prstGeom prst="ellipse">
            <a:avLst/>
          </a:prstGeom>
          <a:solidFill>
            <a:srgbClr val="1F262C"/>
          </a:solidFill>
          <a:ln/>
        </p:spPr>
      </p:sp>
      <p:pic>
        <p:nvPicPr>
          <p:cNvPr id="19" name="Image 1" descr="/tmp/claude-0/-home-user-My-Future-Idaes/0806094f-208a-506e-82b2-f78683d50c82/scratchpad/icons/FaFlagCheckered_fl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379" y="930859"/>
            <a:ext cx="332842" cy="33284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scenarios: built from your worst day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rounds are constructed from Day 2's rig hazard map. Expect layered, evolving problems — not a single tidy fire: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2544318" cy="2651760"/>
          </a:xfrm>
          <a:prstGeom prst="roundRect">
            <a:avLst>
              <a:gd name="adj" fmla="val 3594"/>
            </a:avLst>
          </a:prstGeom>
          <a:solidFill>
            <a:srgbClr val="F3F4F5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2377440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9" name="Image 0" descr="/tmp/claude-0/-home-user-My-Future-Idaes/0806094f-208a-506e-82b2-f78683d50c82/scratchpad/icons/FaFir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423" y="2500335"/>
            <a:ext cx="266273" cy="2662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" y="3017520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credible rig fire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" y="3611880"/>
            <a:ext cx="2141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area, mud gas or electrical — staged with live training props, smoke and heat cues.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12998" y="2148840"/>
            <a:ext cx="2544318" cy="2651760"/>
          </a:xfrm>
          <a:prstGeom prst="roundRect">
            <a:avLst>
              <a:gd name="adj" fmla="val 3594"/>
            </a:avLst>
          </a:prstGeom>
          <a:solidFill>
            <a:srgbClr val="F3F4F5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4166" y="2377440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4" name="Image 1" descr="/tmp/claude-0/-home-user-My-Future-Idaes/0806094f-208a-506e-82b2-f78683d50c82/scratchpad/icons/FaFirstAi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061" y="2500335"/>
            <a:ext cx="266273" cy="2662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4166" y="3017520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Casualties in play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614166" y="3611880"/>
            <a:ext cx="2141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Injured or missing role-players force the rescue-vs-attack decision early.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31636" y="2148840"/>
            <a:ext cx="2544318" cy="2651760"/>
          </a:xfrm>
          <a:prstGeom prst="roundRect">
            <a:avLst>
              <a:gd name="adj" fmla="val 3594"/>
            </a:avLst>
          </a:prstGeom>
          <a:solidFill>
            <a:srgbClr val="F3F4F5"/>
          </a:solidFill>
          <a:ln/>
        </p:spPr>
      </p:sp>
      <p:sp>
        <p:nvSpPr>
          <p:cNvPr id="18" name="Shape 14"/>
          <p:cNvSpPr/>
          <p:nvPr/>
        </p:nvSpPr>
        <p:spPr>
          <a:xfrm>
            <a:off x="6432804" y="2377440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9" name="Image 2" descr="/tmp/claude-0/-home-user-My-Future-Idaes/0806094f-208a-506e-82b2-f78683d50c82/scratchpad/icons/FaAngleDouble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699" y="2500335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32804" y="3017520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injects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32804" y="3611880"/>
            <a:ext cx="2141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shift, second ignition, H2S alarm, comms failure — delivered mid-scenario, unannounced.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50274" y="2148840"/>
            <a:ext cx="2544318" cy="2651760"/>
          </a:xfrm>
          <a:prstGeom prst="roundRect">
            <a:avLst>
              <a:gd name="adj" fmla="val 3594"/>
            </a:avLst>
          </a:prstGeom>
          <a:solidFill>
            <a:srgbClr val="F3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9251442" y="2377440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4" name="Image 3" descr="/tmp/claude-0/-home-user-My-Future-Idaes/0806094f-208a-506e-82b2-f78683d50c82/scratchpad/icons/FaHourglassHalf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337" y="2500335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51442" y="3017520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scarcity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251442" y="3611880"/>
            <a:ext cx="2141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quite enough people, water or time. Exactly like the real thing.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94360" y="5074920"/>
            <a:ext cx="11000232" cy="1005840"/>
          </a:xfrm>
          <a:prstGeom prst="roundRect">
            <a:avLst>
              <a:gd name="adj" fmla="val 9091"/>
            </a:avLst>
          </a:prstGeom>
          <a:solidFill>
            <a:srgbClr val="14181C"/>
          </a:solidFill>
          <a:ln/>
        </p:spPr>
      </p:sp>
      <p:sp>
        <p:nvSpPr>
          <p:cNvPr id="28" name="Text 22"/>
          <p:cNvSpPr/>
          <p:nvPr/>
        </p:nvSpPr>
        <p:spPr>
          <a:xfrm>
            <a:off x="868680" y="507492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rotation: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participant holds command for a graded segment — and serves as sector officer for peers. Leading and following are both assessed.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850" dirty="0"/>
          </a:p>
        </p:txBody>
      </p:sp>
      <p:pic>
        <p:nvPicPr>
          <p:cNvPr id="4" name="Image 0" descr="/home/user/My-Future-Idaes/SANAD-Fire-Team-Leader-Course/assets/img/sizeu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0"/>
            <a:ext cx="5879592" cy="6858000"/>
          </a:xfrm>
          <a:prstGeom prst="rect">
            <a:avLst/>
          </a:prstGeom>
          <a:solidFill>
            <a:srgbClr val="14181C">
              <a:alpha val="26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82296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vs. urgency: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leader's dilemma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94360" y="224028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without safety creates a second incident inside the first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without urgency lets a savable situation become unsavable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balance point moves every minute — that is why the DRA loop never stops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decisions will be replayed in the debrief: be able to say WHY, not just WHAT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4617720"/>
            <a:ext cx="5577840" cy="1554480"/>
          </a:xfrm>
          <a:prstGeom prst="roundRect">
            <a:avLst>
              <a:gd name="adj" fmla="val 5882"/>
            </a:avLst>
          </a:prstGeom>
          <a:solidFill>
            <a:srgbClr val="1F262C"/>
          </a:solidFill>
          <a:ln w="9525">
            <a:solidFill>
              <a:srgbClr val="3943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773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DECISION GATES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507492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Is anyone savable at this risk?  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 I control the hazard, or does it control me?  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If this goes wrong in 60 seconds, can I get everyone out?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simulation round runs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453384" cy="1874520"/>
          </a:xfrm>
          <a:prstGeom prst="roundRect">
            <a:avLst>
              <a:gd name="adj" fmla="val 4878"/>
            </a:avLst>
          </a:prstGeom>
          <a:solidFill>
            <a:srgbClr val="F3F4F5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9933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34512" y="2011680"/>
            <a:ext cx="475488" cy="475488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9" name="Image 0" descr="/tmp/claude-0/-home-user-My-Future-Idaes/0806094f-208a-506e-82b2-f78683d50c82/scratchpad/icons/FaBookOpe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8629" y="2125797"/>
            <a:ext cx="247254" cy="24725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" y="2542032"/>
            <a:ext cx="3051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5528" y="2880360"/>
            <a:ext cx="305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Scenario, roles, safety rules, assessment criteria — no surprises about how you're graded.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67784" y="1828800"/>
            <a:ext cx="3453384" cy="1874520"/>
          </a:xfrm>
          <a:prstGeom prst="roundRect">
            <a:avLst>
              <a:gd name="adj" fmla="val 4878"/>
            </a:avLst>
          </a:prstGeom>
          <a:solidFill>
            <a:srgbClr val="F3F4F5"/>
          </a:solidFill>
          <a:ln/>
        </p:spPr>
      </p:sp>
      <p:sp>
        <p:nvSpPr>
          <p:cNvPr id="13" name="Text 10"/>
          <p:cNvSpPr/>
          <p:nvPr/>
        </p:nvSpPr>
        <p:spPr>
          <a:xfrm>
            <a:off x="4568952" y="19933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107936" y="2011680"/>
            <a:ext cx="475488" cy="475488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5" name="Image 1" descr="/tmp/claude-0/-home-user-My-Future-Idaes/0806094f-208a-506e-82b2-f78683d50c82/scratchpad/icons/Fa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053" y="2125797"/>
            <a:ext cx="247254" cy="24725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68952" y="2542032"/>
            <a:ext cx="3051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68952" y="2880360"/>
            <a:ext cx="305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sounds. Commander takes the scene; teams respond as tasked.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41208" y="1828800"/>
            <a:ext cx="3453384" cy="1874520"/>
          </a:xfrm>
          <a:prstGeom prst="roundRect">
            <a:avLst>
              <a:gd name="adj" fmla="val 4878"/>
            </a:avLst>
          </a:prstGeom>
          <a:solidFill>
            <a:srgbClr val="F3F4F5"/>
          </a:solidFill>
          <a:ln/>
        </p:spPr>
      </p:sp>
      <p:sp>
        <p:nvSpPr>
          <p:cNvPr id="19" name="Text 15"/>
          <p:cNvSpPr/>
          <p:nvPr/>
        </p:nvSpPr>
        <p:spPr>
          <a:xfrm>
            <a:off x="8342376" y="19933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Shape 16"/>
          <p:cNvSpPr/>
          <p:nvPr/>
        </p:nvSpPr>
        <p:spPr>
          <a:xfrm>
            <a:off x="10881360" y="2011680"/>
            <a:ext cx="475488" cy="475488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1" name="Image 2" descr="/tmp/claude-0/-home-user-My-Future-Idaes/0806094f-208a-506e-82b2-f78683d50c82/scratchpad/icons/FaAngleDouble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477" y="2125797"/>
            <a:ext cx="247254" cy="24725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42376" y="2542032"/>
            <a:ext cx="3051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342376" y="2880360"/>
            <a:ext cx="305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 land: new hazards, failures, casualties. The plan must bend without breaking.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94360" y="3931920"/>
            <a:ext cx="3453384" cy="1874520"/>
          </a:xfrm>
          <a:prstGeom prst="roundRect">
            <a:avLst>
              <a:gd name="adj" fmla="val 4878"/>
            </a:avLst>
          </a:prstGeom>
          <a:solidFill>
            <a:srgbClr val="F3F4F5"/>
          </a:solidFill>
          <a:ln/>
        </p:spPr>
      </p:sp>
      <p:sp>
        <p:nvSpPr>
          <p:cNvPr id="25" name="Text 20"/>
          <p:cNvSpPr/>
          <p:nvPr/>
        </p:nvSpPr>
        <p:spPr>
          <a:xfrm>
            <a:off x="795528" y="40965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3334512" y="4114800"/>
            <a:ext cx="475488" cy="475488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7" name="Image 3" descr="/tmp/claude-0/-home-user-My-Future-Idaes/0806094f-208a-506e-82b2-f78683d50c82/scratchpad/icons/FaSitem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629" y="4228917"/>
            <a:ext cx="247254" cy="24725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95528" y="4645152"/>
            <a:ext cx="3051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95528" y="4983480"/>
            <a:ext cx="305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grows, SITREPs flow, accountability holds. Assessors track every order.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367784" y="3931920"/>
            <a:ext cx="3453384" cy="1874520"/>
          </a:xfrm>
          <a:prstGeom prst="roundRect">
            <a:avLst>
              <a:gd name="adj" fmla="val 4878"/>
            </a:avLst>
          </a:prstGeom>
          <a:solidFill>
            <a:srgbClr val="F3F4F5"/>
          </a:solidFill>
          <a:ln/>
        </p:spPr>
      </p:sp>
      <p:sp>
        <p:nvSpPr>
          <p:cNvPr id="31" name="Text 25"/>
          <p:cNvSpPr/>
          <p:nvPr/>
        </p:nvSpPr>
        <p:spPr>
          <a:xfrm>
            <a:off x="4568952" y="40965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Shape 26"/>
          <p:cNvSpPr/>
          <p:nvPr/>
        </p:nvSpPr>
        <p:spPr>
          <a:xfrm>
            <a:off x="7107936" y="4114800"/>
            <a:ext cx="475488" cy="475488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33" name="Image 4" descr="/tmp/claude-0/-home-user-My-Future-Idaes/0806094f-208a-506e-82b2-f78683d50c82/scratchpad/icons/FaFlagCheckere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2053" y="4228917"/>
            <a:ext cx="247254" cy="24725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568952" y="4645152"/>
            <a:ext cx="3051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TERMINATE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4568952" y="4983480"/>
            <a:ext cx="305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director closes the scenario at the objective — or at a safety stop.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8141208" y="3931920"/>
            <a:ext cx="3453384" cy="1874520"/>
          </a:xfrm>
          <a:prstGeom prst="roundRect">
            <a:avLst>
              <a:gd name="adj" fmla="val 4878"/>
            </a:avLst>
          </a:prstGeom>
          <a:solidFill>
            <a:srgbClr val="F3F4F5"/>
          </a:solidFill>
          <a:ln/>
        </p:spPr>
      </p:sp>
      <p:sp>
        <p:nvSpPr>
          <p:cNvPr id="37" name="Text 30"/>
          <p:cNvSpPr/>
          <p:nvPr/>
        </p:nvSpPr>
        <p:spPr>
          <a:xfrm>
            <a:off x="8342376" y="40965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38" name="Shape 31"/>
          <p:cNvSpPr/>
          <p:nvPr/>
        </p:nvSpPr>
        <p:spPr>
          <a:xfrm>
            <a:off x="10881360" y="4114800"/>
            <a:ext cx="475488" cy="475488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39" name="Image 5" descr="/tmp/claude-0/-home-user-My-Future-Idaes/0806094f-208a-506e-82b2-f78683d50c82/scratchpad/icons/FaUndo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5477" y="4228917"/>
            <a:ext cx="247254" cy="24725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342376" y="4645152"/>
            <a:ext cx="3051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</a:t>
            </a:r>
            <a:endParaRPr lang="en-US" sz="1350" dirty="0"/>
          </a:p>
        </p:txBody>
      </p:sp>
      <p:sp>
        <p:nvSpPr>
          <p:cNvPr id="41" name="Text 33"/>
          <p:cNvSpPr/>
          <p:nvPr/>
        </p:nvSpPr>
        <p:spPr>
          <a:xfrm>
            <a:off x="8342376" y="4983480"/>
            <a:ext cx="305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debrief in 10 minutes while memory is fresh: keep / change / never again.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assessors are watching</a:t>
            </a:r>
            <a:endParaRPr lang="en-US" sz="3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100023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6976872"/>
                <a:gridCol w="1188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“GOOD” LOOKS LIKE IN THE EXERCISE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13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 presence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Takes and holds command; visible, audible, calm under injects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13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Decision-making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OODA tempo; 70% rule; decisions announced and revisited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13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factors leadership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Detects stress/panic; intervenes by name and task; enforces discipline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13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Tactical judgment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Size-up quality; DRA; correct mode; resource logic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13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Communications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 loop; CAN SITREPs; radio discipline under load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13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 &amp; control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ICS structure; zones; accountability and PAR without gaps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134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Debrief contribution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Honest self-review; converts lessons into actions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debrief: where experience becomes skill</a:t>
            </a:r>
            <a:endParaRPr lang="en-US" sz="3000" dirty="0"/>
          </a:p>
        </p:txBody>
      </p:sp>
      <p:pic>
        <p:nvPicPr>
          <p:cNvPr id="6" name="Image 0" descr="/home/user/My-Future-Idaes/SANAD-Fire-Team-Leader-Course/assets/img/debrie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645920"/>
            <a:ext cx="457200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783080"/>
            <a:ext cx="6080760" cy="1261872"/>
          </a:xfrm>
          <a:prstGeom prst="roundRect">
            <a:avLst>
              <a:gd name="adj" fmla="val 7246"/>
            </a:avLst>
          </a:prstGeom>
          <a:solidFill>
            <a:srgbClr val="F3F4F5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" y="1965960"/>
            <a:ext cx="475488" cy="475488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9" name="Image 1" descr="/tmp/claude-0/-home-user-My-Future-Idaes/0806094f-208a-506e-82b2-f78683d50c82/scratchpad/icons/FaFi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45" y="2080077"/>
            <a:ext cx="247254" cy="247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9110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debrief (on scene, 10 min)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417320" y="228600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Immediately after termination, gear still on: what happened, what surprised us, any safety issues. Facts only.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94360" y="3200400"/>
            <a:ext cx="6080760" cy="1261872"/>
          </a:xfrm>
          <a:prstGeom prst="roundRect">
            <a:avLst>
              <a:gd name="adj" fmla="val 7246"/>
            </a:avLst>
          </a:prstGeom>
          <a:solidFill>
            <a:srgbClr val="F3F4F5"/>
          </a:solidFill>
          <a:ln/>
        </p:spPr>
      </p:sp>
      <p:sp>
        <p:nvSpPr>
          <p:cNvPr id="13" name="Shape 9"/>
          <p:cNvSpPr/>
          <p:nvPr/>
        </p:nvSpPr>
        <p:spPr>
          <a:xfrm>
            <a:off x="795528" y="3383280"/>
            <a:ext cx="475488" cy="475488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4" name="Image 2" descr="/tmp/claude-0/-home-user-My-Future-Idaes/0806094f-208a-506e-82b2-f78683d50c82/scratchpad/icons/FaComment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45" y="3497397"/>
            <a:ext cx="247254" cy="24725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3284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debrief (structured, 60 min)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417320" y="370332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reconstruction, decision review at each gate, assessor observations, peer feedback — no blame, full honesty.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94360" y="4617720"/>
            <a:ext cx="6080760" cy="1261872"/>
          </a:xfrm>
          <a:prstGeom prst="roundRect">
            <a:avLst>
              <a:gd name="adj" fmla="val 7246"/>
            </a:avLst>
          </a:prstGeom>
          <a:solidFill>
            <a:srgbClr val="F3F4F5"/>
          </a:solidFill>
          <a:ln/>
        </p:spPr>
      </p:sp>
      <p:sp>
        <p:nvSpPr>
          <p:cNvPr id="18" name="Shape 13"/>
          <p:cNvSpPr/>
          <p:nvPr/>
        </p:nvSpPr>
        <p:spPr>
          <a:xfrm>
            <a:off x="795528" y="4800600"/>
            <a:ext cx="475488" cy="475488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9" name="Image 3" descr="/tmp/claude-0/-home-user-My-Future-Idaes/0806094f-208a-506e-82b2-f78683d50c82/scratchpad/icons/FaChart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45" y="4914717"/>
            <a:ext cx="247254" cy="24725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47457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into actions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417320" y="512064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becomes an owner + an action: a drill to run, an SOP to fix, a pre-plan to update on YOUR rig.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040880" y="4754880"/>
            <a:ext cx="4572000" cy="1325880"/>
          </a:xfrm>
          <a:prstGeom prst="roundRect">
            <a:avLst>
              <a:gd name="adj" fmla="val 6897"/>
            </a:avLst>
          </a:prstGeom>
          <a:solidFill>
            <a:srgbClr val="14181C"/>
          </a:solidFill>
          <a:ln/>
        </p:spPr>
      </p:sp>
      <p:sp>
        <p:nvSpPr>
          <p:cNvPr id="23" name="Text 17"/>
          <p:cNvSpPr/>
          <p:nvPr/>
        </p:nvSpPr>
        <p:spPr>
          <a:xfrm>
            <a:off x="7269480" y="486460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Blame-free is not consequence-free.
</a:t>
            </a:r>
            <a:pPr indent="0" marL="0">
              <a:buNone/>
            </a:pPr>
            <a:r>
              <a:rPr lang="en-US" sz="10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ruthless about the decision and generous with the decider. That is how teams learn to tell the truth fast.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assessment &amp; competency validation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3453384" cy="2514600"/>
          </a:xfrm>
          <a:prstGeom prst="roundRect">
            <a:avLst>
              <a:gd name="adj" fmla="val 3636"/>
            </a:avLst>
          </a:prstGeom>
          <a:solidFill>
            <a:srgbClr val="F3F4F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performance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Assessor scoring across both simulation rounds: command, decisions, human-factors leadership.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67784" y="1783080"/>
            <a:ext cx="3453384" cy="2514600"/>
          </a:xfrm>
          <a:prstGeom prst="roundRect">
            <a:avLst>
              <a:gd name="adj" fmla="val 3636"/>
            </a:avLst>
          </a:prstGeom>
          <a:solidFill>
            <a:srgbClr val="F3F4F5"/>
          </a:solidFill>
          <a:ln/>
        </p:spPr>
      </p:sp>
      <p:sp>
        <p:nvSpPr>
          <p:cNvPr id="11" name="Text 9"/>
          <p:cNvSpPr/>
          <p:nvPr/>
        </p:nvSpPr>
        <p:spPr>
          <a:xfrm>
            <a:off x="4596384" y="196596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96384" y="269748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assessments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6384" y="3108960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practical blocks from all three days — tactics, communications, incident command.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41208" y="1783080"/>
            <a:ext cx="3453384" cy="2514600"/>
          </a:xfrm>
          <a:prstGeom prst="roundRect">
            <a:avLst>
              <a:gd name="adj" fmla="val 3636"/>
            </a:avLst>
          </a:prstGeom>
          <a:solidFill>
            <a:srgbClr val="F3F4F5"/>
          </a:solidFill>
          <a:ln/>
        </p:spPr>
      </p:sp>
      <p:sp>
        <p:nvSpPr>
          <p:cNvPr id="15" name="Text 13"/>
          <p:cNvSpPr/>
          <p:nvPr/>
        </p:nvSpPr>
        <p:spPr>
          <a:xfrm>
            <a:off x="8369808" y="196596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369808" y="269748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9808" y="3108960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written/oral validation of the frameworks: size-up, DRA, CAN, ICS, accountability.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4617720"/>
            <a:ext cx="11000232" cy="1463040"/>
          </a:xfrm>
          <a:prstGeom prst="roundRect">
            <a:avLst>
              <a:gd name="adj" fmla="val 6250"/>
            </a:avLst>
          </a:prstGeom>
          <a:solidFill>
            <a:srgbClr val="14181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PASS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51206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 ≥ 80% with no critical-competency failure (safety violation, lost accountability, abandoned command)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attendance and participation in every practical block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9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Unsuccessful candidates receive a development plan and one re-assessment pathway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Certification: what you leave with</a:t>
            </a:r>
            <a:endParaRPr lang="en-US" sz="3000" dirty="0"/>
          </a:p>
        </p:txBody>
      </p:sp>
      <p:pic>
        <p:nvPicPr>
          <p:cNvPr id="6" name="Image 0" descr="/home/user/My-Future-Idaes/SANAD-Fire-Team-Leader-Course/assets/img/debrie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737360"/>
            <a:ext cx="512064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1783080"/>
            <a:ext cx="502920" cy="50292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8" name="Image 1" descr="/tmp/claude-0/-home-user-My-Future-Idaes/0806094f-208a-506e-82b2-f78683d50c82/scratchpad/icons/FaAw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021" y="190378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0" y="17373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of Competency — Fire Fighting Team Leader
</a:t>
            </a:r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by NEFT Energies, ISO &amp; TVTC approved training institution.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989320" y="2898648"/>
            <a:ext cx="502920" cy="50292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1" name="Image 2" descr="/tmp/claude-0/-home-user-My-Future-Idaes/0806094f-208a-506e-82b2-f78683d50c82/scratchpad/icons/FaClipboard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021" y="3019349"/>
            <a:ext cx="261518" cy="261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75120" y="285292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competency report
</a:t>
            </a:r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Strengths, development areas and assessor commentary — usable in SANAD's competency management system.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989320" y="4014216"/>
            <a:ext cx="502920" cy="50292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4" name="Image 3" descr="/tmp/claude-0/-home-user-My-Future-Idaes/0806094f-208a-506e-82b2-f78683d50c82/scratchpad/icons/FaBookOpe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021" y="4134917"/>
            <a:ext cx="261518" cy="261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75120" y="3968496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Leader's field pack
</a:t>
            </a:r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Size-up card, CAN SITREP card, DRA loop, handover script and accountability checklists — pocket-sized for the rig.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989320" y="5129784"/>
            <a:ext cx="502920" cy="50292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7" name="Image 4" descr="/tmp/claude-0/-home-user-My-Future-Idaes/0806094f-208a-506e-82b2-f78683d50c82/scratchpad/icons/FaSyncA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021" y="5250485"/>
            <a:ext cx="261518" cy="26151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75120" y="5084064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Refresher pathway
</a:t>
            </a:r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refresher and drill program to keep the capability alive between emergencies.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594360" y="5074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3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Accreditation footprint:  </a:t>
            </a:r>
            <a:pPr indent="0" marL="0">
              <a:buNone/>
            </a:pPr>
            <a:r>
              <a:rPr lang="en-US" sz="110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NEFT Energies is recognized by IADC, OPITO, LEEA, CIEH, DROPS, NFPA, IASP, IPAF, NEBOSH and IOSH.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COURSE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on the rig: the 30-day command plan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2544318" cy="3108960"/>
          </a:xfrm>
          <a:prstGeom prst="roundRect">
            <a:avLst>
              <a:gd name="adj" fmla="val 3594"/>
            </a:avLst>
          </a:prstGeom>
          <a:solidFill>
            <a:srgbClr val="F3F4F5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011680"/>
            <a:ext cx="2141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95528" y="2331720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your ground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2944368"/>
            <a:ext cx="214198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Re-do the size-up of your own rig: hazards, water points, muster, ICP location. Brief your crew on what you found.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92958" y="3063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12998" y="1828800"/>
            <a:ext cx="2544318" cy="3108960"/>
          </a:xfrm>
          <a:prstGeom prst="roundRect">
            <a:avLst>
              <a:gd name="adj" fmla="val 3594"/>
            </a:avLst>
          </a:prstGeom>
          <a:solidFill>
            <a:srgbClr val="F3F4F5"/>
          </a:solidFill>
          <a:ln/>
        </p:spPr>
      </p:sp>
      <p:sp>
        <p:nvSpPr>
          <p:cNvPr id="12" name="Text 10"/>
          <p:cNvSpPr/>
          <p:nvPr/>
        </p:nvSpPr>
        <p:spPr>
          <a:xfrm>
            <a:off x="3614166" y="2011680"/>
            <a:ext cx="2141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14166" y="2331720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the first 60 seconds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4166" y="2944368"/>
            <a:ext cx="214198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five-step drill with your shift — twice. Time it. Fix what stumbles.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11596" y="3063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31636" y="1828800"/>
            <a:ext cx="2544318" cy="3108960"/>
          </a:xfrm>
          <a:prstGeom prst="roundRect">
            <a:avLst>
              <a:gd name="adj" fmla="val 3594"/>
            </a:avLst>
          </a:prstGeom>
          <a:solidFill>
            <a:srgbClr val="F3F4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32804" y="2011680"/>
            <a:ext cx="2141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32804" y="2331720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communications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32804" y="2944368"/>
            <a:ext cx="214198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radio-discipline drill and a degraded-comms fallback. Issue the CAN card to every team member.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30234" y="3063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050274" y="1828800"/>
            <a:ext cx="2544318" cy="3108960"/>
          </a:xfrm>
          <a:prstGeom prst="roundRect">
            <a:avLst>
              <a:gd name="adj" fmla="val 3594"/>
            </a:avLst>
          </a:prstGeom>
          <a:solidFill>
            <a:srgbClr val="14181C"/>
          </a:solidFill>
          <a:ln/>
        </p:spPr>
      </p:sp>
      <p:sp>
        <p:nvSpPr>
          <p:cNvPr id="22" name="Text 20"/>
          <p:cNvSpPr/>
          <p:nvPr/>
        </p:nvSpPr>
        <p:spPr>
          <a:xfrm>
            <a:off x="9251442" y="2011680"/>
            <a:ext cx="2141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51442" y="2331720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&amp; report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51442" y="2944368"/>
            <a:ext cx="214198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one tabletop scenario with your crew. Send the lessons-learned summary to your HSE leadership.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5257800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3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decays without repetition.  </a:t>
            </a:r>
            <a:pPr indent="0" marL="0">
              <a:buNone/>
            </a:pPr>
            <a:r>
              <a:rPr lang="en-US" sz="1250" dirty="0">
                <a:solidFill>
                  <a:srgbClr val="5A6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certificate proves what you could do on Day 3 — the 30-day plan proves what your rig can do on day 33.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Fire Team Leader's creed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52728" y="1783080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take command out loud — the scene will never wonder who leads it.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0216" y="178308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58584" y="1783080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decide at 70% and correct at full speed.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80720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52728" y="2807208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read my people as closely as I read the fire.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0216" y="280720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58584" y="2807208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choose the mode, announce it, and own what it costs.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383133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52728" y="3831336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communication is short, closed-loop, and calm.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0216" y="383133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58584" y="3831336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always know where every one of my people is.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485546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52728" y="4855464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risk a lot to save a life, and nothing for what is already lost.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0216" y="485546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58584" y="4855464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every incident I tell the truth fast — that is how my team gets better.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|  FIRE FIGHTING TEAM LEADER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6307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850" dirty="0"/>
          </a:p>
        </p:txBody>
      </p:sp>
      <p:pic>
        <p:nvPicPr>
          <p:cNvPr id="4" name="Image 0" descr="/home/user/My-Future-Idaes/SANAD-Fire-Team-Leader-Course/assets/img/debrie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81C">
              <a:alpha val="5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2103120"/>
            <a:ext cx="110002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IS EARNED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ALARM SOUNDS.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" y="384048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and lead safely.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" y="4892040"/>
            <a:ext cx="6949440" cy="1188720"/>
          </a:xfrm>
          <a:prstGeom prst="roundRect">
            <a:avLst>
              <a:gd name="adj" fmla="val 7692"/>
            </a:avLst>
          </a:prstGeom>
          <a:solidFill>
            <a:srgbClr val="14181C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498348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NEFT ENERGIES  •  Technical Proposal NERFQ26-5018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8E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Gamal — Regional Operations Manager   |   M: +966 55 518 8213   |   E: m.gamal@neftenergies.com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NEFT Energies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SANAD Fire Fighting Team Leader — 3-Day Course</dc:title>
  <dc:subject>PptxGenJS Presentation</dc:subject>
  <dc:creator>NEFT Energies</dc:creator>
  <cp:lastModifiedBy>NEFT Energies</cp:lastModifiedBy>
  <cp:revision>1</cp:revision>
  <dcterms:created xsi:type="dcterms:W3CDTF">2026-07-30T13:59:14Z</dcterms:created>
  <dcterms:modified xsi:type="dcterms:W3CDTF">2026-07-30T13:59:14Z</dcterms:modified>
</cp:coreProperties>
</file>